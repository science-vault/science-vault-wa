
<file path=[Content_Types].xml><?xml version="1.0" encoding="utf-8"?>
<Types xmlns="http://schemas.openxmlformats.org/package/2006/content-types">
  <Default Extension="bin" ContentType="audio/unknown"/>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798" r:id="rId1"/>
  </p:sldMasterIdLst>
  <p:notesMasterIdLst>
    <p:notesMasterId r:id="rId52"/>
  </p:notesMasterIdLst>
  <p:sldIdLst>
    <p:sldId id="256" r:id="rId2"/>
    <p:sldId id="358" r:id="rId3"/>
    <p:sldId id="257" r:id="rId4"/>
    <p:sldId id="365" r:id="rId5"/>
    <p:sldId id="287" r:id="rId6"/>
    <p:sldId id="359" r:id="rId7"/>
    <p:sldId id="351" r:id="rId8"/>
    <p:sldId id="352" r:id="rId9"/>
    <p:sldId id="258" r:id="rId10"/>
    <p:sldId id="260" r:id="rId11"/>
    <p:sldId id="312" r:id="rId12"/>
    <p:sldId id="261" r:id="rId13"/>
    <p:sldId id="263" r:id="rId14"/>
    <p:sldId id="313" r:id="rId15"/>
    <p:sldId id="314" r:id="rId16"/>
    <p:sldId id="360" r:id="rId17"/>
    <p:sldId id="315" r:id="rId18"/>
    <p:sldId id="321" r:id="rId19"/>
    <p:sldId id="322" r:id="rId20"/>
    <p:sldId id="323" r:id="rId21"/>
    <p:sldId id="334" r:id="rId22"/>
    <p:sldId id="339" r:id="rId23"/>
    <p:sldId id="340" r:id="rId24"/>
    <p:sldId id="341" r:id="rId25"/>
    <p:sldId id="342" r:id="rId26"/>
    <p:sldId id="343" r:id="rId27"/>
    <p:sldId id="356" r:id="rId28"/>
    <p:sldId id="362" r:id="rId29"/>
    <p:sldId id="345" r:id="rId30"/>
    <p:sldId id="272" r:id="rId31"/>
    <p:sldId id="346" r:id="rId32"/>
    <p:sldId id="347" r:id="rId33"/>
    <p:sldId id="349" r:id="rId34"/>
    <p:sldId id="348" r:id="rId35"/>
    <p:sldId id="298" r:id="rId36"/>
    <p:sldId id="299" r:id="rId37"/>
    <p:sldId id="300" r:id="rId38"/>
    <p:sldId id="302" r:id="rId39"/>
    <p:sldId id="303" r:id="rId40"/>
    <p:sldId id="304" r:id="rId41"/>
    <p:sldId id="305" r:id="rId42"/>
    <p:sldId id="306" r:id="rId43"/>
    <p:sldId id="309" r:id="rId44"/>
    <p:sldId id="310" r:id="rId45"/>
    <p:sldId id="357" r:id="rId46"/>
    <p:sldId id="350" r:id="rId47"/>
    <p:sldId id="364" r:id="rId48"/>
    <p:sldId id="353" r:id="rId49"/>
    <p:sldId id="363" r:id="rId50"/>
    <p:sldId id="361" r:id="rId5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344" autoAdjust="0"/>
  </p:normalViewPr>
  <p:slideViewPr>
    <p:cSldViewPr>
      <p:cViewPr varScale="1">
        <p:scale>
          <a:sx n="114" d="100"/>
          <a:sy n="114" d="100"/>
        </p:scale>
        <p:origin x="710" y="101"/>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5190514-AE54-4116-94D1-CFDE0DAD7B6C}" type="datetimeFigureOut">
              <a:rPr lang="en-AU" smtClean="0"/>
              <a:t>24/07/2023</a:t>
            </a:fld>
            <a:endParaRPr lang="en-AU"/>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893F594-63F1-4DC4-BBB1-13DEDCEFE683}" type="slidenum">
              <a:rPr lang="en-AU" smtClean="0"/>
              <a:t>‹#›</a:t>
            </a:fld>
            <a:endParaRPr lang="en-AU"/>
          </a:p>
        </p:txBody>
      </p:sp>
    </p:spTree>
    <p:extLst>
      <p:ext uri="{BB962C8B-B14F-4D97-AF65-F5344CB8AC3E}">
        <p14:creationId xmlns:p14="http://schemas.microsoft.com/office/powerpoint/2010/main" val="16160928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p:spPr>
        <p:txBody>
          <a:bodyPr/>
          <a:lstStyle>
            <a:lvl1pPr>
              <a:defRPr sz="2400">
                <a:solidFill>
                  <a:schemeClr val="tx1"/>
                </a:solidFill>
                <a:latin typeface="Arial" charset="0"/>
              </a:defRPr>
            </a:lvl1pPr>
            <a:lvl2pPr marL="742950" indent="-285750">
              <a:defRPr sz="2400">
                <a:solidFill>
                  <a:schemeClr val="tx1"/>
                </a:solidFill>
                <a:latin typeface="Arial" charset="0"/>
              </a:defRPr>
            </a:lvl2pPr>
            <a:lvl3pPr marL="1143000" indent="-228600">
              <a:defRPr sz="2400">
                <a:solidFill>
                  <a:schemeClr val="tx1"/>
                </a:solidFill>
                <a:latin typeface="Arial" charset="0"/>
              </a:defRPr>
            </a:lvl3pPr>
            <a:lvl4pPr marL="1600200" indent="-228600">
              <a:defRPr sz="2400">
                <a:solidFill>
                  <a:schemeClr val="tx1"/>
                </a:solidFill>
                <a:latin typeface="Arial" charset="0"/>
              </a:defRPr>
            </a:lvl4pPr>
            <a:lvl5pPr marL="2057400" indent="-22860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fld id="{5DBBC5F6-4EF2-4113-A251-DC9BDEE3DCA6}" type="slidenum">
              <a:rPr lang="en-US" sz="1200">
                <a:latin typeface="Times" pitchFamily="48" charset="0"/>
              </a:rPr>
              <a:pPr/>
              <a:t>9</a:t>
            </a:fld>
            <a:endParaRPr lang="en-US" sz="1200">
              <a:latin typeface="Times" pitchFamily="48" charset="0"/>
            </a:endParaRPr>
          </a:p>
        </p:txBody>
      </p:sp>
      <p:sp>
        <p:nvSpPr>
          <p:cNvPr id="31747" name="Rectangle 2"/>
          <p:cNvSpPr>
            <a:spLocks noGrp="1" noRot="1" noChangeAspect="1" noChangeArrowheads="1" noTextEdit="1"/>
          </p:cNvSpPr>
          <p:nvPr>
            <p:ph type="sldImg"/>
          </p:nvPr>
        </p:nvSpPr>
        <p:spPr>
          <a:solidFill>
            <a:srgbClr val="FFFFFF"/>
          </a:solidFill>
          <a:ln/>
        </p:spPr>
      </p:sp>
      <p:sp>
        <p:nvSpPr>
          <p:cNvPr id="31748"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p:spPr>
        <p:txBody>
          <a:bodyPr/>
          <a:lstStyle>
            <a:lvl1pPr>
              <a:defRPr sz="2400">
                <a:solidFill>
                  <a:schemeClr val="tx1"/>
                </a:solidFill>
                <a:latin typeface="Arial" charset="0"/>
              </a:defRPr>
            </a:lvl1pPr>
            <a:lvl2pPr marL="742950" indent="-285750">
              <a:defRPr sz="2400">
                <a:solidFill>
                  <a:schemeClr val="tx1"/>
                </a:solidFill>
                <a:latin typeface="Arial" charset="0"/>
              </a:defRPr>
            </a:lvl2pPr>
            <a:lvl3pPr marL="1143000" indent="-228600">
              <a:defRPr sz="2400">
                <a:solidFill>
                  <a:schemeClr val="tx1"/>
                </a:solidFill>
                <a:latin typeface="Arial" charset="0"/>
              </a:defRPr>
            </a:lvl3pPr>
            <a:lvl4pPr marL="1600200" indent="-228600">
              <a:defRPr sz="2400">
                <a:solidFill>
                  <a:schemeClr val="tx1"/>
                </a:solidFill>
                <a:latin typeface="Arial" charset="0"/>
              </a:defRPr>
            </a:lvl4pPr>
            <a:lvl5pPr marL="2057400" indent="-22860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fld id="{415AFA42-D33D-442E-AD3D-C9383E5963CC}" type="slidenum">
              <a:rPr lang="en-US" sz="1200">
                <a:latin typeface="Times" pitchFamily="48" charset="0"/>
              </a:rPr>
              <a:pPr/>
              <a:t>10</a:t>
            </a:fld>
            <a:endParaRPr lang="en-US" sz="1200">
              <a:latin typeface="Times" pitchFamily="48" charset="0"/>
            </a:endParaRPr>
          </a:p>
        </p:txBody>
      </p:sp>
      <p:sp>
        <p:nvSpPr>
          <p:cNvPr id="33795" name="Rectangle 2"/>
          <p:cNvSpPr>
            <a:spLocks noGrp="1" noRot="1" noChangeAspect="1" noChangeArrowheads="1" noTextEdit="1"/>
          </p:cNvSpPr>
          <p:nvPr>
            <p:ph type="sldImg"/>
          </p:nvPr>
        </p:nvSpPr>
        <p:spPr>
          <a:solidFill>
            <a:srgbClr val="FFFFFF"/>
          </a:solidFill>
          <a:ln/>
        </p:spPr>
      </p:sp>
      <p:sp>
        <p:nvSpPr>
          <p:cNvPr id="33796"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p:spPr>
        <p:txBody>
          <a:bodyPr/>
          <a:lstStyle>
            <a:lvl1pPr>
              <a:defRPr sz="2400">
                <a:solidFill>
                  <a:schemeClr val="tx1"/>
                </a:solidFill>
                <a:latin typeface="Arial" charset="0"/>
              </a:defRPr>
            </a:lvl1pPr>
            <a:lvl2pPr marL="742950" indent="-285750">
              <a:defRPr sz="2400">
                <a:solidFill>
                  <a:schemeClr val="tx1"/>
                </a:solidFill>
                <a:latin typeface="Arial" charset="0"/>
              </a:defRPr>
            </a:lvl2pPr>
            <a:lvl3pPr marL="1143000" indent="-228600">
              <a:defRPr sz="2400">
                <a:solidFill>
                  <a:schemeClr val="tx1"/>
                </a:solidFill>
                <a:latin typeface="Arial" charset="0"/>
              </a:defRPr>
            </a:lvl3pPr>
            <a:lvl4pPr marL="1600200" indent="-228600">
              <a:defRPr sz="2400">
                <a:solidFill>
                  <a:schemeClr val="tx1"/>
                </a:solidFill>
                <a:latin typeface="Arial" charset="0"/>
              </a:defRPr>
            </a:lvl4pPr>
            <a:lvl5pPr marL="2057400" indent="-22860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fld id="{1AC89028-5A14-472E-ABAE-AC43A10BECA5}" type="slidenum">
              <a:rPr lang="en-US" sz="1200">
                <a:latin typeface="Times" pitchFamily="48" charset="0"/>
              </a:rPr>
              <a:pPr/>
              <a:t>12</a:t>
            </a:fld>
            <a:endParaRPr lang="en-US" sz="1200">
              <a:latin typeface="Times" pitchFamily="48" charset="0"/>
            </a:endParaRPr>
          </a:p>
        </p:txBody>
      </p:sp>
      <p:sp>
        <p:nvSpPr>
          <p:cNvPr id="34819" name="Rectangle 2"/>
          <p:cNvSpPr>
            <a:spLocks noGrp="1" noRot="1" noChangeAspect="1" noChangeArrowheads="1" noTextEdit="1"/>
          </p:cNvSpPr>
          <p:nvPr>
            <p:ph type="sldImg"/>
          </p:nvPr>
        </p:nvSpPr>
        <p:spPr>
          <a:solidFill>
            <a:srgbClr val="FFFFFF"/>
          </a:solidFill>
          <a:ln/>
        </p:spPr>
      </p:sp>
      <p:sp>
        <p:nvSpPr>
          <p:cNvPr id="34820" name="Rectangle 3"/>
          <p:cNvSpPr>
            <a:spLocks noGrp="1" noChangeArrowheads="1"/>
          </p:cNvSpPr>
          <p:nvPr>
            <p:ph type="body" idx="1"/>
          </p:nvPr>
        </p:nvSpPr>
        <p:spPr>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p:spPr>
        <p:txBody>
          <a:bodyPr/>
          <a:lstStyle>
            <a:lvl1pPr>
              <a:defRPr sz="2400">
                <a:solidFill>
                  <a:schemeClr val="tx1"/>
                </a:solidFill>
                <a:latin typeface="Arial" charset="0"/>
              </a:defRPr>
            </a:lvl1pPr>
            <a:lvl2pPr marL="742950" indent="-285750">
              <a:defRPr sz="2400">
                <a:solidFill>
                  <a:schemeClr val="tx1"/>
                </a:solidFill>
                <a:latin typeface="Arial" charset="0"/>
              </a:defRPr>
            </a:lvl2pPr>
            <a:lvl3pPr marL="1143000" indent="-228600">
              <a:defRPr sz="2400">
                <a:solidFill>
                  <a:schemeClr val="tx1"/>
                </a:solidFill>
                <a:latin typeface="Arial" charset="0"/>
              </a:defRPr>
            </a:lvl3pPr>
            <a:lvl4pPr marL="1600200" indent="-228600">
              <a:defRPr sz="2400">
                <a:solidFill>
                  <a:schemeClr val="tx1"/>
                </a:solidFill>
                <a:latin typeface="Arial" charset="0"/>
              </a:defRPr>
            </a:lvl4pPr>
            <a:lvl5pPr marL="2057400" indent="-22860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fld id="{DBCE4B80-C56D-4172-915C-68B32FC53B79}" type="slidenum">
              <a:rPr lang="en-US" sz="1200">
                <a:latin typeface="Times" pitchFamily="48" charset="0"/>
              </a:rPr>
              <a:pPr/>
              <a:t>13</a:t>
            </a:fld>
            <a:endParaRPr lang="en-US" sz="1200">
              <a:latin typeface="Times" pitchFamily="48" charset="0"/>
            </a:endParaRPr>
          </a:p>
        </p:txBody>
      </p:sp>
      <p:sp>
        <p:nvSpPr>
          <p:cNvPr id="36867" name="Rectangle 2"/>
          <p:cNvSpPr>
            <a:spLocks noGrp="1" noRot="1" noChangeAspect="1" noChangeArrowheads="1" noTextEdit="1"/>
          </p:cNvSpPr>
          <p:nvPr>
            <p:ph type="sldImg"/>
          </p:nvPr>
        </p:nvSpPr>
        <p:spPr>
          <a:solidFill>
            <a:srgbClr val="FFFFFF"/>
          </a:solidFill>
          <a:ln/>
        </p:spPr>
      </p:sp>
      <p:sp>
        <p:nvSpPr>
          <p:cNvPr id="36868"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p:cNvSpPr>
          <p:nvPr>
            <p:ph type="sldNum" sz="quarter" idx="5"/>
          </p:nvPr>
        </p:nvSpPr>
        <p:spPr>
          <a:ln/>
        </p:spPr>
        <p:txBody>
          <a:bodyPr/>
          <a:lstStyle/>
          <a:p>
            <a:fld id="{C42A9885-65D0-418D-8D00-AE047C2E7884}" type="slidenum">
              <a:rPr lang="en-US"/>
              <a:pPr/>
              <a:t>14</a:t>
            </a:fld>
            <a:endParaRPr lang="en-US"/>
          </a:p>
        </p:txBody>
      </p:sp>
      <p:sp>
        <p:nvSpPr>
          <p:cNvPr id="140290" name="Rectangle 1026"/>
          <p:cNvSpPr>
            <a:spLocks noGrp="1" noRot="1" noChangeAspect="1" noChangeArrowheads="1" noTextEdit="1"/>
          </p:cNvSpPr>
          <p:nvPr>
            <p:ph type="sldImg"/>
          </p:nvPr>
        </p:nvSpPr>
        <p:spPr>
          <a:ln/>
        </p:spPr>
      </p:sp>
      <p:sp>
        <p:nvSpPr>
          <p:cNvPr id="140291" name="Rectangle 1027"/>
          <p:cNvSpPr>
            <a:spLocks noGrp="1"/>
          </p:cNvSpPr>
          <p:nvPr>
            <p:ph type="body" idx="1"/>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p:cNvSpPr>
          <p:nvPr>
            <p:ph type="sldNum" sz="quarter" idx="5"/>
          </p:nvPr>
        </p:nvSpPr>
        <p:spPr>
          <a:ln/>
        </p:spPr>
        <p:txBody>
          <a:bodyPr/>
          <a:lstStyle/>
          <a:p>
            <a:fld id="{A2D15CC1-9C91-421D-AE5A-11386F9650D8}" type="slidenum">
              <a:rPr lang="en-US"/>
              <a:pPr/>
              <a:t>15</a:t>
            </a:fld>
            <a:endParaRPr lang="en-US"/>
          </a:p>
        </p:txBody>
      </p:sp>
      <p:sp>
        <p:nvSpPr>
          <p:cNvPr id="141314" name="Rectangle 1026"/>
          <p:cNvSpPr>
            <a:spLocks noGrp="1" noRot="1" noChangeAspect="1" noChangeArrowheads="1" noTextEdit="1"/>
          </p:cNvSpPr>
          <p:nvPr>
            <p:ph type="sldImg"/>
          </p:nvPr>
        </p:nvSpPr>
        <p:spPr>
          <a:ln/>
        </p:spPr>
      </p:sp>
      <p:sp>
        <p:nvSpPr>
          <p:cNvPr id="141315" name="Rectangle 1027"/>
          <p:cNvSpPr>
            <a:spLocks noGrp="1"/>
          </p:cNvSpPr>
          <p:nvPr>
            <p:ph type="body" idx="1"/>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E.g. Sugar/coffee powder/tea diffusing through hot water.</a:t>
            </a:r>
            <a:endParaRPr lang="en-AU" dirty="0"/>
          </a:p>
        </p:txBody>
      </p:sp>
      <p:sp>
        <p:nvSpPr>
          <p:cNvPr id="4" name="Slide Number Placeholder 3"/>
          <p:cNvSpPr>
            <a:spLocks noGrp="1"/>
          </p:cNvSpPr>
          <p:nvPr>
            <p:ph type="sldNum" sz="quarter" idx="5"/>
          </p:nvPr>
        </p:nvSpPr>
        <p:spPr/>
        <p:txBody>
          <a:bodyPr/>
          <a:lstStyle/>
          <a:p>
            <a:fld id="{7893F594-63F1-4DC4-BBB1-13DEDCEFE683}" type="slidenum">
              <a:rPr lang="en-AU" smtClean="0"/>
              <a:t>16</a:t>
            </a:fld>
            <a:endParaRPr lang="en-AU"/>
          </a:p>
        </p:txBody>
      </p:sp>
    </p:spTree>
    <p:extLst>
      <p:ext uri="{BB962C8B-B14F-4D97-AF65-F5344CB8AC3E}">
        <p14:creationId xmlns:p14="http://schemas.microsoft.com/office/powerpoint/2010/main" val="12674127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p:cNvSpPr>
          <p:nvPr>
            <p:ph type="sldNum" sz="quarter" idx="5"/>
          </p:nvPr>
        </p:nvSpPr>
        <p:spPr>
          <a:ln/>
        </p:spPr>
        <p:txBody>
          <a:bodyPr/>
          <a:lstStyle/>
          <a:p>
            <a:fld id="{6009F6A5-70DD-4807-8DCE-151C495CD51E}" type="slidenum">
              <a:rPr lang="en-US"/>
              <a:pPr/>
              <a:t>17</a:t>
            </a:fld>
            <a:endParaRPr lang="en-US"/>
          </a:p>
        </p:txBody>
      </p:sp>
      <p:sp>
        <p:nvSpPr>
          <p:cNvPr id="142338" name="Rectangle 1026"/>
          <p:cNvSpPr>
            <a:spLocks noGrp="1" noRot="1" noChangeAspect="1" noChangeArrowheads="1" noTextEdit="1"/>
          </p:cNvSpPr>
          <p:nvPr>
            <p:ph type="sldImg"/>
          </p:nvPr>
        </p:nvSpPr>
        <p:spPr>
          <a:ln/>
        </p:spPr>
      </p:sp>
      <p:sp>
        <p:nvSpPr>
          <p:cNvPr id="142339" name="Rectangle 1027"/>
          <p:cNvSpPr>
            <a:spLocks noGrp="1"/>
          </p:cNvSpPr>
          <p:nvPr>
            <p:ph type="body" idx="1"/>
          </p:nvPr>
        </p:nvSpPr>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p:cNvSpPr>
          <p:nvPr>
            <p:ph type="sldNum" sz="quarter" idx="5"/>
          </p:nvPr>
        </p:nvSpPr>
        <p:spPr>
          <a:ln/>
        </p:spPr>
        <p:txBody>
          <a:bodyPr/>
          <a:lstStyle/>
          <a:p>
            <a:fld id="{CA220782-E820-4FB0-8263-D279B3F5AF80}" type="slidenum">
              <a:rPr lang="en-US"/>
              <a:pPr/>
              <a:t>21</a:t>
            </a:fld>
            <a:endParaRPr lang="en-US"/>
          </a:p>
        </p:txBody>
      </p:sp>
      <p:sp>
        <p:nvSpPr>
          <p:cNvPr id="151554" name="Rectangle 2"/>
          <p:cNvSpPr>
            <a:spLocks noGrp="1" noRot="1" noChangeAspect="1" noChangeArrowheads="1" noTextEdit="1"/>
          </p:cNvSpPr>
          <p:nvPr>
            <p:ph type="sldImg"/>
          </p:nvPr>
        </p:nvSpPr>
        <p:spPr>
          <a:ln/>
        </p:spPr>
      </p:sp>
      <p:sp>
        <p:nvSpPr>
          <p:cNvPr id="151555" name="Rectangle 3"/>
          <p:cNvSpPr>
            <a:spLocks noGrp="1"/>
          </p:cNvSpPr>
          <p:nvPr>
            <p:ph type="body" idx="1"/>
          </p:nvPr>
        </p:nvSpPr>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p:spPr>
        <p:txBody>
          <a:bodyPr/>
          <a:lstStyle>
            <a:lvl1pPr>
              <a:defRPr sz="2400">
                <a:solidFill>
                  <a:schemeClr val="tx1"/>
                </a:solidFill>
                <a:latin typeface="Arial" charset="0"/>
              </a:defRPr>
            </a:lvl1pPr>
            <a:lvl2pPr marL="742950" indent="-285750">
              <a:defRPr sz="2400">
                <a:solidFill>
                  <a:schemeClr val="tx1"/>
                </a:solidFill>
                <a:latin typeface="Arial" charset="0"/>
              </a:defRPr>
            </a:lvl2pPr>
            <a:lvl3pPr marL="1143000" indent="-228600">
              <a:defRPr sz="2400">
                <a:solidFill>
                  <a:schemeClr val="tx1"/>
                </a:solidFill>
                <a:latin typeface="Arial" charset="0"/>
              </a:defRPr>
            </a:lvl3pPr>
            <a:lvl4pPr marL="1600200" indent="-228600">
              <a:defRPr sz="2400">
                <a:solidFill>
                  <a:schemeClr val="tx1"/>
                </a:solidFill>
                <a:latin typeface="Arial" charset="0"/>
              </a:defRPr>
            </a:lvl4pPr>
            <a:lvl5pPr marL="2057400" indent="-22860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fld id="{A88172E5-E21F-4485-97FB-6514CF30C75A}" type="slidenum">
              <a:rPr lang="en-US" sz="1200">
                <a:latin typeface="Times" pitchFamily="48" charset="0"/>
              </a:rPr>
              <a:pPr/>
              <a:t>24</a:t>
            </a:fld>
            <a:endParaRPr lang="en-US" sz="1200">
              <a:latin typeface="Times" pitchFamily="48" charset="0"/>
            </a:endParaRPr>
          </a:p>
        </p:txBody>
      </p:sp>
      <p:sp>
        <p:nvSpPr>
          <p:cNvPr id="47107" name="Rectangle 2"/>
          <p:cNvSpPr>
            <a:spLocks noGrp="1" noRot="1" noChangeAspect="1" noChangeArrowheads="1" noTextEdit="1"/>
          </p:cNvSpPr>
          <p:nvPr>
            <p:ph type="sldImg"/>
          </p:nvPr>
        </p:nvSpPr>
        <p:spPr>
          <a:solidFill>
            <a:srgbClr val="FFFFFF"/>
          </a:solidFill>
          <a:ln/>
        </p:spPr>
      </p:sp>
      <p:sp>
        <p:nvSpPr>
          <p:cNvPr id="47108"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Hypertonic – water goes out</a:t>
            </a:r>
          </a:p>
          <a:p>
            <a:r>
              <a:rPr lang="en-AU" dirty="0"/>
              <a:t>Hypotonic – water goes in</a:t>
            </a:r>
          </a:p>
          <a:p>
            <a:r>
              <a:rPr lang="en-AU" dirty="0"/>
              <a:t>Hypertonic</a:t>
            </a:r>
            <a:r>
              <a:rPr lang="en-AU" baseline="0" dirty="0"/>
              <a:t> – water goes out</a:t>
            </a:r>
          </a:p>
          <a:p>
            <a:r>
              <a:rPr lang="en-AU" baseline="0" dirty="0"/>
              <a:t>Hypertonic – water goes out</a:t>
            </a:r>
            <a:endParaRPr lang="en-AU" dirty="0"/>
          </a:p>
        </p:txBody>
      </p:sp>
      <p:sp>
        <p:nvSpPr>
          <p:cNvPr id="4" name="Slide Number Placeholder 3"/>
          <p:cNvSpPr>
            <a:spLocks noGrp="1"/>
          </p:cNvSpPr>
          <p:nvPr>
            <p:ph type="sldNum" sz="quarter" idx="10"/>
          </p:nvPr>
        </p:nvSpPr>
        <p:spPr/>
        <p:txBody>
          <a:bodyPr/>
          <a:lstStyle/>
          <a:p>
            <a:fld id="{7893F594-63F1-4DC4-BBB1-13DEDCEFE683}" type="slidenum">
              <a:rPr lang="en-AU" smtClean="0"/>
              <a:t>28</a:t>
            </a:fld>
            <a:endParaRPr lang="en-AU"/>
          </a:p>
        </p:txBody>
      </p:sp>
    </p:spTree>
    <p:extLst>
      <p:ext uri="{BB962C8B-B14F-4D97-AF65-F5344CB8AC3E}">
        <p14:creationId xmlns:p14="http://schemas.microsoft.com/office/powerpoint/2010/main" val="39711102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p:cNvSpPr>
          <p:nvPr>
            <p:ph type="sldNum" sz="quarter" idx="5"/>
          </p:nvPr>
        </p:nvSpPr>
        <p:spPr>
          <a:ln/>
        </p:spPr>
        <p:txBody>
          <a:bodyPr/>
          <a:lstStyle/>
          <a:p>
            <a:fld id="{76DEDB24-A456-4407-B3E1-26FED6C0815B}" type="slidenum">
              <a:rPr lang="en-US"/>
              <a:pPr/>
              <a:t>33</a:t>
            </a:fld>
            <a:endParaRPr lang="en-US"/>
          </a:p>
        </p:txBody>
      </p:sp>
      <p:sp>
        <p:nvSpPr>
          <p:cNvPr id="159746" name="Rectangle 2"/>
          <p:cNvSpPr>
            <a:spLocks noGrp="1" noRot="1" noChangeAspect="1" noChangeArrowheads="1" noTextEdit="1"/>
          </p:cNvSpPr>
          <p:nvPr>
            <p:ph type="sldImg"/>
          </p:nvPr>
        </p:nvSpPr>
        <p:spPr>
          <a:ln/>
        </p:spPr>
      </p:sp>
      <p:sp>
        <p:nvSpPr>
          <p:cNvPr id="159747" name="Rectangle 3"/>
          <p:cNvSpPr>
            <a:spLocks noGrp="1"/>
          </p:cNvSpPr>
          <p:nvPr>
            <p:ph type="body" idx="1"/>
          </p:nvPr>
        </p:nvSpPr>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p:cNvSpPr>
          <p:nvPr>
            <p:ph type="sldNum" sz="quarter" idx="5"/>
          </p:nvPr>
        </p:nvSpPr>
        <p:spPr>
          <a:ln/>
        </p:spPr>
        <p:txBody>
          <a:bodyPr/>
          <a:lstStyle/>
          <a:p>
            <a:fld id="{BF6D2BAA-C9A4-475D-8E60-EF74C674FDE4}" type="slidenum">
              <a:rPr lang="en-US"/>
              <a:pPr/>
              <a:t>35</a:t>
            </a:fld>
            <a:endParaRPr lang="en-US"/>
          </a:p>
        </p:txBody>
      </p:sp>
      <p:sp>
        <p:nvSpPr>
          <p:cNvPr id="160770" name="Rectangle 2"/>
          <p:cNvSpPr>
            <a:spLocks noGrp="1" noRot="1" noChangeAspect="1" noChangeArrowheads="1" noTextEdit="1"/>
          </p:cNvSpPr>
          <p:nvPr>
            <p:ph type="sldImg"/>
          </p:nvPr>
        </p:nvSpPr>
        <p:spPr>
          <a:ln/>
        </p:spPr>
      </p:sp>
      <p:sp>
        <p:nvSpPr>
          <p:cNvPr id="160771" name="Rectangle 3"/>
          <p:cNvSpPr>
            <a:spLocks noGrp="1"/>
          </p:cNvSpPr>
          <p:nvPr>
            <p:ph type="body" idx="1"/>
          </p:nvPr>
        </p:nvSpPr>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p:cNvSpPr>
          <p:nvPr>
            <p:ph type="sldNum" sz="quarter" idx="5"/>
          </p:nvPr>
        </p:nvSpPr>
        <p:spPr>
          <a:ln/>
        </p:spPr>
        <p:txBody>
          <a:bodyPr/>
          <a:lstStyle/>
          <a:p>
            <a:fld id="{296B252C-6898-412D-A8EB-F54E1B8D51FE}" type="slidenum">
              <a:rPr lang="en-US"/>
              <a:pPr/>
              <a:t>36</a:t>
            </a:fld>
            <a:endParaRPr lang="en-US"/>
          </a:p>
        </p:txBody>
      </p:sp>
      <p:sp>
        <p:nvSpPr>
          <p:cNvPr id="161794" name="Rectangle 2"/>
          <p:cNvSpPr>
            <a:spLocks noGrp="1" noRot="1" noChangeAspect="1" noChangeArrowheads="1" noTextEdit="1"/>
          </p:cNvSpPr>
          <p:nvPr>
            <p:ph type="sldImg"/>
          </p:nvPr>
        </p:nvSpPr>
        <p:spPr>
          <a:ln/>
        </p:spPr>
      </p:sp>
      <p:sp>
        <p:nvSpPr>
          <p:cNvPr id="161795" name="Rectangle 3"/>
          <p:cNvSpPr>
            <a:spLocks noGrp="1"/>
          </p:cNvSpPr>
          <p:nvPr>
            <p:ph type="body" idx="1"/>
          </p:nvPr>
        </p:nvSpPr>
        <p:spPr/>
        <p:txBody>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p:cNvSpPr>
          <p:nvPr>
            <p:ph type="sldNum" sz="quarter" idx="5"/>
          </p:nvPr>
        </p:nvSpPr>
        <p:spPr>
          <a:ln/>
        </p:spPr>
        <p:txBody>
          <a:bodyPr/>
          <a:lstStyle/>
          <a:p>
            <a:fld id="{BC97E6DC-DA89-40D6-9EAB-5990F7CF3483}" type="slidenum">
              <a:rPr lang="en-US"/>
              <a:pPr/>
              <a:t>37</a:t>
            </a:fld>
            <a:endParaRPr lang="en-US"/>
          </a:p>
        </p:txBody>
      </p:sp>
      <p:sp>
        <p:nvSpPr>
          <p:cNvPr id="162818" name="Rectangle 2"/>
          <p:cNvSpPr>
            <a:spLocks noGrp="1" noRot="1" noChangeAspect="1" noChangeArrowheads="1" noTextEdit="1"/>
          </p:cNvSpPr>
          <p:nvPr>
            <p:ph type="sldImg"/>
          </p:nvPr>
        </p:nvSpPr>
        <p:spPr>
          <a:ln/>
        </p:spPr>
      </p:sp>
      <p:sp>
        <p:nvSpPr>
          <p:cNvPr id="162819" name="Rectangle 3"/>
          <p:cNvSpPr>
            <a:spLocks noGrp="1"/>
          </p:cNvSpPr>
          <p:nvPr>
            <p:ph type="body" idx="1"/>
          </p:nvPr>
        </p:nvSpPr>
        <p:spPr/>
        <p:txBody>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p:cNvSpPr>
          <p:nvPr>
            <p:ph type="sldNum" sz="quarter" idx="5"/>
          </p:nvPr>
        </p:nvSpPr>
        <p:spPr>
          <a:ln/>
        </p:spPr>
        <p:txBody>
          <a:bodyPr/>
          <a:lstStyle/>
          <a:p>
            <a:fld id="{341971C8-41BE-4430-BE01-84207474523F}" type="slidenum">
              <a:rPr lang="en-US"/>
              <a:pPr/>
              <a:t>38</a:t>
            </a:fld>
            <a:endParaRPr lang="en-US"/>
          </a:p>
        </p:txBody>
      </p:sp>
      <p:sp>
        <p:nvSpPr>
          <p:cNvPr id="164866" name="Rectangle 2"/>
          <p:cNvSpPr>
            <a:spLocks noGrp="1" noRot="1" noChangeAspect="1" noChangeArrowheads="1" noTextEdit="1"/>
          </p:cNvSpPr>
          <p:nvPr>
            <p:ph type="sldImg"/>
          </p:nvPr>
        </p:nvSpPr>
        <p:spPr>
          <a:ln/>
        </p:spPr>
      </p:sp>
      <p:sp>
        <p:nvSpPr>
          <p:cNvPr id="164867" name="Rectangle 3"/>
          <p:cNvSpPr>
            <a:spLocks noGrp="1"/>
          </p:cNvSpPr>
          <p:nvPr>
            <p:ph type="body" idx="1"/>
          </p:nvPr>
        </p:nvSpPr>
        <p:spPr/>
        <p:txBody>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p:cNvSpPr>
          <p:nvPr>
            <p:ph type="sldNum" sz="quarter" idx="5"/>
          </p:nvPr>
        </p:nvSpPr>
        <p:spPr>
          <a:ln/>
        </p:spPr>
        <p:txBody>
          <a:bodyPr/>
          <a:lstStyle/>
          <a:p>
            <a:fld id="{3D7D11C6-C7FC-4980-B27B-1B467CF79F9E}" type="slidenum">
              <a:rPr lang="en-US"/>
              <a:pPr/>
              <a:t>39</a:t>
            </a:fld>
            <a:endParaRPr lang="en-US"/>
          </a:p>
        </p:txBody>
      </p:sp>
      <p:sp>
        <p:nvSpPr>
          <p:cNvPr id="165890" name="Rectangle 2"/>
          <p:cNvSpPr>
            <a:spLocks noGrp="1" noRot="1" noChangeAspect="1" noChangeArrowheads="1" noTextEdit="1"/>
          </p:cNvSpPr>
          <p:nvPr>
            <p:ph type="sldImg"/>
          </p:nvPr>
        </p:nvSpPr>
        <p:spPr>
          <a:ln/>
        </p:spPr>
      </p:sp>
      <p:sp>
        <p:nvSpPr>
          <p:cNvPr id="165891" name="Rectangle 3"/>
          <p:cNvSpPr>
            <a:spLocks noGrp="1"/>
          </p:cNvSpPr>
          <p:nvPr>
            <p:ph type="body" idx="1"/>
          </p:nvPr>
        </p:nvSpPr>
        <p:spPr/>
        <p:txBody>
          <a:bodyPr/>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p:cNvSpPr>
          <p:nvPr>
            <p:ph type="sldNum" sz="quarter" idx="5"/>
          </p:nvPr>
        </p:nvSpPr>
        <p:spPr>
          <a:ln/>
        </p:spPr>
        <p:txBody>
          <a:bodyPr/>
          <a:lstStyle/>
          <a:p>
            <a:fld id="{5EFDCF02-310C-436E-A6D8-9ED089FCB1F6}" type="slidenum">
              <a:rPr lang="en-US"/>
              <a:pPr/>
              <a:t>40</a:t>
            </a:fld>
            <a:endParaRPr lang="en-US"/>
          </a:p>
        </p:txBody>
      </p:sp>
      <p:sp>
        <p:nvSpPr>
          <p:cNvPr id="166914" name="Rectangle 2"/>
          <p:cNvSpPr>
            <a:spLocks noGrp="1" noRot="1" noChangeAspect="1" noChangeArrowheads="1" noTextEdit="1"/>
          </p:cNvSpPr>
          <p:nvPr>
            <p:ph type="sldImg"/>
          </p:nvPr>
        </p:nvSpPr>
        <p:spPr>
          <a:ln/>
        </p:spPr>
      </p:sp>
      <p:sp>
        <p:nvSpPr>
          <p:cNvPr id="166915" name="Rectangle 3"/>
          <p:cNvSpPr>
            <a:spLocks noGrp="1"/>
          </p:cNvSpPr>
          <p:nvPr>
            <p:ph type="body" idx="1"/>
          </p:nvPr>
        </p:nvSpPr>
        <p:spPr/>
        <p:txBody>
          <a:bodyPr/>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p:cNvSpPr>
          <p:nvPr>
            <p:ph type="sldNum" sz="quarter" idx="5"/>
          </p:nvPr>
        </p:nvSpPr>
        <p:spPr>
          <a:ln/>
        </p:spPr>
        <p:txBody>
          <a:bodyPr/>
          <a:lstStyle/>
          <a:p>
            <a:fld id="{F67D2608-0DBB-4C6B-B14C-79CBC6A0787E}" type="slidenum">
              <a:rPr lang="en-US"/>
              <a:pPr/>
              <a:t>41</a:t>
            </a:fld>
            <a:endParaRPr lang="en-US"/>
          </a:p>
        </p:txBody>
      </p:sp>
      <p:sp>
        <p:nvSpPr>
          <p:cNvPr id="167938" name="Rectangle 2"/>
          <p:cNvSpPr>
            <a:spLocks noGrp="1" noRot="1" noChangeAspect="1" noChangeArrowheads="1" noTextEdit="1"/>
          </p:cNvSpPr>
          <p:nvPr>
            <p:ph type="sldImg"/>
          </p:nvPr>
        </p:nvSpPr>
        <p:spPr>
          <a:ln/>
        </p:spPr>
      </p:sp>
      <p:sp>
        <p:nvSpPr>
          <p:cNvPr id="167939" name="Rectangle 3"/>
          <p:cNvSpPr>
            <a:spLocks noGrp="1"/>
          </p:cNvSpPr>
          <p:nvPr>
            <p:ph type="body" idx="1"/>
          </p:nvPr>
        </p:nvSpPr>
        <p:spPr/>
        <p:txBody>
          <a:bodyPr/>
          <a:lstStyle/>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p:cNvSpPr>
          <p:nvPr>
            <p:ph type="sldNum" sz="quarter" idx="5"/>
          </p:nvPr>
        </p:nvSpPr>
        <p:spPr>
          <a:ln/>
        </p:spPr>
        <p:txBody>
          <a:bodyPr/>
          <a:lstStyle/>
          <a:p>
            <a:fld id="{6ABDD823-D0AD-4DAF-B008-E674E2A0E68E}" type="slidenum">
              <a:rPr lang="en-US"/>
              <a:pPr/>
              <a:t>42</a:t>
            </a:fld>
            <a:endParaRPr lang="en-US"/>
          </a:p>
        </p:txBody>
      </p:sp>
      <p:sp>
        <p:nvSpPr>
          <p:cNvPr id="168962" name="Rectangle 2"/>
          <p:cNvSpPr>
            <a:spLocks noGrp="1" noRot="1" noChangeAspect="1" noChangeArrowheads="1" noTextEdit="1"/>
          </p:cNvSpPr>
          <p:nvPr>
            <p:ph type="sldImg"/>
          </p:nvPr>
        </p:nvSpPr>
        <p:spPr>
          <a:ln/>
        </p:spPr>
      </p:sp>
      <p:sp>
        <p:nvSpPr>
          <p:cNvPr id="168963" name="Rectangle 3"/>
          <p:cNvSpPr>
            <a:spLocks noGrp="1"/>
          </p:cNvSpPr>
          <p:nvPr>
            <p:ph type="body" idx="1"/>
          </p:nvPr>
        </p:nvSpPr>
        <p:spPr/>
        <p:txBody>
          <a:bodyPr/>
          <a:lstStyle/>
          <a:p>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p:cNvSpPr>
          <p:nvPr>
            <p:ph type="sldNum" sz="quarter" idx="5"/>
          </p:nvPr>
        </p:nvSpPr>
        <p:spPr>
          <a:ln/>
        </p:spPr>
        <p:txBody>
          <a:bodyPr/>
          <a:lstStyle/>
          <a:p>
            <a:fld id="{CC90C647-58F6-4892-A4AE-B8E6E8005578}" type="slidenum">
              <a:rPr lang="en-US"/>
              <a:pPr/>
              <a:t>43</a:t>
            </a:fld>
            <a:endParaRPr lang="en-US"/>
          </a:p>
        </p:txBody>
      </p:sp>
      <p:sp>
        <p:nvSpPr>
          <p:cNvPr id="172034" name="Rectangle 2"/>
          <p:cNvSpPr>
            <a:spLocks noGrp="1" noRot="1" noChangeAspect="1" noChangeArrowheads="1" noTextEdit="1"/>
          </p:cNvSpPr>
          <p:nvPr>
            <p:ph type="sldImg"/>
          </p:nvPr>
        </p:nvSpPr>
        <p:spPr>
          <a:ln/>
        </p:spPr>
      </p:sp>
      <p:sp>
        <p:nvSpPr>
          <p:cNvPr id="172035" name="Rectangle 3"/>
          <p:cNvSpPr>
            <a:spLocks noGrp="1"/>
          </p:cNvSpPr>
          <p:nvPr>
            <p:ph type="body" idx="1"/>
          </p:nvPr>
        </p:nvSpPr>
        <p:spPr/>
        <p:txBody>
          <a:bodyPr/>
          <a:lstStyle/>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p:cNvSpPr>
          <p:nvPr>
            <p:ph type="sldNum" sz="quarter" idx="5"/>
          </p:nvPr>
        </p:nvSpPr>
        <p:spPr>
          <a:ln/>
        </p:spPr>
        <p:txBody>
          <a:bodyPr/>
          <a:lstStyle/>
          <a:p>
            <a:fld id="{36F4D5B6-8A34-4470-B15A-3B2A2BB81D6E}" type="slidenum">
              <a:rPr lang="en-US"/>
              <a:pPr/>
              <a:t>44</a:t>
            </a:fld>
            <a:endParaRPr lang="en-US"/>
          </a:p>
        </p:txBody>
      </p:sp>
      <p:sp>
        <p:nvSpPr>
          <p:cNvPr id="173058" name="Rectangle 2"/>
          <p:cNvSpPr>
            <a:spLocks noGrp="1" noRot="1" noChangeAspect="1" noChangeArrowheads="1" noTextEdit="1"/>
          </p:cNvSpPr>
          <p:nvPr>
            <p:ph type="sldImg"/>
          </p:nvPr>
        </p:nvSpPr>
        <p:spPr>
          <a:ln/>
        </p:spPr>
      </p:sp>
      <p:sp>
        <p:nvSpPr>
          <p:cNvPr id="173059" name="Rectangle 3"/>
          <p:cNvSpPr>
            <a:spLocks noGrp="1"/>
          </p:cNvSpPr>
          <p:nvPr>
            <p:ph type="body" idx="1"/>
          </p:nvPr>
        </p:nvSpPr>
        <p:spPr/>
        <p:txBody>
          <a:bodyPr/>
          <a:lstStyle/>
          <a:p>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7893F594-63F1-4DC4-BBB1-13DEDCEFE683}" type="slidenum">
              <a:rPr lang="en-AU" smtClean="0"/>
              <a:t>45</a:t>
            </a:fld>
            <a:endParaRPr lang="en-AU"/>
          </a:p>
        </p:txBody>
      </p:sp>
    </p:spTree>
    <p:extLst>
      <p:ext uri="{BB962C8B-B14F-4D97-AF65-F5344CB8AC3E}">
        <p14:creationId xmlns:p14="http://schemas.microsoft.com/office/powerpoint/2010/main" val="33965878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p:spPr>
        <p:txBody>
          <a:bodyPr/>
          <a:lstStyle>
            <a:lvl1pPr>
              <a:defRPr sz="2400">
                <a:solidFill>
                  <a:schemeClr val="tx1"/>
                </a:solidFill>
                <a:latin typeface="Arial" charset="0"/>
              </a:defRPr>
            </a:lvl1pPr>
            <a:lvl2pPr marL="742950" indent="-285750">
              <a:defRPr sz="2400">
                <a:solidFill>
                  <a:schemeClr val="tx1"/>
                </a:solidFill>
                <a:latin typeface="Arial" charset="0"/>
              </a:defRPr>
            </a:lvl2pPr>
            <a:lvl3pPr marL="1143000" indent="-228600">
              <a:defRPr sz="2400">
                <a:solidFill>
                  <a:schemeClr val="tx1"/>
                </a:solidFill>
                <a:latin typeface="Arial" charset="0"/>
              </a:defRPr>
            </a:lvl3pPr>
            <a:lvl4pPr marL="1600200" indent="-228600">
              <a:defRPr sz="2400">
                <a:solidFill>
                  <a:schemeClr val="tx1"/>
                </a:solidFill>
                <a:latin typeface="Arial" charset="0"/>
              </a:defRPr>
            </a:lvl4pPr>
            <a:lvl5pPr marL="2057400" indent="-22860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fld id="{1B51C192-2889-4A3B-926C-075034A0E77B}" type="slidenum">
              <a:rPr lang="en-US" sz="1200">
                <a:latin typeface="Times" pitchFamily="48" charset="0"/>
              </a:rPr>
              <a:pPr/>
              <a:t>46</a:t>
            </a:fld>
            <a:endParaRPr lang="en-US" sz="1200">
              <a:latin typeface="Times" pitchFamily="48" charset="0"/>
            </a:endParaRPr>
          </a:p>
        </p:txBody>
      </p:sp>
      <p:sp>
        <p:nvSpPr>
          <p:cNvPr id="45059" name="Rectangle 2"/>
          <p:cNvSpPr>
            <a:spLocks noGrp="1" noRot="1" noChangeAspect="1" noChangeArrowheads="1" noTextEdit="1"/>
          </p:cNvSpPr>
          <p:nvPr>
            <p:ph type="sldImg"/>
          </p:nvPr>
        </p:nvSpPr>
        <p:spPr>
          <a:solidFill>
            <a:srgbClr val="FFFFFF"/>
          </a:solidFill>
          <a:ln/>
        </p:spPr>
      </p:sp>
      <p:sp>
        <p:nvSpPr>
          <p:cNvPr id="45060"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1. (d)      3. Cell A as diffusion will follow the concentration gradient of the </a:t>
            </a:r>
            <a:r>
              <a:rPr lang="en-GB"/>
              <a:t>small fat-soluble </a:t>
            </a:r>
            <a:r>
              <a:rPr lang="en-GB" dirty="0"/>
              <a:t>molecules.</a:t>
            </a:r>
            <a:endParaRPr lang="en-AU" dirty="0"/>
          </a:p>
        </p:txBody>
      </p:sp>
      <p:sp>
        <p:nvSpPr>
          <p:cNvPr id="4" name="Slide Number Placeholder 3"/>
          <p:cNvSpPr>
            <a:spLocks noGrp="1"/>
          </p:cNvSpPr>
          <p:nvPr>
            <p:ph type="sldNum" sz="quarter" idx="5"/>
          </p:nvPr>
        </p:nvSpPr>
        <p:spPr/>
        <p:txBody>
          <a:bodyPr/>
          <a:lstStyle/>
          <a:p>
            <a:fld id="{7893F594-63F1-4DC4-BBB1-13DEDCEFE683}" type="slidenum">
              <a:rPr lang="en-AU" smtClean="0"/>
              <a:t>48</a:t>
            </a:fld>
            <a:endParaRPr lang="en-AU"/>
          </a:p>
        </p:txBody>
      </p:sp>
    </p:spTree>
    <p:extLst>
      <p:ext uri="{BB962C8B-B14F-4D97-AF65-F5344CB8AC3E}">
        <p14:creationId xmlns:p14="http://schemas.microsoft.com/office/powerpoint/2010/main" val="5985123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82879" y="182879"/>
            <a:ext cx="8778240" cy="6492240"/>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32485" y="882376"/>
            <a:ext cx="7475220" cy="2926080"/>
          </a:xfrm>
        </p:spPr>
        <p:txBody>
          <a:bodyPr anchor="b">
            <a:normAutofit/>
          </a:bodyPr>
          <a:lstStyle>
            <a:lvl1pPr algn="ctr">
              <a:lnSpc>
                <a:spcPct val="85000"/>
              </a:lnSpc>
              <a:defRPr sz="6000" b="1" cap="all"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282148" y="3869635"/>
            <a:ext cx="6575895" cy="1388165"/>
          </a:xfrm>
        </p:spPr>
        <p:txBody>
          <a:bodyPr>
            <a:normAutofit/>
          </a:bodyPr>
          <a:lstStyle>
            <a:lvl1pPr marL="0" indent="0" algn="ctr">
              <a:spcBef>
                <a:spcPts val="1000"/>
              </a:spcBef>
              <a:buNone/>
              <a:defRPr sz="1800">
                <a:solidFill>
                  <a:srgbClr val="FFFFFF"/>
                </a:solidFill>
              </a:defRPr>
            </a:lvl1pPr>
            <a:lvl2pPr marL="342900" indent="0" algn="ctr">
              <a:buNone/>
              <a:defRPr sz="18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rgbClr val="FFFFFF"/>
                </a:solidFill>
              </a:defRPr>
            </a:lvl1pPr>
          </a:lstStyle>
          <a:p>
            <a:fld id="{2233D26B-DFC2-4248-8ED0-AD3E108CBDD7}" type="datetime1">
              <a:rPr lang="en-US" smtClean="0"/>
              <a:pPr/>
              <a:t>7/24/2023</a:t>
            </a:fld>
            <a:endParaRPr lang="en-US"/>
          </a:p>
        </p:txBody>
      </p:sp>
      <p:sp>
        <p:nvSpPr>
          <p:cNvPr id="5" name="Footer Placeholder 4"/>
          <p:cNvSpPr>
            <a:spLocks noGrp="1"/>
          </p:cNvSpPr>
          <p:nvPr>
            <p:ph type="ftr" sz="quarter" idx="11"/>
          </p:nvPr>
        </p:nvSpPr>
        <p:spPr/>
        <p:txBody>
          <a:bodyPr/>
          <a:lstStyle>
            <a:lvl1pPr>
              <a:defRPr>
                <a:solidFill>
                  <a:srgbClr val="FFFFFF"/>
                </a:solidFill>
              </a:defRPr>
            </a:lvl1p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38237106-F2ED-405E-BC33-CC3CF426205F}" type="slidenum">
              <a:rPr lang="en-US" smtClean="0"/>
              <a:pPr/>
              <a:t>‹#›</a:t>
            </a:fld>
            <a:endParaRPr lang="en-US"/>
          </a:p>
        </p:txBody>
      </p:sp>
      <p:cxnSp>
        <p:nvCxnSpPr>
          <p:cNvPr id="8" name="Straight Connector 7"/>
          <p:cNvCxnSpPr/>
          <p:nvPr/>
        </p:nvCxnSpPr>
        <p:spPr>
          <a:xfrm>
            <a:off x="1483995" y="3733800"/>
            <a:ext cx="61722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63942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spcBef>
                <a:spcPts val="1000"/>
              </a:spcBef>
              <a:defRPr/>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3AFFF1-9C47-49F0-AE12-AF188F3F4E82}" type="datetime1">
              <a:rPr lang="en-US" smtClean="0"/>
              <a:pPr/>
              <a:t>7/24/2023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8237106-F2ED-405E-BC33-CC3CF426205F}" type="slidenum">
              <a:rPr lang="en-US" smtClean="0"/>
              <a:pPr/>
              <a:t>‹#›</a:t>
            </a:fld>
            <a:endParaRPr lang="en-US" dirty="0"/>
          </a:p>
        </p:txBody>
      </p:sp>
    </p:spTree>
    <p:extLst>
      <p:ext uri="{BB962C8B-B14F-4D97-AF65-F5344CB8AC3E}">
        <p14:creationId xmlns:p14="http://schemas.microsoft.com/office/powerpoint/2010/main" val="106094408"/>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29818" y="1173575"/>
            <a:ext cx="7475220" cy="2926080"/>
          </a:xfrm>
        </p:spPr>
        <p:txBody>
          <a:bodyPr anchor="b">
            <a:noAutofit/>
          </a:bodyPr>
          <a:lstStyle>
            <a:lvl1pPr algn="ctr">
              <a:lnSpc>
                <a:spcPct val="85000"/>
              </a:lnSpc>
              <a:defRPr sz="6000" b="0" cap="all" baseline="0"/>
            </a:lvl1pPr>
          </a:lstStyle>
          <a:p>
            <a:r>
              <a:rPr lang="en-US"/>
              <a:t>Click to edit Master title style</a:t>
            </a:r>
            <a:endParaRPr lang="en-US" dirty="0"/>
          </a:p>
        </p:txBody>
      </p:sp>
      <p:sp>
        <p:nvSpPr>
          <p:cNvPr id="3" name="Text Placeholder 2"/>
          <p:cNvSpPr>
            <a:spLocks noGrp="1"/>
          </p:cNvSpPr>
          <p:nvPr>
            <p:ph type="body" idx="1"/>
          </p:nvPr>
        </p:nvSpPr>
        <p:spPr>
          <a:xfrm>
            <a:off x="1282446" y="4154520"/>
            <a:ext cx="6576822" cy="1363806"/>
          </a:xfrm>
        </p:spPr>
        <p:txBody>
          <a:bodyPr anchor="t">
            <a:normAutofit/>
          </a:bodyPr>
          <a:lstStyle>
            <a:lvl1pPr marL="0" indent="0" algn="ctr">
              <a:buNone/>
              <a:defRPr sz="1800">
                <a:solidFill>
                  <a:schemeClr val="accent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9C96367-2F2B-4F6E-ACF4-15FA13738E10}" type="datetime1">
              <a:rPr lang="en-US" smtClean="0"/>
              <a:pPr/>
              <a:t>7/24/2023</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1523C92-45F4-4C30-810D-4886C1BA6969}" type="slidenum">
              <a:rPr lang="en-US" smtClean="0"/>
              <a:pPr/>
              <a:t>‹#›</a:t>
            </a:fld>
            <a:endParaRPr lang="en-US"/>
          </a:p>
        </p:txBody>
      </p:sp>
      <p:cxnSp>
        <p:nvCxnSpPr>
          <p:cNvPr id="7" name="Straight Connector 6"/>
          <p:cNvCxnSpPr/>
          <p:nvPr/>
        </p:nvCxnSpPr>
        <p:spPr>
          <a:xfrm>
            <a:off x="1485900" y="4020408"/>
            <a:ext cx="61722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20209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57250" y="2057399"/>
            <a:ext cx="3566160" cy="402336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00709" y="2057400"/>
            <a:ext cx="3566160" cy="402336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3AFFF1-9C47-49F0-AE12-AF188F3F4E82}" type="datetime1">
              <a:rPr lang="en-US" smtClean="0"/>
              <a:pPr/>
              <a:t>7/24/2023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8237106-F2ED-405E-BC33-CC3CF426205F}" type="slidenum">
              <a:rPr lang="en-US" smtClean="0"/>
              <a:pPr/>
              <a:t>‹#›</a:t>
            </a:fld>
            <a:endParaRPr lang="en-US" dirty="0"/>
          </a:p>
        </p:txBody>
      </p:sp>
    </p:spTree>
    <p:extLst>
      <p:ext uri="{BB962C8B-B14F-4D97-AF65-F5344CB8AC3E}">
        <p14:creationId xmlns:p14="http://schemas.microsoft.com/office/powerpoint/2010/main" val="1176658127"/>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857250" y="2001511"/>
            <a:ext cx="3566160" cy="777240"/>
          </a:xfrm>
        </p:spPr>
        <p:txBody>
          <a:bodyPr anchor="ctr"/>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857250" y="2721483"/>
            <a:ext cx="3566160" cy="338328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01880" y="1999032"/>
            <a:ext cx="3566160" cy="777240"/>
          </a:xfrm>
        </p:spPr>
        <p:txBody>
          <a:bodyPr anchor="ctr"/>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701880" y="2719322"/>
            <a:ext cx="3566160" cy="338328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B3AFFF1-9C47-49F0-AE12-AF188F3F4E82}" type="datetime1">
              <a:rPr lang="en-US" smtClean="0"/>
              <a:pPr/>
              <a:t>7/24/2023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8237106-F2ED-405E-BC33-CC3CF426205F}" type="slidenum">
              <a:rPr lang="en-US" smtClean="0"/>
              <a:pPr/>
              <a:t>‹#›</a:t>
            </a:fld>
            <a:endParaRPr lang="en-US" dirty="0"/>
          </a:p>
        </p:txBody>
      </p:sp>
    </p:spTree>
    <p:extLst>
      <p:ext uri="{BB962C8B-B14F-4D97-AF65-F5344CB8AC3E}">
        <p14:creationId xmlns:p14="http://schemas.microsoft.com/office/powerpoint/2010/main" val="361206378"/>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93939D4-B818-4372-B1EE-7CB6D5BBC74A}" type="datetime1">
              <a:rPr lang="en-US" smtClean="0"/>
              <a:pPr/>
              <a:t>7/24/2023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8237106-F2ED-405E-BC33-CC3CF426205F}" type="slidenum">
              <a:rPr lang="en-US" smtClean="0"/>
              <a:pPr/>
              <a:t>‹#›</a:t>
            </a:fld>
            <a:endParaRPr lang="en-US"/>
          </a:p>
        </p:txBody>
      </p:sp>
    </p:spTree>
    <p:extLst>
      <p:ext uri="{BB962C8B-B14F-4D97-AF65-F5344CB8AC3E}">
        <p14:creationId xmlns:p14="http://schemas.microsoft.com/office/powerpoint/2010/main" val="4923652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F35E438-4D0D-4834-B658-A90420491D98}" type="datetime1">
              <a:rPr lang="en-US" smtClean="0"/>
              <a:pPr/>
              <a:t>7/24/2023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8237106-F2ED-405E-BC33-CC3CF426205F}" type="slidenum">
              <a:rPr lang="en-US" smtClean="0"/>
              <a:pPr/>
              <a:t>‹#›</a:t>
            </a:fld>
            <a:endParaRPr lang="en-US"/>
          </a:p>
        </p:txBody>
      </p:sp>
    </p:spTree>
    <p:extLst>
      <p:ext uri="{BB962C8B-B14F-4D97-AF65-F5344CB8AC3E}">
        <p14:creationId xmlns:p14="http://schemas.microsoft.com/office/powerpoint/2010/main" val="15006340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7250" y="1097280"/>
            <a:ext cx="2834640" cy="1737360"/>
          </a:xfrm>
        </p:spPr>
        <p:txBody>
          <a:bodyPr anchor="b">
            <a:noAutofit/>
          </a:bodyPr>
          <a:lstStyle>
            <a:lvl1pPr>
              <a:lnSpc>
                <a:spcPct val="90000"/>
              </a:lnSpc>
              <a:defRPr sz="3000" b="0"/>
            </a:lvl1pPr>
          </a:lstStyle>
          <a:p>
            <a:r>
              <a:rPr lang="en-US"/>
              <a:t>Click to edit Master title style</a:t>
            </a:r>
            <a:endParaRPr lang="en-US" dirty="0"/>
          </a:p>
        </p:txBody>
      </p:sp>
      <p:sp>
        <p:nvSpPr>
          <p:cNvPr id="3" name="Content Placeholder 2"/>
          <p:cNvSpPr>
            <a:spLocks noGrp="1"/>
          </p:cNvSpPr>
          <p:nvPr>
            <p:ph idx="1"/>
          </p:nvPr>
        </p:nvSpPr>
        <p:spPr>
          <a:xfrm>
            <a:off x="4129314" y="1097280"/>
            <a:ext cx="4149638" cy="4663440"/>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7250" y="2834640"/>
            <a:ext cx="2834640" cy="2926080"/>
          </a:xfrm>
        </p:spPr>
        <p:txBody>
          <a:bodyPr>
            <a:normAutofit/>
          </a:bodyPr>
          <a:lstStyle>
            <a:lvl1pPr marL="0" indent="0">
              <a:lnSpc>
                <a:spcPct val="100000"/>
              </a:lnSpc>
              <a:spcBef>
                <a:spcPts val="800"/>
              </a:spcBef>
              <a:buNone/>
              <a:defRPr sz="1275"/>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Date Placeholder 4"/>
          <p:cNvSpPr>
            <a:spLocks noGrp="1"/>
          </p:cNvSpPr>
          <p:nvPr>
            <p:ph type="dt" sz="half" idx="10"/>
          </p:nvPr>
        </p:nvSpPr>
        <p:spPr/>
        <p:txBody>
          <a:bodyPr/>
          <a:lstStyle/>
          <a:p>
            <a:fld id="{8B3AFFF1-9C47-49F0-AE12-AF188F3F4E82}" type="datetime1">
              <a:rPr lang="en-US" smtClean="0"/>
              <a:pPr/>
              <a:t>7/24/2023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8237106-F2ED-405E-BC33-CC3CF426205F}" type="slidenum">
              <a:rPr lang="en-US" smtClean="0"/>
              <a:pPr/>
              <a:t>‹#›</a:t>
            </a:fld>
            <a:endParaRPr lang="en-US" dirty="0"/>
          </a:p>
        </p:txBody>
      </p:sp>
    </p:spTree>
    <p:extLst>
      <p:ext uri="{BB962C8B-B14F-4D97-AF65-F5344CB8AC3E}">
        <p14:creationId xmlns:p14="http://schemas.microsoft.com/office/powerpoint/2010/main" val="3583713838"/>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7250" y="1097280"/>
            <a:ext cx="2834640" cy="1737360"/>
          </a:xfrm>
        </p:spPr>
        <p:txBody>
          <a:bodyPr anchor="b">
            <a:noAutofit/>
          </a:bodyPr>
          <a:lstStyle>
            <a:lvl1pPr>
              <a:lnSpc>
                <a:spcPct val="90000"/>
              </a:lnSpc>
              <a:defRPr sz="3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4019107" y="1069847"/>
            <a:ext cx="4257703" cy="4645153"/>
          </a:xfrm>
        </p:spPr>
        <p:txBody>
          <a:bodyPr lIns="274320" tIns="182880" anchor="t">
            <a:normAutofit/>
          </a:bodyPr>
          <a:lstStyle>
            <a:lvl1pPr marL="0" indent="0">
              <a:buNone/>
              <a:defRPr sz="21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857250" y="2834640"/>
            <a:ext cx="2834640" cy="2880360"/>
          </a:xfrm>
        </p:spPr>
        <p:txBody>
          <a:bodyPr>
            <a:normAutofit/>
          </a:bodyPr>
          <a:lstStyle>
            <a:lvl1pPr marL="0" indent="0">
              <a:lnSpc>
                <a:spcPct val="100000"/>
              </a:lnSpc>
              <a:spcBef>
                <a:spcPts val="800"/>
              </a:spcBef>
              <a:buNone/>
              <a:defRPr sz="1275"/>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Date Placeholder 4"/>
          <p:cNvSpPr>
            <a:spLocks noGrp="1"/>
          </p:cNvSpPr>
          <p:nvPr>
            <p:ph type="dt" sz="half" idx="10"/>
          </p:nvPr>
        </p:nvSpPr>
        <p:spPr/>
        <p:txBody>
          <a:bodyPr/>
          <a:lstStyle/>
          <a:p>
            <a:fld id="{34A581E0-D653-4D78-A48F-41D80498BC7E}" type="datetime1">
              <a:rPr lang="en-US" smtClean="0"/>
              <a:pPr/>
              <a:t>7/24/2023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237106-F2ED-405E-BC33-CC3CF426205F}" type="slidenum">
              <a:rPr lang="en-US" smtClean="0"/>
              <a:pPr/>
              <a:t>‹#›</a:t>
            </a:fld>
            <a:endParaRPr lang="en-US"/>
          </a:p>
        </p:txBody>
      </p:sp>
    </p:spTree>
    <p:extLst>
      <p:ext uri="{BB962C8B-B14F-4D97-AF65-F5344CB8AC3E}">
        <p14:creationId xmlns:p14="http://schemas.microsoft.com/office/powerpoint/2010/main" val="19690959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694C003-38E8-486A-9BFD-47E55D87241C}" type="datetime1">
              <a:rPr lang="en-US" smtClean="0"/>
              <a:pPr/>
              <a:t>7/24/2023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237106-F2ED-405E-BC33-CC3CF426205F}" type="slidenum">
              <a:rPr lang="en-US" smtClean="0"/>
              <a:pPr/>
              <a:t>‹#›</a:t>
            </a:fld>
            <a:endParaRPr lang="en-US"/>
          </a:p>
        </p:txBody>
      </p:sp>
    </p:spTree>
    <p:extLst>
      <p:ext uri="{BB962C8B-B14F-4D97-AF65-F5344CB8AC3E}">
        <p14:creationId xmlns:p14="http://schemas.microsoft.com/office/powerpoint/2010/main" val="19172786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762000"/>
            <a:ext cx="1743075"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57250" y="762000"/>
            <a:ext cx="5572125" cy="54102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059EAA3-934B-41DB-B3B1-806F4BE5CC37}" type="datetime1">
              <a:rPr lang="en-US" smtClean="0"/>
              <a:pPr/>
              <a:t>7/24/2023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237106-F2ED-405E-BC33-CC3CF426205F}" type="slidenum">
              <a:rPr lang="en-US" smtClean="0"/>
              <a:pPr/>
              <a:t>‹#›</a:t>
            </a:fld>
            <a:endParaRPr lang="en-US"/>
          </a:p>
        </p:txBody>
      </p:sp>
    </p:spTree>
    <p:extLst>
      <p:ext uri="{BB962C8B-B14F-4D97-AF65-F5344CB8AC3E}">
        <p14:creationId xmlns:p14="http://schemas.microsoft.com/office/powerpoint/2010/main" val="35941341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7924800" cy="1143000"/>
          </a:xfrm>
        </p:spPr>
        <p:txBody>
          <a:bodyPr/>
          <a:lstStyle/>
          <a:p>
            <a:r>
              <a:rPr lang="en-US"/>
              <a:t>Click to edit Master title style</a:t>
            </a:r>
            <a:endParaRPr lang="en-US" dirty="0"/>
          </a:p>
        </p:txBody>
      </p:sp>
      <p:sp>
        <p:nvSpPr>
          <p:cNvPr id="4" name="Date Placeholder 3"/>
          <p:cNvSpPr>
            <a:spLocks noGrp="1"/>
          </p:cNvSpPr>
          <p:nvPr>
            <p:ph type="dt" sz="half" idx="10"/>
          </p:nvPr>
        </p:nvSpPr>
        <p:spPr/>
        <p:txBody>
          <a:bodyPr/>
          <a:lstStyle/>
          <a:p>
            <a:fld id="{8F97F932-D99A-4087-BFB1-EA42FAFC8D2C}" type="datetime1">
              <a:rPr lang="en-US" smtClean="0"/>
              <a:pPr/>
              <a:t>7/24/2023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237106-F2ED-405E-BC33-CC3CF426205F}" type="slidenum">
              <a:rPr lang="en-US" smtClean="0"/>
              <a:pPr/>
              <a:t>‹#›</a:t>
            </a:fld>
            <a:endParaRPr lang="en-US"/>
          </a:p>
        </p:txBody>
      </p:sp>
      <p:sp>
        <p:nvSpPr>
          <p:cNvPr id="8" name="Content Placeholder 7"/>
          <p:cNvSpPr>
            <a:spLocks noGrp="1"/>
          </p:cNvSpPr>
          <p:nvPr>
            <p:ph sz="quarter" idx="13"/>
          </p:nvPr>
        </p:nvSpPr>
        <p:spPr>
          <a:xfrm>
            <a:off x="609600" y="1600200"/>
            <a:ext cx="79248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246896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OverObj">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AU"/>
              <a:t>Click to edit Master title style</a:t>
            </a:r>
            <a:endParaRPr lang="en-US"/>
          </a:p>
        </p:txBody>
      </p:sp>
      <p:sp>
        <p:nvSpPr>
          <p:cNvPr id="3" name="Text Placeholder 2"/>
          <p:cNvSpPr>
            <a:spLocks noGrp="1"/>
          </p:cNvSpPr>
          <p:nvPr>
            <p:ph type="body" sz="half" idx="1"/>
          </p:nvPr>
        </p:nvSpPr>
        <p:spPr>
          <a:xfrm>
            <a:off x="457200" y="1600200"/>
            <a:ext cx="8229600" cy="2185988"/>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Content Placeholder 3"/>
          <p:cNvSpPr>
            <a:spLocks noGrp="1"/>
          </p:cNvSpPr>
          <p:nvPr>
            <p:ph sz="half" idx="2"/>
          </p:nvPr>
        </p:nvSpPr>
        <p:spPr>
          <a:xfrm>
            <a:off x="457200" y="3938588"/>
            <a:ext cx="8229600" cy="2187575"/>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8E4CC85E-7B0C-45EF-A5C0-47410B5F4A0E}" type="slidenum">
              <a:rPr lang="en-US"/>
              <a:pPr/>
              <a:t>‹#›</a:t>
            </a:fld>
            <a:endParaRPr lang="en-US"/>
          </a:p>
        </p:txBody>
      </p:sp>
    </p:spTree>
    <p:extLst>
      <p:ext uri="{BB962C8B-B14F-4D97-AF65-F5344CB8AC3E}">
        <p14:creationId xmlns:p14="http://schemas.microsoft.com/office/powerpoint/2010/main" val="6588152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p:nvPr/>
        </p:nvSpPr>
        <p:spPr>
          <a:xfrm>
            <a:off x="182880" y="182880"/>
            <a:ext cx="8778240" cy="649224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57250" y="609600"/>
            <a:ext cx="7406640" cy="13563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57251" y="2057400"/>
            <a:ext cx="7404653" cy="40386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7247" y="6223829"/>
            <a:ext cx="1746806" cy="365125"/>
          </a:xfrm>
          <a:prstGeom prst="rect">
            <a:avLst/>
          </a:prstGeom>
        </p:spPr>
        <p:txBody>
          <a:bodyPr vert="horz" lIns="91440" tIns="45720" rIns="91440" bIns="45720" rtlCol="0" anchor="ctr"/>
          <a:lstStyle>
            <a:lvl1pPr algn="l">
              <a:defRPr sz="1000">
                <a:solidFill>
                  <a:schemeClr val="accent1"/>
                </a:solidFill>
              </a:defRPr>
            </a:lvl1pPr>
          </a:lstStyle>
          <a:p>
            <a:fld id="{8B3AFFF1-9C47-49F0-AE12-AF188F3F4E82}" type="datetime1">
              <a:rPr lang="en-US" smtClean="0"/>
              <a:pPr/>
              <a:t>7/24/2023</a:t>
            </a:fld>
            <a:endParaRPr lang="en-US" dirty="0"/>
          </a:p>
        </p:txBody>
      </p:sp>
      <p:sp>
        <p:nvSpPr>
          <p:cNvPr id="5" name="Footer Placeholder 4"/>
          <p:cNvSpPr>
            <a:spLocks noGrp="1"/>
          </p:cNvSpPr>
          <p:nvPr>
            <p:ph type="ftr" sz="quarter" idx="3"/>
          </p:nvPr>
        </p:nvSpPr>
        <p:spPr>
          <a:xfrm>
            <a:off x="2961861" y="6223829"/>
            <a:ext cx="3538331" cy="365125"/>
          </a:xfrm>
          <a:prstGeom prst="rect">
            <a:avLst/>
          </a:prstGeom>
        </p:spPr>
        <p:txBody>
          <a:bodyPr vert="horz" lIns="91440" tIns="45720" rIns="91440" bIns="45720" rtlCol="0" anchor="ctr"/>
          <a:lstStyle>
            <a:lvl1pPr algn="ctr">
              <a:defRPr sz="1000">
                <a:solidFill>
                  <a:schemeClr val="accent1"/>
                </a:solidFill>
              </a:defRPr>
            </a:lvl1pPr>
          </a:lstStyle>
          <a:p>
            <a:endParaRPr lang="en-US" dirty="0"/>
          </a:p>
        </p:txBody>
      </p:sp>
      <p:sp>
        <p:nvSpPr>
          <p:cNvPr id="6" name="Slide Number Placeholder 5"/>
          <p:cNvSpPr>
            <a:spLocks noGrp="1"/>
          </p:cNvSpPr>
          <p:nvPr>
            <p:ph type="sldNum" sz="quarter" idx="4"/>
          </p:nvPr>
        </p:nvSpPr>
        <p:spPr>
          <a:xfrm>
            <a:off x="6997148" y="6223829"/>
            <a:ext cx="1279663" cy="365125"/>
          </a:xfrm>
          <a:prstGeom prst="rect">
            <a:avLst/>
          </a:prstGeom>
        </p:spPr>
        <p:txBody>
          <a:bodyPr vert="horz" lIns="91440" tIns="45720" rIns="91440" bIns="45720" rtlCol="0" anchor="ctr"/>
          <a:lstStyle>
            <a:lvl1pPr algn="r">
              <a:defRPr sz="1000">
                <a:solidFill>
                  <a:schemeClr val="accent1"/>
                </a:solidFill>
              </a:defRPr>
            </a:lvl1pPr>
          </a:lstStyle>
          <a:p>
            <a:fld id="{38237106-F2ED-405E-BC33-CC3CF426205F}" type="slidenum">
              <a:rPr lang="en-US" smtClean="0"/>
              <a:pPr/>
              <a:t>‹#›</a:t>
            </a:fld>
            <a:endParaRPr lang="en-US" dirty="0"/>
          </a:p>
        </p:txBody>
      </p:sp>
    </p:spTree>
    <p:extLst>
      <p:ext uri="{BB962C8B-B14F-4D97-AF65-F5344CB8AC3E}">
        <p14:creationId xmlns:p14="http://schemas.microsoft.com/office/powerpoint/2010/main" val="1819663992"/>
      </p:ext>
    </p:extLst>
  </p:cSld>
  <p:clrMap bg1="lt1" tx1="dk1" bg2="lt2" tx2="dk2" accent1="accent1" accent2="accent2" accent3="accent3" accent4="accent4" accent5="accent5" accent6="accent6" hlink="hlink" folHlink="folHlink"/>
  <p:sldLayoutIdLst>
    <p:sldLayoutId id="2147484799" r:id="rId1"/>
    <p:sldLayoutId id="2147484800" r:id="rId2"/>
    <p:sldLayoutId id="2147484801" r:id="rId3"/>
    <p:sldLayoutId id="2147484802" r:id="rId4"/>
    <p:sldLayoutId id="2147484803" r:id="rId5"/>
    <p:sldLayoutId id="2147484804" r:id="rId6"/>
    <p:sldLayoutId id="2147484805" r:id="rId7"/>
    <p:sldLayoutId id="2147484806" r:id="rId8"/>
    <p:sldLayoutId id="2147484807" r:id="rId9"/>
    <p:sldLayoutId id="2147484808" r:id="rId10"/>
    <p:sldLayoutId id="2147484809" r:id="rId11"/>
    <p:sldLayoutId id="2147484810" r:id="rId12"/>
    <p:sldLayoutId id="2147484811" r:id="rId13"/>
  </p:sldLayoutIdLst>
  <p:hf sldNum="0" hdr="0" ftr="0" dt="0"/>
  <p:txStyles>
    <p:titleStyle>
      <a:lvl1pPr algn="l" defTabSz="685800" rtl="0" eaLnBrk="1" latinLnBrk="0" hangingPunct="1">
        <a:lnSpc>
          <a:spcPct val="90000"/>
        </a:lnSpc>
        <a:spcBef>
          <a:spcPct val="0"/>
        </a:spcBef>
        <a:buNone/>
        <a:defRPr sz="4000" kern="1200">
          <a:solidFill>
            <a:schemeClr val="accent1"/>
          </a:solidFill>
          <a:latin typeface="+mj-lt"/>
          <a:ea typeface="+mj-ea"/>
          <a:cs typeface="+mj-cs"/>
        </a:defRPr>
      </a:lvl1pPr>
    </p:titleStyle>
    <p:bodyStyle>
      <a:lvl1pPr marL="171450" indent="-137160" algn="l" defTabSz="685800" rtl="0" eaLnBrk="1" latinLnBrk="0" hangingPunct="1">
        <a:lnSpc>
          <a:spcPct val="90000"/>
        </a:lnSpc>
        <a:spcBef>
          <a:spcPts val="1000"/>
        </a:spcBef>
        <a:buClr>
          <a:schemeClr val="accent1"/>
        </a:buClr>
        <a:buSzPct val="80000"/>
        <a:buFont typeface="Corbel" pitchFamily="34" charset="0"/>
        <a:buChar char="•"/>
        <a:defRPr sz="2000" kern="1200">
          <a:solidFill>
            <a:schemeClr val="accent1"/>
          </a:solidFill>
          <a:latin typeface="+mn-lt"/>
          <a:ea typeface="+mn-ea"/>
          <a:cs typeface="+mn-cs"/>
        </a:defRPr>
      </a:lvl1pPr>
      <a:lvl2pPr marL="34290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800" kern="1200">
          <a:solidFill>
            <a:schemeClr val="accent1"/>
          </a:solidFill>
          <a:latin typeface="+mn-lt"/>
          <a:ea typeface="+mn-ea"/>
          <a:cs typeface="+mn-cs"/>
        </a:defRPr>
      </a:lvl2pPr>
      <a:lvl3pPr marL="54864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600" kern="1200">
          <a:solidFill>
            <a:schemeClr val="accent1"/>
          </a:solidFill>
          <a:latin typeface="+mn-lt"/>
          <a:ea typeface="+mn-ea"/>
          <a:cs typeface="+mn-cs"/>
        </a:defRPr>
      </a:lvl3pPr>
      <a:lvl4pPr marL="75438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4pPr>
      <a:lvl5pPr marL="92012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5pPr>
      <a:lvl6pPr marL="11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6pPr>
      <a:lvl7pPr marL="13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7pPr>
      <a:lvl8pPr marL="15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8pPr>
      <a:lvl9pPr marL="17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audio" Target="../media/audio3.bin"/><Relationship Id="rId4" Type="http://schemas.openxmlformats.org/officeDocument/2006/relationships/audio" Target="../media/audio2.bin"/></Relationships>
</file>

<file path=ppt/slides/_rels/slide1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audio" Target="../media/audio4.bin"/><Relationship Id="rId4" Type="http://schemas.openxmlformats.org/officeDocument/2006/relationships/audio" Target="../media/audio3.bin"/></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audio" Target="../media/audio3.bin"/><Relationship Id="rId4" Type="http://schemas.openxmlformats.org/officeDocument/2006/relationships/audio" Target="../media/audio5.bin"/></Relationships>
</file>

<file path=ppt/slides/_rels/slide1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9.png"/><Relationship Id="rId5" Type="http://schemas.openxmlformats.org/officeDocument/2006/relationships/image" Target="../media/image7.png"/><Relationship Id="rId4" Type="http://schemas.openxmlformats.org/officeDocument/2006/relationships/audio" Target="../media/audio6.bin"/></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audio" Target="../media/audio3.bin"/><Relationship Id="rId2" Type="http://schemas.openxmlformats.org/officeDocument/2006/relationships/audio" Target="../media/audio6.bin"/><Relationship Id="rId1" Type="http://schemas.openxmlformats.org/officeDocument/2006/relationships/slideLayout" Target="../slideLayouts/slideLayout12.xml"/><Relationship Id="rId5" Type="http://schemas.openxmlformats.org/officeDocument/2006/relationships/image" Target="../media/image7.png"/><Relationship Id="rId4" Type="http://schemas.openxmlformats.org/officeDocument/2006/relationships/audio" Target="../media/audio7.bin"/></Relationships>
</file>

<file path=ppt/slides/_rels/slide2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e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gif"/><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2.xml"/><Relationship Id="rId4" Type="http://schemas.openxmlformats.org/officeDocument/2006/relationships/image" Target="../media/image26.png"/></Relationships>
</file>

<file path=ppt/slides/_rels/slide2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hyperlink" Target="https://www.youtube.com/watch?v=SSS3EtKAzYc" TargetMode="Externa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audio" Target="../media/audio5.bin"/><Relationship Id="rId2" Type="http://schemas.openxmlformats.org/officeDocument/2006/relationships/audio" Target="../media/audio6.bin"/><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audio" Target="../media/audio4.bin"/><Relationship Id="rId4" Type="http://schemas.openxmlformats.org/officeDocument/2006/relationships/audio" Target="../media/audio7.bin"/></Relationships>
</file>

<file path=ppt/slides/_rels/slide3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3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38.png"/><Relationship Id="rId5" Type="http://schemas.openxmlformats.org/officeDocument/2006/relationships/image" Target="../media/image36.png"/><Relationship Id="rId4" Type="http://schemas.openxmlformats.org/officeDocument/2006/relationships/image" Target="../media/image35.png"/></Relationships>
</file>

<file path=ppt/slides/_rels/slide3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image" Target="../media/image36.png"/><Relationship Id="rId5" Type="http://schemas.openxmlformats.org/officeDocument/2006/relationships/image" Target="../media/image39.png"/><Relationship Id="rId4" Type="http://schemas.openxmlformats.org/officeDocument/2006/relationships/image" Target="../media/image35.png"/></Relationships>
</file>

<file path=ppt/slides/_rels/slide38.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image" Target="../media/image42.png"/></Relationships>
</file>

<file path=ppt/slides/_rels/slide4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19.xml"/><Relationship Id="rId1" Type="http://schemas.openxmlformats.org/officeDocument/2006/relationships/slideLayout" Target="../slideLayouts/slideLayout12.xml"/><Relationship Id="rId4" Type="http://schemas.openxmlformats.org/officeDocument/2006/relationships/image" Target="../media/image45.jpeg"/></Relationships>
</file>

<file path=ppt/slides/_rels/slide42.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3" Type="http://schemas.openxmlformats.org/officeDocument/2006/relationships/hyperlink" Target="http://www.you2repeat.com/watch/?v=VY0mZUDvbH4" TargetMode="External"/><Relationship Id="rId7" Type="http://schemas.openxmlformats.org/officeDocument/2006/relationships/hyperlink" Target="http://highered.mheducation.com/sites/007337797x/student_view0/chapter5/animation_quiz_-_endocytosis_and_exocytosis.html" TargetMode="External"/><Relationship Id="rId2" Type="http://schemas.openxmlformats.org/officeDocument/2006/relationships/notesSlide" Target="../notesSlides/notesSlide23.xml"/><Relationship Id="rId1" Type="http://schemas.openxmlformats.org/officeDocument/2006/relationships/slideLayout" Target="../slideLayouts/slideLayout12.xml"/><Relationship Id="rId6" Type="http://schemas.openxmlformats.org/officeDocument/2006/relationships/hyperlink" Target="https://www.youtube.com/watch?v=JGF6ry0SWPs" TargetMode="External"/><Relationship Id="rId5" Type="http://schemas.openxmlformats.org/officeDocument/2006/relationships/hyperlink" Target="http://highered.mheducation.com/sites/0072495855/student_view0/chapter2/animation__how_osmosis_works.html" TargetMode="External"/><Relationship Id="rId4" Type="http://schemas.openxmlformats.org/officeDocument/2006/relationships/hyperlink" Target="https://www.youtube.com/watch?v=vKGN_Zhz8AY" TargetMode="External"/></Relationships>
</file>

<file path=ppt/slides/_rels/slide4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4.xml"/><Relationship Id="rId1" Type="http://schemas.openxmlformats.org/officeDocument/2006/relationships/slideLayout" Target="../slideLayouts/slideLayout12.xml"/><Relationship Id="rId5" Type="http://schemas.openxmlformats.org/officeDocument/2006/relationships/image" Target="../media/image48.png"/><Relationship Id="rId4" Type="http://schemas.openxmlformats.org/officeDocument/2006/relationships/audio" Target="../media/audio8.bin"/></Relationships>
</file>

<file path=ppt/slides/_rels/slide4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3" Type="http://schemas.openxmlformats.org/officeDocument/2006/relationships/image" Target="../media/image50.jpg"/><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51.jpg"/></Relationships>
</file>

<file path=ppt/slides/_rels/slide49.xml.rels><?xml version="1.0" encoding="UTF-8" standalone="yes"?>
<Relationships xmlns="http://schemas.openxmlformats.org/package/2006/relationships"><Relationship Id="rId2" Type="http://schemas.openxmlformats.org/officeDocument/2006/relationships/image" Target="../media/image52.jp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a:xfrm>
            <a:off x="899592" y="2564904"/>
            <a:ext cx="7772400" cy="2622153"/>
          </a:xfrm>
        </p:spPr>
        <p:txBody>
          <a:bodyPr>
            <a:normAutofit/>
          </a:bodyPr>
          <a:lstStyle/>
          <a:p>
            <a:r>
              <a:rPr lang="en-AU" sz="4400" dirty="0">
                <a:latin typeface="Arial" panose="020B0604020202020204" pitchFamily="34" charset="0"/>
                <a:cs typeface="Arial" panose="020B0604020202020204" pitchFamily="34" charset="0"/>
              </a:rPr>
              <a:t>11ATAR Biology</a:t>
            </a:r>
            <a:br>
              <a:rPr lang="en-AU" sz="4400" dirty="0">
                <a:latin typeface="Arial" panose="020B0604020202020204" pitchFamily="34" charset="0"/>
                <a:cs typeface="Arial" panose="020B0604020202020204" pitchFamily="34" charset="0"/>
              </a:rPr>
            </a:br>
            <a:br>
              <a:rPr lang="en-AU" sz="3600" dirty="0">
                <a:latin typeface="Arial" panose="020B0604020202020204" pitchFamily="34" charset="0"/>
                <a:cs typeface="Arial" panose="020B0604020202020204" pitchFamily="34" charset="0"/>
              </a:rPr>
            </a:br>
            <a:r>
              <a:rPr lang="en-AU" sz="3600" dirty="0">
                <a:latin typeface="Arial" panose="020B0604020202020204" pitchFamily="34" charset="0"/>
                <a:cs typeface="Arial" panose="020B0604020202020204" pitchFamily="34" charset="0"/>
              </a:rPr>
              <a:t>Week 21 –</a:t>
            </a:r>
            <a:br>
              <a:rPr lang="en-AU" sz="3600" dirty="0">
                <a:latin typeface="Arial" panose="020B0604020202020204" pitchFamily="34" charset="0"/>
                <a:cs typeface="Arial" panose="020B0604020202020204" pitchFamily="34" charset="0"/>
              </a:rPr>
            </a:br>
            <a:r>
              <a:rPr lang="en-AU" sz="3600" dirty="0">
                <a:latin typeface="Arial" panose="020B0604020202020204" pitchFamily="34" charset="0"/>
                <a:cs typeface="Arial" panose="020B0604020202020204" pitchFamily="34" charset="0"/>
              </a:rPr>
              <a:t>Exchange of Materials</a:t>
            </a:r>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5856" y="476672"/>
            <a:ext cx="2835975" cy="2160240"/>
          </a:xfrm>
          <a:prstGeom prst="rect">
            <a:avLst/>
          </a:prstGeom>
          <a:noFill/>
          <a:ln>
            <a:noFill/>
          </a:ln>
          <a:effectLst/>
          <a:extLst>
            <a:ext uri="{909E8E84-426E-40DD-AFC4-6F175D3DCCD1}">
              <a14:hiddenFill xmlns:a14="http://schemas.microsoft.com/office/drawing/2010/main">
                <a:solidFill>
                  <a:srgbClr val="FFEA18"/>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571737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59628" y="325509"/>
            <a:ext cx="7024744" cy="1143000"/>
          </a:xfrm>
        </p:spPr>
        <p:txBody>
          <a:bodyPr>
            <a:normAutofit/>
          </a:bodyPr>
          <a:lstStyle/>
          <a:p>
            <a:r>
              <a:rPr lang="en-AU" dirty="0"/>
              <a:t>Year 11 Biology Work Schedule</a:t>
            </a:r>
          </a:p>
        </p:txBody>
      </p:sp>
      <p:sp>
        <p:nvSpPr>
          <p:cNvPr id="3" name="Content Placeholder 2"/>
          <p:cNvSpPr>
            <a:spLocks noGrp="1"/>
          </p:cNvSpPr>
          <p:nvPr>
            <p:ph sz="quarter" idx="1"/>
          </p:nvPr>
        </p:nvSpPr>
        <p:spPr>
          <a:xfrm>
            <a:off x="628650" y="1377641"/>
            <a:ext cx="7886700" cy="2808312"/>
          </a:xfrm>
        </p:spPr>
        <p:txBody>
          <a:bodyPr>
            <a:normAutofit/>
          </a:bodyPr>
          <a:lstStyle/>
          <a:p>
            <a:pPr marL="0" indent="0">
              <a:buNone/>
            </a:pPr>
            <a:r>
              <a:rPr lang="en-AU" altLang="en-US" sz="2000" dirty="0"/>
              <a:t>It is important to remain on schedule during this Semester.</a:t>
            </a:r>
          </a:p>
          <a:p>
            <a:pPr marL="0" indent="0">
              <a:buNone/>
            </a:pPr>
            <a:r>
              <a:rPr lang="en-AU" altLang="en-US" sz="2000" dirty="0"/>
              <a:t>Moodle</a:t>
            </a:r>
          </a:p>
          <a:p>
            <a:r>
              <a:rPr lang="en-AU" altLang="en-US" sz="2000" dirty="0"/>
              <a:t>Have you visited Moodle this week?        Yes  /   No</a:t>
            </a:r>
          </a:p>
          <a:p>
            <a:pPr marL="0" indent="0">
              <a:buNone/>
            </a:pPr>
            <a:r>
              <a:rPr lang="en-AU" altLang="en-US" sz="2000" dirty="0"/>
              <a:t>Tasks</a:t>
            </a:r>
          </a:p>
          <a:p>
            <a:r>
              <a:rPr lang="en-AU" altLang="en-US" sz="2000" dirty="0"/>
              <a:t>Are you on schedule?		    	        Yes  /   No</a:t>
            </a:r>
          </a:p>
          <a:p>
            <a:r>
              <a:rPr lang="en-AU" altLang="en-US" sz="2000" dirty="0"/>
              <a:t>When is your next task due?</a:t>
            </a:r>
          </a:p>
          <a:p>
            <a:endParaRPr lang="en-AU" dirty="0"/>
          </a:p>
        </p:txBody>
      </p:sp>
      <p:pic>
        <p:nvPicPr>
          <p:cNvPr id="5" name="Picture 4"/>
          <p:cNvPicPr>
            <a:picLocks noChangeAspect="1"/>
          </p:cNvPicPr>
          <p:nvPr/>
        </p:nvPicPr>
        <p:blipFill>
          <a:blip r:embed="rId2"/>
          <a:stretch>
            <a:fillRect/>
          </a:stretch>
        </p:blipFill>
        <p:spPr>
          <a:xfrm>
            <a:off x="111407" y="4077072"/>
            <a:ext cx="8921186" cy="2488278"/>
          </a:xfrm>
          <a:prstGeom prst="rect">
            <a:avLst/>
          </a:prstGeom>
        </p:spPr>
      </p:pic>
    </p:spTree>
    <p:extLst>
      <p:ext uri="{BB962C8B-B14F-4D97-AF65-F5344CB8AC3E}">
        <p14:creationId xmlns:p14="http://schemas.microsoft.com/office/powerpoint/2010/main" val="28051604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Review from last term</a:t>
            </a:r>
          </a:p>
        </p:txBody>
      </p:sp>
      <p:sp>
        <p:nvSpPr>
          <p:cNvPr id="3" name="Content Placeholder 2"/>
          <p:cNvSpPr>
            <a:spLocks noGrp="1"/>
          </p:cNvSpPr>
          <p:nvPr>
            <p:ph sz="quarter" idx="13"/>
          </p:nvPr>
        </p:nvSpPr>
        <p:spPr/>
        <p:txBody>
          <a:bodyPr>
            <a:normAutofit/>
          </a:bodyPr>
          <a:lstStyle/>
          <a:p>
            <a:pPr marL="0" indent="0">
              <a:buNone/>
            </a:pPr>
            <a:r>
              <a:rPr lang="en-AU" sz="2000" dirty="0"/>
              <a:t>What do you remember?</a:t>
            </a:r>
          </a:p>
          <a:p>
            <a:pPr marL="0" indent="0">
              <a:buNone/>
            </a:pPr>
            <a:endParaRPr lang="en-AU" dirty="0"/>
          </a:p>
          <a:p>
            <a:pPr marL="0" indent="0">
              <a:buNone/>
            </a:pPr>
            <a:endParaRPr lang="en-AU" sz="2000" dirty="0"/>
          </a:p>
          <a:p>
            <a:pPr marL="0" indent="0">
              <a:buNone/>
            </a:pPr>
            <a:endParaRPr lang="en-AU" dirty="0"/>
          </a:p>
          <a:p>
            <a:pPr marL="0" indent="0">
              <a:buNone/>
            </a:pPr>
            <a:endParaRPr lang="en-AU" sz="2000" dirty="0"/>
          </a:p>
          <a:p>
            <a:pPr marL="0" indent="0">
              <a:buNone/>
            </a:pPr>
            <a:endParaRPr lang="en-AU" sz="2000" dirty="0"/>
          </a:p>
          <a:p>
            <a:pPr marL="0" indent="0">
              <a:buNone/>
            </a:pPr>
            <a:r>
              <a:rPr lang="en-AU" sz="2000" dirty="0"/>
              <a:t>Review</a:t>
            </a:r>
          </a:p>
          <a:p>
            <a:r>
              <a:rPr lang="en-AU" sz="2000" dirty="0"/>
              <a:t>Animal vs Plant cell</a:t>
            </a:r>
          </a:p>
          <a:p>
            <a:r>
              <a:rPr lang="en-AU" sz="2000" dirty="0"/>
              <a:t>Organelles and their functions</a:t>
            </a:r>
          </a:p>
          <a:p>
            <a:r>
              <a:rPr lang="en-AU" sz="2000" dirty="0"/>
              <a:t>Structure of cell membrane</a:t>
            </a:r>
          </a:p>
        </p:txBody>
      </p:sp>
    </p:spTree>
    <p:extLst>
      <p:ext uri="{BB962C8B-B14F-4D97-AF65-F5344CB8AC3E}">
        <p14:creationId xmlns:p14="http://schemas.microsoft.com/office/powerpoint/2010/main" val="41712490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600" y="404664"/>
            <a:ext cx="7290054" cy="1032096"/>
          </a:xfrm>
        </p:spPr>
        <p:txBody>
          <a:bodyPr>
            <a:normAutofit/>
          </a:bodyPr>
          <a:lstStyle/>
          <a:p>
            <a:r>
              <a:rPr lang="en-AU" altLang="en-US" dirty="0">
                <a:solidFill>
                  <a:srgbClr val="0070C0"/>
                </a:solidFill>
              </a:rPr>
              <a:t>Plant and Animal cells</a:t>
            </a:r>
            <a:endParaRPr lang="en-AU" dirty="0">
              <a:solidFill>
                <a:srgbClr val="0070C0"/>
              </a:solidFill>
            </a:endParaRPr>
          </a:p>
        </p:txBody>
      </p:sp>
      <p:pic>
        <p:nvPicPr>
          <p:cNvPr id="3" name="Picture 2"/>
          <p:cNvPicPr>
            <a:picLocks noChangeAspect="1"/>
          </p:cNvPicPr>
          <p:nvPr/>
        </p:nvPicPr>
        <p:blipFill>
          <a:blip r:embed="rId2"/>
          <a:stretch>
            <a:fillRect/>
          </a:stretch>
        </p:blipFill>
        <p:spPr>
          <a:xfrm>
            <a:off x="-183219" y="2060848"/>
            <a:ext cx="4991283" cy="3601710"/>
          </a:xfrm>
          <a:prstGeom prst="rect">
            <a:avLst/>
          </a:prstGeom>
        </p:spPr>
      </p:pic>
      <p:pic>
        <p:nvPicPr>
          <p:cNvPr id="4" name="Picture 3">
            <a:extLst>
              <a:ext uri="{FF2B5EF4-FFF2-40B4-BE49-F238E27FC236}">
                <a16:creationId xmlns:a16="http://schemas.microsoft.com/office/drawing/2014/main" id="{664AE390-FBB5-469B-D270-BF8873A2F16C}"/>
              </a:ext>
            </a:extLst>
          </p:cNvPr>
          <p:cNvPicPr>
            <a:picLocks noChangeAspect="1"/>
          </p:cNvPicPr>
          <p:nvPr/>
        </p:nvPicPr>
        <p:blipFill>
          <a:blip r:embed="rId3"/>
          <a:stretch>
            <a:fillRect/>
          </a:stretch>
        </p:blipFill>
        <p:spPr>
          <a:xfrm>
            <a:off x="4569812" y="2204864"/>
            <a:ext cx="4556542" cy="3523464"/>
          </a:xfrm>
          <a:prstGeom prst="rect">
            <a:avLst/>
          </a:prstGeom>
        </p:spPr>
      </p:pic>
    </p:spTree>
    <p:extLst>
      <p:ext uri="{BB962C8B-B14F-4D97-AF65-F5344CB8AC3E}">
        <p14:creationId xmlns:p14="http://schemas.microsoft.com/office/powerpoint/2010/main" val="28124208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768096" y="585216"/>
            <a:ext cx="7290054" cy="1331616"/>
          </a:xfrm>
        </p:spPr>
        <p:txBody>
          <a:bodyPr>
            <a:normAutofit/>
          </a:bodyPr>
          <a:lstStyle/>
          <a:p>
            <a:r>
              <a:rPr lang="en-US" dirty="0">
                <a:solidFill>
                  <a:srgbClr val="0070C0"/>
                </a:solidFill>
              </a:rPr>
              <a:t>Plant and Animal Cell Differences</a:t>
            </a:r>
          </a:p>
        </p:txBody>
      </p:sp>
      <p:sp>
        <p:nvSpPr>
          <p:cNvPr id="23555" name="Rectangle 3"/>
          <p:cNvSpPr>
            <a:spLocks noGrp="1" noChangeArrowheads="1"/>
          </p:cNvSpPr>
          <p:nvPr>
            <p:ph idx="1"/>
          </p:nvPr>
        </p:nvSpPr>
        <p:spPr/>
        <p:txBody>
          <a:bodyPr/>
          <a:lstStyle/>
          <a:p>
            <a:r>
              <a:rPr lang="en-US" dirty="0">
                <a:latin typeface="Calibri" panose="020F0502020204030204" pitchFamily="34" charset="0"/>
                <a:cs typeface="Calibri" panose="020F0502020204030204" pitchFamily="34" charset="0"/>
              </a:rPr>
              <a:t>Plant cells have rigid cell walls.</a:t>
            </a:r>
          </a:p>
          <a:p>
            <a:r>
              <a:rPr lang="en-US" dirty="0">
                <a:latin typeface="Calibri" panose="020F0502020204030204" pitchFamily="34" charset="0"/>
                <a:cs typeface="Calibri" panose="020F0502020204030204" pitchFamily="34" charset="0"/>
              </a:rPr>
              <a:t>Plant cells contain chloroplasts which contain chlorophyll, a green pigment needed for photosynthesis.</a:t>
            </a:r>
          </a:p>
          <a:p>
            <a:r>
              <a:rPr lang="en-US" dirty="0">
                <a:latin typeface="Calibri" panose="020F0502020204030204" pitchFamily="34" charset="0"/>
                <a:cs typeface="Calibri" panose="020F0502020204030204" pitchFamily="34" charset="0"/>
              </a:rPr>
              <a:t>Plant cells contain a large vacuole; animal cells never contain large vacuoles.</a:t>
            </a:r>
          </a:p>
          <a:p>
            <a:r>
              <a:rPr lang="en-US" dirty="0">
                <a:latin typeface="Calibri" panose="020F0502020204030204" pitchFamily="34" charset="0"/>
                <a:cs typeface="Calibri" panose="020F0502020204030204" pitchFamily="34" charset="0"/>
              </a:rPr>
              <a:t>Plant cells are regular in shape; animal cells are irregular in shape.</a:t>
            </a:r>
          </a:p>
          <a:p>
            <a:r>
              <a:rPr lang="en-US" dirty="0">
                <a:latin typeface="Calibri" panose="020F0502020204030204" pitchFamily="34" charset="0"/>
                <a:cs typeface="Calibri" panose="020F0502020204030204" pitchFamily="34" charset="0"/>
              </a:rPr>
              <a:t>Animal cells often have cilia or flagella and lysosomes; plant cells do not.</a:t>
            </a:r>
          </a:p>
        </p:txBody>
      </p:sp>
    </p:spTree>
    <p:extLst>
      <p:ext uri="{BB962C8B-B14F-4D97-AF65-F5344CB8AC3E}">
        <p14:creationId xmlns:p14="http://schemas.microsoft.com/office/powerpoint/2010/main" val="629835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5" fill="hold" grpId="0" nodeType="afterEffect">
                                  <p:stCondLst>
                                    <p:cond delay="3000"/>
                                  </p:stCondLst>
                                  <p:childTnLst>
                                    <p:set>
                                      <p:cBhvr>
                                        <p:cTn id="6" dur="1" fill="hold">
                                          <p:stCondLst>
                                            <p:cond delay="0"/>
                                          </p:stCondLst>
                                        </p:cTn>
                                        <p:tgtEl>
                                          <p:spTgt spid="23555">
                                            <p:txEl>
                                              <p:pRg st="0" end="0"/>
                                            </p:txEl>
                                          </p:spTgt>
                                        </p:tgtEl>
                                        <p:attrNameLst>
                                          <p:attrName>style.visibility</p:attrName>
                                        </p:attrNameLst>
                                      </p:cBhvr>
                                      <p:to>
                                        <p:strVal val="visible"/>
                                      </p:to>
                                    </p:set>
                                    <p:animEffect transition="in" filter="blinds(vertical)">
                                      <p:cBhvr>
                                        <p:cTn id="7" dur="500"/>
                                        <p:tgtEl>
                                          <p:spTgt spid="23555">
                                            <p:txEl>
                                              <p:pRg st="0" end="0"/>
                                            </p:txEl>
                                          </p:spTgt>
                                        </p:tgtEl>
                                      </p:cBhvr>
                                    </p:animEffect>
                                  </p:childTnLst>
                                </p:cTn>
                              </p:par>
                            </p:childTnLst>
                          </p:cTn>
                        </p:par>
                        <p:par>
                          <p:cTn id="8" fill="hold">
                            <p:stCondLst>
                              <p:cond delay="3500"/>
                            </p:stCondLst>
                            <p:childTnLst>
                              <p:par>
                                <p:cTn id="9" presetID="3" presetClass="entr" presetSubtype="5" fill="hold" grpId="0" nodeType="afterEffect">
                                  <p:stCondLst>
                                    <p:cond delay="3000"/>
                                  </p:stCondLst>
                                  <p:childTnLst>
                                    <p:set>
                                      <p:cBhvr>
                                        <p:cTn id="10" dur="1" fill="hold">
                                          <p:stCondLst>
                                            <p:cond delay="0"/>
                                          </p:stCondLst>
                                        </p:cTn>
                                        <p:tgtEl>
                                          <p:spTgt spid="23555">
                                            <p:txEl>
                                              <p:pRg st="1" end="1"/>
                                            </p:txEl>
                                          </p:spTgt>
                                        </p:tgtEl>
                                        <p:attrNameLst>
                                          <p:attrName>style.visibility</p:attrName>
                                        </p:attrNameLst>
                                      </p:cBhvr>
                                      <p:to>
                                        <p:strVal val="visible"/>
                                      </p:to>
                                    </p:set>
                                    <p:animEffect transition="in" filter="blinds(vertical)">
                                      <p:cBhvr>
                                        <p:cTn id="11" dur="500"/>
                                        <p:tgtEl>
                                          <p:spTgt spid="23555">
                                            <p:txEl>
                                              <p:pRg st="1" end="1"/>
                                            </p:txEl>
                                          </p:spTgt>
                                        </p:tgtEl>
                                      </p:cBhvr>
                                    </p:animEffect>
                                  </p:childTnLst>
                                </p:cTn>
                              </p:par>
                            </p:childTnLst>
                          </p:cTn>
                        </p:par>
                        <p:par>
                          <p:cTn id="12" fill="hold">
                            <p:stCondLst>
                              <p:cond delay="7000"/>
                            </p:stCondLst>
                            <p:childTnLst>
                              <p:par>
                                <p:cTn id="13" presetID="3" presetClass="entr" presetSubtype="5" fill="hold" grpId="0" nodeType="afterEffect">
                                  <p:stCondLst>
                                    <p:cond delay="3000"/>
                                  </p:stCondLst>
                                  <p:childTnLst>
                                    <p:set>
                                      <p:cBhvr>
                                        <p:cTn id="14" dur="1" fill="hold">
                                          <p:stCondLst>
                                            <p:cond delay="0"/>
                                          </p:stCondLst>
                                        </p:cTn>
                                        <p:tgtEl>
                                          <p:spTgt spid="23555">
                                            <p:txEl>
                                              <p:pRg st="2" end="2"/>
                                            </p:txEl>
                                          </p:spTgt>
                                        </p:tgtEl>
                                        <p:attrNameLst>
                                          <p:attrName>style.visibility</p:attrName>
                                        </p:attrNameLst>
                                      </p:cBhvr>
                                      <p:to>
                                        <p:strVal val="visible"/>
                                      </p:to>
                                    </p:set>
                                    <p:animEffect transition="in" filter="blinds(vertical)">
                                      <p:cBhvr>
                                        <p:cTn id="15" dur="500"/>
                                        <p:tgtEl>
                                          <p:spTgt spid="23555">
                                            <p:txEl>
                                              <p:pRg st="2" end="2"/>
                                            </p:txEl>
                                          </p:spTgt>
                                        </p:tgtEl>
                                      </p:cBhvr>
                                    </p:animEffect>
                                  </p:childTnLst>
                                </p:cTn>
                              </p:par>
                            </p:childTnLst>
                          </p:cTn>
                        </p:par>
                        <p:par>
                          <p:cTn id="16" fill="hold">
                            <p:stCondLst>
                              <p:cond delay="10500"/>
                            </p:stCondLst>
                            <p:childTnLst>
                              <p:par>
                                <p:cTn id="17" presetID="3" presetClass="entr" presetSubtype="5" fill="hold" grpId="0" nodeType="afterEffect">
                                  <p:stCondLst>
                                    <p:cond delay="3000"/>
                                  </p:stCondLst>
                                  <p:childTnLst>
                                    <p:set>
                                      <p:cBhvr>
                                        <p:cTn id="18" dur="1" fill="hold">
                                          <p:stCondLst>
                                            <p:cond delay="0"/>
                                          </p:stCondLst>
                                        </p:cTn>
                                        <p:tgtEl>
                                          <p:spTgt spid="23555">
                                            <p:txEl>
                                              <p:pRg st="3" end="3"/>
                                            </p:txEl>
                                          </p:spTgt>
                                        </p:tgtEl>
                                        <p:attrNameLst>
                                          <p:attrName>style.visibility</p:attrName>
                                        </p:attrNameLst>
                                      </p:cBhvr>
                                      <p:to>
                                        <p:strVal val="visible"/>
                                      </p:to>
                                    </p:set>
                                    <p:animEffect transition="in" filter="blinds(vertical)">
                                      <p:cBhvr>
                                        <p:cTn id="19" dur="500"/>
                                        <p:tgtEl>
                                          <p:spTgt spid="23555">
                                            <p:txEl>
                                              <p:pRg st="3" end="3"/>
                                            </p:txEl>
                                          </p:spTgt>
                                        </p:tgtEl>
                                      </p:cBhvr>
                                    </p:animEffect>
                                  </p:childTnLst>
                                </p:cTn>
                              </p:par>
                            </p:childTnLst>
                          </p:cTn>
                        </p:par>
                        <p:par>
                          <p:cTn id="20" fill="hold">
                            <p:stCondLst>
                              <p:cond delay="14000"/>
                            </p:stCondLst>
                            <p:childTnLst>
                              <p:par>
                                <p:cTn id="21" presetID="3" presetClass="entr" presetSubtype="5" fill="hold" grpId="0" nodeType="afterEffect">
                                  <p:stCondLst>
                                    <p:cond delay="6000"/>
                                  </p:stCondLst>
                                  <p:childTnLst>
                                    <p:set>
                                      <p:cBhvr>
                                        <p:cTn id="22" dur="1" fill="hold">
                                          <p:stCondLst>
                                            <p:cond delay="0"/>
                                          </p:stCondLst>
                                        </p:cTn>
                                        <p:tgtEl>
                                          <p:spTgt spid="23555">
                                            <p:txEl>
                                              <p:pRg st="4" end="4"/>
                                            </p:txEl>
                                          </p:spTgt>
                                        </p:tgtEl>
                                        <p:attrNameLst>
                                          <p:attrName>style.visibility</p:attrName>
                                        </p:attrNameLst>
                                      </p:cBhvr>
                                      <p:to>
                                        <p:strVal val="visible"/>
                                      </p:to>
                                    </p:set>
                                    <p:animEffect transition="in" filter="blinds(vertical)">
                                      <p:cBhvr>
                                        <p:cTn id="23" dur="500"/>
                                        <p:tgtEl>
                                          <p:spTgt spid="2355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build="p" autoUpdateAnimBg="0" advAuto="300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0"/>
            <a:ext cx="7406640" cy="1356360"/>
          </a:xfrm>
        </p:spPr>
        <p:txBody>
          <a:bodyPr/>
          <a:lstStyle/>
          <a:p>
            <a:r>
              <a:rPr lang="en-AU" dirty="0"/>
              <a:t>Learning Intentions</a:t>
            </a:r>
          </a:p>
        </p:txBody>
      </p:sp>
      <p:sp>
        <p:nvSpPr>
          <p:cNvPr id="3" name="Content Placeholder 2"/>
          <p:cNvSpPr>
            <a:spLocks noGrp="1"/>
          </p:cNvSpPr>
          <p:nvPr>
            <p:ph idx="1"/>
          </p:nvPr>
        </p:nvSpPr>
        <p:spPr>
          <a:xfrm>
            <a:off x="611560" y="741768"/>
            <a:ext cx="7992888" cy="3551328"/>
          </a:xfrm>
        </p:spPr>
        <p:txBody>
          <a:bodyPr>
            <a:normAutofit fontScale="92500" lnSpcReduction="20000"/>
          </a:bodyPr>
          <a:lstStyle/>
          <a:p>
            <a:endParaRPr lang="en-AU" dirty="0">
              <a:latin typeface="Arial" panose="020B0604020202020204" pitchFamily="34" charset="0"/>
              <a:cs typeface="Arial" panose="020B0604020202020204" pitchFamily="34" charset="0"/>
            </a:endParaRPr>
          </a:p>
          <a:p>
            <a:pPr marL="34290" indent="0">
              <a:buNone/>
            </a:pPr>
            <a:r>
              <a:rPr lang="en-AU" dirty="0">
                <a:latin typeface="Arial" panose="020B0604020202020204" pitchFamily="34" charset="0"/>
                <a:cs typeface="Arial" panose="020B0604020202020204" pitchFamily="34" charset="0"/>
              </a:rPr>
              <a:t>• The currently accepted model of the cell membrane is the fluid mosaic model. </a:t>
            </a:r>
          </a:p>
          <a:p>
            <a:pPr marL="34290" indent="0">
              <a:buNone/>
            </a:pPr>
            <a:r>
              <a:rPr lang="en-AU" dirty="0">
                <a:latin typeface="Arial" panose="020B0604020202020204" pitchFamily="34" charset="0"/>
                <a:cs typeface="Arial" panose="020B0604020202020204" pitchFamily="34" charset="0"/>
              </a:rPr>
              <a:t>• The cell membrane separates the cell from its surroundings and controls the exchange of materials, including gases, nutrients and wastes, between the cell and its environment. </a:t>
            </a:r>
          </a:p>
          <a:p>
            <a:pPr marL="34290" indent="0">
              <a:buNone/>
            </a:pPr>
            <a:r>
              <a:rPr lang="en-AU" dirty="0">
                <a:latin typeface="Arial" panose="020B0604020202020204" pitchFamily="34" charset="0"/>
                <a:cs typeface="Arial" panose="020B0604020202020204" pitchFamily="34" charset="0"/>
              </a:rPr>
              <a:t>• Movement of materials across membranes occurs via </a:t>
            </a:r>
          </a:p>
          <a:p>
            <a:pPr marL="34290" indent="0">
              <a:buNone/>
            </a:pPr>
            <a:r>
              <a:rPr lang="en-AU" dirty="0">
                <a:latin typeface="Arial" panose="020B0604020202020204" pitchFamily="34" charset="0"/>
                <a:cs typeface="Arial" panose="020B0604020202020204" pitchFamily="34" charset="0"/>
              </a:rPr>
              <a:t>	- passive processes, including diffusion, facilitated diffusion, 		osmosis </a:t>
            </a:r>
          </a:p>
          <a:p>
            <a:pPr marL="34290" indent="0">
              <a:buNone/>
            </a:pPr>
            <a:r>
              <a:rPr lang="en-AU" dirty="0">
                <a:latin typeface="Arial" panose="020B0604020202020204" pitchFamily="34" charset="0"/>
                <a:cs typeface="Arial" panose="020B0604020202020204" pitchFamily="34" charset="0"/>
              </a:rPr>
              <a:t>	- active processes, including active transport, endocytosis and 		exocytosis </a:t>
            </a:r>
          </a:p>
          <a:p>
            <a:pPr marL="34290" indent="0">
              <a:buNone/>
            </a:pPr>
            <a:r>
              <a:rPr lang="en-AU" dirty="0"/>
              <a:t>	</a:t>
            </a:r>
          </a:p>
          <a:p>
            <a:pPr lvl="0"/>
            <a:endParaRPr lang="en-AU" dirty="0"/>
          </a:p>
          <a:p>
            <a:endParaRPr lang="en-AU" dirty="0"/>
          </a:p>
        </p:txBody>
      </p:sp>
      <p:sp>
        <p:nvSpPr>
          <p:cNvPr id="4" name="Title 1"/>
          <p:cNvSpPr txBox="1">
            <a:spLocks/>
          </p:cNvSpPr>
          <p:nvPr/>
        </p:nvSpPr>
        <p:spPr>
          <a:xfrm>
            <a:off x="467544" y="3429000"/>
            <a:ext cx="7406640" cy="1356360"/>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4000" kern="1200">
                <a:solidFill>
                  <a:schemeClr val="accent1"/>
                </a:solidFill>
                <a:latin typeface="+mj-lt"/>
                <a:ea typeface="+mj-ea"/>
                <a:cs typeface="+mj-cs"/>
              </a:defRPr>
            </a:lvl1pPr>
          </a:lstStyle>
          <a:p>
            <a:r>
              <a:rPr lang="en-AU" dirty="0"/>
              <a:t>Success Criteria</a:t>
            </a:r>
          </a:p>
        </p:txBody>
      </p:sp>
      <p:sp>
        <p:nvSpPr>
          <p:cNvPr id="5" name="Content Placeholder 2"/>
          <p:cNvSpPr txBox="1">
            <a:spLocks/>
          </p:cNvSpPr>
          <p:nvPr/>
        </p:nvSpPr>
        <p:spPr>
          <a:xfrm>
            <a:off x="643028" y="4061480"/>
            <a:ext cx="7817404" cy="2304256"/>
          </a:xfrm>
          <a:prstGeom prst="rect">
            <a:avLst/>
          </a:prstGeom>
        </p:spPr>
        <p:txBody>
          <a:bodyPr vert="horz" lIns="91440" tIns="45720" rIns="91440" bIns="45720" rtlCol="0">
            <a:normAutofit/>
          </a:bodyPr>
          <a:lstStyle>
            <a:lvl1pPr marL="171450" indent="-137160" algn="l" defTabSz="685800" rtl="0" eaLnBrk="1" latinLnBrk="0" hangingPunct="1">
              <a:lnSpc>
                <a:spcPct val="90000"/>
              </a:lnSpc>
              <a:spcBef>
                <a:spcPts val="1000"/>
              </a:spcBef>
              <a:buClr>
                <a:schemeClr val="accent1"/>
              </a:buClr>
              <a:buSzPct val="80000"/>
              <a:buFont typeface="Corbel" pitchFamily="34" charset="0"/>
              <a:buChar char="•"/>
              <a:defRPr sz="2000" kern="1200">
                <a:solidFill>
                  <a:schemeClr val="accent1"/>
                </a:solidFill>
                <a:latin typeface="+mn-lt"/>
                <a:ea typeface="+mn-ea"/>
                <a:cs typeface="+mn-cs"/>
              </a:defRPr>
            </a:lvl1pPr>
            <a:lvl2pPr marL="34290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800" kern="1200">
                <a:solidFill>
                  <a:schemeClr val="accent1"/>
                </a:solidFill>
                <a:latin typeface="+mn-lt"/>
                <a:ea typeface="+mn-ea"/>
                <a:cs typeface="+mn-cs"/>
              </a:defRPr>
            </a:lvl2pPr>
            <a:lvl3pPr marL="54864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600" kern="1200">
                <a:solidFill>
                  <a:schemeClr val="accent1"/>
                </a:solidFill>
                <a:latin typeface="+mn-lt"/>
                <a:ea typeface="+mn-ea"/>
                <a:cs typeface="+mn-cs"/>
              </a:defRPr>
            </a:lvl3pPr>
            <a:lvl4pPr marL="75438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4pPr>
            <a:lvl5pPr marL="92012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5pPr>
            <a:lvl6pPr marL="11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6pPr>
            <a:lvl7pPr marL="13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7pPr>
            <a:lvl8pPr marL="15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8pPr>
            <a:lvl9pPr marL="17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9pPr>
          </a:lstStyle>
          <a:p>
            <a:pPr marL="34290" indent="0">
              <a:buFont typeface="Corbel" pitchFamily="34" charset="0"/>
              <a:buNone/>
            </a:pPr>
            <a:endParaRPr lang="en-AU" dirty="0"/>
          </a:p>
          <a:p>
            <a:pPr marL="34290" indent="0">
              <a:buFont typeface="Corbel" pitchFamily="34" charset="0"/>
              <a:buNone/>
            </a:pPr>
            <a:r>
              <a:rPr lang="en-AU" dirty="0">
                <a:latin typeface="Arial" panose="020B0604020202020204" pitchFamily="34" charset="0"/>
                <a:cs typeface="Arial" panose="020B0604020202020204" pitchFamily="34" charset="0"/>
              </a:rPr>
              <a:t>Students will be able to:</a:t>
            </a:r>
          </a:p>
          <a:p>
            <a:r>
              <a:rPr lang="en-AU" dirty="0">
                <a:latin typeface="Arial" panose="020B0604020202020204" pitchFamily="34" charset="0"/>
                <a:cs typeface="Arial" panose="020B0604020202020204" pitchFamily="34" charset="0"/>
              </a:rPr>
              <a:t>Describe the structure and function of the cell membrane. </a:t>
            </a:r>
          </a:p>
          <a:p>
            <a:r>
              <a:rPr lang="en-AU" dirty="0">
                <a:latin typeface="Arial" panose="020B0604020202020204" pitchFamily="34" charset="0"/>
                <a:cs typeface="Arial" panose="020B0604020202020204" pitchFamily="34" charset="0"/>
              </a:rPr>
              <a:t>Distinguish between various methods of material transport across semipermeable membranes.</a:t>
            </a:r>
          </a:p>
          <a:p>
            <a:endParaRPr lang="en-AU" dirty="0"/>
          </a:p>
        </p:txBody>
      </p:sp>
    </p:spTree>
    <p:extLst>
      <p:ext uri="{BB962C8B-B14F-4D97-AF65-F5344CB8AC3E}">
        <p14:creationId xmlns:p14="http://schemas.microsoft.com/office/powerpoint/2010/main" val="42063140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3568" y="562670"/>
            <a:ext cx="7924800" cy="706090"/>
          </a:xfrm>
        </p:spPr>
        <p:txBody>
          <a:bodyPr/>
          <a:lstStyle/>
          <a:p>
            <a:r>
              <a:rPr lang="en-AU" dirty="0"/>
              <a:t>Internal Environment of Cells</a:t>
            </a:r>
          </a:p>
        </p:txBody>
      </p:sp>
      <p:sp>
        <p:nvSpPr>
          <p:cNvPr id="3" name="Content Placeholder 2"/>
          <p:cNvSpPr>
            <a:spLocks noGrp="1"/>
          </p:cNvSpPr>
          <p:nvPr>
            <p:ph sz="quarter" idx="13"/>
          </p:nvPr>
        </p:nvSpPr>
        <p:spPr>
          <a:xfrm>
            <a:off x="467544" y="1561129"/>
            <a:ext cx="3744416" cy="4590256"/>
          </a:xfrm>
        </p:spPr>
        <p:txBody>
          <a:bodyPr>
            <a:normAutofit/>
          </a:bodyPr>
          <a:lstStyle/>
          <a:p>
            <a:r>
              <a:rPr lang="en-US" sz="1800" dirty="0">
                <a:latin typeface="Arial" panose="020B0604020202020204" pitchFamily="34" charset="0"/>
                <a:cs typeface="Arial" panose="020B0604020202020204" pitchFamily="34" charset="0"/>
              </a:rPr>
              <a:t>Almost 99% of the mass of an average human body is made up of only six elements: oxygen, carbon, hydrogen, nitrogen, calcium and phosphorus.</a:t>
            </a:r>
          </a:p>
          <a:p>
            <a:r>
              <a:rPr lang="en-AU" sz="1800" dirty="0">
                <a:latin typeface="Arial" panose="020B0604020202020204" pitchFamily="34" charset="0"/>
                <a:cs typeface="Arial" panose="020B0604020202020204" pitchFamily="34" charset="0"/>
              </a:rPr>
              <a:t>The cells in multicellular organisms are more protected from the swings of environmental change because they are surrounded by extracellular fluid.</a:t>
            </a:r>
          </a:p>
          <a:p>
            <a:r>
              <a:rPr lang="en-AU" sz="1800" dirty="0">
                <a:latin typeface="Arial" panose="020B0604020202020204" pitchFamily="34" charset="0"/>
                <a:cs typeface="Arial" panose="020B0604020202020204" pitchFamily="34" charset="0"/>
              </a:rPr>
              <a:t>In humans, the contents of this liquid are kept fairly constant by the workings of various organs such as the lungs, kidneys and liver. </a:t>
            </a:r>
            <a:endParaRPr lang="en-AU" dirty="0">
              <a:latin typeface="Arial" panose="020B0604020202020204" pitchFamily="34" charset="0"/>
              <a:cs typeface="Arial" panose="020B0604020202020204" pitchFamily="34" charset="0"/>
            </a:endParaRPr>
          </a:p>
        </p:txBody>
      </p:sp>
      <p:pic>
        <p:nvPicPr>
          <p:cNvPr id="4" name="Picture 3"/>
          <p:cNvPicPr>
            <a:picLocks noChangeAspect="1"/>
          </p:cNvPicPr>
          <p:nvPr/>
        </p:nvPicPr>
        <p:blipFill>
          <a:blip r:embed="rId2"/>
          <a:stretch>
            <a:fillRect/>
          </a:stretch>
        </p:blipFill>
        <p:spPr>
          <a:xfrm>
            <a:off x="4317570" y="1561129"/>
            <a:ext cx="4612236" cy="1800200"/>
          </a:xfrm>
          <a:prstGeom prst="rect">
            <a:avLst/>
          </a:prstGeom>
        </p:spPr>
      </p:pic>
      <p:pic>
        <p:nvPicPr>
          <p:cNvPr id="5" name="Picture 4"/>
          <p:cNvPicPr>
            <a:picLocks noChangeAspect="1"/>
          </p:cNvPicPr>
          <p:nvPr/>
        </p:nvPicPr>
        <p:blipFill>
          <a:blip r:embed="rId3"/>
          <a:stretch>
            <a:fillRect/>
          </a:stretch>
        </p:blipFill>
        <p:spPr>
          <a:xfrm>
            <a:off x="4317570" y="3933056"/>
            <a:ext cx="4607826" cy="1236546"/>
          </a:xfrm>
          <a:prstGeom prst="rect">
            <a:avLst/>
          </a:prstGeom>
        </p:spPr>
      </p:pic>
    </p:spTree>
    <p:extLst>
      <p:ext uri="{BB962C8B-B14F-4D97-AF65-F5344CB8AC3E}">
        <p14:creationId xmlns:p14="http://schemas.microsoft.com/office/powerpoint/2010/main" val="13043551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Internal Environment of Cells </a:t>
            </a:r>
          </a:p>
        </p:txBody>
      </p:sp>
      <p:sp>
        <p:nvSpPr>
          <p:cNvPr id="3" name="Content Placeholder 2"/>
          <p:cNvSpPr>
            <a:spLocks noGrp="1"/>
          </p:cNvSpPr>
          <p:nvPr>
            <p:ph sz="quarter" idx="13"/>
          </p:nvPr>
        </p:nvSpPr>
        <p:spPr/>
        <p:txBody>
          <a:bodyPr/>
          <a:lstStyle/>
          <a:p>
            <a:pPr marL="0" indent="0">
              <a:buNone/>
            </a:pPr>
            <a:r>
              <a:rPr lang="en-US" sz="2000" dirty="0"/>
              <a:t>The internal environment must be regulated and maintained because of:</a:t>
            </a:r>
          </a:p>
          <a:p>
            <a:pPr marL="514350" indent="-514350"/>
            <a:r>
              <a:rPr lang="en-US" sz="2000" dirty="0"/>
              <a:t>Complex chemical reactions including respiration and photosynthesis.</a:t>
            </a:r>
          </a:p>
          <a:p>
            <a:pPr marL="514350" indent="-514350"/>
            <a:r>
              <a:rPr lang="en-US" sz="2000" dirty="0"/>
              <a:t>Enzymes can only perform their tasks within narrow temperature and pH ranges. </a:t>
            </a:r>
          </a:p>
          <a:p>
            <a:pPr marL="514350" indent="-514350"/>
            <a:r>
              <a:rPr lang="en-US" sz="2000" dirty="0"/>
              <a:t>Hydrogen ion concentrations kept within strict limits to maintain suitable cytoplasmic </a:t>
            </a:r>
            <a:r>
              <a:rPr lang="en-US" sz="2000" dirty="0" err="1"/>
              <a:t>pH.</a:t>
            </a:r>
            <a:endParaRPr lang="en-US" sz="2000" dirty="0"/>
          </a:p>
          <a:p>
            <a:pPr marL="514350" indent="-514350"/>
            <a:r>
              <a:rPr lang="en-US" sz="2000" dirty="0"/>
              <a:t>Toxic waste products are removed to ensure they do not interfere with chemical reactions in the cytoplasm. </a:t>
            </a:r>
          </a:p>
          <a:p>
            <a:endParaRPr lang="en-AU" dirty="0"/>
          </a:p>
        </p:txBody>
      </p:sp>
    </p:spTree>
    <p:extLst>
      <p:ext uri="{BB962C8B-B14F-4D97-AF65-F5344CB8AC3E}">
        <p14:creationId xmlns:p14="http://schemas.microsoft.com/office/powerpoint/2010/main" val="14945862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r>
              <a:rPr lang="en-US" dirty="0"/>
              <a:t>Plasma membrane</a:t>
            </a:r>
          </a:p>
        </p:txBody>
      </p:sp>
      <p:sp>
        <p:nvSpPr>
          <p:cNvPr id="381955" name="Rectangle 3" descr="Rectangle: Click to edit Master text styles&#10;Second level&#10;Third level&#10;Fourth level&#10;Fifth level"/>
          <p:cNvSpPr>
            <a:spLocks noGrp="1" noChangeArrowheads="1"/>
          </p:cNvSpPr>
          <p:nvPr>
            <p:ph sz="quarter" idx="13"/>
          </p:nvPr>
        </p:nvSpPr>
        <p:spPr/>
        <p:txBody>
          <a:bodyPr>
            <a:normAutofit/>
          </a:bodyPr>
          <a:lstStyle/>
          <a:p>
            <a:r>
              <a:rPr lang="en-US" sz="1800" dirty="0"/>
              <a:t>Cells need an inside &amp; an outside.</a:t>
            </a:r>
          </a:p>
          <a:p>
            <a:r>
              <a:rPr lang="en-US" sz="1800" dirty="0"/>
              <a:t>The plasma membrane separates the cell from its environment and creates its boundary.</a:t>
            </a:r>
          </a:p>
          <a:p>
            <a:r>
              <a:rPr lang="en-US" sz="1800" dirty="0"/>
              <a:t>The plasma membrane allows substances in and out of the cell.</a:t>
            </a:r>
          </a:p>
        </p:txBody>
      </p:sp>
      <p:sp>
        <p:nvSpPr>
          <p:cNvPr id="4100" name="Oval 4"/>
          <p:cNvSpPr>
            <a:spLocks noChangeArrowheads="1"/>
          </p:cNvSpPr>
          <p:nvPr/>
        </p:nvSpPr>
        <p:spPr bwMode="auto">
          <a:xfrm rot="1773324">
            <a:off x="2895600" y="3810000"/>
            <a:ext cx="3733800" cy="1371600"/>
          </a:xfrm>
          <a:prstGeom prst="ellipse">
            <a:avLst/>
          </a:prstGeom>
          <a:solidFill>
            <a:schemeClr val="hlink"/>
          </a:solidFill>
          <a:ln w="57150">
            <a:solidFill>
              <a:schemeClr val="tx2">
                <a:alpha val="39999"/>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01" name="Oval 5"/>
          <p:cNvSpPr>
            <a:spLocks noChangeArrowheads="1"/>
          </p:cNvSpPr>
          <p:nvPr/>
        </p:nvSpPr>
        <p:spPr bwMode="auto">
          <a:xfrm>
            <a:off x="3962400" y="3733800"/>
            <a:ext cx="381000" cy="381000"/>
          </a:xfrm>
          <a:prstGeom prst="ellipse">
            <a:avLst/>
          </a:prstGeom>
          <a:solidFill>
            <a:srgbClr val="0F116A"/>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81958" name="AutoShape 6"/>
          <p:cNvSpPr>
            <a:spLocks noChangeArrowheads="1"/>
          </p:cNvSpPr>
          <p:nvPr/>
        </p:nvSpPr>
        <p:spPr bwMode="auto">
          <a:xfrm>
            <a:off x="3352800" y="4495800"/>
            <a:ext cx="1143000" cy="457200"/>
          </a:xfrm>
          <a:prstGeom prst="rightArrow">
            <a:avLst>
              <a:gd name="adj1" fmla="val 50000"/>
              <a:gd name="adj2" fmla="val 62500"/>
            </a:avLst>
          </a:prstGeom>
          <a:solidFill>
            <a:srgbClr val="1A941A"/>
          </a:solidFill>
          <a:ln w="9525">
            <a:solidFill>
              <a:srgbClr val="1A941A"/>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81959" name="Rectangle 7"/>
          <p:cNvSpPr>
            <a:spLocks noChangeArrowheads="1"/>
          </p:cNvSpPr>
          <p:nvPr/>
        </p:nvSpPr>
        <p:spPr bwMode="auto">
          <a:xfrm>
            <a:off x="838200" y="3352771"/>
            <a:ext cx="1462260" cy="2862322"/>
          </a:xfrm>
          <a:prstGeom prst="rect">
            <a:avLst/>
          </a:prstGeom>
          <a:noFill/>
          <a:ln>
            <a:noFill/>
          </a:ln>
          <a:effectLst/>
          <a:extLst>
            <a:ext uri="{909E8E84-426E-40DD-AFC4-6F175D3DCCD1}">
              <a14:hiddenFill xmlns:a14="http://schemas.microsoft.com/office/drawing/2010/main">
                <a:solidFill>
                  <a:srgbClr val="FFEA18"/>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l">
              <a:tabLst>
                <a:tab pos="114300" algn="l"/>
              </a:tabLst>
            </a:pPr>
            <a:r>
              <a:rPr lang="en-US" sz="2600" b="1" u="sng" dirty="0">
                <a:solidFill>
                  <a:srgbClr val="1A941A"/>
                </a:solidFill>
              </a:rPr>
              <a:t>IN:</a:t>
            </a:r>
            <a:endParaRPr lang="en-US" sz="2600" b="1" dirty="0">
              <a:solidFill>
                <a:srgbClr val="1A941A"/>
              </a:solidFill>
            </a:endParaRPr>
          </a:p>
          <a:p>
            <a:pPr algn="l">
              <a:tabLst>
                <a:tab pos="114300" algn="l"/>
              </a:tabLst>
            </a:pPr>
            <a:r>
              <a:rPr lang="en-US" sz="2200" b="1" u="sng" dirty="0">
                <a:solidFill>
                  <a:srgbClr val="CC0000"/>
                </a:solidFill>
              </a:rPr>
              <a:t>food</a:t>
            </a:r>
            <a:endParaRPr lang="en-US" sz="2200" b="1" dirty="0">
              <a:solidFill>
                <a:srgbClr val="0F116A"/>
              </a:solidFill>
            </a:endParaRPr>
          </a:p>
          <a:p>
            <a:pPr algn="l">
              <a:tabLst>
                <a:tab pos="114300" algn="l"/>
              </a:tabLst>
            </a:pPr>
            <a:r>
              <a:rPr lang="en-US" sz="2200" b="1" dirty="0">
                <a:solidFill>
                  <a:srgbClr val="0F116A"/>
                </a:solidFill>
              </a:rPr>
              <a:t>	- sugars</a:t>
            </a:r>
          </a:p>
          <a:p>
            <a:pPr algn="l">
              <a:tabLst>
                <a:tab pos="114300" algn="l"/>
              </a:tabLst>
            </a:pPr>
            <a:r>
              <a:rPr lang="en-US" sz="2200" b="1" dirty="0">
                <a:solidFill>
                  <a:srgbClr val="0F116A"/>
                </a:solidFill>
              </a:rPr>
              <a:t>	- proteins</a:t>
            </a:r>
          </a:p>
          <a:p>
            <a:pPr algn="l">
              <a:tabLst>
                <a:tab pos="114300" algn="l"/>
              </a:tabLst>
            </a:pPr>
            <a:r>
              <a:rPr lang="en-US" sz="2200" b="1" dirty="0">
                <a:solidFill>
                  <a:srgbClr val="0F116A"/>
                </a:solidFill>
              </a:rPr>
              <a:t>	- fats</a:t>
            </a:r>
          </a:p>
          <a:p>
            <a:pPr algn="l">
              <a:tabLst>
                <a:tab pos="114300" algn="l"/>
              </a:tabLst>
            </a:pPr>
            <a:r>
              <a:rPr lang="en-US" sz="2200" b="1" dirty="0">
                <a:solidFill>
                  <a:srgbClr val="0F116A"/>
                </a:solidFill>
              </a:rPr>
              <a:t> - salts</a:t>
            </a:r>
          </a:p>
          <a:p>
            <a:pPr algn="l">
              <a:tabLst>
                <a:tab pos="114300" algn="l"/>
              </a:tabLst>
            </a:pPr>
            <a:r>
              <a:rPr lang="en-US" sz="2200" b="1" dirty="0">
                <a:solidFill>
                  <a:srgbClr val="0F116A"/>
                </a:solidFill>
              </a:rPr>
              <a:t> - O</a:t>
            </a:r>
            <a:r>
              <a:rPr lang="en-US" sz="2200" b="1" baseline="-25000" dirty="0">
                <a:solidFill>
                  <a:srgbClr val="0F116A"/>
                </a:solidFill>
              </a:rPr>
              <a:t>2</a:t>
            </a:r>
          </a:p>
          <a:p>
            <a:pPr algn="l">
              <a:tabLst>
                <a:tab pos="114300" algn="l"/>
              </a:tabLst>
            </a:pPr>
            <a:r>
              <a:rPr lang="en-US" sz="2200" b="1" dirty="0">
                <a:solidFill>
                  <a:srgbClr val="0F116A"/>
                </a:solidFill>
              </a:rPr>
              <a:t> - H</a:t>
            </a:r>
            <a:r>
              <a:rPr lang="en-US" sz="2200" b="1" baseline="-25000" dirty="0">
                <a:solidFill>
                  <a:srgbClr val="0F116A"/>
                </a:solidFill>
              </a:rPr>
              <a:t>2</a:t>
            </a:r>
            <a:r>
              <a:rPr lang="en-US" sz="2200" b="1" dirty="0">
                <a:solidFill>
                  <a:srgbClr val="0F116A"/>
                </a:solidFill>
              </a:rPr>
              <a:t>O</a:t>
            </a:r>
          </a:p>
        </p:txBody>
      </p:sp>
      <p:sp>
        <p:nvSpPr>
          <p:cNvPr id="381960" name="Rectangle 8"/>
          <p:cNvSpPr>
            <a:spLocks noChangeArrowheads="1"/>
          </p:cNvSpPr>
          <p:nvPr/>
        </p:nvSpPr>
        <p:spPr bwMode="auto">
          <a:xfrm>
            <a:off x="7010400" y="3429000"/>
            <a:ext cx="1828800" cy="2862322"/>
          </a:xfrm>
          <a:prstGeom prst="rect">
            <a:avLst/>
          </a:prstGeom>
          <a:noFill/>
          <a:ln>
            <a:noFill/>
          </a:ln>
          <a:effectLst/>
          <a:extLst>
            <a:ext uri="{909E8E84-426E-40DD-AFC4-6F175D3DCCD1}">
              <a14:hiddenFill xmlns:a14="http://schemas.microsoft.com/office/drawing/2010/main">
                <a:solidFill>
                  <a:srgbClr val="FFEA18"/>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tabLst>
                <a:tab pos="114300" algn="l"/>
              </a:tabLst>
            </a:pPr>
            <a:r>
              <a:rPr lang="en-US" sz="2600" b="1" u="sng" dirty="0">
                <a:solidFill>
                  <a:srgbClr val="CC0000"/>
                </a:solidFill>
              </a:rPr>
              <a:t>OUT:</a:t>
            </a:r>
            <a:endParaRPr lang="en-US" sz="2600" b="1" dirty="0">
              <a:solidFill>
                <a:srgbClr val="1A941A"/>
              </a:solidFill>
            </a:endParaRPr>
          </a:p>
          <a:p>
            <a:pPr algn="l">
              <a:tabLst>
                <a:tab pos="114300" algn="l"/>
              </a:tabLst>
            </a:pPr>
            <a:r>
              <a:rPr lang="en-US" sz="2200" b="1" u="sng" dirty="0">
                <a:solidFill>
                  <a:srgbClr val="CC0000"/>
                </a:solidFill>
              </a:rPr>
              <a:t>waste</a:t>
            </a:r>
            <a:endParaRPr lang="en-US" sz="2200" b="1" dirty="0">
              <a:solidFill>
                <a:srgbClr val="0F116A"/>
              </a:solidFill>
            </a:endParaRPr>
          </a:p>
          <a:p>
            <a:pPr algn="l">
              <a:tabLst>
                <a:tab pos="114300" algn="l"/>
              </a:tabLst>
            </a:pPr>
            <a:r>
              <a:rPr lang="en-US" sz="2200" b="1" dirty="0">
                <a:solidFill>
                  <a:srgbClr val="0F116A"/>
                </a:solidFill>
              </a:rPr>
              <a:t>- ammonia</a:t>
            </a:r>
          </a:p>
          <a:p>
            <a:pPr algn="l">
              <a:tabLst>
                <a:tab pos="114300" algn="l"/>
              </a:tabLst>
            </a:pPr>
            <a:r>
              <a:rPr lang="en-US" sz="2200" b="1" dirty="0">
                <a:solidFill>
                  <a:srgbClr val="0F116A"/>
                </a:solidFill>
              </a:rPr>
              <a:t>- salts</a:t>
            </a:r>
          </a:p>
          <a:p>
            <a:pPr algn="l">
              <a:tabLst>
                <a:tab pos="114300" algn="l"/>
              </a:tabLst>
            </a:pPr>
            <a:r>
              <a:rPr lang="en-US" sz="2200" b="1" dirty="0">
                <a:solidFill>
                  <a:srgbClr val="0F116A"/>
                </a:solidFill>
              </a:rPr>
              <a:t>- CO</a:t>
            </a:r>
            <a:r>
              <a:rPr lang="en-US" sz="2200" b="1" baseline="-25000" dirty="0">
                <a:solidFill>
                  <a:srgbClr val="0F116A"/>
                </a:solidFill>
              </a:rPr>
              <a:t>2</a:t>
            </a:r>
          </a:p>
          <a:p>
            <a:pPr algn="l">
              <a:tabLst>
                <a:tab pos="114300" algn="l"/>
              </a:tabLst>
            </a:pPr>
            <a:r>
              <a:rPr lang="en-US" sz="2200" b="1" dirty="0">
                <a:solidFill>
                  <a:srgbClr val="0F116A"/>
                </a:solidFill>
              </a:rPr>
              <a:t>- H</a:t>
            </a:r>
            <a:r>
              <a:rPr lang="en-US" sz="2200" b="1" baseline="-25000" dirty="0">
                <a:solidFill>
                  <a:srgbClr val="0F116A"/>
                </a:solidFill>
              </a:rPr>
              <a:t>2</a:t>
            </a:r>
            <a:r>
              <a:rPr lang="en-US" sz="2200" b="1" dirty="0">
                <a:solidFill>
                  <a:srgbClr val="0F116A"/>
                </a:solidFill>
              </a:rPr>
              <a:t>O </a:t>
            </a:r>
          </a:p>
          <a:p>
            <a:pPr algn="l">
              <a:tabLst>
                <a:tab pos="114300" algn="l"/>
              </a:tabLst>
            </a:pPr>
            <a:r>
              <a:rPr lang="en-US" sz="2200" b="1" u="sng" dirty="0">
                <a:solidFill>
                  <a:srgbClr val="CC0000"/>
                </a:solidFill>
              </a:rPr>
              <a:t>products</a:t>
            </a:r>
          </a:p>
          <a:p>
            <a:pPr algn="l">
              <a:tabLst>
                <a:tab pos="114300" algn="l"/>
              </a:tabLst>
            </a:pPr>
            <a:r>
              <a:rPr lang="en-US" sz="2200" b="1" dirty="0">
                <a:solidFill>
                  <a:srgbClr val="0F116A"/>
                </a:solidFill>
              </a:rPr>
              <a:t>- proteins</a:t>
            </a:r>
          </a:p>
        </p:txBody>
      </p:sp>
      <p:sp>
        <p:nvSpPr>
          <p:cNvPr id="381961" name="AutoShape 9"/>
          <p:cNvSpPr>
            <a:spLocks noChangeArrowheads="1"/>
          </p:cNvSpPr>
          <p:nvPr/>
        </p:nvSpPr>
        <p:spPr bwMode="auto">
          <a:xfrm>
            <a:off x="5562600" y="4495800"/>
            <a:ext cx="1143000" cy="457200"/>
          </a:xfrm>
          <a:prstGeom prst="rightArrow">
            <a:avLst>
              <a:gd name="adj1" fmla="val 50000"/>
              <a:gd name="adj2" fmla="val 62500"/>
            </a:avLst>
          </a:prstGeom>
          <a:solidFill>
            <a:srgbClr val="CC0000"/>
          </a:solidFill>
          <a:ln w="9525">
            <a:solidFill>
              <a:srgbClr val="CC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81962" name="Rectangle 10"/>
          <p:cNvSpPr>
            <a:spLocks noChangeArrowheads="1"/>
          </p:cNvSpPr>
          <p:nvPr/>
        </p:nvSpPr>
        <p:spPr bwMode="auto">
          <a:xfrm>
            <a:off x="1971036" y="6101108"/>
            <a:ext cx="4896544" cy="369332"/>
          </a:xfrm>
          <a:prstGeom prst="rect">
            <a:avLst/>
          </a:prstGeom>
          <a:solidFill>
            <a:srgbClr val="FFEA1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en-US" b="1">
                <a:solidFill>
                  <a:srgbClr val="CC0000"/>
                </a:solidFill>
              </a:rPr>
              <a:t>cell needs materials </a:t>
            </a:r>
            <a:r>
              <a:rPr lang="en-US" b="1" u="sng">
                <a:solidFill>
                  <a:srgbClr val="CC0000"/>
                </a:solidFill>
              </a:rPr>
              <a:t>in</a:t>
            </a:r>
            <a:r>
              <a:rPr lang="en-US" b="1">
                <a:solidFill>
                  <a:srgbClr val="CC0000"/>
                </a:solidFill>
              </a:rPr>
              <a:t> &amp; products or waste </a:t>
            </a:r>
            <a:r>
              <a:rPr lang="en-US" b="1" u="sng">
                <a:solidFill>
                  <a:srgbClr val="CC0000"/>
                </a:solidFill>
              </a:rPr>
              <a:t>out</a:t>
            </a:r>
          </a:p>
        </p:txBody>
      </p:sp>
    </p:spTree>
    <p:extLst>
      <p:ext uri="{BB962C8B-B14F-4D97-AF65-F5344CB8AC3E}">
        <p14:creationId xmlns:p14="http://schemas.microsoft.com/office/powerpoint/2010/main" val="349737939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81955">
                                            <p:txEl>
                                              <p:pRg st="0" end="0"/>
                                            </p:txEl>
                                          </p:spTgt>
                                        </p:tgtEl>
                                        <p:attrNameLst>
                                          <p:attrName>style.visibility</p:attrName>
                                        </p:attrNameLst>
                                      </p:cBhvr>
                                      <p:to>
                                        <p:strVal val="visible"/>
                                      </p:to>
                                    </p:set>
                                    <p:anim calcmode="lin" valueType="num">
                                      <p:cBhvr additive="base">
                                        <p:cTn id="7" dur="500" fill="hold"/>
                                        <p:tgtEl>
                                          <p:spTgt spid="38195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81955">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81955">
                                            <p:txEl>
                                              <p:pRg st="1" end="1"/>
                                            </p:txEl>
                                          </p:spTgt>
                                        </p:tgtEl>
                                        <p:attrNameLst>
                                          <p:attrName>style.visibility</p:attrName>
                                        </p:attrNameLst>
                                      </p:cBhvr>
                                      <p:to>
                                        <p:strVal val="visible"/>
                                      </p:to>
                                    </p:set>
                                    <p:anim calcmode="lin" valueType="num">
                                      <p:cBhvr additive="base">
                                        <p:cTn id="13" dur="500" fill="hold"/>
                                        <p:tgtEl>
                                          <p:spTgt spid="38195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81955">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Whoosh"/>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81955">
                                            <p:txEl>
                                              <p:pRg st="2" end="2"/>
                                            </p:txEl>
                                          </p:spTgt>
                                        </p:tgtEl>
                                        <p:attrNameLst>
                                          <p:attrName>style.visibility</p:attrName>
                                        </p:attrNameLst>
                                      </p:cBhvr>
                                      <p:to>
                                        <p:strVal val="visible"/>
                                      </p:to>
                                    </p:set>
                                    <p:anim calcmode="lin" valueType="num">
                                      <p:cBhvr additive="base">
                                        <p:cTn id="19" dur="500" fill="hold"/>
                                        <p:tgtEl>
                                          <p:spTgt spid="38195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81955">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Whoosh"/>
                                        </p:tgtEl>
                                      </p:cMediaNode>
                                    </p:audio>
                                  </p:subTnLst>
                                </p:cTn>
                              </p:par>
                            </p:childTnLst>
                          </p:cTn>
                        </p:par>
                      </p:childTnLst>
                    </p:cTn>
                  </p:par>
                  <p:par>
                    <p:cTn id="21" fill="hold" nodeType="clickPar">
                      <p:stCondLst>
                        <p:cond delay="indefinite"/>
                      </p:stCondLst>
                      <p:childTnLst>
                        <p:par>
                          <p:cTn id="22" fill="hold" nodeType="withGroup">
                            <p:stCondLst>
                              <p:cond delay="0"/>
                            </p:stCondLst>
                            <p:childTnLst>
                              <p:par>
                                <p:cTn id="23" presetID="34" presetClass="entr" presetSubtype="0" fill="hold" grpId="0" nodeType="clickEffect">
                                  <p:stCondLst>
                                    <p:cond delay="0"/>
                                  </p:stCondLst>
                                  <p:childTnLst>
                                    <p:set>
                                      <p:cBhvr>
                                        <p:cTn id="24" dur="1" fill="hold">
                                          <p:stCondLst>
                                            <p:cond delay="0"/>
                                          </p:stCondLst>
                                        </p:cTn>
                                        <p:tgtEl>
                                          <p:spTgt spid="381958"/>
                                        </p:tgtEl>
                                        <p:attrNameLst>
                                          <p:attrName>style.visibility</p:attrName>
                                        </p:attrNameLst>
                                      </p:cBhvr>
                                      <p:to>
                                        <p:strVal val="visible"/>
                                      </p:to>
                                    </p:set>
                                    <p:anim from="(-#ppt_w/2)" to="(#ppt_x)" calcmode="lin" valueType="num">
                                      <p:cBhvr>
                                        <p:cTn id="25" dur="600" fill="hold">
                                          <p:stCondLst>
                                            <p:cond delay="0"/>
                                          </p:stCondLst>
                                        </p:cTn>
                                        <p:tgtEl>
                                          <p:spTgt spid="381958"/>
                                        </p:tgtEl>
                                        <p:attrNameLst>
                                          <p:attrName>ppt_x</p:attrName>
                                        </p:attrNameLst>
                                      </p:cBhvr>
                                    </p:anim>
                                    <p:anim from="0" to="-1.0" calcmode="lin" valueType="num">
                                      <p:cBhvr>
                                        <p:cTn id="26" dur="200" decel="50000" autoRev="1" fill="hold">
                                          <p:stCondLst>
                                            <p:cond delay="600"/>
                                          </p:stCondLst>
                                        </p:cTn>
                                        <p:tgtEl>
                                          <p:spTgt spid="381958"/>
                                        </p:tgtEl>
                                        <p:attrNameLst>
                                          <p:attrName>xshear</p:attrName>
                                        </p:attrNameLst>
                                      </p:cBhvr>
                                    </p:anim>
                                    <p:animScale>
                                      <p:cBhvr>
                                        <p:cTn id="27" dur="200" decel="100000" autoRev="1" fill="hold">
                                          <p:stCondLst>
                                            <p:cond delay="600"/>
                                          </p:stCondLst>
                                        </p:cTn>
                                        <p:tgtEl>
                                          <p:spTgt spid="381958"/>
                                        </p:tgtEl>
                                      </p:cBhvr>
                                      <p:from x="100000" y="100000"/>
                                      <p:to x="80000" y="100000"/>
                                    </p:animScale>
                                    <p:anim by="(#ppt_h/3+#ppt_w*0.1)" calcmode="lin" valueType="num">
                                      <p:cBhvr additive="sum">
                                        <p:cTn id="28" dur="200" decel="100000" autoRev="1" fill="hold">
                                          <p:stCondLst>
                                            <p:cond delay="600"/>
                                          </p:stCondLst>
                                        </p:cTn>
                                        <p:tgtEl>
                                          <p:spTgt spid="381958"/>
                                        </p:tgtEl>
                                        <p:attrNameLst>
                                          <p:attrName>ppt_x</p:attrName>
                                        </p:attrNameLst>
                                      </p:cBhvr>
                                    </p:anim>
                                  </p:childTnLst>
                                  <p:subTnLst>
                                    <p:audio>
                                      <p:cMediaNode>
                                        <p:cTn display="0" masterRel="sameClick">
                                          <p:stCondLst>
                                            <p:cond evt="begin" delay="0">
                                              <p:tn val="23"/>
                                            </p:cond>
                                          </p:stCondLst>
                                          <p:endCondLst>
                                            <p:cond evt="onStopAudio" delay="0">
                                              <p:tgtEl>
                                                <p:sldTgt/>
                                              </p:tgtEl>
                                            </p:cond>
                                          </p:endCondLst>
                                        </p:cTn>
                                        <p:tgtEl>
                                          <p:sndTgt r:embed="rId4" name="Arrow"/>
                                        </p:tgtEl>
                                      </p:cMediaNode>
                                    </p:audio>
                                  </p:sub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381959">
                                            <p:txEl>
                                              <p:pRg st="0" end="0"/>
                                            </p:txEl>
                                          </p:spTgt>
                                        </p:tgtEl>
                                        <p:attrNameLst>
                                          <p:attrName>style.visibility</p:attrName>
                                        </p:attrNameLst>
                                      </p:cBhvr>
                                      <p:to>
                                        <p:strVal val="visible"/>
                                      </p:to>
                                    </p:set>
                                    <p:animEffect transition="in" filter="wipe(up)">
                                      <p:cBhvr>
                                        <p:cTn id="33" dur="500"/>
                                        <p:tgtEl>
                                          <p:spTgt spid="381959">
                                            <p:txEl>
                                              <p:pRg st="0" end="0"/>
                                            </p:txEl>
                                          </p:spTgt>
                                        </p:tgtEl>
                                      </p:cBhvr>
                                    </p:animEffect>
                                  </p:childTnLst>
                                  <p:subTnLst>
                                    <p:audio>
                                      <p:cMediaNode>
                                        <p:cTn display="0" masterRel="sameClick">
                                          <p:stCondLst>
                                            <p:cond evt="begin" delay="0">
                                              <p:tn val="31"/>
                                            </p:cond>
                                          </p:stCondLst>
                                          <p:endCondLst>
                                            <p:cond evt="onStopAudio" delay="0">
                                              <p:tgtEl>
                                                <p:sldTgt/>
                                              </p:tgtEl>
                                            </p:cond>
                                          </p:endCondLst>
                                        </p:cTn>
                                        <p:tgtEl>
                                          <p:sndTgt r:embed="rId5" name="Pencil Check"/>
                                        </p:tgtEl>
                                      </p:cMediaNode>
                                    </p:audio>
                                  </p:sub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381959">
                                            <p:txEl>
                                              <p:pRg st="1" end="1"/>
                                            </p:txEl>
                                          </p:spTgt>
                                        </p:tgtEl>
                                        <p:attrNameLst>
                                          <p:attrName>style.visibility</p:attrName>
                                        </p:attrNameLst>
                                      </p:cBhvr>
                                      <p:to>
                                        <p:strVal val="visible"/>
                                      </p:to>
                                    </p:set>
                                    <p:animEffect transition="in" filter="wipe(up)">
                                      <p:cBhvr>
                                        <p:cTn id="38" dur="500"/>
                                        <p:tgtEl>
                                          <p:spTgt spid="381959">
                                            <p:txEl>
                                              <p:pRg st="1" end="1"/>
                                            </p:txEl>
                                          </p:spTgt>
                                        </p:tgtEl>
                                      </p:cBhvr>
                                    </p:animEffect>
                                  </p:childTnLst>
                                  <p:subTnLst>
                                    <p:audio>
                                      <p:cMediaNode>
                                        <p:cTn display="0" masterRel="sameClick">
                                          <p:stCondLst>
                                            <p:cond evt="begin" delay="0">
                                              <p:tn val="36"/>
                                            </p:cond>
                                          </p:stCondLst>
                                          <p:endCondLst>
                                            <p:cond evt="onStopAudio" delay="0">
                                              <p:tgtEl>
                                                <p:sldTgt/>
                                              </p:tgtEl>
                                            </p:cond>
                                          </p:endCondLst>
                                        </p:cTn>
                                        <p:tgtEl>
                                          <p:sndTgt r:embed="rId5" name="Pencil Check"/>
                                        </p:tgtEl>
                                      </p:cMediaNode>
                                    </p:audio>
                                  </p:sub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1" fill="hold" grpId="0" nodeType="clickEffect">
                                  <p:stCondLst>
                                    <p:cond delay="0"/>
                                  </p:stCondLst>
                                  <p:childTnLst>
                                    <p:set>
                                      <p:cBhvr>
                                        <p:cTn id="42" dur="1" fill="hold">
                                          <p:stCondLst>
                                            <p:cond delay="0"/>
                                          </p:stCondLst>
                                        </p:cTn>
                                        <p:tgtEl>
                                          <p:spTgt spid="381959">
                                            <p:txEl>
                                              <p:pRg st="2" end="2"/>
                                            </p:txEl>
                                          </p:spTgt>
                                        </p:tgtEl>
                                        <p:attrNameLst>
                                          <p:attrName>style.visibility</p:attrName>
                                        </p:attrNameLst>
                                      </p:cBhvr>
                                      <p:to>
                                        <p:strVal val="visible"/>
                                      </p:to>
                                    </p:set>
                                    <p:animEffect transition="in" filter="wipe(up)">
                                      <p:cBhvr>
                                        <p:cTn id="43" dur="500"/>
                                        <p:tgtEl>
                                          <p:spTgt spid="381959">
                                            <p:txEl>
                                              <p:pRg st="2" end="2"/>
                                            </p:txEl>
                                          </p:spTgt>
                                        </p:tgtEl>
                                      </p:cBhvr>
                                    </p:animEffect>
                                  </p:childTnLst>
                                  <p:subTnLst>
                                    <p:audio>
                                      <p:cMediaNode>
                                        <p:cTn display="0" masterRel="sameClick">
                                          <p:stCondLst>
                                            <p:cond evt="begin" delay="0">
                                              <p:tn val="41"/>
                                            </p:cond>
                                          </p:stCondLst>
                                          <p:endCondLst>
                                            <p:cond evt="onStopAudio" delay="0">
                                              <p:tgtEl>
                                                <p:sldTgt/>
                                              </p:tgtEl>
                                            </p:cond>
                                          </p:endCondLst>
                                        </p:cTn>
                                        <p:tgtEl>
                                          <p:sndTgt r:embed="rId5" name="Pencil Check"/>
                                        </p:tgtEl>
                                      </p:cMediaNode>
                                    </p:audio>
                                  </p:sub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1" fill="hold" grpId="0" nodeType="clickEffect">
                                  <p:stCondLst>
                                    <p:cond delay="0"/>
                                  </p:stCondLst>
                                  <p:childTnLst>
                                    <p:set>
                                      <p:cBhvr>
                                        <p:cTn id="47" dur="1" fill="hold">
                                          <p:stCondLst>
                                            <p:cond delay="0"/>
                                          </p:stCondLst>
                                        </p:cTn>
                                        <p:tgtEl>
                                          <p:spTgt spid="381959">
                                            <p:txEl>
                                              <p:pRg st="3" end="3"/>
                                            </p:txEl>
                                          </p:spTgt>
                                        </p:tgtEl>
                                        <p:attrNameLst>
                                          <p:attrName>style.visibility</p:attrName>
                                        </p:attrNameLst>
                                      </p:cBhvr>
                                      <p:to>
                                        <p:strVal val="visible"/>
                                      </p:to>
                                    </p:set>
                                    <p:animEffect transition="in" filter="wipe(up)">
                                      <p:cBhvr>
                                        <p:cTn id="48" dur="500"/>
                                        <p:tgtEl>
                                          <p:spTgt spid="381959">
                                            <p:txEl>
                                              <p:pRg st="3" end="3"/>
                                            </p:txEl>
                                          </p:spTgt>
                                        </p:tgtEl>
                                      </p:cBhvr>
                                    </p:animEffect>
                                  </p:childTnLst>
                                  <p:subTnLst>
                                    <p:audio>
                                      <p:cMediaNode>
                                        <p:cTn display="0" masterRel="sameClick">
                                          <p:stCondLst>
                                            <p:cond evt="begin" delay="0">
                                              <p:tn val="46"/>
                                            </p:cond>
                                          </p:stCondLst>
                                          <p:endCondLst>
                                            <p:cond evt="onStopAudio" delay="0">
                                              <p:tgtEl>
                                                <p:sldTgt/>
                                              </p:tgtEl>
                                            </p:cond>
                                          </p:endCondLst>
                                        </p:cTn>
                                        <p:tgtEl>
                                          <p:sndTgt r:embed="rId5" name="Pencil Check"/>
                                        </p:tgtEl>
                                      </p:cMediaNode>
                                    </p:audio>
                                  </p:sub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1" fill="hold" grpId="0" nodeType="clickEffect">
                                  <p:stCondLst>
                                    <p:cond delay="0"/>
                                  </p:stCondLst>
                                  <p:childTnLst>
                                    <p:set>
                                      <p:cBhvr>
                                        <p:cTn id="52" dur="1" fill="hold">
                                          <p:stCondLst>
                                            <p:cond delay="0"/>
                                          </p:stCondLst>
                                        </p:cTn>
                                        <p:tgtEl>
                                          <p:spTgt spid="381959">
                                            <p:txEl>
                                              <p:pRg st="4" end="4"/>
                                            </p:txEl>
                                          </p:spTgt>
                                        </p:tgtEl>
                                        <p:attrNameLst>
                                          <p:attrName>style.visibility</p:attrName>
                                        </p:attrNameLst>
                                      </p:cBhvr>
                                      <p:to>
                                        <p:strVal val="visible"/>
                                      </p:to>
                                    </p:set>
                                    <p:animEffect transition="in" filter="wipe(up)">
                                      <p:cBhvr>
                                        <p:cTn id="53" dur="500"/>
                                        <p:tgtEl>
                                          <p:spTgt spid="381959">
                                            <p:txEl>
                                              <p:pRg st="4" end="4"/>
                                            </p:txEl>
                                          </p:spTgt>
                                        </p:tgtEl>
                                      </p:cBhvr>
                                    </p:animEffect>
                                  </p:childTnLst>
                                  <p:subTnLst>
                                    <p:audio>
                                      <p:cMediaNode>
                                        <p:cTn display="0" masterRel="sameClick">
                                          <p:stCondLst>
                                            <p:cond evt="begin" delay="0">
                                              <p:tn val="51"/>
                                            </p:cond>
                                          </p:stCondLst>
                                          <p:endCondLst>
                                            <p:cond evt="onStopAudio" delay="0">
                                              <p:tgtEl>
                                                <p:sldTgt/>
                                              </p:tgtEl>
                                            </p:cond>
                                          </p:endCondLst>
                                        </p:cTn>
                                        <p:tgtEl>
                                          <p:sndTgt r:embed="rId5" name="Pencil Check"/>
                                        </p:tgtEl>
                                      </p:cMediaNode>
                                    </p:audio>
                                  </p:sub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1" fill="hold" grpId="0" nodeType="clickEffect">
                                  <p:stCondLst>
                                    <p:cond delay="0"/>
                                  </p:stCondLst>
                                  <p:childTnLst>
                                    <p:set>
                                      <p:cBhvr>
                                        <p:cTn id="57" dur="1" fill="hold">
                                          <p:stCondLst>
                                            <p:cond delay="0"/>
                                          </p:stCondLst>
                                        </p:cTn>
                                        <p:tgtEl>
                                          <p:spTgt spid="381959">
                                            <p:txEl>
                                              <p:pRg st="5" end="5"/>
                                            </p:txEl>
                                          </p:spTgt>
                                        </p:tgtEl>
                                        <p:attrNameLst>
                                          <p:attrName>style.visibility</p:attrName>
                                        </p:attrNameLst>
                                      </p:cBhvr>
                                      <p:to>
                                        <p:strVal val="visible"/>
                                      </p:to>
                                    </p:set>
                                    <p:animEffect transition="in" filter="wipe(up)">
                                      <p:cBhvr>
                                        <p:cTn id="58" dur="500"/>
                                        <p:tgtEl>
                                          <p:spTgt spid="381959">
                                            <p:txEl>
                                              <p:pRg st="5" end="5"/>
                                            </p:txEl>
                                          </p:spTgt>
                                        </p:tgtEl>
                                      </p:cBhvr>
                                    </p:animEffect>
                                  </p:childTnLst>
                                  <p:subTnLst>
                                    <p:audio>
                                      <p:cMediaNode>
                                        <p:cTn display="0" masterRel="sameClick">
                                          <p:stCondLst>
                                            <p:cond evt="begin" delay="0">
                                              <p:tn val="56"/>
                                            </p:cond>
                                          </p:stCondLst>
                                          <p:endCondLst>
                                            <p:cond evt="onStopAudio" delay="0">
                                              <p:tgtEl>
                                                <p:sldTgt/>
                                              </p:tgtEl>
                                            </p:cond>
                                          </p:endCondLst>
                                        </p:cTn>
                                        <p:tgtEl>
                                          <p:sndTgt r:embed="rId5" name="Pencil Check"/>
                                        </p:tgtEl>
                                      </p:cMediaNode>
                                    </p:audio>
                                  </p:sub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1" fill="hold" grpId="0" nodeType="clickEffect">
                                  <p:stCondLst>
                                    <p:cond delay="0"/>
                                  </p:stCondLst>
                                  <p:childTnLst>
                                    <p:set>
                                      <p:cBhvr>
                                        <p:cTn id="62" dur="1" fill="hold">
                                          <p:stCondLst>
                                            <p:cond delay="0"/>
                                          </p:stCondLst>
                                        </p:cTn>
                                        <p:tgtEl>
                                          <p:spTgt spid="381959">
                                            <p:txEl>
                                              <p:pRg st="6" end="6"/>
                                            </p:txEl>
                                          </p:spTgt>
                                        </p:tgtEl>
                                        <p:attrNameLst>
                                          <p:attrName>style.visibility</p:attrName>
                                        </p:attrNameLst>
                                      </p:cBhvr>
                                      <p:to>
                                        <p:strVal val="visible"/>
                                      </p:to>
                                    </p:set>
                                    <p:animEffect transition="in" filter="wipe(up)">
                                      <p:cBhvr>
                                        <p:cTn id="63" dur="500"/>
                                        <p:tgtEl>
                                          <p:spTgt spid="381959">
                                            <p:txEl>
                                              <p:pRg st="6" end="6"/>
                                            </p:txEl>
                                          </p:spTgt>
                                        </p:tgtEl>
                                      </p:cBhvr>
                                    </p:animEffect>
                                  </p:childTnLst>
                                  <p:subTnLst>
                                    <p:audio>
                                      <p:cMediaNode>
                                        <p:cTn display="0" masterRel="sameClick">
                                          <p:stCondLst>
                                            <p:cond evt="begin" delay="0">
                                              <p:tn val="61"/>
                                            </p:cond>
                                          </p:stCondLst>
                                          <p:endCondLst>
                                            <p:cond evt="onStopAudio" delay="0">
                                              <p:tgtEl>
                                                <p:sldTgt/>
                                              </p:tgtEl>
                                            </p:cond>
                                          </p:endCondLst>
                                        </p:cTn>
                                        <p:tgtEl>
                                          <p:sndTgt r:embed="rId5" name="Pencil Check"/>
                                        </p:tgtEl>
                                      </p:cMediaNode>
                                    </p:audio>
                                  </p:sub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1" fill="hold" grpId="0" nodeType="clickEffect">
                                  <p:stCondLst>
                                    <p:cond delay="0"/>
                                  </p:stCondLst>
                                  <p:childTnLst>
                                    <p:set>
                                      <p:cBhvr>
                                        <p:cTn id="67" dur="1" fill="hold">
                                          <p:stCondLst>
                                            <p:cond delay="0"/>
                                          </p:stCondLst>
                                        </p:cTn>
                                        <p:tgtEl>
                                          <p:spTgt spid="381959">
                                            <p:txEl>
                                              <p:pRg st="7" end="7"/>
                                            </p:txEl>
                                          </p:spTgt>
                                        </p:tgtEl>
                                        <p:attrNameLst>
                                          <p:attrName>style.visibility</p:attrName>
                                        </p:attrNameLst>
                                      </p:cBhvr>
                                      <p:to>
                                        <p:strVal val="visible"/>
                                      </p:to>
                                    </p:set>
                                    <p:animEffect transition="in" filter="wipe(up)">
                                      <p:cBhvr>
                                        <p:cTn id="68" dur="500"/>
                                        <p:tgtEl>
                                          <p:spTgt spid="381959">
                                            <p:txEl>
                                              <p:pRg st="7" end="7"/>
                                            </p:txEl>
                                          </p:spTgt>
                                        </p:tgtEl>
                                      </p:cBhvr>
                                    </p:animEffect>
                                  </p:childTnLst>
                                  <p:subTnLst>
                                    <p:audio>
                                      <p:cMediaNode>
                                        <p:cTn display="0" masterRel="sameClick">
                                          <p:stCondLst>
                                            <p:cond evt="begin" delay="0">
                                              <p:tn val="66"/>
                                            </p:cond>
                                          </p:stCondLst>
                                          <p:endCondLst>
                                            <p:cond evt="onStopAudio" delay="0">
                                              <p:tgtEl>
                                                <p:sldTgt/>
                                              </p:tgtEl>
                                            </p:cond>
                                          </p:endCondLst>
                                        </p:cTn>
                                        <p:tgtEl>
                                          <p:sndTgt r:embed="rId5" name="Pencil Check"/>
                                        </p:tgtEl>
                                      </p:cMediaNode>
                                    </p:audio>
                                  </p:subTnLst>
                                </p:cTn>
                              </p:par>
                            </p:childTnLst>
                          </p:cTn>
                        </p:par>
                      </p:childTnLst>
                    </p:cTn>
                  </p:par>
                  <p:par>
                    <p:cTn id="69" fill="hold" nodeType="clickPar">
                      <p:stCondLst>
                        <p:cond delay="indefinite"/>
                      </p:stCondLst>
                      <p:childTnLst>
                        <p:par>
                          <p:cTn id="70" fill="hold" nodeType="withGroup">
                            <p:stCondLst>
                              <p:cond delay="0"/>
                            </p:stCondLst>
                            <p:childTnLst>
                              <p:par>
                                <p:cTn id="71" presetID="2" presetClass="entr" presetSubtype="8" fill="hold" grpId="0" nodeType="clickEffect">
                                  <p:stCondLst>
                                    <p:cond delay="0"/>
                                  </p:stCondLst>
                                  <p:childTnLst>
                                    <p:set>
                                      <p:cBhvr>
                                        <p:cTn id="72" dur="1" fill="hold">
                                          <p:stCondLst>
                                            <p:cond delay="0"/>
                                          </p:stCondLst>
                                        </p:cTn>
                                        <p:tgtEl>
                                          <p:spTgt spid="381961"/>
                                        </p:tgtEl>
                                        <p:attrNameLst>
                                          <p:attrName>style.visibility</p:attrName>
                                        </p:attrNameLst>
                                      </p:cBhvr>
                                      <p:to>
                                        <p:strVal val="visible"/>
                                      </p:to>
                                    </p:set>
                                    <p:anim calcmode="lin" valueType="num">
                                      <p:cBhvr additive="base">
                                        <p:cTn id="73" dur="500" fill="hold"/>
                                        <p:tgtEl>
                                          <p:spTgt spid="381961"/>
                                        </p:tgtEl>
                                        <p:attrNameLst>
                                          <p:attrName>ppt_x</p:attrName>
                                        </p:attrNameLst>
                                      </p:cBhvr>
                                      <p:tavLst>
                                        <p:tav tm="0">
                                          <p:val>
                                            <p:strVal val="0-#ppt_w/2"/>
                                          </p:val>
                                        </p:tav>
                                        <p:tav tm="100000">
                                          <p:val>
                                            <p:strVal val="#ppt_x"/>
                                          </p:val>
                                        </p:tav>
                                      </p:tavLst>
                                    </p:anim>
                                    <p:anim calcmode="lin" valueType="num">
                                      <p:cBhvr additive="base">
                                        <p:cTn id="74" dur="500" fill="hold"/>
                                        <p:tgtEl>
                                          <p:spTgt spid="38196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71"/>
                                            </p:cond>
                                          </p:stCondLst>
                                          <p:endCondLst>
                                            <p:cond evt="onStopAudio" delay="0">
                                              <p:tgtEl>
                                                <p:sldTgt/>
                                              </p:tgtEl>
                                            </p:cond>
                                          </p:endCondLst>
                                        </p:cTn>
                                        <p:tgtEl>
                                          <p:sndTgt r:embed="rId4" name="Arrow"/>
                                        </p:tgtEl>
                                      </p:cMediaNode>
                                    </p:audio>
                                  </p:sub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1" fill="hold" grpId="0" nodeType="clickEffect">
                                  <p:stCondLst>
                                    <p:cond delay="0"/>
                                  </p:stCondLst>
                                  <p:childTnLst>
                                    <p:set>
                                      <p:cBhvr>
                                        <p:cTn id="78" dur="1" fill="hold">
                                          <p:stCondLst>
                                            <p:cond delay="0"/>
                                          </p:stCondLst>
                                        </p:cTn>
                                        <p:tgtEl>
                                          <p:spTgt spid="381960">
                                            <p:txEl>
                                              <p:pRg st="0" end="0"/>
                                            </p:txEl>
                                          </p:spTgt>
                                        </p:tgtEl>
                                        <p:attrNameLst>
                                          <p:attrName>style.visibility</p:attrName>
                                        </p:attrNameLst>
                                      </p:cBhvr>
                                      <p:to>
                                        <p:strVal val="visible"/>
                                      </p:to>
                                    </p:set>
                                    <p:animEffect transition="in" filter="wipe(up)">
                                      <p:cBhvr>
                                        <p:cTn id="79" dur="500"/>
                                        <p:tgtEl>
                                          <p:spTgt spid="381960">
                                            <p:txEl>
                                              <p:pRg st="0" end="0"/>
                                            </p:txEl>
                                          </p:spTgt>
                                        </p:tgtEl>
                                      </p:cBhvr>
                                    </p:animEffect>
                                  </p:childTnLst>
                                  <p:subTnLst>
                                    <p:audio>
                                      <p:cMediaNode>
                                        <p:cTn display="0" masterRel="sameClick">
                                          <p:stCondLst>
                                            <p:cond evt="begin" delay="0">
                                              <p:tn val="77"/>
                                            </p:cond>
                                          </p:stCondLst>
                                          <p:endCondLst>
                                            <p:cond evt="onStopAudio" delay="0">
                                              <p:tgtEl>
                                                <p:sldTgt/>
                                              </p:tgtEl>
                                            </p:cond>
                                          </p:endCondLst>
                                        </p:cTn>
                                        <p:tgtEl>
                                          <p:sndTgt r:embed="rId5" name="Pencil Check"/>
                                        </p:tgtEl>
                                      </p:cMediaNode>
                                    </p:audio>
                                  </p:subTnLst>
                                </p:cTn>
                              </p:par>
                            </p:childTnLst>
                          </p:cTn>
                        </p:par>
                      </p:childTnLst>
                    </p:cTn>
                  </p:par>
                  <p:par>
                    <p:cTn id="80" fill="hold" nodeType="clickPar">
                      <p:stCondLst>
                        <p:cond delay="indefinite"/>
                      </p:stCondLst>
                      <p:childTnLst>
                        <p:par>
                          <p:cTn id="81" fill="hold" nodeType="withGroup">
                            <p:stCondLst>
                              <p:cond delay="0"/>
                            </p:stCondLst>
                            <p:childTnLst>
                              <p:par>
                                <p:cTn id="82" presetID="22" presetClass="entr" presetSubtype="1" fill="hold" grpId="0" nodeType="clickEffect">
                                  <p:stCondLst>
                                    <p:cond delay="0"/>
                                  </p:stCondLst>
                                  <p:childTnLst>
                                    <p:set>
                                      <p:cBhvr>
                                        <p:cTn id="83" dur="1" fill="hold">
                                          <p:stCondLst>
                                            <p:cond delay="0"/>
                                          </p:stCondLst>
                                        </p:cTn>
                                        <p:tgtEl>
                                          <p:spTgt spid="381960">
                                            <p:txEl>
                                              <p:pRg st="1" end="1"/>
                                            </p:txEl>
                                          </p:spTgt>
                                        </p:tgtEl>
                                        <p:attrNameLst>
                                          <p:attrName>style.visibility</p:attrName>
                                        </p:attrNameLst>
                                      </p:cBhvr>
                                      <p:to>
                                        <p:strVal val="visible"/>
                                      </p:to>
                                    </p:set>
                                    <p:animEffect transition="in" filter="wipe(up)">
                                      <p:cBhvr>
                                        <p:cTn id="84" dur="500"/>
                                        <p:tgtEl>
                                          <p:spTgt spid="381960">
                                            <p:txEl>
                                              <p:pRg st="1" end="1"/>
                                            </p:txEl>
                                          </p:spTgt>
                                        </p:tgtEl>
                                      </p:cBhvr>
                                    </p:animEffect>
                                  </p:childTnLst>
                                  <p:subTnLst>
                                    <p:audio>
                                      <p:cMediaNode>
                                        <p:cTn display="0" masterRel="sameClick">
                                          <p:stCondLst>
                                            <p:cond evt="begin" delay="0">
                                              <p:tn val="82"/>
                                            </p:cond>
                                          </p:stCondLst>
                                          <p:endCondLst>
                                            <p:cond evt="onStopAudio" delay="0">
                                              <p:tgtEl>
                                                <p:sldTgt/>
                                              </p:tgtEl>
                                            </p:cond>
                                          </p:endCondLst>
                                        </p:cTn>
                                        <p:tgtEl>
                                          <p:sndTgt r:embed="rId5" name="Pencil Check"/>
                                        </p:tgtEl>
                                      </p:cMediaNode>
                                    </p:audio>
                                  </p:subTnLst>
                                </p:cTn>
                              </p:par>
                            </p:childTnLst>
                          </p:cTn>
                        </p:par>
                      </p:childTnLst>
                    </p:cTn>
                  </p:par>
                  <p:par>
                    <p:cTn id="85" fill="hold" nodeType="clickPar">
                      <p:stCondLst>
                        <p:cond delay="indefinite"/>
                      </p:stCondLst>
                      <p:childTnLst>
                        <p:par>
                          <p:cTn id="86" fill="hold" nodeType="withGroup">
                            <p:stCondLst>
                              <p:cond delay="0"/>
                            </p:stCondLst>
                            <p:childTnLst>
                              <p:par>
                                <p:cTn id="87" presetID="22" presetClass="entr" presetSubtype="1" fill="hold" grpId="0" nodeType="clickEffect">
                                  <p:stCondLst>
                                    <p:cond delay="0"/>
                                  </p:stCondLst>
                                  <p:childTnLst>
                                    <p:set>
                                      <p:cBhvr>
                                        <p:cTn id="88" dur="1" fill="hold">
                                          <p:stCondLst>
                                            <p:cond delay="0"/>
                                          </p:stCondLst>
                                        </p:cTn>
                                        <p:tgtEl>
                                          <p:spTgt spid="381960">
                                            <p:txEl>
                                              <p:pRg st="2" end="2"/>
                                            </p:txEl>
                                          </p:spTgt>
                                        </p:tgtEl>
                                        <p:attrNameLst>
                                          <p:attrName>style.visibility</p:attrName>
                                        </p:attrNameLst>
                                      </p:cBhvr>
                                      <p:to>
                                        <p:strVal val="visible"/>
                                      </p:to>
                                    </p:set>
                                    <p:animEffect transition="in" filter="wipe(up)">
                                      <p:cBhvr>
                                        <p:cTn id="89" dur="500"/>
                                        <p:tgtEl>
                                          <p:spTgt spid="381960">
                                            <p:txEl>
                                              <p:pRg st="2" end="2"/>
                                            </p:txEl>
                                          </p:spTgt>
                                        </p:tgtEl>
                                      </p:cBhvr>
                                    </p:animEffect>
                                  </p:childTnLst>
                                  <p:subTnLst>
                                    <p:audio>
                                      <p:cMediaNode>
                                        <p:cTn display="0" masterRel="sameClick">
                                          <p:stCondLst>
                                            <p:cond evt="begin" delay="0">
                                              <p:tn val="87"/>
                                            </p:cond>
                                          </p:stCondLst>
                                          <p:endCondLst>
                                            <p:cond evt="onStopAudio" delay="0">
                                              <p:tgtEl>
                                                <p:sldTgt/>
                                              </p:tgtEl>
                                            </p:cond>
                                          </p:endCondLst>
                                        </p:cTn>
                                        <p:tgtEl>
                                          <p:sndTgt r:embed="rId5" name="Pencil Check"/>
                                        </p:tgtEl>
                                      </p:cMediaNode>
                                    </p:audio>
                                  </p:subTnLst>
                                </p:cTn>
                              </p:par>
                            </p:childTnLst>
                          </p:cTn>
                        </p:par>
                      </p:childTnLst>
                    </p:cTn>
                  </p:par>
                  <p:par>
                    <p:cTn id="90" fill="hold" nodeType="clickPar">
                      <p:stCondLst>
                        <p:cond delay="indefinite"/>
                      </p:stCondLst>
                      <p:childTnLst>
                        <p:par>
                          <p:cTn id="91" fill="hold" nodeType="withGroup">
                            <p:stCondLst>
                              <p:cond delay="0"/>
                            </p:stCondLst>
                            <p:childTnLst>
                              <p:par>
                                <p:cTn id="92" presetID="22" presetClass="entr" presetSubtype="1" fill="hold" grpId="0" nodeType="clickEffect">
                                  <p:stCondLst>
                                    <p:cond delay="0"/>
                                  </p:stCondLst>
                                  <p:childTnLst>
                                    <p:set>
                                      <p:cBhvr>
                                        <p:cTn id="93" dur="1" fill="hold">
                                          <p:stCondLst>
                                            <p:cond delay="0"/>
                                          </p:stCondLst>
                                        </p:cTn>
                                        <p:tgtEl>
                                          <p:spTgt spid="381960">
                                            <p:txEl>
                                              <p:pRg st="3" end="3"/>
                                            </p:txEl>
                                          </p:spTgt>
                                        </p:tgtEl>
                                        <p:attrNameLst>
                                          <p:attrName>style.visibility</p:attrName>
                                        </p:attrNameLst>
                                      </p:cBhvr>
                                      <p:to>
                                        <p:strVal val="visible"/>
                                      </p:to>
                                    </p:set>
                                    <p:animEffect transition="in" filter="wipe(up)">
                                      <p:cBhvr>
                                        <p:cTn id="94" dur="500"/>
                                        <p:tgtEl>
                                          <p:spTgt spid="381960">
                                            <p:txEl>
                                              <p:pRg st="3" end="3"/>
                                            </p:txEl>
                                          </p:spTgt>
                                        </p:tgtEl>
                                      </p:cBhvr>
                                    </p:animEffect>
                                  </p:childTnLst>
                                  <p:subTnLst>
                                    <p:audio>
                                      <p:cMediaNode>
                                        <p:cTn display="0" masterRel="sameClick">
                                          <p:stCondLst>
                                            <p:cond evt="begin" delay="0">
                                              <p:tn val="92"/>
                                            </p:cond>
                                          </p:stCondLst>
                                          <p:endCondLst>
                                            <p:cond evt="onStopAudio" delay="0">
                                              <p:tgtEl>
                                                <p:sldTgt/>
                                              </p:tgtEl>
                                            </p:cond>
                                          </p:endCondLst>
                                        </p:cTn>
                                        <p:tgtEl>
                                          <p:sndTgt r:embed="rId5" name="Pencil Check"/>
                                        </p:tgtEl>
                                      </p:cMediaNode>
                                    </p:audio>
                                  </p:subTnLst>
                                </p:cTn>
                              </p:par>
                            </p:childTnLst>
                          </p:cTn>
                        </p:par>
                      </p:childTnLst>
                    </p:cTn>
                  </p:par>
                  <p:par>
                    <p:cTn id="95" fill="hold" nodeType="clickPar">
                      <p:stCondLst>
                        <p:cond delay="indefinite"/>
                      </p:stCondLst>
                      <p:childTnLst>
                        <p:par>
                          <p:cTn id="96" fill="hold" nodeType="withGroup">
                            <p:stCondLst>
                              <p:cond delay="0"/>
                            </p:stCondLst>
                            <p:childTnLst>
                              <p:par>
                                <p:cTn id="97" presetID="22" presetClass="entr" presetSubtype="1" fill="hold" grpId="0" nodeType="clickEffect">
                                  <p:stCondLst>
                                    <p:cond delay="0"/>
                                  </p:stCondLst>
                                  <p:childTnLst>
                                    <p:set>
                                      <p:cBhvr>
                                        <p:cTn id="98" dur="1" fill="hold">
                                          <p:stCondLst>
                                            <p:cond delay="0"/>
                                          </p:stCondLst>
                                        </p:cTn>
                                        <p:tgtEl>
                                          <p:spTgt spid="381960">
                                            <p:txEl>
                                              <p:pRg st="4" end="4"/>
                                            </p:txEl>
                                          </p:spTgt>
                                        </p:tgtEl>
                                        <p:attrNameLst>
                                          <p:attrName>style.visibility</p:attrName>
                                        </p:attrNameLst>
                                      </p:cBhvr>
                                      <p:to>
                                        <p:strVal val="visible"/>
                                      </p:to>
                                    </p:set>
                                    <p:animEffect transition="in" filter="wipe(up)">
                                      <p:cBhvr>
                                        <p:cTn id="99" dur="500"/>
                                        <p:tgtEl>
                                          <p:spTgt spid="381960">
                                            <p:txEl>
                                              <p:pRg st="4" end="4"/>
                                            </p:txEl>
                                          </p:spTgt>
                                        </p:tgtEl>
                                      </p:cBhvr>
                                    </p:animEffect>
                                  </p:childTnLst>
                                  <p:subTnLst>
                                    <p:audio>
                                      <p:cMediaNode>
                                        <p:cTn display="0" masterRel="sameClick">
                                          <p:stCondLst>
                                            <p:cond evt="begin" delay="0">
                                              <p:tn val="97"/>
                                            </p:cond>
                                          </p:stCondLst>
                                          <p:endCondLst>
                                            <p:cond evt="onStopAudio" delay="0">
                                              <p:tgtEl>
                                                <p:sldTgt/>
                                              </p:tgtEl>
                                            </p:cond>
                                          </p:endCondLst>
                                        </p:cTn>
                                        <p:tgtEl>
                                          <p:sndTgt r:embed="rId5" name="Pencil Check"/>
                                        </p:tgtEl>
                                      </p:cMediaNode>
                                    </p:audio>
                                  </p:subTnLst>
                                </p:cTn>
                              </p:par>
                            </p:childTnLst>
                          </p:cTn>
                        </p:par>
                      </p:childTnLst>
                    </p:cTn>
                  </p:par>
                  <p:par>
                    <p:cTn id="100" fill="hold" nodeType="clickPar">
                      <p:stCondLst>
                        <p:cond delay="indefinite"/>
                      </p:stCondLst>
                      <p:childTnLst>
                        <p:par>
                          <p:cTn id="101" fill="hold" nodeType="withGroup">
                            <p:stCondLst>
                              <p:cond delay="0"/>
                            </p:stCondLst>
                            <p:childTnLst>
                              <p:par>
                                <p:cTn id="102" presetID="22" presetClass="entr" presetSubtype="1" fill="hold" grpId="0" nodeType="clickEffect">
                                  <p:stCondLst>
                                    <p:cond delay="0"/>
                                  </p:stCondLst>
                                  <p:childTnLst>
                                    <p:set>
                                      <p:cBhvr>
                                        <p:cTn id="103" dur="1" fill="hold">
                                          <p:stCondLst>
                                            <p:cond delay="0"/>
                                          </p:stCondLst>
                                        </p:cTn>
                                        <p:tgtEl>
                                          <p:spTgt spid="381960">
                                            <p:txEl>
                                              <p:pRg st="5" end="5"/>
                                            </p:txEl>
                                          </p:spTgt>
                                        </p:tgtEl>
                                        <p:attrNameLst>
                                          <p:attrName>style.visibility</p:attrName>
                                        </p:attrNameLst>
                                      </p:cBhvr>
                                      <p:to>
                                        <p:strVal val="visible"/>
                                      </p:to>
                                    </p:set>
                                    <p:animEffect transition="in" filter="wipe(up)">
                                      <p:cBhvr>
                                        <p:cTn id="104" dur="500"/>
                                        <p:tgtEl>
                                          <p:spTgt spid="381960">
                                            <p:txEl>
                                              <p:pRg st="5" end="5"/>
                                            </p:txEl>
                                          </p:spTgt>
                                        </p:tgtEl>
                                      </p:cBhvr>
                                    </p:animEffect>
                                  </p:childTnLst>
                                  <p:subTnLst>
                                    <p:audio>
                                      <p:cMediaNode>
                                        <p:cTn display="0" masterRel="sameClick">
                                          <p:stCondLst>
                                            <p:cond evt="begin" delay="0">
                                              <p:tn val="102"/>
                                            </p:cond>
                                          </p:stCondLst>
                                          <p:endCondLst>
                                            <p:cond evt="onStopAudio" delay="0">
                                              <p:tgtEl>
                                                <p:sldTgt/>
                                              </p:tgtEl>
                                            </p:cond>
                                          </p:endCondLst>
                                        </p:cTn>
                                        <p:tgtEl>
                                          <p:sndTgt r:embed="rId5" name="Pencil Check"/>
                                        </p:tgtEl>
                                      </p:cMediaNode>
                                    </p:audio>
                                  </p:subTnLst>
                                </p:cTn>
                              </p:par>
                            </p:childTnLst>
                          </p:cTn>
                        </p:par>
                      </p:childTnLst>
                    </p:cTn>
                  </p:par>
                  <p:par>
                    <p:cTn id="105" fill="hold" nodeType="clickPar">
                      <p:stCondLst>
                        <p:cond delay="indefinite"/>
                      </p:stCondLst>
                      <p:childTnLst>
                        <p:par>
                          <p:cTn id="106" fill="hold" nodeType="withGroup">
                            <p:stCondLst>
                              <p:cond delay="0"/>
                            </p:stCondLst>
                            <p:childTnLst>
                              <p:par>
                                <p:cTn id="107" presetID="22" presetClass="entr" presetSubtype="1" fill="hold" grpId="0" nodeType="clickEffect">
                                  <p:stCondLst>
                                    <p:cond delay="0"/>
                                  </p:stCondLst>
                                  <p:childTnLst>
                                    <p:set>
                                      <p:cBhvr>
                                        <p:cTn id="108" dur="1" fill="hold">
                                          <p:stCondLst>
                                            <p:cond delay="0"/>
                                          </p:stCondLst>
                                        </p:cTn>
                                        <p:tgtEl>
                                          <p:spTgt spid="381960">
                                            <p:txEl>
                                              <p:pRg st="6" end="6"/>
                                            </p:txEl>
                                          </p:spTgt>
                                        </p:tgtEl>
                                        <p:attrNameLst>
                                          <p:attrName>style.visibility</p:attrName>
                                        </p:attrNameLst>
                                      </p:cBhvr>
                                      <p:to>
                                        <p:strVal val="visible"/>
                                      </p:to>
                                    </p:set>
                                    <p:animEffect transition="in" filter="wipe(up)">
                                      <p:cBhvr>
                                        <p:cTn id="109" dur="500"/>
                                        <p:tgtEl>
                                          <p:spTgt spid="381960">
                                            <p:txEl>
                                              <p:pRg st="6" end="6"/>
                                            </p:txEl>
                                          </p:spTgt>
                                        </p:tgtEl>
                                      </p:cBhvr>
                                    </p:animEffect>
                                  </p:childTnLst>
                                  <p:subTnLst>
                                    <p:audio>
                                      <p:cMediaNode>
                                        <p:cTn display="0" masterRel="sameClick">
                                          <p:stCondLst>
                                            <p:cond evt="begin" delay="0">
                                              <p:tn val="107"/>
                                            </p:cond>
                                          </p:stCondLst>
                                          <p:endCondLst>
                                            <p:cond evt="onStopAudio" delay="0">
                                              <p:tgtEl>
                                                <p:sldTgt/>
                                              </p:tgtEl>
                                            </p:cond>
                                          </p:endCondLst>
                                        </p:cTn>
                                        <p:tgtEl>
                                          <p:sndTgt r:embed="rId5" name="Pencil Check"/>
                                        </p:tgtEl>
                                      </p:cMediaNode>
                                    </p:audio>
                                  </p:subTnLst>
                                </p:cTn>
                              </p:par>
                            </p:childTnLst>
                          </p:cTn>
                        </p:par>
                      </p:childTnLst>
                    </p:cTn>
                  </p:par>
                  <p:par>
                    <p:cTn id="110" fill="hold" nodeType="clickPar">
                      <p:stCondLst>
                        <p:cond delay="indefinite"/>
                      </p:stCondLst>
                      <p:childTnLst>
                        <p:par>
                          <p:cTn id="111" fill="hold" nodeType="withGroup">
                            <p:stCondLst>
                              <p:cond delay="0"/>
                            </p:stCondLst>
                            <p:childTnLst>
                              <p:par>
                                <p:cTn id="112" presetID="22" presetClass="entr" presetSubtype="1" fill="hold" grpId="0" nodeType="clickEffect">
                                  <p:stCondLst>
                                    <p:cond delay="0"/>
                                  </p:stCondLst>
                                  <p:childTnLst>
                                    <p:set>
                                      <p:cBhvr>
                                        <p:cTn id="113" dur="1" fill="hold">
                                          <p:stCondLst>
                                            <p:cond delay="0"/>
                                          </p:stCondLst>
                                        </p:cTn>
                                        <p:tgtEl>
                                          <p:spTgt spid="381960">
                                            <p:txEl>
                                              <p:pRg st="7" end="7"/>
                                            </p:txEl>
                                          </p:spTgt>
                                        </p:tgtEl>
                                        <p:attrNameLst>
                                          <p:attrName>style.visibility</p:attrName>
                                        </p:attrNameLst>
                                      </p:cBhvr>
                                      <p:to>
                                        <p:strVal val="visible"/>
                                      </p:to>
                                    </p:set>
                                    <p:animEffect transition="in" filter="wipe(up)">
                                      <p:cBhvr>
                                        <p:cTn id="114" dur="500"/>
                                        <p:tgtEl>
                                          <p:spTgt spid="381960">
                                            <p:txEl>
                                              <p:pRg st="7" end="7"/>
                                            </p:txEl>
                                          </p:spTgt>
                                        </p:tgtEl>
                                      </p:cBhvr>
                                    </p:animEffect>
                                  </p:childTnLst>
                                  <p:subTnLst>
                                    <p:audio>
                                      <p:cMediaNode>
                                        <p:cTn display="0" masterRel="sameClick">
                                          <p:stCondLst>
                                            <p:cond evt="begin" delay="0">
                                              <p:tn val="112"/>
                                            </p:cond>
                                          </p:stCondLst>
                                          <p:endCondLst>
                                            <p:cond evt="onStopAudio" delay="0">
                                              <p:tgtEl>
                                                <p:sldTgt/>
                                              </p:tgtEl>
                                            </p:cond>
                                          </p:endCondLst>
                                        </p:cTn>
                                        <p:tgtEl>
                                          <p:sndTgt r:embed="rId5" name="Pencil Check"/>
                                        </p:tgtEl>
                                      </p:cMediaNode>
                                    </p:audio>
                                  </p:subTnLst>
                                </p:cTn>
                              </p:par>
                            </p:childTnLst>
                          </p:cTn>
                        </p:par>
                      </p:childTnLst>
                    </p:cTn>
                  </p:par>
                  <p:par>
                    <p:cTn id="115" fill="hold" nodeType="clickPar">
                      <p:stCondLst>
                        <p:cond delay="indefinite"/>
                      </p:stCondLst>
                      <p:childTnLst>
                        <p:par>
                          <p:cTn id="116" fill="hold" nodeType="withGroup">
                            <p:stCondLst>
                              <p:cond delay="0"/>
                            </p:stCondLst>
                            <p:childTnLst>
                              <p:par>
                                <p:cTn id="117" presetID="22" presetClass="entr" presetSubtype="8" fill="hold" grpId="0" nodeType="clickEffect">
                                  <p:stCondLst>
                                    <p:cond delay="0"/>
                                  </p:stCondLst>
                                  <p:childTnLst>
                                    <p:set>
                                      <p:cBhvr>
                                        <p:cTn id="118" dur="1" fill="hold">
                                          <p:stCondLst>
                                            <p:cond delay="0"/>
                                          </p:stCondLst>
                                        </p:cTn>
                                        <p:tgtEl>
                                          <p:spTgt spid="381962"/>
                                        </p:tgtEl>
                                        <p:attrNameLst>
                                          <p:attrName>style.visibility</p:attrName>
                                        </p:attrNameLst>
                                      </p:cBhvr>
                                      <p:to>
                                        <p:strVal val="visible"/>
                                      </p:to>
                                    </p:set>
                                    <p:animEffect transition="in" filter="wipe(left)">
                                      <p:cBhvr>
                                        <p:cTn id="119" dur="500"/>
                                        <p:tgtEl>
                                          <p:spTgt spid="381962"/>
                                        </p:tgtEl>
                                      </p:cBhvr>
                                    </p:animEffect>
                                  </p:childTnLst>
                                  <p:subTnLst>
                                    <p:audio>
                                      <p:cMediaNode>
                                        <p:cTn display="0" masterRel="sameClick">
                                          <p:stCondLst>
                                            <p:cond evt="begin" delay="0">
                                              <p:tn val="117"/>
                                            </p:cond>
                                          </p:stCondLst>
                                          <p:endCondLst>
                                            <p:cond evt="onStopAudio" delay="0">
                                              <p:tgtEl>
                                                <p:sldTgt/>
                                              </p:tgtEl>
                                            </p:cond>
                                          </p:endCondLst>
                                        </p:cTn>
                                        <p:tgtEl>
                                          <p:sndTgt r:embed="rId3" name="Whoosh"/>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1955" grpId="0" build="p" autoUpdateAnimBg="0"/>
      <p:bldP spid="381958" grpId="0" animBg="1"/>
      <p:bldP spid="381959" grpId="0" build="p"/>
      <p:bldP spid="381960" grpId="0" build="p"/>
      <p:bldP spid="381961" grpId="0" animBg="1"/>
      <p:bldP spid="381962" grpId="0" animBg="1"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p:txBody>
          <a:bodyPr/>
          <a:lstStyle/>
          <a:p>
            <a:r>
              <a:rPr lang="en-US" dirty="0"/>
              <a:t>Lipids of the plasma membrane</a:t>
            </a:r>
          </a:p>
        </p:txBody>
      </p:sp>
      <p:sp>
        <p:nvSpPr>
          <p:cNvPr id="386051" name="Rectangle 3" descr="Rectangle: Click to edit Master text styles&#10;Second level&#10;Third level&#10;Fourth level&#10;Fifth level"/>
          <p:cNvSpPr>
            <a:spLocks noGrp="1" noChangeArrowheads="1"/>
          </p:cNvSpPr>
          <p:nvPr>
            <p:ph sz="quarter" idx="13"/>
          </p:nvPr>
        </p:nvSpPr>
        <p:spPr>
          <a:xfrm>
            <a:off x="609600" y="1600200"/>
            <a:ext cx="5618584" cy="4114800"/>
          </a:xfrm>
        </p:spPr>
        <p:txBody>
          <a:bodyPr>
            <a:normAutofit/>
          </a:bodyPr>
          <a:lstStyle/>
          <a:p>
            <a:r>
              <a:rPr lang="en-US" sz="1800" dirty="0"/>
              <a:t>Membrane is made of special kind of lipid called phospholipids.</a:t>
            </a:r>
          </a:p>
          <a:p>
            <a:r>
              <a:rPr lang="en-US" sz="1800" dirty="0"/>
              <a:t>Membrane is a double layer – hence the name </a:t>
            </a:r>
            <a:r>
              <a:rPr lang="en-US" sz="1800" b="1" dirty="0"/>
              <a:t>phospholipid bilayer </a:t>
            </a:r>
          </a:p>
        </p:txBody>
      </p:sp>
      <p:grpSp>
        <p:nvGrpSpPr>
          <p:cNvPr id="6149" name="Group 17"/>
          <p:cNvGrpSpPr>
            <a:grpSpLocks/>
          </p:cNvGrpSpPr>
          <p:nvPr/>
        </p:nvGrpSpPr>
        <p:grpSpPr bwMode="auto">
          <a:xfrm>
            <a:off x="723217" y="3262312"/>
            <a:ext cx="4235450" cy="2895600"/>
            <a:chOff x="417" y="2256"/>
            <a:chExt cx="2668" cy="1824"/>
          </a:xfrm>
        </p:grpSpPr>
        <p:pic>
          <p:nvPicPr>
            <p:cNvPr id="6157" name="Picture 7"/>
            <p:cNvPicPr>
              <a:picLocks noChangeAspect="1" noChangeArrowheads="1"/>
            </p:cNvPicPr>
            <p:nvPr/>
          </p:nvPicPr>
          <p:blipFill>
            <a:blip r:embed="rId6">
              <a:extLst>
                <a:ext uri="{28A0092B-C50C-407E-A947-70E740481C1C}">
                  <a14:useLocalDpi xmlns:a14="http://schemas.microsoft.com/office/drawing/2010/main" val="0"/>
                </a:ext>
              </a:extLst>
            </a:blip>
            <a:srcRect l="29604" t="49200" r="1057" b="7201"/>
            <a:stretch>
              <a:fillRect/>
            </a:stretch>
          </p:blipFill>
          <p:spPr bwMode="auto">
            <a:xfrm>
              <a:off x="417" y="2448"/>
              <a:ext cx="2668" cy="14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58" name="Rectangle 8"/>
            <p:cNvSpPr>
              <a:spLocks noChangeArrowheads="1"/>
            </p:cNvSpPr>
            <p:nvPr/>
          </p:nvSpPr>
          <p:spPr bwMode="auto">
            <a:xfrm>
              <a:off x="432" y="2256"/>
              <a:ext cx="2625" cy="288"/>
            </a:xfrm>
            <a:prstGeom prst="rect">
              <a:avLst/>
            </a:prstGeom>
            <a:solidFill>
              <a:srgbClr val="98D7F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en-US" b="1">
                  <a:solidFill>
                    <a:srgbClr val="0F116A"/>
                  </a:solidFill>
                </a:rPr>
                <a:t>inside cell</a:t>
              </a:r>
            </a:p>
          </p:txBody>
        </p:sp>
        <p:sp>
          <p:nvSpPr>
            <p:cNvPr id="6159" name="Rectangle 9"/>
            <p:cNvSpPr>
              <a:spLocks noChangeArrowheads="1"/>
            </p:cNvSpPr>
            <p:nvPr/>
          </p:nvSpPr>
          <p:spPr bwMode="auto">
            <a:xfrm>
              <a:off x="432" y="3792"/>
              <a:ext cx="2625" cy="288"/>
            </a:xfrm>
            <a:prstGeom prst="rect">
              <a:avLst/>
            </a:prstGeom>
            <a:solidFill>
              <a:srgbClr val="98D7F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en-US" b="1">
                  <a:solidFill>
                    <a:srgbClr val="0F116A"/>
                  </a:solidFill>
                </a:rPr>
                <a:t>outside cell</a:t>
              </a:r>
            </a:p>
          </p:txBody>
        </p:sp>
      </p:grpSp>
      <p:sp>
        <p:nvSpPr>
          <p:cNvPr id="6150" name="Freeform 12"/>
          <p:cNvSpPr>
            <a:spLocks/>
          </p:cNvSpPr>
          <p:nvPr/>
        </p:nvSpPr>
        <p:spPr bwMode="auto">
          <a:xfrm>
            <a:off x="6870700" y="3886200"/>
            <a:ext cx="165100" cy="2667000"/>
          </a:xfrm>
          <a:custGeom>
            <a:avLst/>
            <a:gdLst>
              <a:gd name="T0" fmla="*/ 0 w 104"/>
              <a:gd name="T1" fmla="*/ 0 h 1680"/>
              <a:gd name="T2" fmla="*/ 76200 w 104"/>
              <a:gd name="T3" fmla="*/ 304800 h 1680"/>
              <a:gd name="T4" fmla="*/ 152400 w 104"/>
              <a:gd name="T5" fmla="*/ 1219200 h 1680"/>
              <a:gd name="T6" fmla="*/ 152400 w 104"/>
              <a:gd name="T7" fmla="*/ 2667000 h 168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4" h="1680">
                <a:moveTo>
                  <a:pt x="0" y="0"/>
                </a:moveTo>
                <a:cubicBezTo>
                  <a:pt x="16" y="32"/>
                  <a:pt x="32" y="64"/>
                  <a:pt x="48" y="192"/>
                </a:cubicBezTo>
                <a:cubicBezTo>
                  <a:pt x="64" y="320"/>
                  <a:pt x="88" y="520"/>
                  <a:pt x="96" y="768"/>
                </a:cubicBezTo>
                <a:cubicBezTo>
                  <a:pt x="104" y="1016"/>
                  <a:pt x="96" y="1528"/>
                  <a:pt x="96" y="1680"/>
                </a:cubicBezTo>
              </a:path>
            </a:pathLst>
          </a:custGeom>
          <a:noFill/>
          <a:ln w="177800" cap="flat" cmpd="sng">
            <a:solidFill>
              <a:schemeClr val="tx1"/>
            </a:solidFill>
            <a:prstDash val="solid"/>
            <a:round/>
            <a:headEnd/>
            <a:tailEnd/>
          </a:ln>
          <a:effectLst/>
          <a:extLst>
            <a:ext uri="{909E8E84-426E-40DD-AFC4-6F175D3DCCD1}">
              <a14:hiddenFill xmlns:a14="http://schemas.microsoft.com/office/drawing/2010/main">
                <a:solidFill>
                  <a:srgbClr val="FFEA18"/>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6151" name="Freeform 13"/>
          <p:cNvSpPr>
            <a:spLocks/>
          </p:cNvSpPr>
          <p:nvPr/>
        </p:nvSpPr>
        <p:spPr bwMode="auto">
          <a:xfrm>
            <a:off x="6324600" y="3886200"/>
            <a:ext cx="165100" cy="2590800"/>
          </a:xfrm>
          <a:custGeom>
            <a:avLst/>
            <a:gdLst>
              <a:gd name="T0" fmla="*/ 165100 w 104"/>
              <a:gd name="T1" fmla="*/ 0 h 1632"/>
              <a:gd name="T2" fmla="*/ 88900 w 104"/>
              <a:gd name="T3" fmla="*/ 381000 h 1632"/>
              <a:gd name="T4" fmla="*/ 12700 w 104"/>
              <a:gd name="T5" fmla="*/ 1524000 h 1632"/>
              <a:gd name="T6" fmla="*/ 165100 w 104"/>
              <a:gd name="T7" fmla="*/ 2590800 h 16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4" h="1632">
                <a:moveTo>
                  <a:pt x="104" y="0"/>
                </a:moveTo>
                <a:cubicBezTo>
                  <a:pt x="88" y="40"/>
                  <a:pt x="72" y="80"/>
                  <a:pt x="56" y="240"/>
                </a:cubicBezTo>
                <a:cubicBezTo>
                  <a:pt x="40" y="400"/>
                  <a:pt x="0" y="728"/>
                  <a:pt x="8" y="960"/>
                </a:cubicBezTo>
                <a:cubicBezTo>
                  <a:pt x="16" y="1192"/>
                  <a:pt x="60" y="1412"/>
                  <a:pt x="104" y="1632"/>
                </a:cubicBezTo>
              </a:path>
            </a:pathLst>
          </a:custGeom>
          <a:noFill/>
          <a:ln w="177800" cap="flat" cmpd="sng">
            <a:solidFill>
              <a:schemeClr val="tx1"/>
            </a:solidFill>
            <a:prstDash val="solid"/>
            <a:round/>
            <a:headEnd/>
            <a:tailEnd/>
          </a:ln>
          <a:effectLst/>
          <a:extLst>
            <a:ext uri="{909E8E84-426E-40DD-AFC4-6F175D3DCCD1}">
              <a14:hiddenFill xmlns:a14="http://schemas.microsoft.com/office/drawing/2010/main">
                <a:solidFill>
                  <a:srgbClr val="FFEA18"/>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6152" name="Oval 14"/>
          <p:cNvSpPr>
            <a:spLocks noChangeArrowheads="1"/>
          </p:cNvSpPr>
          <p:nvPr/>
        </p:nvSpPr>
        <p:spPr bwMode="auto">
          <a:xfrm>
            <a:off x="5992813" y="2667000"/>
            <a:ext cx="1371600" cy="1371600"/>
          </a:xfrm>
          <a:prstGeom prst="ellipse">
            <a:avLst/>
          </a:prstGeom>
          <a:solidFill>
            <a:srgbClr val="FFEA18"/>
          </a:solidFill>
          <a:ln w="9525">
            <a:solidFill>
              <a:srgbClr val="FFEA18"/>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800"/>
          </a:p>
        </p:txBody>
      </p:sp>
      <p:sp>
        <p:nvSpPr>
          <p:cNvPr id="386063" name="Rectangle 15"/>
          <p:cNvSpPr>
            <a:spLocks noChangeArrowheads="1"/>
          </p:cNvSpPr>
          <p:nvPr/>
        </p:nvSpPr>
        <p:spPr bwMode="auto">
          <a:xfrm>
            <a:off x="5562600" y="4800600"/>
            <a:ext cx="706438" cy="396875"/>
          </a:xfrm>
          <a:prstGeom prst="rect">
            <a:avLst/>
          </a:prstGeom>
          <a:noFill/>
          <a:ln>
            <a:noFill/>
          </a:ln>
          <a:effectLst/>
          <a:extLst>
            <a:ext uri="{909E8E84-426E-40DD-AFC4-6F175D3DCCD1}">
              <a14:hiddenFill xmlns:a14="http://schemas.microsoft.com/office/drawing/2010/main">
                <a:solidFill>
                  <a:srgbClr val="FFEA18"/>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sz="2000" b="1">
                <a:solidFill>
                  <a:srgbClr val="CC0000"/>
                </a:solidFill>
              </a:rPr>
              <a:t>lipid</a:t>
            </a:r>
          </a:p>
        </p:txBody>
      </p:sp>
      <p:sp>
        <p:nvSpPr>
          <p:cNvPr id="386053" name="AutoShape 5"/>
          <p:cNvSpPr>
            <a:spLocks noChangeArrowheads="1"/>
          </p:cNvSpPr>
          <p:nvPr/>
        </p:nvSpPr>
        <p:spPr bwMode="auto">
          <a:xfrm>
            <a:off x="6553200" y="6019800"/>
            <a:ext cx="2363788" cy="339725"/>
          </a:xfrm>
          <a:prstGeom prst="roundRect">
            <a:avLst>
              <a:gd name="adj" fmla="val 16667"/>
            </a:avLst>
          </a:prstGeom>
          <a:solidFill>
            <a:srgbClr val="CC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algn="l"/>
            <a:r>
              <a:rPr lang="en-US" sz="2000" b="1">
                <a:solidFill>
                  <a:schemeClr val="bg1"/>
                </a:solidFill>
              </a:rPr>
              <a:t>“repelled by water”</a:t>
            </a:r>
          </a:p>
        </p:txBody>
      </p:sp>
      <p:sp>
        <p:nvSpPr>
          <p:cNvPr id="386052" name="AutoShape 4"/>
          <p:cNvSpPr>
            <a:spLocks noChangeArrowheads="1"/>
          </p:cNvSpPr>
          <p:nvPr/>
        </p:nvSpPr>
        <p:spPr bwMode="auto">
          <a:xfrm>
            <a:off x="6553200" y="2209800"/>
            <a:ext cx="2406650" cy="339725"/>
          </a:xfrm>
          <a:prstGeom prst="roundRect">
            <a:avLst>
              <a:gd name="adj" fmla="val 16667"/>
            </a:avLst>
          </a:prstGeom>
          <a:solidFill>
            <a:srgbClr val="CC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algn="l"/>
            <a:r>
              <a:rPr lang="en-US" sz="2000" b="1">
                <a:solidFill>
                  <a:schemeClr val="bg1"/>
                </a:solidFill>
              </a:rPr>
              <a:t>“attracted to water”</a:t>
            </a:r>
          </a:p>
        </p:txBody>
      </p:sp>
      <p:sp>
        <p:nvSpPr>
          <p:cNvPr id="386066" name="Rectangle 18"/>
          <p:cNvSpPr>
            <a:spLocks noChangeArrowheads="1"/>
          </p:cNvSpPr>
          <p:nvPr/>
        </p:nvSpPr>
        <p:spPr bwMode="auto">
          <a:xfrm>
            <a:off x="5943600" y="3124200"/>
            <a:ext cx="1468438" cy="396875"/>
          </a:xfrm>
          <a:prstGeom prst="rect">
            <a:avLst/>
          </a:prstGeom>
          <a:noFill/>
          <a:ln>
            <a:noFill/>
          </a:ln>
          <a:effectLst/>
          <a:extLst>
            <a:ext uri="{909E8E84-426E-40DD-AFC4-6F175D3DCCD1}">
              <a14:hiddenFill xmlns:a14="http://schemas.microsoft.com/office/drawing/2010/main">
                <a:solidFill>
                  <a:srgbClr val="FFEA18"/>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sz="2000" b="1">
                <a:solidFill>
                  <a:srgbClr val="CC0000"/>
                </a:solidFill>
              </a:rPr>
              <a:t>phosphate</a:t>
            </a:r>
          </a:p>
        </p:txBody>
      </p:sp>
    </p:spTree>
    <p:extLst>
      <p:ext uri="{BB962C8B-B14F-4D97-AF65-F5344CB8AC3E}">
        <p14:creationId xmlns:p14="http://schemas.microsoft.com/office/powerpoint/2010/main" val="222941270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86051">
                                            <p:txEl>
                                              <p:pRg st="0" end="0"/>
                                            </p:txEl>
                                          </p:spTgt>
                                        </p:tgtEl>
                                        <p:attrNameLst>
                                          <p:attrName>style.visibility</p:attrName>
                                        </p:attrNameLst>
                                      </p:cBhvr>
                                      <p:to>
                                        <p:strVal val="visible"/>
                                      </p:to>
                                    </p:set>
                                    <p:anim calcmode="lin" valueType="num">
                                      <p:cBhvr additive="base">
                                        <p:cTn id="7" dur="500" fill="hold"/>
                                        <p:tgtEl>
                                          <p:spTgt spid="38605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86051">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86051">
                                            <p:txEl>
                                              <p:pRg st="1" end="1"/>
                                            </p:txEl>
                                          </p:spTgt>
                                        </p:tgtEl>
                                        <p:attrNameLst>
                                          <p:attrName>style.visibility</p:attrName>
                                        </p:attrNameLst>
                                      </p:cBhvr>
                                      <p:to>
                                        <p:strVal val="visible"/>
                                      </p:to>
                                    </p:set>
                                    <p:anim calcmode="lin" valueType="num">
                                      <p:cBhvr additive="base">
                                        <p:cTn id="13" dur="500" fill="hold"/>
                                        <p:tgtEl>
                                          <p:spTgt spid="38605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86051">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Whoosh"/>
                                        </p:tgtEl>
                                      </p:cMediaNode>
                                    </p:audio>
                                  </p:sub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386066">
                                            <p:txEl>
                                              <p:pRg st="0" end="0"/>
                                            </p:txEl>
                                          </p:spTgt>
                                        </p:tgtEl>
                                        <p:attrNameLst>
                                          <p:attrName>style.visibility</p:attrName>
                                        </p:attrNameLst>
                                      </p:cBhvr>
                                      <p:to>
                                        <p:strVal val="visible"/>
                                      </p:to>
                                    </p:set>
                                    <p:animEffect transition="in" filter="wipe(left)">
                                      <p:cBhvr>
                                        <p:cTn id="19" dur="500"/>
                                        <p:tgtEl>
                                          <p:spTgt spid="386066">
                                            <p:txEl>
                                              <p:pRg st="0" end="0"/>
                                            </p:txEl>
                                          </p:spTgt>
                                        </p:tgtEl>
                                      </p:cBhvr>
                                    </p:animEffect>
                                  </p:childTnLst>
                                  <p:subTnLst>
                                    <p:audio>
                                      <p:cMediaNode>
                                        <p:cTn display="0" masterRel="sameClick">
                                          <p:stCondLst>
                                            <p:cond evt="begin" delay="0">
                                              <p:tn val="17"/>
                                            </p:cond>
                                          </p:stCondLst>
                                          <p:endCondLst>
                                            <p:cond evt="onStopAudio" delay="0">
                                              <p:tgtEl>
                                                <p:sldTgt/>
                                              </p:tgtEl>
                                            </p:cond>
                                          </p:endCondLst>
                                        </p:cTn>
                                        <p:tgtEl>
                                          <p:sndTgt r:embed="rId4" name="Pencil Check"/>
                                        </p:tgtEl>
                                      </p:cMediaNode>
                                    </p:audio>
                                  </p:sub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386063">
                                            <p:txEl>
                                              <p:pRg st="0" end="0"/>
                                            </p:txEl>
                                          </p:spTgt>
                                        </p:tgtEl>
                                        <p:attrNameLst>
                                          <p:attrName>style.visibility</p:attrName>
                                        </p:attrNameLst>
                                      </p:cBhvr>
                                      <p:to>
                                        <p:strVal val="visible"/>
                                      </p:to>
                                    </p:set>
                                    <p:animEffect transition="in" filter="wipe(left)">
                                      <p:cBhvr>
                                        <p:cTn id="24" dur="500"/>
                                        <p:tgtEl>
                                          <p:spTgt spid="386063">
                                            <p:txEl>
                                              <p:pRg st="0" end="0"/>
                                            </p:txEl>
                                          </p:spTgt>
                                        </p:tgtEl>
                                      </p:cBhvr>
                                    </p:animEffect>
                                  </p:childTnLst>
                                  <p:subTnLst>
                                    <p:audio>
                                      <p:cMediaNode>
                                        <p:cTn display="0" masterRel="sameClick">
                                          <p:stCondLst>
                                            <p:cond evt="begin" delay="0">
                                              <p:tn val="22"/>
                                            </p:cond>
                                          </p:stCondLst>
                                          <p:endCondLst>
                                            <p:cond evt="onStopAudio" delay="0">
                                              <p:tgtEl>
                                                <p:sldTgt/>
                                              </p:tgtEl>
                                            </p:cond>
                                          </p:endCondLst>
                                        </p:cTn>
                                        <p:tgtEl>
                                          <p:sndTgt r:embed="rId4" name="Pencil Check"/>
                                        </p:tgtEl>
                                      </p:cMediaNode>
                                    </p:audio>
                                  </p:sub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386052"/>
                                        </p:tgtEl>
                                        <p:attrNameLst>
                                          <p:attrName>style.visibility</p:attrName>
                                        </p:attrNameLst>
                                      </p:cBhvr>
                                      <p:to>
                                        <p:strVal val="visible"/>
                                      </p:to>
                                    </p:set>
                                    <p:animEffect transition="in" filter="wipe(left)">
                                      <p:cBhvr>
                                        <p:cTn id="29" dur="500"/>
                                        <p:tgtEl>
                                          <p:spTgt spid="386052"/>
                                        </p:tgtEl>
                                      </p:cBhvr>
                                    </p:animEffect>
                                  </p:childTnLst>
                                  <p:subTnLst>
                                    <p:audio>
                                      <p:cMediaNode>
                                        <p:cTn display="0" masterRel="sameClick">
                                          <p:stCondLst>
                                            <p:cond evt="begin" delay="0">
                                              <p:tn val="27"/>
                                            </p:cond>
                                          </p:stCondLst>
                                          <p:endCondLst>
                                            <p:cond evt="onStopAudio" delay="0">
                                              <p:tgtEl>
                                                <p:sldTgt/>
                                              </p:tgtEl>
                                            </p:cond>
                                          </p:endCondLst>
                                        </p:cTn>
                                        <p:tgtEl>
                                          <p:sndTgt r:embed="rId5" name="Vibro Up"/>
                                        </p:tgtEl>
                                      </p:cMediaNode>
                                    </p:audio>
                                  </p:sub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386053"/>
                                        </p:tgtEl>
                                        <p:attrNameLst>
                                          <p:attrName>style.visibility</p:attrName>
                                        </p:attrNameLst>
                                      </p:cBhvr>
                                      <p:to>
                                        <p:strVal val="visible"/>
                                      </p:to>
                                    </p:set>
                                    <p:animEffect transition="in" filter="wipe(left)">
                                      <p:cBhvr>
                                        <p:cTn id="34" dur="500"/>
                                        <p:tgtEl>
                                          <p:spTgt spid="386053"/>
                                        </p:tgtEl>
                                      </p:cBhvr>
                                    </p:animEffect>
                                  </p:childTnLst>
                                  <p:subTnLst>
                                    <p:audio>
                                      <p:cMediaNode>
                                        <p:cTn display="0" masterRel="sameClick">
                                          <p:stCondLst>
                                            <p:cond evt="begin" delay="0">
                                              <p:tn val="32"/>
                                            </p:cond>
                                          </p:stCondLst>
                                          <p:endCondLst>
                                            <p:cond evt="onStopAudio" delay="0">
                                              <p:tgtEl>
                                                <p:sldTgt/>
                                              </p:tgtEl>
                                            </p:cond>
                                          </p:endCondLst>
                                        </p:cTn>
                                        <p:tgtEl>
                                          <p:sndTgt r:embed="rId5" name="Vibro Up"/>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6051" grpId="0" build="p" autoUpdateAnimBg="0"/>
      <p:bldP spid="386063" grpId="0" build="p" autoUpdateAnimBg="0"/>
      <p:bldP spid="386053" grpId="0" animBg="1" autoUpdateAnimBg="0"/>
      <p:bldP spid="386052" grpId="0" animBg="1" autoUpdateAnimBg="0"/>
      <p:bldP spid="386066" grpId="0" build="p"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Plasma membrane</a:t>
            </a:r>
          </a:p>
        </p:txBody>
      </p:sp>
      <p:sp>
        <p:nvSpPr>
          <p:cNvPr id="3" name="Content Placeholder 2"/>
          <p:cNvSpPr>
            <a:spLocks noGrp="1"/>
          </p:cNvSpPr>
          <p:nvPr>
            <p:ph sz="quarter" idx="13"/>
          </p:nvPr>
        </p:nvSpPr>
        <p:spPr/>
        <p:txBody>
          <a:bodyPr/>
          <a:lstStyle/>
          <a:p>
            <a:r>
              <a:rPr lang="en-AU" dirty="0"/>
              <a:t>Recall form last term that:</a:t>
            </a:r>
          </a:p>
          <a:p>
            <a:r>
              <a:rPr lang="en-US" dirty="0"/>
              <a:t>Phosphate (polar) heads are hydrophilic “water loving” lipid (nonpolar), tails are hydrophobic “water fearing”.   </a:t>
            </a:r>
          </a:p>
          <a:p>
            <a:r>
              <a:rPr lang="en-US" dirty="0"/>
              <a:t>Whether substances will move through the membrane freely or not depends on whether they are hydrophobic or hydrophilic.</a:t>
            </a:r>
          </a:p>
          <a:p>
            <a:endParaRPr lang="en-AU" dirty="0"/>
          </a:p>
          <a:p>
            <a:endParaRPr lang="en-AU" dirty="0"/>
          </a:p>
        </p:txBody>
      </p:sp>
      <p:pic>
        <p:nvPicPr>
          <p:cNvPr id="4" name="Picture 6" descr="FG05_02"/>
          <p:cNvPicPr>
            <a:picLocks noChangeAspect="1" noChangeArrowheads="1"/>
          </p:cNvPicPr>
          <p:nvPr/>
        </p:nvPicPr>
        <p:blipFill>
          <a:blip r:embed="rId2">
            <a:extLst>
              <a:ext uri="{28A0092B-C50C-407E-A947-70E740481C1C}">
                <a14:useLocalDpi xmlns:a14="http://schemas.microsoft.com/office/drawing/2010/main" val="0"/>
              </a:ext>
            </a:extLst>
          </a:blip>
          <a:srcRect l="31532" b="9163"/>
          <a:stretch>
            <a:fillRect/>
          </a:stretch>
        </p:blipFill>
        <p:spPr bwMode="auto">
          <a:xfrm>
            <a:off x="2158057" y="3573016"/>
            <a:ext cx="4611862" cy="2902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556245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611263" y="304800"/>
            <a:ext cx="7924800" cy="1143000"/>
          </a:xfrm>
        </p:spPr>
        <p:txBody>
          <a:bodyPr/>
          <a:lstStyle/>
          <a:p>
            <a:r>
              <a:rPr lang="en-US" dirty="0"/>
              <a:t>Semi-permeable membrane</a:t>
            </a:r>
          </a:p>
        </p:txBody>
      </p:sp>
      <p:sp>
        <p:nvSpPr>
          <p:cNvPr id="388099" name="Rectangle 3" descr="Rectangle: Click to edit Master text styles&#10;Second level&#10;Third level&#10;Fourth level&#10;Fifth level"/>
          <p:cNvSpPr>
            <a:spLocks noGrp="1" noChangeArrowheads="1"/>
          </p:cNvSpPr>
          <p:nvPr>
            <p:ph sz="quarter" idx="13"/>
          </p:nvPr>
        </p:nvSpPr>
        <p:spPr/>
        <p:txBody>
          <a:bodyPr>
            <a:normAutofit/>
          </a:bodyPr>
          <a:lstStyle/>
          <a:p>
            <a:r>
              <a:rPr lang="en-US" sz="1800" dirty="0"/>
              <a:t>Plasma membrane controls what gets in or out</a:t>
            </a:r>
          </a:p>
          <a:p>
            <a:r>
              <a:rPr lang="en-US" sz="1800" dirty="0"/>
              <a:t>The cell needs to allow some materials — but not all — to pass through the membrane.  This is why it is semi-permeable.  Only some material can get in or out.</a:t>
            </a:r>
          </a:p>
          <a:p>
            <a:r>
              <a:rPr lang="en-US" sz="1800" b="1" dirty="0"/>
              <a:t>Fats and oils </a:t>
            </a:r>
            <a:r>
              <a:rPr lang="en-US" sz="1800" dirty="0"/>
              <a:t>can pass directly through the plasma membrane.  This is because they are hydrophobic (water-fearing).</a:t>
            </a:r>
          </a:p>
          <a:p>
            <a:r>
              <a:rPr lang="en-US" sz="1800" dirty="0"/>
              <a:t>Other substances use other pathways.</a:t>
            </a:r>
          </a:p>
        </p:txBody>
      </p:sp>
      <p:sp>
        <p:nvSpPr>
          <p:cNvPr id="388101" name="AutoShape 5"/>
          <p:cNvSpPr>
            <a:spLocks noChangeArrowheads="1"/>
          </p:cNvSpPr>
          <p:nvPr/>
        </p:nvSpPr>
        <p:spPr bwMode="auto">
          <a:xfrm>
            <a:off x="3214376" y="5043108"/>
            <a:ext cx="533400" cy="533400"/>
          </a:xfrm>
          <a:prstGeom prst="octagon">
            <a:avLst>
              <a:gd name="adj" fmla="val 29287"/>
            </a:avLst>
          </a:prstGeom>
          <a:solidFill>
            <a:schemeClr val="tx2"/>
          </a:solidFill>
          <a:ln w="9525">
            <a:solidFill>
              <a:srgbClr val="66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b="1" dirty="0">
                <a:solidFill>
                  <a:srgbClr val="FF0000"/>
                </a:solidFill>
              </a:rPr>
              <a:t>amino </a:t>
            </a:r>
          </a:p>
          <a:p>
            <a:r>
              <a:rPr lang="en-US" b="1" dirty="0">
                <a:solidFill>
                  <a:srgbClr val="FF0000"/>
                </a:solidFill>
              </a:rPr>
              <a:t>acids</a:t>
            </a:r>
            <a:endParaRPr lang="en-US" sz="2800" dirty="0">
              <a:solidFill>
                <a:srgbClr val="FF0000"/>
              </a:solidFill>
            </a:endParaRPr>
          </a:p>
        </p:txBody>
      </p:sp>
      <p:sp>
        <p:nvSpPr>
          <p:cNvPr id="388102" name="Oval 6"/>
          <p:cNvSpPr>
            <a:spLocks noChangeArrowheads="1"/>
          </p:cNvSpPr>
          <p:nvPr/>
        </p:nvSpPr>
        <p:spPr bwMode="auto">
          <a:xfrm>
            <a:off x="5441391" y="5032375"/>
            <a:ext cx="533400" cy="533400"/>
          </a:xfrm>
          <a:prstGeom prst="ellipse">
            <a:avLst/>
          </a:prstGeom>
          <a:solidFill>
            <a:srgbClr val="0F116A"/>
          </a:solidFill>
          <a:ln w="9525">
            <a:solidFill>
              <a:srgbClr val="1A158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sz="2000" b="1" dirty="0">
                <a:solidFill>
                  <a:srgbClr val="FF0000"/>
                </a:solidFill>
              </a:rPr>
              <a:t>H</a:t>
            </a:r>
            <a:r>
              <a:rPr lang="en-US" b="1" baseline="-25000" dirty="0">
                <a:solidFill>
                  <a:srgbClr val="FF0000"/>
                </a:solidFill>
              </a:rPr>
              <a:t>2</a:t>
            </a:r>
            <a:r>
              <a:rPr lang="en-US" sz="2000" b="1" dirty="0">
                <a:solidFill>
                  <a:srgbClr val="FF0000"/>
                </a:solidFill>
              </a:rPr>
              <a:t>O</a:t>
            </a:r>
            <a:endParaRPr lang="en-US" sz="2800" dirty="0">
              <a:solidFill>
                <a:srgbClr val="FF0000"/>
              </a:solidFill>
            </a:endParaRPr>
          </a:p>
        </p:txBody>
      </p:sp>
      <p:sp>
        <p:nvSpPr>
          <p:cNvPr id="388103" name="AutoShape 7"/>
          <p:cNvSpPr>
            <a:spLocks noChangeArrowheads="1"/>
          </p:cNvSpPr>
          <p:nvPr/>
        </p:nvSpPr>
        <p:spPr bwMode="auto">
          <a:xfrm>
            <a:off x="1022350" y="5045075"/>
            <a:ext cx="533400" cy="533400"/>
          </a:xfrm>
          <a:prstGeom prst="octagon">
            <a:avLst>
              <a:gd name="adj" fmla="val 29287"/>
            </a:avLst>
          </a:prstGeom>
          <a:solidFill>
            <a:srgbClr val="C0FF1D"/>
          </a:solidFill>
          <a:ln w="9525">
            <a:solidFill>
              <a:srgbClr val="66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b="1">
                <a:solidFill>
                  <a:srgbClr val="CC0000"/>
                </a:solidFill>
              </a:rPr>
              <a:t>sugar</a:t>
            </a:r>
            <a:endParaRPr lang="en-US" sz="2800"/>
          </a:p>
        </p:txBody>
      </p:sp>
      <p:sp>
        <p:nvSpPr>
          <p:cNvPr id="388104" name="Oval 8"/>
          <p:cNvSpPr>
            <a:spLocks noChangeArrowheads="1"/>
          </p:cNvSpPr>
          <p:nvPr/>
        </p:nvSpPr>
        <p:spPr bwMode="auto">
          <a:xfrm>
            <a:off x="2108200" y="5032375"/>
            <a:ext cx="533400" cy="533400"/>
          </a:xfrm>
          <a:prstGeom prst="ellipse">
            <a:avLst/>
          </a:prstGeom>
          <a:solidFill>
            <a:srgbClr val="FFEA18"/>
          </a:solidFill>
          <a:ln w="9525">
            <a:solidFill>
              <a:srgbClr val="FFCC18"/>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b="1">
                <a:solidFill>
                  <a:srgbClr val="CC0000"/>
                </a:solidFill>
              </a:rPr>
              <a:t>lipids</a:t>
            </a:r>
            <a:endParaRPr lang="en-US" sz="2800"/>
          </a:p>
        </p:txBody>
      </p:sp>
      <p:sp>
        <p:nvSpPr>
          <p:cNvPr id="388105" name="AutoShape 9"/>
          <p:cNvSpPr>
            <a:spLocks noChangeArrowheads="1"/>
          </p:cNvSpPr>
          <p:nvPr/>
        </p:nvSpPr>
        <p:spPr bwMode="auto">
          <a:xfrm>
            <a:off x="6456363" y="5032375"/>
            <a:ext cx="533400" cy="533400"/>
          </a:xfrm>
          <a:prstGeom prst="diamond">
            <a:avLst/>
          </a:prstGeom>
          <a:solidFill>
            <a:schemeClr val="bg2"/>
          </a:solidFill>
          <a:ln w="9525">
            <a:solidFill>
              <a:srgbClr val="66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b="1" dirty="0"/>
              <a:t>salt</a:t>
            </a:r>
            <a:endParaRPr lang="en-US" sz="2800" dirty="0"/>
          </a:p>
        </p:txBody>
      </p:sp>
      <p:sp>
        <p:nvSpPr>
          <p:cNvPr id="388106" name="AutoShape 10"/>
          <p:cNvSpPr>
            <a:spLocks noChangeArrowheads="1"/>
          </p:cNvSpPr>
          <p:nvPr/>
        </p:nvSpPr>
        <p:spPr bwMode="auto">
          <a:xfrm>
            <a:off x="7543800" y="5070475"/>
            <a:ext cx="457200" cy="457200"/>
          </a:xfrm>
          <a:custGeom>
            <a:avLst/>
            <a:gdLst>
              <a:gd name="T0" fmla="*/ 400050 w 21600"/>
              <a:gd name="T1" fmla="*/ 228600 h 21600"/>
              <a:gd name="T2" fmla="*/ 228600 w 21600"/>
              <a:gd name="T3" fmla="*/ 457200 h 21600"/>
              <a:gd name="T4" fmla="*/ 57150 w 21600"/>
              <a:gd name="T5" fmla="*/ 228600 h 21600"/>
              <a:gd name="T6" fmla="*/ 22860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FFEA18"/>
          </a:solidFill>
          <a:ln w="28575">
            <a:solidFill>
              <a:srgbClr val="FFCC18"/>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b="1" dirty="0">
                <a:solidFill>
                  <a:schemeClr val="accent3">
                    <a:lumMod val="75000"/>
                  </a:schemeClr>
                </a:solidFill>
              </a:rPr>
              <a:t>waste</a:t>
            </a:r>
            <a:endParaRPr lang="en-US" sz="2800" dirty="0">
              <a:solidFill>
                <a:schemeClr val="accent3">
                  <a:lumMod val="75000"/>
                </a:schemeClr>
              </a:solidFill>
            </a:endParaRPr>
          </a:p>
        </p:txBody>
      </p:sp>
      <p:sp>
        <p:nvSpPr>
          <p:cNvPr id="388107" name="Rectangle 11"/>
          <p:cNvSpPr>
            <a:spLocks noChangeArrowheads="1"/>
          </p:cNvSpPr>
          <p:nvPr/>
        </p:nvSpPr>
        <p:spPr bwMode="auto">
          <a:xfrm>
            <a:off x="838200" y="4038600"/>
            <a:ext cx="7192963" cy="488950"/>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sz="2600" b="1">
                <a:solidFill>
                  <a:srgbClr val="000000"/>
                </a:solidFill>
              </a:rPr>
              <a:t>So what needs to get across the membrane?</a:t>
            </a:r>
            <a:endParaRPr lang="en-US" sz="2600" b="1">
              <a:solidFill>
                <a:schemeClr val="tx2"/>
              </a:solidFill>
            </a:endParaRPr>
          </a:p>
        </p:txBody>
      </p:sp>
      <p:sp>
        <p:nvSpPr>
          <p:cNvPr id="7179" name="Freeform 18"/>
          <p:cNvSpPr>
            <a:spLocks/>
          </p:cNvSpPr>
          <p:nvPr/>
        </p:nvSpPr>
        <p:spPr bwMode="auto">
          <a:xfrm>
            <a:off x="228600" y="5638800"/>
            <a:ext cx="8534400" cy="330200"/>
          </a:xfrm>
          <a:custGeom>
            <a:avLst/>
            <a:gdLst>
              <a:gd name="T0" fmla="*/ 0 w 5376"/>
              <a:gd name="T1" fmla="*/ 241300 h 208"/>
              <a:gd name="T2" fmla="*/ 533400 w 5376"/>
              <a:gd name="T3" fmla="*/ 88900 h 208"/>
              <a:gd name="T4" fmla="*/ 1143000 w 5376"/>
              <a:gd name="T5" fmla="*/ 241300 h 208"/>
              <a:gd name="T6" fmla="*/ 1828800 w 5376"/>
              <a:gd name="T7" fmla="*/ 88900 h 208"/>
              <a:gd name="T8" fmla="*/ 2514600 w 5376"/>
              <a:gd name="T9" fmla="*/ 317500 h 208"/>
              <a:gd name="T10" fmla="*/ 3200400 w 5376"/>
              <a:gd name="T11" fmla="*/ 88900 h 208"/>
              <a:gd name="T12" fmla="*/ 3962400 w 5376"/>
              <a:gd name="T13" fmla="*/ 317500 h 208"/>
              <a:gd name="T14" fmla="*/ 4648200 w 5376"/>
              <a:gd name="T15" fmla="*/ 88900 h 208"/>
              <a:gd name="T16" fmla="*/ 5257800 w 5376"/>
              <a:gd name="T17" fmla="*/ 317500 h 208"/>
              <a:gd name="T18" fmla="*/ 6096000 w 5376"/>
              <a:gd name="T19" fmla="*/ 88900 h 208"/>
              <a:gd name="T20" fmla="*/ 6705600 w 5376"/>
              <a:gd name="T21" fmla="*/ 317500 h 208"/>
              <a:gd name="T22" fmla="*/ 7239000 w 5376"/>
              <a:gd name="T23" fmla="*/ 165100 h 208"/>
              <a:gd name="T24" fmla="*/ 7543800 w 5376"/>
              <a:gd name="T25" fmla="*/ 12700 h 208"/>
              <a:gd name="T26" fmla="*/ 8153400 w 5376"/>
              <a:gd name="T27" fmla="*/ 241300 h 208"/>
              <a:gd name="T28" fmla="*/ 8534400 w 5376"/>
              <a:gd name="T29" fmla="*/ 12700 h 20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5376" h="208">
                <a:moveTo>
                  <a:pt x="0" y="152"/>
                </a:moveTo>
                <a:cubicBezTo>
                  <a:pt x="108" y="104"/>
                  <a:pt x="216" y="56"/>
                  <a:pt x="336" y="56"/>
                </a:cubicBezTo>
                <a:cubicBezTo>
                  <a:pt x="456" y="56"/>
                  <a:pt x="584" y="152"/>
                  <a:pt x="720" y="152"/>
                </a:cubicBezTo>
                <a:cubicBezTo>
                  <a:pt x="856" y="152"/>
                  <a:pt x="1008" y="48"/>
                  <a:pt x="1152" y="56"/>
                </a:cubicBezTo>
                <a:cubicBezTo>
                  <a:pt x="1296" y="64"/>
                  <a:pt x="1440" y="200"/>
                  <a:pt x="1584" y="200"/>
                </a:cubicBezTo>
                <a:cubicBezTo>
                  <a:pt x="1728" y="200"/>
                  <a:pt x="1864" y="56"/>
                  <a:pt x="2016" y="56"/>
                </a:cubicBezTo>
                <a:cubicBezTo>
                  <a:pt x="2168" y="56"/>
                  <a:pt x="2344" y="200"/>
                  <a:pt x="2496" y="200"/>
                </a:cubicBezTo>
                <a:cubicBezTo>
                  <a:pt x="2648" y="200"/>
                  <a:pt x="2792" y="56"/>
                  <a:pt x="2928" y="56"/>
                </a:cubicBezTo>
                <a:cubicBezTo>
                  <a:pt x="3064" y="56"/>
                  <a:pt x="3160" y="200"/>
                  <a:pt x="3312" y="200"/>
                </a:cubicBezTo>
                <a:cubicBezTo>
                  <a:pt x="3464" y="200"/>
                  <a:pt x="3688" y="56"/>
                  <a:pt x="3840" y="56"/>
                </a:cubicBezTo>
                <a:cubicBezTo>
                  <a:pt x="3992" y="56"/>
                  <a:pt x="4104" y="192"/>
                  <a:pt x="4224" y="200"/>
                </a:cubicBezTo>
                <a:cubicBezTo>
                  <a:pt x="4344" y="208"/>
                  <a:pt x="4472" y="136"/>
                  <a:pt x="4560" y="104"/>
                </a:cubicBezTo>
                <a:cubicBezTo>
                  <a:pt x="4648" y="72"/>
                  <a:pt x="4656" y="0"/>
                  <a:pt x="4752" y="8"/>
                </a:cubicBezTo>
                <a:cubicBezTo>
                  <a:pt x="4848" y="16"/>
                  <a:pt x="5032" y="152"/>
                  <a:pt x="5136" y="152"/>
                </a:cubicBezTo>
                <a:cubicBezTo>
                  <a:pt x="5240" y="152"/>
                  <a:pt x="5308" y="80"/>
                  <a:pt x="5376" y="8"/>
                </a:cubicBezTo>
              </a:path>
            </a:pathLst>
          </a:custGeom>
          <a:noFill/>
          <a:ln w="76200" cap="flat" cmpd="sng">
            <a:solidFill>
              <a:srgbClr val="660000"/>
            </a:solidFill>
            <a:prstDash val="solid"/>
            <a:round/>
            <a:headEnd/>
            <a:tailEnd/>
          </a:ln>
          <a:effectLst/>
          <a:extLst>
            <a:ext uri="{909E8E84-426E-40DD-AFC4-6F175D3DCCD1}">
              <a14:hiddenFill xmlns:a14="http://schemas.microsoft.com/office/drawing/2010/main">
                <a:solidFill>
                  <a:srgbClr val="FFEA18"/>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88115" name="Oval 19"/>
          <p:cNvSpPr>
            <a:spLocks noChangeArrowheads="1"/>
          </p:cNvSpPr>
          <p:nvPr/>
        </p:nvSpPr>
        <p:spPr bwMode="auto">
          <a:xfrm>
            <a:off x="4283968" y="5049236"/>
            <a:ext cx="533400" cy="533400"/>
          </a:xfrm>
          <a:prstGeom prst="ellipse">
            <a:avLst/>
          </a:prstGeom>
          <a:solidFill>
            <a:srgbClr val="000000"/>
          </a:solidFill>
          <a:ln w="9525">
            <a:solidFill>
              <a:srgbClr val="1A158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sz="2000" b="1" dirty="0">
                <a:solidFill>
                  <a:schemeClr val="bg1"/>
                </a:solidFill>
              </a:rPr>
              <a:t>O</a:t>
            </a:r>
            <a:r>
              <a:rPr lang="en-US" sz="2000" b="1" baseline="-25000" dirty="0">
                <a:solidFill>
                  <a:schemeClr val="bg1"/>
                </a:solidFill>
              </a:rPr>
              <a:t>2</a:t>
            </a:r>
            <a:r>
              <a:rPr lang="en-US" sz="2000" b="1" baseline="-25000" dirty="0"/>
              <a:t>2</a:t>
            </a:r>
            <a:endParaRPr lang="en-US" sz="2800" dirty="0"/>
          </a:p>
        </p:txBody>
      </p:sp>
    </p:spTree>
    <p:extLst>
      <p:ext uri="{BB962C8B-B14F-4D97-AF65-F5344CB8AC3E}">
        <p14:creationId xmlns:p14="http://schemas.microsoft.com/office/powerpoint/2010/main" val="176878818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88099">
                                            <p:txEl>
                                              <p:pRg st="0" end="0"/>
                                            </p:txEl>
                                          </p:spTgt>
                                        </p:tgtEl>
                                        <p:attrNameLst>
                                          <p:attrName>style.visibility</p:attrName>
                                        </p:attrNameLst>
                                      </p:cBhvr>
                                      <p:to>
                                        <p:strVal val="visible"/>
                                      </p:to>
                                    </p:set>
                                    <p:anim calcmode="lin" valueType="num">
                                      <p:cBhvr additive="base">
                                        <p:cTn id="7" dur="500" fill="hold"/>
                                        <p:tgtEl>
                                          <p:spTgt spid="38809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88099">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88099">
                                            <p:txEl>
                                              <p:pRg st="1" end="1"/>
                                            </p:txEl>
                                          </p:spTgt>
                                        </p:tgtEl>
                                        <p:attrNameLst>
                                          <p:attrName>style.visibility</p:attrName>
                                        </p:attrNameLst>
                                      </p:cBhvr>
                                      <p:to>
                                        <p:strVal val="visible"/>
                                      </p:to>
                                    </p:set>
                                    <p:anim calcmode="lin" valueType="num">
                                      <p:cBhvr additive="base">
                                        <p:cTn id="13" dur="500" fill="hold"/>
                                        <p:tgtEl>
                                          <p:spTgt spid="38809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88099">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Whoosh"/>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88099">
                                            <p:txEl>
                                              <p:pRg st="2" end="2"/>
                                            </p:txEl>
                                          </p:spTgt>
                                        </p:tgtEl>
                                        <p:attrNameLst>
                                          <p:attrName>style.visibility</p:attrName>
                                        </p:attrNameLst>
                                      </p:cBhvr>
                                      <p:to>
                                        <p:strVal val="visible"/>
                                      </p:to>
                                    </p:set>
                                    <p:anim calcmode="lin" valueType="num">
                                      <p:cBhvr additive="base">
                                        <p:cTn id="19" dur="500" fill="hold"/>
                                        <p:tgtEl>
                                          <p:spTgt spid="38809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88099">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Whoosh"/>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88099">
                                            <p:txEl>
                                              <p:pRg st="3" end="3"/>
                                            </p:txEl>
                                          </p:spTgt>
                                        </p:tgtEl>
                                        <p:attrNameLst>
                                          <p:attrName>style.visibility</p:attrName>
                                        </p:attrNameLst>
                                      </p:cBhvr>
                                      <p:to>
                                        <p:strVal val="visible"/>
                                      </p:to>
                                    </p:set>
                                    <p:anim calcmode="lin" valueType="num">
                                      <p:cBhvr additive="base">
                                        <p:cTn id="25" dur="500" fill="hold"/>
                                        <p:tgtEl>
                                          <p:spTgt spid="388099">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88099">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3" name="Whoosh"/>
                                        </p:tgtEl>
                                      </p:cMediaNode>
                                    </p:audio>
                                  </p:sub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388107"/>
                                        </p:tgtEl>
                                        <p:attrNameLst>
                                          <p:attrName>style.visibility</p:attrName>
                                        </p:attrNameLst>
                                      </p:cBhvr>
                                      <p:to>
                                        <p:strVal val="visible"/>
                                      </p:to>
                                    </p:set>
                                    <p:animEffect transition="in" filter="wipe(left)">
                                      <p:cBhvr>
                                        <p:cTn id="31" dur="500"/>
                                        <p:tgtEl>
                                          <p:spTgt spid="388107"/>
                                        </p:tgtEl>
                                      </p:cBhvr>
                                    </p:animEffect>
                                  </p:childTnLst>
                                  <p:subTnLst>
                                    <p:audio>
                                      <p:cMediaNode>
                                        <p:cTn display="0" masterRel="sameClick">
                                          <p:stCondLst>
                                            <p:cond evt="begin" delay="0">
                                              <p:tn val="29"/>
                                            </p:cond>
                                          </p:stCondLst>
                                          <p:endCondLst>
                                            <p:cond evt="onStopAudio" delay="0">
                                              <p:tgtEl>
                                                <p:sldTgt/>
                                              </p:tgtEl>
                                            </p:cond>
                                          </p:endCondLst>
                                        </p:cTn>
                                        <p:tgtEl>
                                          <p:sndTgt r:embed="rId4" name="Chimes"/>
                                        </p:tgtEl>
                                      </p:cMediaNode>
                                    </p:audio>
                                  </p:subTnLst>
                                </p:cTn>
                              </p:par>
                            </p:childTnLst>
                          </p:cTn>
                        </p:par>
                      </p:childTnLst>
                    </p:cTn>
                  </p:par>
                  <p:par>
                    <p:cTn id="32" fill="hold" nodeType="clickPar">
                      <p:stCondLst>
                        <p:cond delay="indefinite"/>
                      </p:stCondLst>
                      <p:childTnLst>
                        <p:par>
                          <p:cTn id="33" fill="hold" nodeType="withGroup">
                            <p:stCondLst>
                              <p:cond delay="0"/>
                            </p:stCondLst>
                            <p:childTnLst>
                              <p:par>
                                <p:cTn id="34" presetID="7" presetClass="entr" presetSubtype="4" fill="hold" grpId="0" nodeType="clickEffect">
                                  <p:stCondLst>
                                    <p:cond delay="0"/>
                                  </p:stCondLst>
                                  <p:childTnLst>
                                    <p:set>
                                      <p:cBhvr>
                                        <p:cTn id="35" dur="1" fill="hold">
                                          <p:stCondLst>
                                            <p:cond delay="0"/>
                                          </p:stCondLst>
                                        </p:cTn>
                                        <p:tgtEl>
                                          <p:spTgt spid="388103"/>
                                        </p:tgtEl>
                                        <p:attrNameLst>
                                          <p:attrName>style.visibility</p:attrName>
                                        </p:attrNameLst>
                                      </p:cBhvr>
                                      <p:to>
                                        <p:strVal val="visible"/>
                                      </p:to>
                                    </p:set>
                                    <p:anim calcmode="lin" valueType="num">
                                      <p:cBhvr additive="base">
                                        <p:cTn id="36" dur="1000" fill="hold"/>
                                        <p:tgtEl>
                                          <p:spTgt spid="388103"/>
                                        </p:tgtEl>
                                        <p:attrNameLst>
                                          <p:attrName>ppt_x</p:attrName>
                                        </p:attrNameLst>
                                      </p:cBhvr>
                                      <p:tavLst>
                                        <p:tav tm="0">
                                          <p:val>
                                            <p:strVal val="#ppt_x"/>
                                          </p:val>
                                        </p:tav>
                                        <p:tav tm="100000">
                                          <p:val>
                                            <p:strVal val="#ppt_x"/>
                                          </p:val>
                                        </p:tav>
                                      </p:tavLst>
                                    </p:anim>
                                    <p:anim calcmode="lin" valueType="num">
                                      <p:cBhvr additive="base">
                                        <p:cTn id="37" dur="1000" fill="hold"/>
                                        <p:tgtEl>
                                          <p:spTgt spid="388103"/>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4"/>
                                            </p:cond>
                                          </p:stCondLst>
                                          <p:endCondLst>
                                            <p:cond evt="onStopAudio" delay="0">
                                              <p:tgtEl>
                                                <p:sldTgt/>
                                              </p:tgtEl>
                                            </p:cond>
                                          </p:endCondLst>
                                        </p:cTn>
                                        <p:tgtEl>
                                          <p:sndTgt r:embed="rId5" name="Pencil Check"/>
                                        </p:tgtEl>
                                      </p:cMediaNode>
                                    </p:audio>
                                  </p:subTnLst>
                                </p:cTn>
                              </p:par>
                            </p:childTnLst>
                          </p:cTn>
                        </p:par>
                      </p:childTnLst>
                    </p:cTn>
                  </p:par>
                  <p:par>
                    <p:cTn id="38" fill="hold" nodeType="clickPar">
                      <p:stCondLst>
                        <p:cond delay="indefinite"/>
                      </p:stCondLst>
                      <p:childTnLst>
                        <p:par>
                          <p:cTn id="39" fill="hold" nodeType="withGroup">
                            <p:stCondLst>
                              <p:cond delay="0"/>
                            </p:stCondLst>
                            <p:childTnLst>
                              <p:par>
                                <p:cTn id="40" presetID="7" presetClass="entr" presetSubtype="4" fill="hold" grpId="0" nodeType="clickEffect">
                                  <p:stCondLst>
                                    <p:cond delay="0"/>
                                  </p:stCondLst>
                                  <p:childTnLst>
                                    <p:set>
                                      <p:cBhvr>
                                        <p:cTn id="41" dur="1" fill="hold">
                                          <p:stCondLst>
                                            <p:cond delay="0"/>
                                          </p:stCondLst>
                                        </p:cTn>
                                        <p:tgtEl>
                                          <p:spTgt spid="388104"/>
                                        </p:tgtEl>
                                        <p:attrNameLst>
                                          <p:attrName>style.visibility</p:attrName>
                                        </p:attrNameLst>
                                      </p:cBhvr>
                                      <p:to>
                                        <p:strVal val="visible"/>
                                      </p:to>
                                    </p:set>
                                    <p:anim calcmode="lin" valueType="num">
                                      <p:cBhvr additive="base">
                                        <p:cTn id="42" dur="1000" fill="hold"/>
                                        <p:tgtEl>
                                          <p:spTgt spid="388104"/>
                                        </p:tgtEl>
                                        <p:attrNameLst>
                                          <p:attrName>ppt_x</p:attrName>
                                        </p:attrNameLst>
                                      </p:cBhvr>
                                      <p:tavLst>
                                        <p:tav tm="0">
                                          <p:val>
                                            <p:strVal val="#ppt_x"/>
                                          </p:val>
                                        </p:tav>
                                        <p:tav tm="100000">
                                          <p:val>
                                            <p:strVal val="#ppt_x"/>
                                          </p:val>
                                        </p:tav>
                                      </p:tavLst>
                                    </p:anim>
                                    <p:anim calcmode="lin" valueType="num">
                                      <p:cBhvr additive="base">
                                        <p:cTn id="43" dur="1000" fill="hold"/>
                                        <p:tgtEl>
                                          <p:spTgt spid="388104"/>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0"/>
                                            </p:cond>
                                          </p:stCondLst>
                                          <p:endCondLst>
                                            <p:cond evt="onStopAudio" delay="0">
                                              <p:tgtEl>
                                                <p:sldTgt/>
                                              </p:tgtEl>
                                            </p:cond>
                                          </p:endCondLst>
                                        </p:cTn>
                                        <p:tgtEl>
                                          <p:sndTgt r:embed="rId5" name="Pencil Check"/>
                                        </p:tgtEl>
                                      </p:cMediaNode>
                                    </p:audio>
                                  </p:subTnLst>
                                </p:cTn>
                              </p:par>
                            </p:childTnLst>
                          </p:cTn>
                        </p:par>
                      </p:childTnLst>
                    </p:cTn>
                  </p:par>
                  <p:par>
                    <p:cTn id="44" fill="hold" nodeType="clickPar">
                      <p:stCondLst>
                        <p:cond delay="indefinite"/>
                      </p:stCondLst>
                      <p:childTnLst>
                        <p:par>
                          <p:cTn id="45" fill="hold" nodeType="withGroup">
                            <p:stCondLst>
                              <p:cond delay="0"/>
                            </p:stCondLst>
                            <p:childTnLst>
                              <p:par>
                                <p:cTn id="46" presetID="7" presetClass="entr" presetSubtype="4" fill="hold" grpId="0" nodeType="clickEffect">
                                  <p:stCondLst>
                                    <p:cond delay="0"/>
                                  </p:stCondLst>
                                  <p:childTnLst>
                                    <p:set>
                                      <p:cBhvr>
                                        <p:cTn id="47" dur="1" fill="hold">
                                          <p:stCondLst>
                                            <p:cond delay="0"/>
                                          </p:stCondLst>
                                        </p:cTn>
                                        <p:tgtEl>
                                          <p:spTgt spid="388101"/>
                                        </p:tgtEl>
                                        <p:attrNameLst>
                                          <p:attrName>style.visibility</p:attrName>
                                        </p:attrNameLst>
                                      </p:cBhvr>
                                      <p:to>
                                        <p:strVal val="visible"/>
                                      </p:to>
                                    </p:set>
                                    <p:anim calcmode="lin" valueType="num">
                                      <p:cBhvr additive="base">
                                        <p:cTn id="48" dur="1000" fill="hold"/>
                                        <p:tgtEl>
                                          <p:spTgt spid="388101"/>
                                        </p:tgtEl>
                                        <p:attrNameLst>
                                          <p:attrName>ppt_x</p:attrName>
                                        </p:attrNameLst>
                                      </p:cBhvr>
                                      <p:tavLst>
                                        <p:tav tm="0">
                                          <p:val>
                                            <p:strVal val="#ppt_x"/>
                                          </p:val>
                                        </p:tav>
                                        <p:tav tm="100000">
                                          <p:val>
                                            <p:strVal val="#ppt_x"/>
                                          </p:val>
                                        </p:tav>
                                      </p:tavLst>
                                    </p:anim>
                                    <p:anim calcmode="lin" valueType="num">
                                      <p:cBhvr additive="base">
                                        <p:cTn id="49" dur="1000" fill="hold"/>
                                        <p:tgtEl>
                                          <p:spTgt spid="388101"/>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6"/>
                                            </p:cond>
                                          </p:stCondLst>
                                          <p:endCondLst>
                                            <p:cond evt="onStopAudio" delay="0">
                                              <p:tgtEl>
                                                <p:sldTgt/>
                                              </p:tgtEl>
                                            </p:cond>
                                          </p:endCondLst>
                                        </p:cTn>
                                        <p:tgtEl>
                                          <p:sndTgt r:embed="rId5" name="Pencil Check"/>
                                        </p:tgtEl>
                                      </p:cMediaNode>
                                    </p:audio>
                                  </p:subTnLst>
                                </p:cTn>
                              </p:par>
                            </p:childTnLst>
                          </p:cTn>
                        </p:par>
                      </p:childTnLst>
                    </p:cTn>
                  </p:par>
                  <p:par>
                    <p:cTn id="50" fill="hold" nodeType="clickPar">
                      <p:stCondLst>
                        <p:cond delay="indefinite"/>
                      </p:stCondLst>
                      <p:childTnLst>
                        <p:par>
                          <p:cTn id="51" fill="hold" nodeType="withGroup">
                            <p:stCondLst>
                              <p:cond delay="0"/>
                            </p:stCondLst>
                            <p:childTnLst>
                              <p:par>
                                <p:cTn id="52" presetID="7" presetClass="entr" presetSubtype="4" fill="hold" grpId="0" nodeType="clickEffect">
                                  <p:stCondLst>
                                    <p:cond delay="0"/>
                                  </p:stCondLst>
                                  <p:childTnLst>
                                    <p:set>
                                      <p:cBhvr>
                                        <p:cTn id="53" dur="1" fill="hold">
                                          <p:stCondLst>
                                            <p:cond delay="0"/>
                                          </p:stCondLst>
                                        </p:cTn>
                                        <p:tgtEl>
                                          <p:spTgt spid="388115"/>
                                        </p:tgtEl>
                                        <p:attrNameLst>
                                          <p:attrName>style.visibility</p:attrName>
                                        </p:attrNameLst>
                                      </p:cBhvr>
                                      <p:to>
                                        <p:strVal val="visible"/>
                                      </p:to>
                                    </p:set>
                                    <p:anim calcmode="lin" valueType="num">
                                      <p:cBhvr additive="base">
                                        <p:cTn id="54" dur="1000" fill="hold"/>
                                        <p:tgtEl>
                                          <p:spTgt spid="388115"/>
                                        </p:tgtEl>
                                        <p:attrNameLst>
                                          <p:attrName>ppt_x</p:attrName>
                                        </p:attrNameLst>
                                      </p:cBhvr>
                                      <p:tavLst>
                                        <p:tav tm="0">
                                          <p:val>
                                            <p:strVal val="#ppt_x"/>
                                          </p:val>
                                        </p:tav>
                                        <p:tav tm="100000">
                                          <p:val>
                                            <p:strVal val="#ppt_x"/>
                                          </p:val>
                                        </p:tav>
                                      </p:tavLst>
                                    </p:anim>
                                    <p:anim calcmode="lin" valueType="num">
                                      <p:cBhvr additive="base">
                                        <p:cTn id="55" dur="1000" fill="hold"/>
                                        <p:tgtEl>
                                          <p:spTgt spid="388115"/>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2"/>
                                            </p:cond>
                                          </p:stCondLst>
                                          <p:endCondLst>
                                            <p:cond evt="onStopAudio" delay="0">
                                              <p:tgtEl>
                                                <p:sldTgt/>
                                              </p:tgtEl>
                                            </p:cond>
                                          </p:endCondLst>
                                        </p:cTn>
                                        <p:tgtEl>
                                          <p:sndTgt r:embed="rId5" name="Pencil Check"/>
                                        </p:tgtEl>
                                      </p:cMediaNode>
                                    </p:audio>
                                  </p:subTnLst>
                                </p:cTn>
                              </p:par>
                            </p:childTnLst>
                          </p:cTn>
                        </p:par>
                      </p:childTnLst>
                    </p:cTn>
                  </p:par>
                  <p:par>
                    <p:cTn id="56" fill="hold" nodeType="clickPar">
                      <p:stCondLst>
                        <p:cond delay="indefinite"/>
                      </p:stCondLst>
                      <p:childTnLst>
                        <p:par>
                          <p:cTn id="57" fill="hold" nodeType="withGroup">
                            <p:stCondLst>
                              <p:cond delay="0"/>
                            </p:stCondLst>
                            <p:childTnLst>
                              <p:par>
                                <p:cTn id="58" presetID="7" presetClass="entr" presetSubtype="4" fill="hold" grpId="0" nodeType="clickEffect">
                                  <p:stCondLst>
                                    <p:cond delay="0"/>
                                  </p:stCondLst>
                                  <p:childTnLst>
                                    <p:set>
                                      <p:cBhvr>
                                        <p:cTn id="59" dur="1" fill="hold">
                                          <p:stCondLst>
                                            <p:cond delay="0"/>
                                          </p:stCondLst>
                                        </p:cTn>
                                        <p:tgtEl>
                                          <p:spTgt spid="388102"/>
                                        </p:tgtEl>
                                        <p:attrNameLst>
                                          <p:attrName>style.visibility</p:attrName>
                                        </p:attrNameLst>
                                      </p:cBhvr>
                                      <p:to>
                                        <p:strVal val="visible"/>
                                      </p:to>
                                    </p:set>
                                    <p:anim calcmode="lin" valueType="num">
                                      <p:cBhvr additive="base">
                                        <p:cTn id="60" dur="1000" fill="hold"/>
                                        <p:tgtEl>
                                          <p:spTgt spid="388102"/>
                                        </p:tgtEl>
                                        <p:attrNameLst>
                                          <p:attrName>ppt_x</p:attrName>
                                        </p:attrNameLst>
                                      </p:cBhvr>
                                      <p:tavLst>
                                        <p:tav tm="0">
                                          <p:val>
                                            <p:strVal val="#ppt_x"/>
                                          </p:val>
                                        </p:tav>
                                        <p:tav tm="100000">
                                          <p:val>
                                            <p:strVal val="#ppt_x"/>
                                          </p:val>
                                        </p:tav>
                                      </p:tavLst>
                                    </p:anim>
                                    <p:anim calcmode="lin" valueType="num">
                                      <p:cBhvr additive="base">
                                        <p:cTn id="61" dur="1000" fill="hold"/>
                                        <p:tgtEl>
                                          <p:spTgt spid="388102"/>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8"/>
                                            </p:cond>
                                          </p:stCondLst>
                                          <p:endCondLst>
                                            <p:cond evt="onStopAudio" delay="0">
                                              <p:tgtEl>
                                                <p:sldTgt/>
                                              </p:tgtEl>
                                            </p:cond>
                                          </p:endCondLst>
                                        </p:cTn>
                                        <p:tgtEl>
                                          <p:sndTgt r:embed="rId5" name="Pencil Check"/>
                                        </p:tgtEl>
                                      </p:cMediaNode>
                                    </p:audio>
                                  </p:subTnLst>
                                </p:cTn>
                              </p:par>
                            </p:childTnLst>
                          </p:cTn>
                        </p:par>
                      </p:childTnLst>
                    </p:cTn>
                  </p:par>
                  <p:par>
                    <p:cTn id="62" fill="hold" nodeType="clickPar">
                      <p:stCondLst>
                        <p:cond delay="indefinite"/>
                      </p:stCondLst>
                      <p:childTnLst>
                        <p:par>
                          <p:cTn id="63" fill="hold" nodeType="withGroup">
                            <p:stCondLst>
                              <p:cond delay="0"/>
                            </p:stCondLst>
                            <p:childTnLst>
                              <p:par>
                                <p:cTn id="64" presetID="7" presetClass="entr" presetSubtype="4" fill="hold" grpId="0" nodeType="clickEffect">
                                  <p:stCondLst>
                                    <p:cond delay="0"/>
                                  </p:stCondLst>
                                  <p:childTnLst>
                                    <p:set>
                                      <p:cBhvr>
                                        <p:cTn id="65" dur="1" fill="hold">
                                          <p:stCondLst>
                                            <p:cond delay="0"/>
                                          </p:stCondLst>
                                        </p:cTn>
                                        <p:tgtEl>
                                          <p:spTgt spid="388105"/>
                                        </p:tgtEl>
                                        <p:attrNameLst>
                                          <p:attrName>style.visibility</p:attrName>
                                        </p:attrNameLst>
                                      </p:cBhvr>
                                      <p:to>
                                        <p:strVal val="visible"/>
                                      </p:to>
                                    </p:set>
                                    <p:anim calcmode="lin" valueType="num">
                                      <p:cBhvr additive="base">
                                        <p:cTn id="66" dur="1000" fill="hold"/>
                                        <p:tgtEl>
                                          <p:spTgt spid="388105"/>
                                        </p:tgtEl>
                                        <p:attrNameLst>
                                          <p:attrName>ppt_x</p:attrName>
                                        </p:attrNameLst>
                                      </p:cBhvr>
                                      <p:tavLst>
                                        <p:tav tm="0">
                                          <p:val>
                                            <p:strVal val="#ppt_x"/>
                                          </p:val>
                                        </p:tav>
                                        <p:tav tm="100000">
                                          <p:val>
                                            <p:strVal val="#ppt_x"/>
                                          </p:val>
                                        </p:tav>
                                      </p:tavLst>
                                    </p:anim>
                                    <p:anim calcmode="lin" valueType="num">
                                      <p:cBhvr additive="base">
                                        <p:cTn id="67" dur="1000" fill="hold"/>
                                        <p:tgtEl>
                                          <p:spTgt spid="388105"/>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64"/>
                                            </p:cond>
                                          </p:stCondLst>
                                          <p:endCondLst>
                                            <p:cond evt="onStopAudio" delay="0">
                                              <p:tgtEl>
                                                <p:sldTgt/>
                                              </p:tgtEl>
                                            </p:cond>
                                          </p:endCondLst>
                                        </p:cTn>
                                        <p:tgtEl>
                                          <p:sndTgt r:embed="rId5" name="Pencil Check"/>
                                        </p:tgtEl>
                                      </p:cMediaNode>
                                    </p:audio>
                                  </p:subTnLst>
                                </p:cTn>
                              </p:par>
                            </p:childTnLst>
                          </p:cTn>
                        </p:par>
                      </p:childTnLst>
                    </p:cTn>
                  </p:par>
                  <p:par>
                    <p:cTn id="68" fill="hold" nodeType="clickPar">
                      <p:stCondLst>
                        <p:cond delay="indefinite"/>
                      </p:stCondLst>
                      <p:childTnLst>
                        <p:par>
                          <p:cTn id="69" fill="hold" nodeType="withGroup">
                            <p:stCondLst>
                              <p:cond delay="0"/>
                            </p:stCondLst>
                            <p:childTnLst>
                              <p:par>
                                <p:cTn id="70" presetID="7" presetClass="entr" presetSubtype="4" fill="hold" grpId="0" nodeType="clickEffect">
                                  <p:stCondLst>
                                    <p:cond delay="0"/>
                                  </p:stCondLst>
                                  <p:childTnLst>
                                    <p:set>
                                      <p:cBhvr>
                                        <p:cTn id="71" dur="1" fill="hold">
                                          <p:stCondLst>
                                            <p:cond delay="0"/>
                                          </p:stCondLst>
                                        </p:cTn>
                                        <p:tgtEl>
                                          <p:spTgt spid="388106"/>
                                        </p:tgtEl>
                                        <p:attrNameLst>
                                          <p:attrName>style.visibility</p:attrName>
                                        </p:attrNameLst>
                                      </p:cBhvr>
                                      <p:to>
                                        <p:strVal val="visible"/>
                                      </p:to>
                                    </p:set>
                                    <p:anim calcmode="lin" valueType="num">
                                      <p:cBhvr additive="base">
                                        <p:cTn id="72" dur="1000" fill="hold"/>
                                        <p:tgtEl>
                                          <p:spTgt spid="388106"/>
                                        </p:tgtEl>
                                        <p:attrNameLst>
                                          <p:attrName>ppt_x</p:attrName>
                                        </p:attrNameLst>
                                      </p:cBhvr>
                                      <p:tavLst>
                                        <p:tav tm="0">
                                          <p:val>
                                            <p:strVal val="#ppt_x"/>
                                          </p:val>
                                        </p:tav>
                                        <p:tav tm="100000">
                                          <p:val>
                                            <p:strVal val="#ppt_x"/>
                                          </p:val>
                                        </p:tav>
                                      </p:tavLst>
                                    </p:anim>
                                    <p:anim calcmode="lin" valueType="num">
                                      <p:cBhvr additive="base">
                                        <p:cTn id="73" dur="1000" fill="hold"/>
                                        <p:tgtEl>
                                          <p:spTgt spid="388106"/>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70"/>
                                            </p:cond>
                                          </p:stCondLst>
                                          <p:endCondLst>
                                            <p:cond evt="onStopAudio" delay="0">
                                              <p:tgtEl>
                                                <p:sldTgt/>
                                              </p:tgtEl>
                                            </p:cond>
                                          </p:endCondLst>
                                        </p:cTn>
                                        <p:tgtEl>
                                          <p:sndTgt r:embed="rId5" name="Pencil Check"/>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8099" grpId="0" build="p" bldLvl="2" autoUpdateAnimBg="0"/>
      <p:bldP spid="388101" grpId="0" animBg="1"/>
      <p:bldP spid="388102" grpId="0" animBg="1"/>
      <p:bldP spid="388103" grpId="0" animBg="1"/>
      <p:bldP spid="388104" grpId="0" animBg="1"/>
      <p:bldP spid="388105" grpId="0" animBg="1"/>
      <p:bldP spid="388106" grpId="0" animBg="1"/>
      <p:bldP spid="388107" grpId="0" animBg="1"/>
      <p:bldP spid="38811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6"/>
          <p:cNvSpPr>
            <a:spLocks noGrp="1" noChangeArrowheads="1"/>
          </p:cNvSpPr>
          <p:nvPr>
            <p:ph type="title"/>
          </p:nvPr>
        </p:nvSpPr>
        <p:spPr/>
        <p:txBody>
          <a:bodyPr>
            <a:normAutofit/>
          </a:bodyPr>
          <a:lstStyle/>
          <a:p>
            <a:r>
              <a:rPr lang="en-US" dirty="0"/>
              <a:t>Proteins of the Plasma membrane</a:t>
            </a:r>
          </a:p>
        </p:txBody>
      </p:sp>
      <p:sp>
        <p:nvSpPr>
          <p:cNvPr id="394247" name="Rectangle 7" descr="Rectangle: Click to edit Master text styles&#10;Second level&#10;Third level&#10;Fourth level&#10;Fifth level"/>
          <p:cNvSpPr>
            <a:spLocks noGrp="1" noChangeArrowheads="1"/>
          </p:cNvSpPr>
          <p:nvPr>
            <p:ph sz="quarter" idx="13"/>
          </p:nvPr>
        </p:nvSpPr>
        <p:spPr/>
        <p:txBody>
          <a:bodyPr>
            <a:normAutofit/>
          </a:bodyPr>
          <a:lstStyle/>
          <a:p>
            <a:r>
              <a:rPr lang="en-US" sz="1800" dirty="0"/>
              <a:t>Other substances need to make “doors” through the membrane. </a:t>
            </a:r>
          </a:p>
          <a:p>
            <a:r>
              <a:rPr lang="en-US" sz="1800" b="1" dirty="0"/>
              <a:t>Channels proteins, carrier proteins and ion pumps </a:t>
            </a:r>
            <a:r>
              <a:rPr lang="en-US" sz="1800" dirty="0"/>
              <a:t>allow substances in &amp; out.  These are specific to the molecule they can transport e.g. H2O channel, salt channel, sugar channel, etc.</a:t>
            </a:r>
          </a:p>
        </p:txBody>
      </p:sp>
      <p:pic>
        <p:nvPicPr>
          <p:cNvPr id="9220" name="Picture 20"/>
          <p:cNvPicPr>
            <a:picLocks noChangeAspect="1" noChangeArrowheads="1"/>
          </p:cNvPicPr>
          <p:nvPr/>
        </p:nvPicPr>
        <p:blipFill>
          <a:blip r:embed="rId5">
            <a:extLst>
              <a:ext uri="{28A0092B-C50C-407E-A947-70E740481C1C}">
                <a14:useLocalDpi xmlns:a14="http://schemas.microsoft.com/office/drawing/2010/main" val="0"/>
              </a:ext>
            </a:extLst>
          </a:blip>
          <a:srcRect l="29604" t="49200" r="1057" b="7201"/>
          <a:stretch>
            <a:fillRect/>
          </a:stretch>
        </p:blipFill>
        <p:spPr bwMode="auto">
          <a:xfrm>
            <a:off x="152400" y="4114800"/>
            <a:ext cx="4235450" cy="2344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1" name="Picture 21"/>
          <p:cNvPicPr>
            <a:picLocks noChangeAspect="1" noChangeArrowheads="1"/>
          </p:cNvPicPr>
          <p:nvPr/>
        </p:nvPicPr>
        <p:blipFill>
          <a:blip r:embed="rId5">
            <a:extLst>
              <a:ext uri="{28A0092B-C50C-407E-A947-70E740481C1C}">
                <a14:useLocalDpi xmlns:a14="http://schemas.microsoft.com/office/drawing/2010/main" val="0"/>
              </a:ext>
            </a:extLst>
          </a:blip>
          <a:srcRect l="30132" t="49200" r="1057" b="7201"/>
          <a:stretch>
            <a:fillRect/>
          </a:stretch>
        </p:blipFill>
        <p:spPr bwMode="auto">
          <a:xfrm>
            <a:off x="2370138" y="4114800"/>
            <a:ext cx="4203700" cy="2344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2" name="Rectangle 22"/>
          <p:cNvSpPr>
            <a:spLocks noChangeArrowheads="1"/>
          </p:cNvSpPr>
          <p:nvPr/>
        </p:nvSpPr>
        <p:spPr bwMode="auto">
          <a:xfrm>
            <a:off x="152400" y="3810000"/>
            <a:ext cx="6400800" cy="457200"/>
          </a:xfrm>
          <a:prstGeom prst="rect">
            <a:avLst/>
          </a:prstGeom>
          <a:solidFill>
            <a:srgbClr val="98D7F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l"/>
            <a:r>
              <a:rPr lang="en-US" b="1">
                <a:solidFill>
                  <a:srgbClr val="0F116A"/>
                </a:solidFill>
              </a:rPr>
              <a:t>inside cell</a:t>
            </a:r>
          </a:p>
        </p:txBody>
      </p:sp>
      <p:sp>
        <p:nvSpPr>
          <p:cNvPr id="9223" name="Rectangle 23"/>
          <p:cNvSpPr>
            <a:spLocks noChangeArrowheads="1"/>
          </p:cNvSpPr>
          <p:nvPr/>
        </p:nvSpPr>
        <p:spPr bwMode="auto">
          <a:xfrm>
            <a:off x="152400" y="6248400"/>
            <a:ext cx="6400800" cy="457200"/>
          </a:xfrm>
          <a:prstGeom prst="rect">
            <a:avLst/>
          </a:prstGeom>
          <a:solidFill>
            <a:srgbClr val="98D7F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r"/>
            <a:r>
              <a:rPr lang="en-US" b="1">
                <a:solidFill>
                  <a:srgbClr val="0F116A"/>
                </a:solidFill>
              </a:rPr>
              <a:t>outside cell</a:t>
            </a:r>
          </a:p>
        </p:txBody>
      </p:sp>
      <p:sp>
        <p:nvSpPr>
          <p:cNvPr id="9224" name="Rectangle 24"/>
          <p:cNvSpPr>
            <a:spLocks noChangeArrowheads="1"/>
          </p:cNvSpPr>
          <p:nvPr/>
        </p:nvSpPr>
        <p:spPr bwMode="auto">
          <a:xfrm>
            <a:off x="6524625" y="3657600"/>
            <a:ext cx="381000" cy="30480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94265" name="AutoShape 25"/>
          <p:cNvSpPr>
            <a:spLocks noChangeArrowheads="1"/>
          </p:cNvSpPr>
          <p:nvPr/>
        </p:nvSpPr>
        <p:spPr bwMode="auto">
          <a:xfrm>
            <a:off x="5448300" y="3810000"/>
            <a:ext cx="533400" cy="533400"/>
          </a:xfrm>
          <a:prstGeom prst="octagon">
            <a:avLst>
              <a:gd name="adj" fmla="val 29287"/>
            </a:avLst>
          </a:prstGeom>
          <a:solidFill>
            <a:srgbClr val="C0FF1D"/>
          </a:solidFill>
          <a:ln w="9525">
            <a:solidFill>
              <a:srgbClr val="66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b="1">
                <a:solidFill>
                  <a:srgbClr val="CC0000"/>
                </a:solidFill>
              </a:rPr>
              <a:t>sugar</a:t>
            </a:r>
            <a:endParaRPr lang="en-US" sz="2800"/>
          </a:p>
        </p:txBody>
      </p:sp>
      <p:sp>
        <p:nvSpPr>
          <p:cNvPr id="394266" name="AutoShape 26"/>
          <p:cNvSpPr>
            <a:spLocks noChangeArrowheads="1"/>
          </p:cNvSpPr>
          <p:nvPr/>
        </p:nvSpPr>
        <p:spPr bwMode="auto">
          <a:xfrm>
            <a:off x="4152900" y="3810000"/>
            <a:ext cx="533400" cy="533400"/>
          </a:xfrm>
          <a:prstGeom prst="octagon">
            <a:avLst>
              <a:gd name="adj" fmla="val 29287"/>
            </a:avLst>
          </a:prstGeom>
          <a:solidFill>
            <a:schemeClr val="tx2"/>
          </a:solidFill>
          <a:ln w="9525">
            <a:solidFill>
              <a:srgbClr val="66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b="1">
                <a:solidFill>
                  <a:schemeClr val="bg1"/>
                </a:solidFill>
              </a:rPr>
              <a:t>aa</a:t>
            </a:r>
            <a:endParaRPr lang="en-US" sz="2800"/>
          </a:p>
        </p:txBody>
      </p:sp>
      <p:sp>
        <p:nvSpPr>
          <p:cNvPr id="394267" name="Oval 27"/>
          <p:cNvSpPr>
            <a:spLocks noChangeArrowheads="1"/>
          </p:cNvSpPr>
          <p:nvPr/>
        </p:nvSpPr>
        <p:spPr bwMode="auto">
          <a:xfrm>
            <a:off x="2857500" y="3810000"/>
            <a:ext cx="533400" cy="533400"/>
          </a:xfrm>
          <a:prstGeom prst="ellipse">
            <a:avLst/>
          </a:prstGeom>
          <a:solidFill>
            <a:srgbClr val="0F116A"/>
          </a:solidFill>
          <a:ln w="9525">
            <a:solidFill>
              <a:srgbClr val="1A158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sz="2000" b="1">
                <a:solidFill>
                  <a:schemeClr val="bg1"/>
                </a:solidFill>
              </a:rPr>
              <a:t>H</a:t>
            </a:r>
            <a:r>
              <a:rPr lang="en-US" b="1" baseline="-25000">
                <a:solidFill>
                  <a:schemeClr val="bg1"/>
                </a:solidFill>
              </a:rPr>
              <a:t>2</a:t>
            </a:r>
            <a:r>
              <a:rPr lang="en-US" sz="2000" b="1">
                <a:solidFill>
                  <a:schemeClr val="bg1"/>
                </a:solidFill>
              </a:rPr>
              <a:t>O</a:t>
            </a:r>
            <a:endParaRPr lang="en-US" sz="2800"/>
          </a:p>
        </p:txBody>
      </p:sp>
      <p:sp>
        <p:nvSpPr>
          <p:cNvPr id="394268" name="AutoShape 28"/>
          <p:cNvSpPr>
            <a:spLocks noChangeArrowheads="1"/>
          </p:cNvSpPr>
          <p:nvPr/>
        </p:nvSpPr>
        <p:spPr bwMode="auto">
          <a:xfrm>
            <a:off x="1638300" y="6172200"/>
            <a:ext cx="533400" cy="533400"/>
          </a:xfrm>
          <a:prstGeom prst="diamond">
            <a:avLst/>
          </a:prstGeom>
          <a:solidFill>
            <a:schemeClr val="bg2"/>
          </a:solidFill>
          <a:ln w="9525">
            <a:solidFill>
              <a:srgbClr val="66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b="1">
                <a:solidFill>
                  <a:srgbClr val="000000"/>
                </a:solidFill>
              </a:rPr>
              <a:t>salt</a:t>
            </a:r>
            <a:endParaRPr lang="en-US" sz="2800"/>
          </a:p>
        </p:txBody>
      </p:sp>
      <p:sp>
        <p:nvSpPr>
          <p:cNvPr id="9229" name="AutoShape 29"/>
          <p:cNvSpPr>
            <a:spLocks noChangeArrowheads="1"/>
          </p:cNvSpPr>
          <p:nvPr/>
        </p:nvSpPr>
        <p:spPr bwMode="auto">
          <a:xfrm>
            <a:off x="2743200" y="4419600"/>
            <a:ext cx="762000" cy="1752600"/>
          </a:xfrm>
          <a:prstGeom prst="flowChartMagneticDisk">
            <a:avLst/>
          </a:prstGeom>
          <a:solidFill>
            <a:schemeClr va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9230" name="AutoShape 30"/>
          <p:cNvSpPr>
            <a:spLocks noChangeArrowheads="1"/>
          </p:cNvSpPr>
          <p:nvPr/>
        </p:nvSpPr>
        <p:spPr bwMode="auto">
          <a:xfrm>
            <a:off x="4038600" y="4419600"/>
            <a:ext cx="762000" cy="1752600"/>
          </a:xfrm>
          <a:prstGeom prst="flowChartMagneticDisk">
            <a:avLst/>
          </a:prstGeom>
          <a:solidFill>
            <a:srgbClr val="FFA3D8"/>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9231" name="AutoShape 31"/>
          <p:cNvSpPr>
            <a:spLocks noChangeArrowheads="1"/>
          </p:cNvSpPr>
          <p:nvPr/>
        </p:nvSpPr>
        <p:spPr bwMode="auto">
          <a:xfrm>
            <a:off x="5334000" y="4419600"/>
            <a:ext cx="762000" cy="1752600"/>
          </a:xfrm>
          <a:prstGeom prst="flowChartMagneticDisk">
            <a:avLst/>
          </a:prstGeom>
          <a:solidFill>
            <a:srgbClr val="C0FF1D"/>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9232" name="Rectangle 32"/>
          <p:cNvSpPr>
            <a:spLocks noChangeArrowheads="1"/>
          </p:cNvSpPr>
          <p:nvPr/>
        </p:nvSpPr>
        <p:spPr bwMode="auto">
          <a:xfrm>
            <a:off x="0" y="3810000"/>
            <a:ext cx="228600" cy="30480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9233" name="AutoShape 33"/>
          <p:cNvSpPr>
            <a:spLocks noChangeArrowheads="1"/>
          </p:cNvSpPr>
          <p:nvPr/>
        </p:nvSpPr>
        <p:spPr bwMode="auto">
          <a:xfrm>
            <a:off x="1524000" y="4419600"/>
            <a:ext cx="762000" cy="1752600"/>
          </a:xfrm>
          <a:prstGeom prst="flowChartMagneticDisk">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9234" name="AutoShape 34"/>
          <p:cNvSpPr>
            <a:spLocks noChangeArrowheads="1"/>
          </p:cNvSpPr>
          <p:nvPr/>
        </p:nvSpPr>
        <p:spPr bwMode="auto">
          <a:xfrm>
            <a:off x="381000" y="4419600"/>
            <a:ext cx="762000" cy="1752600"/>
          </a:xfrm>
          <a:prstGeom prst="flowChartMagneticDisk">
            <a:avLst/>
          </a:prstGeom>
          <a:solidFill>
            <a:srgbClr val="FFEA18"/>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94275" name="AutoShape 35"/>
          <p:cNvSpPr>
            <a:spLocks noChangeArrowheads="1"/>
          </p:cNvSpPr>
          <p:nvPr/>
        </p:nvSpPr>
        <p:spPr bwMode="auto">
          <a:xfrm>
            <a:off x="533400" y="6248400"/>
            <a:ext cx="457200" cy="457200"/>
          </a:xfrm>
          <a:custGeom>
            <a:avLst/>
            <a:gdLst>
              <a:gd name="T0" fmla="*/ 400050 w 21600"/>
              <a:gd name="T1" fmla="*/ 228600 h 21600"/>
              <a:gd name="T2" fmla="*/ 228600 w 21600"/>
              <a:gd name="T3" fmla="*/ 457200 h 21600"/>
              <a:gd name="T4" fmla="*/ 57150 w 21600"/>
              <a:gd name="T5" fmla="*/ 228600 h 21600"/>
              <a:gd name="T6" fmla="*/ 22860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FFEA18"/>
          </a:solidFill>
          <a:ln w="19050">
            <a:solidFill>
              <a:srgbClr val="FFCC18"/>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b="1">
                <a:solidFill>
                  <a:srgbClr val="000000"/>
                </a:solidFill>
              </a:rPr>
              <a:t>waste</a:t>
            </a:r>
            <a:endParaRPr lang="en-US" b="1" baseline="-25000">
              <a:solidFill>
                <a:srgbClr val="000000"/>
              </a:solidFill>
            </a:endParaRPr>
          </a:p>
        </p:txBody>
      </p:sp>
      <p:pic>
        <p:nvPicPr>
          <p:cNvPr id="9236" name="Picture 36"/>
          <p:cNvPicPr>
            <a:picLocks noChangeAspect="1" noChangeArrowheads="1"/>
          </p:cNvPicPr>
          <p:nvPr/>
        </p:nvPicPr>
        <p:blipFill>
          <a:blip r:embed="rId6">
            <a:extLst>
              <a:ext uri="{28A0092B-C50C-407E-A947-70E740481C1C}">
                <a14:useLocalDpi xmlns:a14="http://schemas.microsoft.com/office/drawing/2010/main" val="0"/>
              </a:ext>
            </a:extLst>
          </a:blip>
          <a:srcRect l="10345" t="1199" r="10345" b="3600"/>
          <a:stretch>
            <a:fillRect/>
          </a:stretch>
        </p:blipFill>
        <p:spPr bwMode="auto">
          <a:xfrm>
            <a:off x="6599238" y="3967163"/>
            <a:ext cx="2403475" cy="2487612"/>
          </a:xfrm>
          <a:prstGeom prst="rect">
            <a:avLst/>
          </a:prstGeom>
          <a:noFill/>
          <a:ln>
            <a:noFill/>
          </a:ln>
          <a:effectLst>
            <a:outerShdw dist="35921" dir="2700000" algn="ctr" rotWithShape="0">
              <a:srgbClr val="80808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6186603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94247">
                                            <p:txEl>
                                              <p:pRg st="0" end="0"/>
                                            </p:txEl>
                                          </p:spTgt>
                                        </p:tgtEl>
                                        <p:attrNameLst>
                                          <p:attrName>style.visibility</p:attrName>
                                        </p:attrNameLst>
                                      </p:cBhvr>
                                      <p:to>
                                        <p:strVal val="visible"/>
                                      </p:to>
                                    </p:set>
                                    <p:anim calcmode="lin" valueType="num">
                                      <p:cBhvr additive="base">
                                        <p:cTn id="7" dur="500" fill="hold"/>
                                        <p:tgtEl>
                                          <p:spTgt spid="39424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94247">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94247">
                                            <p:txEl>
                                              <p:pRg st="1" end="1"/>
                                            </p:txEl>
                                          </p:spTgt>
                                        </p:tgtEl>
                                        <p:attrNameLst>
                                          <p:attrName>style.visibility</p:attrName>
                                        </p:attrNameLst>
                                      </p:cBhvr>
                                      <p:to>
                                        <p:strVal val="visible"/>
                                      </p:to>
                                    </p:set>
                                    <p:anim calcmode="lin" valueType="num">
                                      <p:cBhvr additive="base">
                                        <p:cTn id="13" dur="500" fill="hold"/>
                                        <p:tgtEl>
                                          <p:spTgt spid="39424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94247">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Whoosh"/>
                                        </p:tgtEl>
                                      </p:cMediaNode>
                                    </p:audio>
                                  </p:subTnLst>
                                </p:cTn>
                              </p:par>
                            </p:childTnLst>
                          </p:cTn>
                        </p:par>
                      </p:childTnLst>
                    </p:cTn>
                  </p:par>
                  <p:par>
                    <p:cTn id="15" fill="hold" nodeType="clickPar">
                      <p:stCondLst>
                        <p:cond delay="indefinite"/>
                      </p:stCondLst>
                      <p:childTnLst>
                        <p:par>
                          <p:cTn id="16" fill="hold" nodeType="withGroup">
                            <p:stCondLst>
                              <p:cond delay="0"/>
                            </p:stCondLst>
                            <p:childTnLst>
                              <p:par>
                                <p:cTn id="17" presetID="7" presetClass="entr" presetSubtype="4" fill="hold" grpId="0" nodeType="clickEffect">
                                  <p:stCondLst>
                                    <p:cond delay="0"/>
                                  </p:stCondLst>
                                  <p:childTnLst>
                                    <p:set>
                                      <p:cBhvr>
                                        <p:cTn id="18" dur="1" fill="hold">
                                          <p:stCondLst>
                                            <p:cond delay="0"/>
                                          </p:stCondLst>
                                        </p:cTn>
                                        <p:tgtEl>
                                          <p:spTgt spid="394265"/>
                                        </p:tgtEl>
                                        <p:attrNameLst>
                                          <p:attrName>style.visibility</p:attrName>
                                        </p:attrNameLst>
                                      </p:cBhvr>
                                      <p:to>
                                        <p:strVal val="visible"/>
                                      </p:to>
                                    </p:set>
                                    <p:anim calcmode="lin" valueType="num">
                                      <p:cBhvr additive="base">
                                        <p:cTn id="19" dur="2000" fill="hold"/>
                                        <p:tgtEl>
                                          <p:spTgt spid="394265"/>
                                        </p:tgtEl>
                                        <p:attrNameLst>
                                          <p:attrName>ppt_x</p:attrName>
                                        </p:attrNameLst>
                                      </p:cBhvr>
                                      <p:tavLst>
                                        <p:tav tm="0">
                                          <p:val>
                                            <p:strVal val="#ppt_x"/>
                                          </p:val>
                                        </p:tav>
                                        <p:tav tm="100000">
                                          <p:val>
                                            <p:strVal val="#ppt_x"/>
                                          </p:val>
                                        </p:tav>
                                      </p:tavLst>
                                    </p:anim>
                                    <p:anim calcmode="lin" valueType="num">
                                      <p:cBhvr additive="base">
                                        <p:cTn id="20" dur="2000" fill="hold"/>
                                        <p:tgtEl>
                                          <p:spTgt spid="394265"/>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4" name="Bubbles"/>
                                        </p:tgtEl>
                                      </p:cMediaNode>
                                    </p:audio>
                                  </p:subTnLst>
                                </p:cTn>
                              </p:par>
                            </p:childTnLst>
                          </p:cTn>
                        </p:par>
                      </p:childTnLst>
                    </p:cTn>
                  </p:par>
                  <p:par>
                    <p:cTn id="21" fill="hold" nodeType="clickPar">
                      <p:stCondLst>
                        <p:cond delay="indefinite"/>
                      </p:stCondLst>
                      <p:childTnLst>
                        <p:par>
                          <p:cTn id="22" fill="hold" nodeType="withGroup">
                            <p:stCondLst>
                              <p:cond delay="0"/>
                            </p:stCondLst>
                            <p:childTnLst>
                              <p:par>
                                <p:cTn id="23" presetID="7" presetClass="entr" presetSubtype="4" fill="hold" grpId="0" nodeType="clickEffect">
                                  <p:stCondLst>
                                    <p:cond delay="0"/>
                                  </p:stCondLst>
                                  <p:childTnLst>
                                    <p:set>
                                      <p:cBhvr>
                                        <p:cTn id="24" dur="1" fill="hold">
                                          <p:stCondLst>
                                            <p:cond delay="0"/>
                                          </p:stCondLst>
                                        </p:cTn>
                                        <p:tgtEl>
                                          <p:spTgt spid="394266"/>
                                        </p:tgtEl>
                                        <p:attrNameLst>
                                          <p:attrName>style.visibility</p:attrName>
                                        </p:attrNameLst>
                                      </p:cBhvr>
                                      <p:to>
                                        <p:strVal val="visible"/>
                                      </p:to>
                                    </p:set>
                                    <p:anim calcmode="lin" valueType="num">
                                      <p:cBhvr additive="base">
                                        <p:cTn id="25" dur="2000" fill="hold"/>
                                        <p:tgtEl>
                                          <p:spTgt spid="394266"/>
                                        </p:tgtEl>
                                        <p:attrNameLst>
                                          <p:attrName>ppt_x</p:attrName>
                                        </p:attrNameLst>
                                      </p:cBhvr>
                                      <p:tavLst>
                                        <p:tav tm="0">
                                          <p:val>
                                            <p:strVal val="#ppt_x"/>
                                          </p:val>
                                        </p:tav>
                                        <p:tav tm="100000">
                                          <p:val>
                                            <p:strVal val="#ppt_x"/>
                                          </p:val>
                                        </p:tav>
                                      </p:tavLst>
                                    </p:anim>
                                    <p:anim calcmode="lin" valueType="num">
                                      <p:cBhvr additive="base">
                                        <p:cTn id="26" dur="2000" fill="hold"/>
                                        <p:tgtEl>
                                          <p:spTgt spid="394266"/>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4" name="Bubbles"/>
                                        </p:tgtEl>
                                      </p:cMediaNode>
                                    </p:audio>
                                  </p:subTnLst>
                                </p:cTn>
                              </p:par>
                            </p:childTnLst>
                          </p:cTn>
                        </p:par>
                      </p:childTnLst>
                    </p:cTn>
                  </p:par>
                  <p:par>
                    <p:cTn id="27" fill="hold" nodeType="clickPar">
                      <p:stCondLst>
                        <p:cond delay="indefinite"/>
                      </p:stCondLst>
                      <p:childTnLst>
                        <p:par>
                          <p:cTn id="28" fill="hold" nodeType="withGroup">
                            <p:stCondLst>
                              <p:cond delay="0"/>
                            </p:stCondLst>
                            <p:childTnLst>
                              <p:par>
                                <p:cTn id="29" presetID="7" presetClass="entr" presetSubtype="4" fill="hold" grpId="0" nodeType="clickEffect">
                                  <p:stCondLst>
                                    <p:cond delay="0"/>
                                  </p:stCondLst>
                                  <p:childTnLst>
                                    <p:set>
                                      <p:cBhvr>
                                        <p:cTn id="30" dur="1" fill="hold">
                                          <p:stCondLst>
                                            <p:cond delay="0"/>
                                          </p:stCondLst>
                                        </p:cTn>
                                        <p:tgtEl>
                                          <p:spTgt spid="394267"/>
                                        </p:tgtEl>
                                        <p:attrNameLst>
                                          <p:attrName>style.visibility</p:attrName>
                                        </p:attrNameLst>
                                      </p:cBhvr>
                                      <p:to>
                                        <p:strVal val="visible"/>
                                      </p:to>
                                    </p:set>
                                    <p:anim calcmode="lin" valueType="num">
                                      <p:cBhvr additive="base">
                                        <p:cTn id="31" dur="2000" fill="hold"/>
                                        <p:tgtEl>
                                          <p:spTgt spid="394267"/>
                                        </p:tgtEl>
                                        <p:attrNameLst>
                                          <p:attrName>ppt_x</p:attrName>
                                        </p:attrNameLst>
                                      </p:cBhvr>
                                      <p:tavLst>
                                        <p:tav tm="0">
                                          <p:val>
                                            <p:strVal val="#ppt_x"/>
                                          </p:val>
                                        </p:tav>
                                        <p:tav tm="100000">
                                          <p:val>
                                            <p:strVal val="#ppt_x"/>
                                          </p:val>
                                        </p:tav>
                                      </p:tavLst>
                                    </p:anim>
                                    <p:anim calcmode="lin" valueType="num">
                                      <p:cBhvr additive="base">
                                        <p:cTn id="32" dur="2000" fill="hold"/>
                                        <p:tgtEl>
                                          <p:spTgt spid="394267"/>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4" name="Bubbles"/>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7" presetClass="entr" presetSubtype="1" fill="hold" grpId="0" nodeType="clickEffect">
                                  <p:stCondLst>
                                    <p:cond delay="0"/>
                                  </p:stCondLst>
                                  <p:childTnLst>
                                    <p:set>
                                      <p:cBhvr>
                                        <p:cTn id="36" dur="1" fill="hold">
                                          <p:stCondLst>
                                            <p:cond delay="0"/>
                                          </p:stCondLst>
                                        </p:cTn>
                                        <p:tgtEl>
                                          <p:spTgt spid="394268"/>
                                        </p:tgtEl>
                                        <p:attrNameLst>
                                          <p:attrName>style.visibility</p:attrName>
                                        </p:attrNameLst>
                                      </p:cBhvr>
                                      <p:to>
                                        <p:strVal val="visible"/>
                                      </p:to>
                                    </p:set>
                                    <p:anim calcmode="lin" valueType="num">
                                      <p:cBhvr additive="base">
                                        <p:cTn id="37" dur="2000" fill="hold"/>
                                        <p:tgtEl>
                                          <p:spTgt spid="394268"/>
                                        </p:tgtEl>
                                        <p:attrNameLst>
                                          <p:attrName>ppt_x</p:attrName>
                                        </p:attrNameLst>
                                      </p:cBhvr>
                                      <p:tavLst>
                                        <p:tav tm="0">
                                          <p:val>
                                            <p:strVal val="#ppt_x"/>
                                          </p:val>
                                        </p:tav>
                                        <p:tav tm="100000">
                                          <p:val>
                                            <p:strVal val="#ppt_x"/>
                                          </p:val>
                                        </p:tav>
                                      </p:tavLst>
                                    </p:anim>
                                    <p:anim calcmode="lin" valueType="num">
                                      <p:cBhvr additive="base">
                                        <p:cTn id="38" dur="2000" fill="hold"/>
                                        <p:tgtEl>
                                          <p:spTgt spid="394268"/>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4" name="Bubbles"/>
                                        </p:tgtEl>
                                      </p:cMediaNode>
                                    </p:audio>
                                  </p:subTnLst>
                                </p:cTn>
                              </p:par>
                            </p:childTnLst>
                          </p:cTn>
                        </p:par>
                      </p:childTnLst>
                    </p:cTn>
                  </p:par>
                  <p:par>
                    <p:cTn id="39" fill="hold" nodeType="clickPar">
                      <p:stCondLst>
                        <p:cond delay="indefinite"/>
                      </p:stCondLst>
                      <p:childTnLst>
                        <p:par>
                          <p:cTn id="40" fill="hold" nodeType="withGroup">
                            <p:stCondLst>
                              <p:cond delay="0"/>
                            </p:stCondLst>
                            <p:childTnLst>
                              <p:par>
                                <p:cTn id="41" presetID="7" presetClass="entr" presetSubtype="1" fill="hold" grpId="0" nodeType="clickEffect">
                                  <p:stCondLst>
                                    <p:cond delay="0"/>
                                  </p:stCondLst>
                                  <p:childTnLst>
                                    <p:set>
                                      <p:cBhvr>
                                        <p:cTn id="42" dur="1" fill="hold">
                                          <p:stCondLst>
                                            <p:cond delay="0"/>
                                          </p:stCondLst>
                                        </p:cTn>
                                        <p:tgtEl>
                                          <p:spTgt spid="394275"/>
                                        </p:tgtEl>
                                        <p:attrNameLst>
                                          <p:attrName>style.visibility</p:attrName>
                                        </p:attrNameLst>
                                      </p:cBhvr>
                                      <p:to>
                                        <p:strVal val="visible"/>
                                      </p:to>
                                    </p:set>
                                    <p:anim calcmode="lin" valueType="num">
                                      <p:cBhvr additive="base">
                                        <p:cTn id="43" dur="2000" fill="hold"/>
                                        <p:tgtEl>
                                          <p:spTgt spid="394275"/>
                                        </p:tgtEl>
                                        <p:attrNameLst>
                                          <p:attrName>ppt_x</p:attrName>
                                        </p:attrNameLst>
                                      </p:cBhvr>
                                      <p:tavLst>
                                        <p:tav tm="0">
                                          <p:val>
                                            <p:strVal val="#ppt_x"/>
                                          </p:val>
                                        </p:tav>
                                        <p:tav tm="100000">
                                          <p:val>
                                            <p:strVal val="#ppt_x"/>
                                          </p:val>
                                        </p:tav>
                                      </p:tavLst>
                                    </p:anim>
                                    <p:anim calcmode="lin" valueType="num">
                                      <p:cBhvr additive="base">
                                        <p:cTn id="44" dur="2000" fill="hold"/>
                                        <p:tgtEl>
                                          <p:spTgt spid="394275"/>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41"/>
                                            </p:cond>
                                          </p:stCondLst>
                                          <p:endCondLst>
                                            <p:cond evt="onStopAudio" delay="0">
                                              <p:tgtEl>
                                                <p:sldTgt/>
                                              </p:tgtEl>
                                            </p:cond>
                                          </p:endCondLst>
                                        </p:cTn>
                                        <p:tgtEl>
                                          <p:sndTgt r:embed="rId4" name="Bubbles"/>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4247" grpId="0" build="p" autoUpdateAnimBg="0"/>
      <p:bldP spid="394265" grpId="0" animBg="1"/>
      <p:bldP spid="394266" grpId="0" animBg="1"/>
      <p:bldP spid="394267" grpId="0" animBg="1"/>
      <p:bldP spid="394268" grpId="0" animBg="1"/>
      <p:bldP spid="394275" grpId="0" animBg="1"/>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033" name="Rectangle 1"/>
          <p:cNvSpPr>
            <a:spLocks noGrp="1" noChangeArrowheads="1"/>
          </p:cNvSpPr>
          <p:nvPr>
            <p:ph type="title"/>
          </p:nvPr>
        </p:nvSpPr>
        <p:spPr>
          <a:xfrm>
            <a:off x="539552" y="222870"/>
            <a:ext cx="7924800" cy="1143000"/>
          </a:xfrm>
        </p:spPr>
        <p:txBody>
          <a:bodyPr/>
          <a:lstStyle/>
          <a:p>
            <a:r>
              <a:rPr lang="en-US" dirty="0"/>
              <a:t>Cell Transport</a:t>
            </a:r>
          </a:p>
        </p:txBody>
      </p:sp>
      <p:sp>
        <p:nvSpPr>
          <p:cNvPr id="44034" name="Rectangle 2"/>
          <p:cNvSpPr>
            <a:spLocks noGrp="1" noChangeArrowheads="1"/>
          </p:cNvSpPr>
          <p:nvPr>
            <p:ph sz="quarter" idx="13"/>
          </p:nvPr>
        </p:nvSpPr>
        <p:spPr>
          <a:xfrm>
            <a:off x="609600" y="1268760"/>
            <a:ext cx="6482680" cy="5040560"/>
          </a:xfrm>
        </p:spPr>
        <p:txBody>
          <a:bodyPr>
            <a:normAutofit/>
          </a:bodyPr>
          <a:lstStyle/>
          <a:p>
            <a:r>
              <a:rPr lang="en-US" dirty="0"/>
              <a:t>Substances need to move into and out of the cell. They are moved across the plasma membrane by cellular transport mechanisms. These may be:</a:t>
            </a:r>
          </a:p>
          <a:p>
            <a:pPr lvl="1"/>
            <a:r>
              <a:rPr lang="en-US" b="1" dirty="0"/>
              <a:t>passive transport (not requiring energy)</a:t>
            </a:r>
          </a:p>
          <a:p>
            <a:pPr lvl="2"/>
            <a:r>
              <a:rPr lang="en-US" dirty="0"/>
              <a:t>diffusion and facilitated diffusion</a:t>
            </a:r>
          </a:p>
          <a:p>
            <a:pPr lvl="2"/>
            <a:r>
              <a:rPr lang="en-US" dirty="0"/>
              <a:t>osmosis</a:t>
            </a:r>
          </a:p>
          <a:p>
            <a:pPr lvl="1"/>
            <a:r>
              <a:rPr lang="en-US" b="1" dirty="0"/>
              <a:t>active transport (energy requiring)</a:t>
            </a:r>
          </a:p>
          <a:p>
            <a:pPr lvl="2"/>
            <a:r>
              <a:rPr lang="en-US" dirty="0"/>
              <a:t>ion pumps</a:t>
            </a:r>
          </a:p>
          <a:p>
            <a:pPr lvl="2"/>
            <a:r>
              <a:rPr lang="en-US" dirty="0"/>
              <a:t>cytosis (endocytosis / exocytosis)</a:t>
            </a:r>
          </a:p>
          <a:p>
            <a:r>
              <a:rPr lang="en-US" dirty="0"/>
              <a:t>The plasma membrane is partially</a:t>
            </a:r>
            <a:br>
              <a:rPr lang="en-US" dirty="0"/>
            </a:br>
            <a:r>
              <a:rPr lang="en-US" dirty="0"/>
              <a:t>permeable to certain molecules.</a:t>
            </a:r>
          </a:p>
          <a:p>
            <a:pPr lvl="1"/>
            <a:r>
              <a:rPr lang="en-US" dirty="0"/>
              <a:t>Channel and carrier proteins are</a:t>
            </a:r>
            <a:br>
              <a:rPr lang="en-US" dirty="0"/>
            </a:br>
            <a:r>
              <a:rPr lang="en-US" dirty="0"/>
              <a:t>involved in selective transport of small</a:t>
            </a:r>
            <a:br>
              <a:rPr lang="en-US" dirty="0"/>
            </a:br>
            <a:r>
              <a:rPr lang="en-US" dirty="0"/>
              <a:t>molecules and ions across the membrane.</a:t>
            </a:r>
          </a:p>
          <a:p>
            <a:pPr lvl="1"/>
            <a:r>
              <a:rPr lang="en-US" dirty="0"/>
              <a:t>Large molecules (e.g. proteins) are</a:t>
            </a:r>
            <a:br>
              <a:rPr lang="en-US" dirty="0"/>
            </a:br>
            <a:r>
              <a:rPr lang="en-US" dirty="0"/>
              <a:t>transported by </a:t>
            </a:r>
            <a:r>
              <a:rPr lang="en-US" dirty="0" err="1"/>
              <a:t>cytosis</a:t>
            </a:r>
            <a:r>
              <a:rPr lang="en-US" dirty="0"/>
              <a:t> (formation of</a:t>
            </a:r>
            <a:br>
              <a:rPr lang="en-US" dirty="0"/>
            </a:br>
            <a:r>
              <a:rPr lang="en-US" dirty="0"/>
              <a:t>membrane-bound vesicles or vacuoles).</a:t>
            </a:r>
          </a:p>
        </p:txBody>
      </p:sp>
      <p:grpSp>
        <p:nvGrpSpPr>
          <p:cNvPr id="44035" name="Group 3"/>
          <p:cNvGrpSpPr>
            <a:grpSpLocks/>
          </p:cNvGrpSpPr>
          <p:nvPr/>
        </p:nvGrpSpPr>
        <p:grpSpPr bwMode="auto">
          <a:xfrm>
            <a:off x="4900166" y="2000250"/>
            <a:ext cx="4037334" cy="4356572"/>
            <a:chOff x="0" y="0"/>
            <a:chExt cx="3616" cy="3903"/>
          </a:xfrm>
        </p:grpSpPr>
        <p:pic>
          <p:nvPicPr>
            <p:cNvPr id="4403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776"/>
              <a:ext cx="3281" cy="2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sp>
          <p:nvSpPr>
            <p:cNvPr id="44037" name="Rectangle 5"/>
            <p:cNvSpPr>
              <a:spLocks/>
            </p:cNvSpPr>
            <p:nvPr/>
          </p:nvSpPr>
          <p:spPr bwMode="auto">
            <a:xfrm>
              <a:off x="809" y="0"/>
              <a:ext cx="1329" cy="1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p>
              <a:pPr marL="80364">
                <a:tabLst>
                  <a:tab pos="366104" algn="l"/>
                </a:tabLst>
              </a:pPr>
              <a:r>
                <a:rPr lang="en-US" sz="1300">
                  <a:solidFill>
                    <a:srgbClr val="001BFF"/>
                  </a:solidFill>
                  <a:latin typeface="Arial" charset="0"/>
                  <a:cs typeface="Arial" charset="0"/>
                  <a:sym typeface="Arial" charset="0"/>
                </a:rPr>
                <a:t>Plasma membrane</a:t>
              </a:r>
            </a:p>
          </p:txBody>
        </p:sp>
        <p:sp>
          <p:nvSpPr>
            <p:cNvPr id="44038" name="Rectangle 6"/>
            <p:cNvSpPr>
              <a:spLocks/>
            </p:cNvSpPr>
            <p:nvPr/>
          </p:nvSpPr>
          <p:spPr bwMode="auto">
            <a:xfrm>
              <a:off x="1833" y="352"/>
              <a:ext cx="1045" cy="1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p>
              <a:pPr marL="80364">
                <a:tabLst>
                  <a:tab pos="366104" algn="l"/>
                </a:tabLst>
              </a:pPr>
              <a:r>
                <a:rPr lang="en-US" sz="1300">
                  <a:solidFill>
                    <a:srgbClr val="001BFF"/>
                  </a:solidFill>
                  <a:latin typeface="Arial" charset="0"/>
                  <a:cs typeface="Arial" charset="0"/>
                  <a:sym typeface="Arial" charset="0"/>
                </a:rPr>
                <a:t>Cell cytoplasm</a:t>
              </a:r>
            </a:p>
          </p:txBody>
        </p:sp>
        <p:sp>
          <p:nvSpPr>
            <p:cNvPr id="44039" name="Rectangle 7"/>
            <p:cNvSpPr>
              <a:spLocks/>
            </p:cNvSpPr>
            <p:nvPr/>
          </p:nvSpPr>
          <p:spPr bwMode="auto">
            <a:xfrm>
              <a:off x="592" y="3391"/>
              <a:ext cx="3024" cy="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nSpc>
                  <a:spcPct val="106000"/>
                </a:lnSpc>
                <a:tabLst>
                  <a:tab pos="366104" algn="l"/>
                </a:tabLst>
              </a:pPr>
              <a:r>
                <a:rPr lang="en-US" sz="1300" dirty="0">
                  <a:solidFill>
                    <a:srgbClr val="001BFF"/>
                  </a:solidFill>
                  <a:latin typeface="Arial" charset="0"/>
                  <a:cs typeface="Arial" charset="0"/>
                  <a:sym typeface="Arial" charset="0"/>
                </a:rPr>
                <a:t>The plasma membrane is partially permeable, allowing some molecules to pass through, and preventing the passage of others.</a:t>
              </a:r>
            </a:p>
          </p:txBody>
        </p:sp>
        <p:sp>
          <p:nvSpPr>
            <p:cNvPr id="44040" name="Line 8"/>
            <p:cNvSpPr>
              <a:spLocks noChangeShapeType="1"/>
            </p:cNvSpPr>
            <p:nvPr/>
          </p:nvSpPr>
          <p:spPr bwMode="auto">
            <a:xfrm rot="10800000" flipH="1">
              <a:off x="1454" y="199"/>
              <a:ext cx="0" cy="729"/>
            </a:xfrm>
            <a:prstGeom prst="line">
              <a:avLst/>
            </a:prstGeom>
            <a:noFill/>
            <a:ln w="25400">
              <a:solidFill>
                <a:srgbClr val="FD1C00"/>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sp>
          <p:nvSpPr>
            <p:cNvPr id="44041" name="Line 9"/>
            <p:cNvSpPr>
              <a:spLocks noChangeShapeType="1"/>
            </p:cNvSpPr>
            <p:nvPr/>
          </p:nvSpPr>
          <p:spPr bwMode="auto">
            <a:xfrm rot="10800000" flipH="1">
              <a:off x="2337" y="592"/>
              <a:ext cx="0" cy="417"/>
            </a:xfrm>
            <a:prstGeom prst="line">
              <a:avLst/>
            </a:prstGeom>
            <a:noFill/>
            <a:ln w="25400">
              <a:solidFill>
                <a:srgbClr val="FD1C00"/>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grpSp>
      <p:sp>
        <p:nvSpPr>
          <p:cNvPr id="44045" name="Line 13"/>
          <p:cNvSpPr>
            <a:spLocks noChangeShapeType="1"/>
          </p:cNvSpPr>
          <p:nvPr/>
        </p:nvSpPr>
        <p:spPr bwMode="auto">
          <a:xfrm flipH="1">
            <a:off x="6158136" y="583779"/>
            <a:ext cx="431973" cy="0"/>
          </a:xfrm>
          <a:prstGeom prst="line">
            <a:avLst/>
          </a:prstGeom>
          <a:noFill/>
          <a:ln w="76200">
            <a:solidFill>
              <a:srgbClr val="FD1C00"/>
            </a:solidFill>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291" tIns="32146" rIns="64291" bIns="32146"/>
          <a:lstStyle/>
          <a:p>
            <a:endParaRPr lang="en-AU"/>
          </a:p>
        </p:txBody>
      </p:sp>
      <p:pic>
        <p:nvPicPr>
          <p:cNvPr id="44046" name="Picture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5400000">
            <a:off x="6365751" y="37952"/>
            <a:ext cx="2816201" cy="27402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spTree>
    <p:extLst>
      <p:ext uri="{BB962C8B-B14F-4D97-AF65-F5344CB8AC3E}">
        <p14:creationId xmlns:p14="http://schemas.microsoft.com/office/powerpoint/2010/main" val="377869939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4034">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4034">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4034">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44034">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44034">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44034">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44034">
                                            <p:txEl>
                                              <p:pRg st="6" end="6"/>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44034">
                                            <p:txEl>
                                              <p:pRg st="7" end="7"/>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499"/>
                                          </p:stCondLst>
                                        </p:cTn>
                                        <p:tgtEl>
                                          <p:spTgt spid="44035"/>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grpId="0" nodeType="clickEffect">
                                  <p:stCondLst>
                                    <p:cond delay="0"/>
                                  </p:stCondLst>
                                  <p:childTnLst>
                                    <p:set>
                                      <p:cBhvr>
                                        <p:cTn id="40" dur="1" fill="hold">
                                          <p:stCondLst>
                                            <p:cond delay="499"/>
                                          </p:stCondLst>
                                        </p:cTn>
                                        <p:tgtEl>
                                          <p:spTgt spid="44034">
                                            <p:txEl>
                                              <p:pRg st="8" end="8"/>
                                            </p:txEl>
                                          </p:spTgt>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grpId="0" nodeType="clickEffect">
                                  <p:stCondLst>
                                    <p:cond delay="0"/>
                                  </p:stCondLst>
                                  <p:childTnLst>
                                    <p:set>
                                      <p:cBhvr>
                                        <p:cTn id="44" dur="1" fill="hold">
                                          <p:stCondLst>
                                            <p:cond delay="499"/>
                                          </p:stCondLst>
                                        </p:cTn>
                                        <p:tgtEl>
                                          <p:spTgt spid="4403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4" grpId="0" build="p" bldLvl="5"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057" name="Rectangle 1"/>
          <p:cNvSpPr>
            <a:spLocks noGrp="1" noChangeArrowheads="1"/>
          </p:cNvSpPr>
          <p:nvPr>
            <p:ph type="title"/>
          </p:nvPr>
        </p:nvSpPr>
        <p:spPr>
          <a:xfrm>
            <a:off x="609600" y="116632"/>
            <a:ext cx="7924800" cy="1143000"/>
          </a:xfrm>
        </p:spPr>
        <p:txBody>
          <a:bodyPr/>
          <a:lstStyle/>
          <a:p>
            <a:r>
              <a:rPr lang="en-US" dirty="0"/>
              <a:t>Diffusion</a:t>
            </a:r>
          </a:p>
        </p:txBody>
      </p:sp>
      <p:sp>
        <p:nvSpPr>
          <p:cNvPr id="45058" name="Rectangle 2"/>
          <p:cNvSpPr>
            <a:spLocks noGrp="1" noChangeArrowheads="1"/>
          </p:cNvSpPr>
          <p:nvPr>
            <p:ph sz="quarter" idx="13"/>
          </p:nvPr>
        </p:nvSpPr>
        <p:spPr>
          <a:xfrm>
            <a:off x="618530" y="1251942"/>
            <a:ext cx="7924800" cy="4114800"/>
          </a:xfrm>
        </p:spPr>
        <p:txBody>
          <a:bodyPr>
            <a:normAutofit/>
          </a:bodyPr>
          <a:lstStyle/>
          <a:p>
            <a:r>
              <a:rPr lang="en-US" sz="1800" dirty="0"/>
              <a:t>Diffusion is a </a:t>
            </a:r>
            <a:r>
              <a:rPr lang="en-US" sz="1800" b="1" dirty="0"/>
              <a:t>passive</a:t>
            </a:r>
            <a:r>
              <a:rPr lang="en-US" sz="1800" dirty="0"/>
              <a:t> transport process. It </a:t>
            </a:r>
            <a:r>
              <a:rPr lang="en-US" sz="1800" b="1" dirty="0"/>
              <a:t>does not </a:t>
            </a:r>
            <a:r>
              <a:rPr lang="en-US" sz="1800" dirty="0"/>
              <a:t>require energy to occur.</a:t>
            </a:r>
          </a:p>
          <a:p>
            <a:r>
              <a:rPr lang="en-US" sz="1800" dirty="0"/>
              <a:t>Diffusion is the movement of molecules from a region of high concentration to a region of low concentration along a </a:t>
            </a:r>
            <a:r>
              <a:rPr lang="en-US" sz="1800" b="1" dirty="0"/>
              <a:t>concentration gradient</a:t>
            </a:r>
            <a:r>
              <a:rPr lang="en-US" sz="1800" dirty="0"/>
              <a:t>.</a:t>
            </a:r>
          </a:p>
          <a:p>
            <a:r>
              <a:rPr lang="en-US" sz="1800" dirty="0"/>
              <a:t>In biological systems, diffusion often occurs across partially permeable membranes.</a:t>
            </a:r>
          </a:p>
        </p:txBody>
      </p:sp>
      <p:sp>
        <p:nvSpPr>
          <p:cNvPr id="45059" name="Rectangle 3"/>
          <p:cNvSpPr>
            <a:spLocks/>
          </p:cNvSpPr>
          <p:nvPr/>
        </p:nvSpPr>
        <p:spPr bwMode="auto">
          <a:xfrm>
            <a:off x="0" y="3212976"/>
            <a:ext cx="9144000" cy="3645023"/>
          </a:xfrm>
          <a:prstGeom prst="rect">
            <a:avLst/>
          </a:prstGeom>
          <a:gradFill rotWithShape="0">
            <a:gsLst>
              <a:gs pos="0">
                <a:srgbClr val="054080"/>
              </a:gs>
              <a:gs pos="100000">
                <a:srgbClr val="0B81FF">
                  <a:alpha val="25000"/>
                </a:srgbClr>
              </a:gs>
            </a:gsLst>
            <a:lin ang="1080000" scaled="1"/>
          </a:gradFill>
          <a:ln>
            <a:noFill/>
          </a:ln>
          <a:effectLst/>
          <a:extLst>
            <a:ext uri="{91240B29-F687-4F45-9708-019B960494DF}">
              <a14:hiddenLine xmlns:a14="http://schemas.microsoft.com/office/drawing/2010/main" w="9525">
                <a:solidFill>
                  <a:srgbClr val="001B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txBody>
          <a:bodyPr lIns="64291" tIns="32146" rIns="64291" bIns="32146"/>
          <a:lstStyle/>
          <a:p>
            <a:endParaRPr lang="en-AU"/>
          </a:p>
        </p:txBody>
      </p:sp>
      <p:sp>
        <p:nvSpPr>
          <p:cNvPr id="45060" name="Rectangle 4"/>
          <p:cNvSpPr>
            <a:spLocks/>
          </p:cNvSpPr>
          <p:nvPr/>
        </p:nvSpPr>
        <p:spPr bwMode="auto">
          <a:xfrm>
            <a:off x="1285875" y="6322219"/>
            <a:ext cx="1870770" cy="2355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1B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p>
            <a:pPr marL="80364">
              <a:tabLst>
                <a:tab pos="366104" algn="l"/>
              </a:tabLst>
            </a:pPr>
            <a:r>
              <a:rPr lang="en-US" sz="1500" b="1">
                <a:solidFill>
                  <a:srgbClr val="FFFFFF"/>
                </a:solidFill>
                <a:latin typeface="Arial" charset="0"/>
                <a:cs typeface="Arial" charset="0"/>
                <a:sym typeface="Arial" charset="0"/>
              </a:rPr>
              <a:t>High concentration</a:t>
            </a:r>
          </a:p>
        </p:txBody>
      </p:sp>
      <p:sp>
        <p:nvSpPr>
          <p:cNvPr id="45061" name="Rectangle 5"/>
          <p:cNvSpPr>
            <a:spLocks/>
          </p:cNvSpPr>
          <p:nvPr/>
        </p:nvSpPr>
        <p:spPr bwMode="auto">
          <a:xfrm>
            <a:off x="5911453" y="6277571"/>
            <a:ext cx="1826121" cy="2355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1B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p>
            <a:pPr marL="80364">
              <a:tabLst>
                <a:tab pos="366104" algn="l"/>
              </a:tabLst>
            </a:pPr>
            <a:r>
              <a:rPr lang="en-US" sz="1500" b="1">
                <a:solidFill>
                  <a:srgbClr val="000000"/>
                </a:solidFill>
                <a:latin typeface="Arial" charset="0"/>
                <a:cs typeface="Arial" charset="0"/>
                <a:sym typeface="Arial" charset="0"/>
              </a:rPr>
              <a:t>Low concentration</a:t>
            </a:r>
          </a:p>
        </p:txBody>
      </p:sp>
      <p:sp>
        <p:nvSpPr>
          <p:cNvPr id="45062" name="AutoShape 6"/>
          <p:cNvSpPr>
            <a:spLocks/>
          </p:cNvSpPr>
          <p:nvPr/>
        </p:nvSpPr>
        <p:spPr bwMode="auto">
          <a:xfrm>
            <a:off x="2534916" y="5083225"/>
            <a:ext cx="4459262" cy="807021"/>
          </a:xfrm>
          <a:custGeom>
            <a:avLst/>
            <a:gdLst/>
            <a:ahLst/>
            <a:cxnLst/>
            <a:rect l="0" t="0" r="r" b="b"/>
            <a:pathLst>
              <a:path w="21600" h="20591">
                <a:moveTo>
                  <a:pt x="0" y="9043"/>
                </a:moveTo>
                <a:cubicBezTo>
                  <a:pt x="605" y="6984"/>
                  <a:pt x="2739" y="-290"/>
                  <a:pt x="4290" y="0"/>
                </a:cubicBezTo>
                <a:cubicBezTo>
                  <a:pt x="5841" y="289"/>
                  <a:pt x="6412" y="13236"/>
                  <a:pt x="8534" y="13825"/>
                </a:cubicBezTo>
                <a:cubicBezTo>
                  <a:pt x="10014" y="14235"/>
                  <a:pt x="11011" y="21310"/>
                  <a:pt x="12219" y="20590"/>
                </a:cubicBezTo>
                <a:cubicBezTo>
                  <a:pt x="13428" y="19871"/>
                  <a:pt x="13753" y="7106"/>
                  <a:pt x="14955" y="10001"/>
                </a:cubicBezTo>
                <a:cubicBezTo>
                  <a:pt x="16910" y="14707"/>
                  <a:pt x="18243" y="2870"/>
                  <a:pt x="19366" y="3118"/>
                </a:cubicBezTo>
                <a:cubicBezTo>
                  <a:pt x="20490" y="3367"/>
                  <a:pt x="21417" y="9788"/>
                  <a:pt x="21600" y="11472"/>
                </a:cubicBezTo>
              </a:path>
            </a:pathLst>
          </a:custGeom>
          <a:noFill/>
          <a:ln w="76200">
            <a:solidFill>
              <a:srgbClr val="FD1C00"/>
            </a:solidFill>
            <a:prstDash val="sysDot"/>
            <a:miter lim="800000"/>
            <a:headEn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291" tIns="32146" rIns="64291" bIns="32146"/>
          <a:lstStyle/>
          <a:p>
            <a:endParaRPr lang="en-AU"/>
          </a:p>
        </p:txBody>
      </p:sp>
      <p:sp>
        <p:nvSpPr>
          <p:cNvPr id="45063" name="AutoShape 7"/>
          <p:cNvSpPr>
            <a:spLocks/>
          </p:cNvSpPr>
          <p:nvPr/>
        </p:nvSpPr>
        <p:spPr bwMode="auto">
          <a:xfrm>
            <a:off x="1482328" y="3450208"/>
            <a:ext cx="5453807" cy="857250"/>
          </a:xfrm>
          <a:custGeom>
            <a:avLst/>
            <a:gdLst/>
            <a:ahLst/>
            <a:cxnLst/>
            <a:rect l="0" t="0" r="r" b="b"/>
            <a:pathLst>
              <a:path w="21600" h="19952">
                <a:moveTo>
                  <a:pt x="0" y="19648"/>
                </a:moveTo>
                <a:cubicBezTo>
                  <a:pt x="502" y="17635"/>
                  <a:pt x="2318" y="6449"/>
                  <a:pt x="3571" y="6612"/>
                </a:cubicBezTo>
                <a:cubicBezTo>
                  <a:pt x="4824" y="6774"/>
                  <a:pt x="5567" y="19666"/>
                  <a:pt x="6766" y="19493"/>
                </a:cubicBezTo>
                <a:cubicBezTo>
                  <a:pt x="7966" y="19319"/>
                  <a:pt x="8275" y="9104"/>
                  <a:pt x="9140" y="5807"/>
                </a:cubicBezTo>
                <a:cubicBezTo>
                  <a:pt x="10004" y="2510"/>
                  <a:pt x="10877" y="-799"/>
                  <a:pt x="11833" y="171"/>
                </a:cubicBezTo>
                <a:cubicBezTo>
                  <a:pt x="12788" y="1141"/>
                  <a:pt x="13564" y="7621"/>
                  <a:pt x="14160" y="10905"/>
                </a:cubicBezTo>
                <a:cubicBezTo>
                  <a:pt x="14757" y="14189"/>
                  <a:pt x="14862" y="18721"/>
                  <a:pt x="15393" y="19761"/>
                </a:cubicBezTo>
                <a:cubicBezTo>
                  <a:pt x="15923" y="20801"/>
                  <a:pt x="16243" y="17310"/>
                  <a:pt x="16625" y="15736"/>
                </a:cubicBezTo>
                <a:cubicBezTo>
                  <a:pt x="17007" y="14162"/>
                  <a:pt x="17087" y="12703"/>
                  <a:pt x="17675" y="10369"/>
                </a:cubicBezTo>
                <a:cubicBezTo>
                  <a:pt x="18263" y="8035"/>
                  <a:pt x="19281" y="1370"/>
                  <a:pt x="20139" y="1781"/>
                </a:cubicBezTo>
                <a:cubicBezTo>
                  <a:pt x="20998" y="2192"/>
                  <a:pt x="21357" y="10503"/>
                  <a:pt x="21600" y="12247"/>
                </a:cubicBezTo>
              </a:path>
            </a:pathLst>
          </a:custGeom>
          <a:noFill/>
          <a:ln w="76200">
            <a:solidFill>
              <a:srgbClr val="FD1C00"/>
            </a:solidFill>
            <a:prstDash val="sysDot"/>
            <a:miter lim="800000"/>
            <a:headEn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291" tIns="32146" rIns="64291" bIns="32146"/>
          <a:lstStyle/>
          <a:p>
            <a:endParaRPr lang="en-AU"/>
          </a:p>
        </p:txBody>
      </p:sp>
      <p:sp>
        <p:nvSpPr>
          <p:cNvPr id="45064" name="AutoShape 8"/>
          <p:cNvSpPr>
            <a:spLocks/>
          </p:cNvSpPr>
          <p:nvPr/>
        </p:nvSpPr>
        <p:spPr bwMode="auto">
          <a:xfrm>
            <a:off x="3772793" y="4598790"/>
            <a:ext cx="3754934" cy="1909837"/>
          </a:xfrm>
          <a:custGeom>
            <a:avLst/>
            <a:gdLst/>
            <a:ahLst/>
            <a:cxnLst/>
            <a:rect l="0" t="0" r="r" b="b"/>
            <a:pathLst>
              <a:path w="21600" h="21483">
                <a:moveTo>
                  <a:pt x="0" y="21483"/>
                </a:moveTo>
                <a:cubicBezTo>
                  <a:pt x="718" y="20640"/>
                  <a:pt x="2639" y="18176"/>
                  <a:pt x="4311" y="16427"/>
                </a:cubicBezTo>
                <a:cubicBezTo>
                  <a:pt x="9019" y="11500"/>
                  <a:pt x="7593" y="11025"/>
                  <a:pt x="9152" y="8389"/>
                </a:cubicBezTo>
                <a:cubicBezTo>
                  <a:pt x="10711" y="5752"/>
                  <a:pt x="12132" y="1336"/>
                  <a:pt x="13662" y="610"/>
                </a:cubicBezTo>
                <a:cubicBezTo>
                  <a:pt x="15191" y="-117"/>
                  <a:pt x="15995" y="2392"/>
                  <a:pt x="16719" y="3415"/>
                </a:cubicBezTo>
                <a:cubicBezTo>
                  <a:pt x="17443" y="4438"/>
                  <a:pt x="18715" y="5974"/>
                  <a:pt x="19339" y="5625"/>
                </a:cubicBezTo>
                <a:cubicBezTo>
                  <a:pt x="19964" y="5276"/>
                  <a:pt x="21423" y="540"/>
                  <a:pt x="21600" y="0"/>
                </a:cubicBezTo>
              </a:path>
            </a:pathLst>
          </a:custGeom>
          <a:noFill/>
          <a:ln w="76200">
            <a:solidFill>
              <a:srgbClr val="FD1C00"/>
            </a:solidFill>
            <a:prstDash val="sysDot"/>
            <a:miter lim="800000"/>
            <a:headEn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291" tIns="32146" rIns="64291" bIns="32146"/>
          <a:lstStyle/>
          <a:p>
            <a:endParaRPr lang="en-AU"/>
          </a:p>
        </p:txBody>
      </p:sp>
      <p:pic>
        <p:nvPicPr>
          <p:cNvPr id="45065"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03859" y="5679281"/>
            <a:ext cx="321469" cy="3036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5066"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8781" y="6000750"/>
            <a:ext cx="321469" cy="3036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5067"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6609" y="5188149"/>
            <a:ext cx="321469" cy="3036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5068"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70164" y="5188149"/>
            <a:ext cx="321469" cy="3036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5069"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18734" y="5572125"/>
            <a:ext cx="321469" cy="3036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5070"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61672" y="4518422"/>
            <a:ext cx="321469" cy="3036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5071" name="Picture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38242" y="4848821"/>
            <a:ext cx="321469" cy="3036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5072" name="Picture 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5086" y="4634508"/>
            <a:ext cx="321469" cy="3036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5073" name="Picture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82828" y="4339828"/>
            <a:ext cx="321469" cy="3036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5074" name="Picture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61234" y="4384477"/>
            <a:ext cx="321469" cy="3036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5075" name="Picture 1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59461" y="3723680"/>
            <a:ext cx="321469" cy="3036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5076" name="Picture 2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43187" y="4848821"/>
            <a:ext cx="321469" cy="3036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5077" name="Picture 2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36031" y="4339828"/>
            <a:ext cx="321469" cy="3036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5078" name="Picture 2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3219" y="3795117"/>
            <a:ext cx="321469" cy="3036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5079" name="Picture 2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9883" y="4223742"/>
            <a:ext cx="321469" cy="3036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5080" name="Picture 2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79031" y="6277571"/>
            <a:ext cx="321469" cy="3036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5081" name="Picture 2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0219" y="5134571"/>
            <a:ext cx="321469" cy="3036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5082" name="Picture 2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6609" y="3321844"/>
            <a:ext cx="321469" cy="3036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5083" name="Picture 2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89672" y="3446860"/>
            <a:ext cx="321469" cy="3036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5084"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6703" y="3848696"/>
            <a:ext cx="321469" cy="3036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5085" name="Picture 2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47047" y="4795242"/>
            <a:ext cx="321469" cy="3036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5086" name="Picture 3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58187" y="3536156"/>
            <a:ext cx="321469" cy="3036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5087" name="Picture 3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18922" y="5840016"/>
            <a:ext cx="321469" cy="3036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5088" name="Picture 3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16336" y="4848821"/>
            <a:ext cx="321469" cy="3036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5089" name="Picture 3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1625" y="4446985"/>
            <a:ext cx="321469" cy="3036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5090" name="Picture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39703" y="5429250"/>
            <a:ext cx="321469" cy="3036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5091" name="Picture 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7414" y="3446860"/>
            <a:ext cx="321469" cy="3036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5092" name="Picture 3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1625" y="5679281"/>
            <a:ext cx="321469" cy="3036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5093" name="Picture 3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5109" y="5759649"/>
            <a:ext cx="321469" cy="3036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5094" name="Picture 3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0094" y="5134571"/>
            <a:ext cx="321469" cy="3036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5095" name="Picture 3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2633" y="4947047"/>
            <a:ext cx="321469" cy="3036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5096" name="Picture 4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0219" y="4750594"/>
            <a:ext cx="321469" cy="3036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5097" name="Picture 4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8781" y="3500438"/>
            <a:ext cx="321469" cy="3036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5098" name="Picture 4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21594" y="4170164"/>
            <a:ext cx="321469" cy="3036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5099" name="Picture 4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1930" y="5286375"/>
            <a:ext cx="321469" cy="3036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5100" name="Picture 4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0094" y="3268266"/>
            <a:ext cx="321469" cy="3036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5101" name="Picture 4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43187" y="3303985"/>
            <a:ext cx="321469" cy="3036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5102" name="Picture 4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00187" y="3795117"/>
            <a:ext cx="321469" cy="3036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5103" name="Picture 4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9820" y="4795242"/>
            <a:ext cx="321469" cy="3036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5104" name="Picture 4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2633" y="3554016"/>
            <a:ext cx="321469" cy="3036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5105" name="Picture 4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5109" y="3964781"/>
            <a:ext cx="321469" cy="3036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5106" name="Picture 5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5109" y="4518422"/>
            <a:ext cx="321469" cy="3036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5107" name="Picture 5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3367" y="5679281"/>
            <a:ext cx="321469" cy="3036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5108" name="Picture 5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21594" y="6000750"/>
            <a:ext cx="321469" cy="3036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5109" name="Picture 5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0094" y="6277571"/>
            <a:ext cx="321469" cy="3036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5110" name="Picture 5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9359" y="5527477"/>
            <a:ext cx="321469" cy="3036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5111" name="Picture 5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625" y="4822031"/>
            <a:ext cx="321469" cy="3036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5112" name="Picture 5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0797" y="4170164"/>
            <a:ext cx="321469" cy="3036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5113" name="Picture 5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3586" y="4482703"/>
            <a:ext cx="321469" cy="3036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5114" name="Picture 5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39703" y="4196953"/>
            <a:ext cx="321469" cy="3036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5115" name="Picture 5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0219" y="5429250"/>
            <a:ext cx="321469" cy="3036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5116" name="Picture 6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00250" y="5813227"/>
            <a:ext cx="321469" cy="3036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5117" name="Picture 6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75297" y="5286375"/>
            <a:ext cx="321469" cy="3036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5118" name="Picture 6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3586" y="5884664"/>
            <a:ext cx="321469" cy="3036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5119" name="Picture 6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36031" y="6000750"/>
            <a:ext cx="321469" cy="3036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5120" name="Picture 6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29375" y="5813227"/>
            <a:ext cx="321469" cy="3036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5121" name="Picture 6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7414" y="6197203"/>
            <a:ext cx="321469" cy="3036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5122" name="Picture 6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97016" y="5286375"/>
            <a:ext cx="321469" cy="3036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5123" name="Picture 6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6219" y="4795242"/>
            <a:ext cx="321469" cy="3036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5124" name="Picture 6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97016" y="4170164"/>
            <a:ext cx="321469" cy="3036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5125" name="Picture 6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66992" y="3795117"/>
            <a:ext cx="321469" cy="3036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5126" name="Picture 7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52555" y="3795117"/>
            <a:ext cx="321469" cy="3036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5127" name="Picture 7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49008" y="4339828"/>
            <a:ext cx="321469" cy="3036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2022312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5058">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5058">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505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8" grpId="0" build="p" bldLvl="5"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Diffusion</a:t>
            </a:r>
          </a:p>
        </p:txBody>
      </p:sp>
      <p:sp>
        <p:nvSpPr>
          <p:cNvPr id="3" name="Content Placeholder 2"/>
          <p:cNvSpPr>
            <a:spLocks noGrp="1"/>
          </p:cNvSpPr>
          <p:nvPr>
            <p:ph sz="quarter" idx="13"/>
          </p:nvPr>
        </p:nvSpPr>
        <p:spPr/>
        <p:txBody>
          <a:bodyPr/>
          <a:lstStyle/>
          <a:p>
            <a:r>
              <a:rPr lang="en-AU" dirty="0"/>
              <a:t>Can you think of an example of diffusion happening in your real life?</a:t>
            </a:r>
          </a:p>
        </p:txBody>
      </p:sp>
    </p:spTree>
    <p:extLst>
      <p:ext uri="{BB962C8B-B14F-4D97-AF65-F5344CB8AC3E}">
        <p14:creationId xmlns:p14="http://schemas.microsoft.com/office/powerpoint/2010/main" val="38898389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081" name="Rectangle 1"/>
          <p:cNvSpPr>
            <a:spLocks noGrp="1" noChangeArrowheads="1"/>
          </p:cNvSpPr>
          <p:nvPr>
            <p:ph type="title"/>
          </p:nvPr>
        </p:nvSpPr>
        <p:spPr>
          <a:xfrm>
            <a:off x="426461" y="307468"/>
            <a:ext cx="7924800" cy="673950"/>
          </a:xfrm>
        </p:spPr>
        <p:txBody>
          <a:bodyPr/>
          <a:lstStyle/>
          <a:p>
            <a:r>
              <a:rPr lang="en-US" dirty="0"/>
              <a:t>Diffusion Across Membranes</a:t>
            </a:r>
          </a:p>
        </p:txBody>
      </p:sp>
      <p:sp>
        <p:nvSpPr>
          <p:cNvPr id="46082" name="Rectangle 2"/>
          <p:cNvSpPr>
            <a:spLocks noGrp="1" noChangeArrowheads="1"/>
          </p:cNvSpPr>
          <p:nvPr>
            <p:ph sz="quarter" idx="13"/>
          </p:nvPr>
        </p:nvSpPr>
        <p:spPr>
          <a:xfrm>
            <a:off x="591568" y="1231498"/>
            <a:ext cx="4970512" cy="5005814"/>
          </a:xfrm>
        </p:spPr>
        <p:txBody>
          <a:bodyPr>
            <a:normAutofit/>
          </a:bodyPr>
          <a:lstStyle/>
          <a:p>
            <a:r>
              <a:rPr lang="en-US" sz="1800" dirty="0"/>
              <a:t>In any type of diffusion, each type of diffusing molecule (gas, solvent, solute) moves along its own concentration gradient. </a:t>
            </a:r>
          </a:p>
          <a:p>
            <a:r>
              <a:rPr lang="en-US" sz="1800" dirty="0"/>
              <a:t>An equilibrium is reached when the net concentration of molecules on each side of the membrane are equal.</a:t>
            </a:r>
          </a:p>
          <a:p>
            <a:pPr lvl="1"/>
            <a:r>
              <a:rPr lang="en-US" sz="1800" dirty="0"/>
              <a:t>At this point, net movement stops.</a:t>
            </a:r>
          </a:p>
          <a:p>
            <a:r>
              <a:rPr lang="en-US" sz="1800" dirty="0"/>
              <a:t>Two-way diffusion across a partially permeable membrane is common in biological systems.</a:t>
            </a:r>
          </a:p>
          <a:p>
            <a:pPr lvl="1"/>
            <a:r>
              <a:rPr lang="en-US" sz="1800" dirty="0"/>
              <a:t>For example, at the lung surface, carbon dioxide diffuses out of the blood across the membranes of the capillaries and the lung alveoli, while oxygen diffuses in the opposite direction into the blood.</a:t>
            </a:r>
          </a:p>
        </p:txBody>
      </p:sp>
      <p:sp>
        <p:nvSpPr>
          <p:cNvPr id="46083" name="Rectangle 3"/>
          <p:cNvSpPr>
            <a:spLocks/>
          </p:cNvSpPr>
          <p:nvPr/>
        </p:nvSpPr>
        <p:spPr bwMode="auto">
          <a:xfrm>
            <a:off x="5757416" y="955476"/>
            <a:ext cx="2982516" cy="5179219"/>
          </a:xfrm>
          <a:prstGeom prst="rect">
            <a:avLst/>
          </a:prstGeom>
          <a:solidFill>
            <a:srgbClr val="67CBFF">
              <a:alpha val="48627"/>
            </a:srgbClr>
          </a:solidFill>
          <a:ln>
            <a:noFill/>
          </a:ln>
          <a:effectLst/>
          <a:extLst>
            <a:ext uri="{91240B29-F687-4F45-9708-019B960494DF}">
              <a14:hiddenLine xmlns:a14="http://schemas.microsoft.com/office/drawing/2010/main" w="25400">
                <a:solidFill>
                  <a:srgbClr val="6D381D"/>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291" tIns="32146" rIns="64291" bIns="32146"/>
          <a:lstStyle/>
          <a:p>
            <a:endParaRPr lang="en-AU"/>
          </a:p>
        </p:txBody>
      </p:sp>
      <p:grpSp>
        <p:nvGrpSpPr>
          <p:cNvPr id="46084" name="Group 4"/>
          <p:cNvGrpSpPr>
            <a:grpSpLocks/>
          </p:cNvGrpSpPr>
          <p:nvPr/>
        </p:nvGrpSpPr>
        <p:grpSpPr bwMode="auto">
          <a:xfrm rot="-5400000">
            <a:off x="4664646" y="3500437"/>
            <a:ext cx="5170289" cy="98227"/>
            <a:chOff x="0" y="0"/>
            <a:chExt cx="4632" cy="88"/>
          </a:xfrm>
        </p:grpSpPr>
        <p:sp>
          <p:nvSpPr>
            <p:cNvPr id="46085" name="Rectangle 5"/>
            <p:cNvSpPr>
              <a:spLocks/>
            </p:cNvSpPr>
            <p:nvPr/>
          </p:nvSpPr>
          <p:spPr bwMode="auto">
            <a:xfrm>
              <a:off x="0" y="0"/>
              <a:ext cx="294" cy="88"/>
            </a:xfrm>
            <a:prstGeom prst="rect">
              <a:avLst/>
            </a:prstGeom>
            <a:solidFill>
              <a:srgbClr val="0B7D3E"/>
            </a:solidFill>
            <a:ln w="25400">
              <a:solidFill>
                <a:srgbClr val="0B7D3E"/>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sp>
          <p:nvSpPr>
            <p:cNvPr id="46086" name="Rectangle 6"/>
            <p:cNvSpPr>
              <a:spLocks/>
            </p:cNvSpPr>
            <p:nvPr/>
          </p:nvSpPr>
          <p:spPr bwMode="auto">
            <a:xfrm>
              <a:off x="1084" y="0"/>
              <a:ext cx="295" cy="88"/>
            </a:xfrm>
            <a:prstGeom prst="rect">
              <a:avLst/>
            </a:prstGeom>
            <a:solidFill>
              <a:srgbClr val="0B7D3E"/>
            </a:solidFill>
            <a:ln w="25400">
              <a:solidFill>
                <a:srgbClr val="0B7D3E"/>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sp>
          <p:nvSpPr>
            <p:cNvPr id="46087" name="Rectangle 7"/>
            <p:cNvSpPr>
              <a:spLocks/>
            </p:cNvSpPr>
            <p:nvPr/>
          </p:nvSpPr>
          <p:spPr bwMode="auto">
            <a:xfrm>
              <a:off x="1626" y="0"/>
              <a:ext cx="295" cy="88"/>
            </a:xfrm>
            <a:prstGeom prst="rect">
              <a:avLst/>
            </a:prstGeom>
            <a:solidFill>
              <a:srgbClr val="0B7D3E"/>
            </a:solidFill>
            <a:ln w="25400">
              <a:solidFill>
                <a:srgbClr val="0B7D3E"/>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sp>
          <p:nvSpPr>
            <p:cNvPr id="46088" name="Rectangle 8"/>
            <p:cNvSpPr>
              <a:spLocks/>
            </p:cNvSpPr>
            <p:nvPr/>
          </p:nvSpPr>
          <p:spPr bwMode="auto">
            <a:xfrm>
              <a:off x="2710" y="0"/>
              <a:ext cx="295" cy="88"/>
            </a:xfrm>
            <a:prstGeom prst="rect">
              <a:avLst/>
            </a:prstGeom>
            <a:solidFill>
              <a:srgbClr val="0B7D3E"/>
            </a:solidFill>
            <a:ln w="25400">
              <a:solidFill>
                <a:srgbClr val="0B7D3E"/>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sp>
          <p:nvSpPr>
            <p:cNvPr id="46089" name="Rectangle 9"/>
            <p:cNvSpPr>
              <a:spLocks/>
            </p:cNvSpPr>
            <p:nvPr/>
          </p:nvSpPr>
          <p:spPr bwMode="auto">
            <a:xfrm>
              <a:off x="3795" y="0"/>
              <a:ext cx="294" cy="88"/>
            </a:xfrm>
            <a:prstGeom prst="rect">
              <a:avLst/>
            </a:prstGeom>
            <a:solidFill>
              <a:srgbClr val="0B7D3E"/>
            </a:solidFill>
            <a:ln w="25400">
              <a:solidFill>
                <a:srgbClr val="0B7D3E"/>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sp>
          <p:nvSpPr>
            <p:cNvPr id="46090" name="Rectangle 10"/>
            <p:cNvSpPr>
              <a:spLocks/>
            </p:cNvSpPr>
            <p:nvPr/>
          </p:nvSpPr>
          <p:spPr bwMode="auto">
            <a:xfrm>
              <a:off x="4337" y="0"/>
              <a:ext cx="295" cy="88"/>
            </a:xfrm>
            <a:prstGeom prst="rect">
              <a:avLst/>
            </a:prstGeom>
            <a:solidFill>
              <a:srgbClr val="0B7D3E"/>
            </a:solidFill>
            <a:ln w="25400">
              <a:solidFill>
                <a:srgbClr val="0B7D3E"/>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sp>
          <p:nvSpPr>
            <p:cNvPr id="46091" name="Rectangle 11"/>
            <p:cNvSpPr>
              <a:spLocks/>
            </p:cNvSpPr>
            <p:nvPr/>
          </p:nvSpPr>
          <p:spPr bwMode="auto">
            <a:xfrm>
              <a:off x="542" y="0"/>
              <a:ext cx="294" cy="88"/>
            </a:xfrm>
            <a:prstGeom prst="rect">
              <a:avLst/>
            </a:prstGeom>
            <a:solidFill>
              <a:srgbClr val="0B7D3E"/>
            </a:solidFill>
            <a:ln w="25400">
              <a:solidFill>
                <a:srgbClr val="0B7D3E"/>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sp>
          <p:nvSpPr>
            <p:cNvPr id="46092" name="Rectangle 12"/>
            <p:cNvSpPr>
              <a:spLocks/>
            </p:cNvSpPr>
            <p:nvPr/>
          </p:nvSpPr>
          <p:spPr bwMode="auto">
            <a:xfrm>
              <a:off x="2168" y="0"/>
              <a:ext cx="295" cy="88"/>
            </a:xfrm>
            <a:prstGeom prst="rect">
              <a:avLst/>
            </a:prstGeom>
            <a:solidFill>
              <a:srgbClr val="0B7D3E"/>
            </a:solidFill>
            <a:ln w="25400">
              <a:solidFill>
                <a:srgbClr val="0B7D3E"/>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sp>
          <p:nvSpPr>
            <p:cNvPr id="46093" name="Rectangle 13"/>
            <p:cNvSpPr>
              <a:spLocks/>
            </p:cNvSpPr>
            <p:nvPr/>
          </p:nvSpPr>
          <p:spPr bwMode="auto">
            <a:xfrm>
              <a:off x="3252" y="0"/>
              <a:ext cx="295" cy="88"/>
            </a:xfrm>
            <a:prstGeom prst="rect">
              <a:avLst/>
            </a:prstGeom>
            <a:solidFill>
              <a:srgbClr val="0B7D3E"/>
            </a:solidFill>
            <a:ln w="25400">
              <a:solidFill>
                <a:srgbClr val="0B7D3E"/>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grpSp>
      <p:sp>
        <p:nvSpPr>
          <p:cNvPr id="46094" name="Line 14"/>
          <p:cNvSpPr>
            <a:spLocks noChangeShapeType="1"/>
          </p:cNvSpPr>
          <p:nvPr/>
        </p:nvSpPr>
        <p:spPr bwMode="auto">
          <a:xfrm flipH="1">
            <a:off x="7007573" y="1929929"/>
            <a:ext cx="476622" cy="0"/>
          </a:xfrm>
          <a:prstGeom prst="line">
            <a:avLst/>
          </a:prstGeom>
          <a:noFill/>
          <a:ln w="50800">
            <a:solidFill>
              <a:srgbClr val="001BFF"/>
            </a:solidFill>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txBody>
          <a:bodyPr lIns="64291" tIns="32146" rIns="64291" bIns="32146"/>
          <a:lstStyle/>
          <a:p>
            <a:endParaRPr lang="en-AU"/>
          </a:p>
        </p:txBody>
      </p:sp>
      <p:sp>
        <p:nvSpPr>
          <p:cNvPr id="46095" name="Line 15"/>
          <p:cNvSpPr>
            <a:spLocks noChangeShapeType="1"/>
          </p:cNvSpPr>
          <p:nvPr/>
        </p:nvSpPr>
        <p:spPr bwMode="auto">
          <a:xfrm flipH="1">
            <a:off x="6681639" y="2952378"/>
            <a:ext cx="477738" cy="0"/>
          </a:xfrm>
          <a:prstGeom prst="line">
            <a:avLst/>
          </a:prstGeom>
          <a:noFill/>
          <a:ln w="50800">
            <a:solidFill>
              <a:srgbClr val="001BFF"/>
            </a:solidFill>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txBody>
          <a:bodyPr lIns="64291" tIns="32146" rIns="64291" bIns="32146"/>
          <a:lstStyle/>
          <a:p>
            <a:endParaRPr lang="en-AU"/>
          </a:p>
        </p:txBody>
      </p:sp>
      <p:sp>
        <p:nvSpPr>
          <p:cNvPr id="46096" name="Line 16"/>
          <p:cNvSpPr>
            <a:spLocks noChangeShapeType="1"/>
          </p:cNvSpPr>
          <p:nvPr/>
        </p:nvSpPr>
        <p:spPr bwMode="auto">
          <a:xfrm flipH="1">
            <a:off x="7119194" y="3797350"/>
            <a:ext cx="476622" cy="0"/>
          </a:xfrm>
          <a:prstGeom prst="line">
            <a:avLst/>
          </a:prstGeom>
          <a:noFill/>
          <a:ln w="50800">
            <a:solidFill>
              <a:srgbClr val="001BFF"/>
            </a:solidFill>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txBody>
          <a:bodyPr lIns="64291" tIns="32146" rIns="64291" bIns="32146"/>
          <a:lstStyle/>
          <a:p>
            <a:endParaRPr lang="en-AU"/>
          </a:p>
        </p:txBody>
      </p:sp>
      <p:sp>
        <p:nvSpPr>
          <p:cNvPr id="46097" name="Line 17"/>
          <p:cNvSpPr>
            <a:spLocks noChangeShapeType="1"/>
          </p:cNvSpPr>
          <p:nvPr/>
        </p:nvSpPr>
        <p:spPr bwMode="auto">
          <a:xfrm>
            <a:off x="7007573" y="5117828"/>
            <a:ext cx="476622" cy="0"/>
          </a:xfrm>
          <a:prstGeom prst="line">
            <a:avLst/>
          </a:prstGeom>
          <a:noFill/>
          <a:ln w="50800">
            <a:solidFill>
              <a:srgbClr val="FD1C00"/>
            </a:solidFill>
            <a:prstDash val="sysDot"/>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txBody>
          <a:bodyPr lIns="64291" tIns="32146" rIns="64291" bIns="32146"/>
          <a:lstStyle/>
          <a:p>
            <a:endParaRPr lang="en-AU"/>
          </a:p>
        </p:txBody>
      </p:sp>
      <p:sp>
        <p:nvSpPr>
          <p:cNvPr id="46098" name="Line 18"/>
          <p:cNvSpPr>
            <a:spLocks noChangeShapeType="1"/>
          </p:cNvSpPr>
          <p:nvPr/>
        </p:nvSpPr>
        <p:spPr bwMode="auto">
          <a:xfrm>
            <a:off x="7192863" y="4480471"/>
            <a:ext cx="477738" cy="0"/>
          </a:xfrm>
          <a:prstGeom prst="line">
            <a:avLst/>
          </a:prstGeom>
          <a:noFill/>
          <a:ln w="50800">
            <a:solidFill>
              <a:srgbClr val="FD1C00"/>
            </a:solidFill>
            <a:prstDash val="sysDot"/>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txBody>
          <a:bodyPr lIns="64291" tIns="32146" rIns="64291" bIns="32146"/>
          <a:lstStyle/>
          <a:p>
            <a:endParaRPr lang="en-AU"/>
          </a:p>
        </p:txBody>
      </p:sp>
      <p:sp>
        <p:nvSpPr>
          <p:cNvPr id="46099" name="Line 19"/>
          <p:cNvSpPr>
            <a:spLocks noChangeShapeType="1"/>
          </p:cNvSpPr>
          <p:nvPr/>
        </p:nvSpPr>
        <p:spPr bwMode="auto">
          <a:xfrm>
            <a:off x="7109148" y="2629793"/>
            <a:ext cx="476622" cy="0"/>
          </a:xfrm>
          <a:prstGeom prst="line">
            <a:avLst/>
          </a:prstGeom>
          <a:noFill/>
          <a:ln w="50800">
            <a:solidFill>
              <a:srgbClr val="FD1C00"/>
            </a:solidFill>
            <a:prstDash val="sysDot"/>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txBody>
          <a:bodyPr lIns="64291" tIns="32146" rIns="64291" bIns="32146"/>
          <a:lstStyle/>
          <a:p>
            <a:endParaRPr lang="en-AU"/>
          </a:p>
        </p:txBody>
      </p:sp>
      <p:sp>
        <p:nvSpPr>
          <p:cNvPr id="46100" name="Line 20"/>
          <p:cNvSpPr>
            <a:spLocks noChangeShapeType="1"/>
          </p:cNvSpPr>
          <p:nvPr/>
        </p:nvSpPr>
        <p:spPr bwMode="auto">
          <a:xfrm>
            <a:off x="7246441" y="6165949"/>
            <a:ext cx="0" cy="308074"/>
          </a:xfrm>
          <a:prstGeom prst="line">
            <a:avLst/>
          </a:prstGeom>
          <a:noFill/>
          <a:ln w="50800">
            <a:solidFill>
              <a:srgbClr val="FD1C00"/>
            </a:solidFill>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291" tIns="32146" rIns="64291" bIns="32146"/>
          <a:lstStyle/>
          <a:p>
            <a:endParaRPr lang="en-AU"/>
          </a:p>
        </p:txBody>
      </p:sp>
      <p:pic>
        <p:nvPicPr>
          <p:cNvPr id="46101" name="Picture 2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7392666" y="2954611"/>
            <a:ext cx="242217" cy="24221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pic>
        <p:nvPicPr>
          <p:cNvPr id="46102" name="Picture 2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5400000">
            <a:off x="8165083" y="2040434"/>
            <a:ext cx="242218" cy="24221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pic>
        <p:nvPicPr>
          <p:cNvPr id="46103" name="Picture 2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7392665" y="1252389"/>
            <a:ext cx="242218" cy="24221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pic>
        <p:nvPicPr>
          <p:cNvPr id="46104" name="Picture 2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8000442" y="4367175"/>
            <a:ext cx="242218" cy="2411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pic>
        <p:nvPicPr>
          <p:cNvPr id="46105" name="Picture 2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6798283" y="1814401"/>
            <a:ext cx="242217" cy="2411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pic>
        <p:nvPicPr>
          <p:cNvPr id="46106" name="Picture 2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6367425" y="2123592"/>
            <a:ext cx="241102" cy="2422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pic>
        <p:nvPicPr>
          <p:cNvPr id="46107" name="Picture 2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6541554" y="2836850"/>
            <a:ext cx="241102" cy="2422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pic>
        <p:nvPicPr>
          <p:cNvPr id="46108"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6900416" y="3681264"/>
            <a:ext cx="242218" cy="2422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pic>
        <p:nvPicPr>
          <p:cNvPr id="46109" name="Picture 2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7394898" y="3922366"/>
            <a:ext cx="242218" cy="24221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pic>
        <p:nvPicPr>
          <p:cNvPr id="46110" name="Picture 3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6096745" y="3789537"/>
            <a:ext cx="242217" cy="2422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pic>
        <p:nvPicPr>
          <p:cNvPr id="46111" name="Picture 3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6697266" y="4219277"/>
            <a:ext cx="242218" cy="2422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pic>
        <p:nvPicPr>
          <p:cNvPr id="46112" name="Picture 3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6096744" y="4632275"/>
            <a:ext cx="242218" cy="2422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pic>
        <p:nvPicPr>
          <p:cNvPr id="46113" name="Picture 3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6541554" y="5170847"/>
            <a:ext cx="241102" cy="2422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pic>
        <p:nvPicPr>
          <p:cNvPr id="46114" name="Picture 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5400000">
            <a:off x="7806222" y="3421745"/>
            <a:ext cx="241102" cy="24221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pic>
        <p:nvPicPr>
          <p:cNvPr id="46115" name="Picture 3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5400000">
            <a:off x="8001000" y="3922365"/>
            <a:ext cx="242218" cy="2422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pic>
        <p:nvPicPr>
          <p:cNvPr id="46116" name="Picture 3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5400000">
            <a:off x="7626511" y="4362710"/>
            <a:ext cx="242218" cy="2411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pic>
        <p:nvPicPr>
          <p:cNvPr id="46117" name="Picture 3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5400000">
            <a:off x="8001001" y="4827613"/>
            <a:ext cx="242217" cy="2422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pic>
        <p:nvPicPr>
          <p:cNvPr id="46118" name="Picture 3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5400000">
            <a:off x="7394898" y="4992812"/>
            <a:ext cx="242217" cy="24221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pic>
        <p:nvPicPr>
          <p:cNvPr id="46119" name="Picture 3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5400000">
            <a:off x="6213947" y="1252389"/>
            <a:ext cx="242218" cy="24221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pic>
        <p:nvPicPr>
          <p:cNvPr id="46120" name="Picture 4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5400000">
            <a:off x="6370216" y="3126507"/>
            <a:ext cx="241102" cy="2411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pic>
        <p:nvPicPr>
          <p:cNvPr id="46121" name="Picture 4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5400000">
            <a:off x="6542112" y="4524003"/>
            <a:ext cx="241102" cy="2411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pic>
        <p:nvPicPr>
          <p:cNvPr id="46122" name="Picture 4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5400000">
            <a:off x="7806222" y="1946114"/>
            <a:ext cx="241102" cy="24221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pic>
        <p:nvPicPr>
          <p:cNvPr id="46123" name="Picture 4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5400000">
            <a:off x="7704646" y="1165883"/>
            <a:ext cx="241102" cy="2422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pic>
        <p:nvPicPr>
          <p:cNvPr id="46124" name="Picture 4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5400000">
            <a:off x="7503170" y="2513707"/>
            <a:ext cx="242218" cy="2422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pic>
        <p:nvPicPr>
          <p:cNvPr id="46125" name="Picture 4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5400000">
            <a:off x="8001001" y="2954611"/>
            <a:ext cx="242217" cy="2422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pic>
        <p:nvPicPr>
          <p:cNvPr id="46126" name="Picture 4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5400000">
            <a:off x="8289541" y="3196270"/>
            <a:ext cx="242217" cy="2411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pic>
        <p:nvPicPr>
          <p:cNvPr id="46127" name="Picture 4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5400000">
            <a:off x="8165083" y="1439913"/>
            <a:ext cx="242218" cy="24221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pic>
        <p:nvPicPr>
          <p:cNvPr id="46128" name="Picture 4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5400000">
            <a:off x="7922866" y="2423294"/>
            <a:ext cx="242217" cy="2422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pic>
        <p:nvPicPr>
          <p:cNvPr id="46129" name="Picture 4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6096745" y="3423419"/>
            <a:ext cx="242217" cy="2422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pic>
        <p:nvPicPr>
          <p:cNvPr id="46130" name="Picture 5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6099535" y="2516498"/>
            <a:ext cx="241102" cy="2422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pic>
        <p:nvPicPr>
          <p:cNvPr id="46131" name="Picture 5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6101768" y="1689386"/>
            <a:ext cx="242217" cy="2411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pic>
        <p:nvPicPr>
          <p:cNvPr id="46132" name="Picture 5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5952195" y="5786996"/>
            <a:ext cx="241102" cy="2422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sp>
        <p:nvSpPr>
          <p:cNvPr id="46133" name="Rectangle 53"/>
          <p:cNvSpPr>
            <a:spLocks/>
          </p:cNvSpPr>
          <p:nvPr/>
        </p:nvSpPr>
        <p:spPr bwMode="auto">
          <a:xfrm>
            <a:off x="6096744" y="6438306"/>
            <a:ext cx="2404184" cy="2000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p>
            <a:pPr marL="80364">
              <a:tabLst>
                <a:tab pos="366104" algn="l"/>
              </a:tabLst>
            </a:pPr>
            <a:r>
              <a:rPr lang="en-US" sz="1300" dirty="0">
                <a:solidFill>
                  <a:srgbClr val="000000"/>
                </a:solidFill>
                <a:latin typeface="Arial" charset="0"/>
                <a:cs typeface="Arial" charset="0"/>
                <a:sym typeface="Arial" charset="0"/>
              </a:rPr>
              <a:t>Partially  permeable membrane</a:t>
            </a:r>
          </a:p>
        </p:txBody>
      </p:sp>
    </p:spTree>
    <p:extLst>
      <p:ext uri="{BB962C8B-B14F-4D97-AF65-F5344CB8AC3E}">
        <p14:creationId xmlns:p14="http://schemas.microsoft.com/office/powerpoint/2010/main" val="237640570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6082">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6082">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6082">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46082">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4608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2" grpId="0" build="p" bldLvl="5"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en-US"/>
              <a:t>Concentration gradient</a:t>
            </a:r>
          </a:p>
        </p:txBody>
      </p:sp>
      <p:sp>
        <p:nvSpPr>
          <p:cNvPr id="21508" name="Rectangle 4"/>
          <p:cNvSpPr>
            <a:spLocks noGrp="1" noChangeArrowheads="1"/>
          </p:cNvSpPr>
          <p:nvPr>
            <p:ph type="body" sz="half" idx="1"/>
          </p:nvPr>
        </p:nvSpPr>
        <p:spPr/>
        <p:txBody>
          <a:bodyPr>
            <a:normAutofit/>
          </a:bodyPr>
          <a:lstStyle/>
          <a:p>
            <a:r>
              <a:rPr lang="en-US" sz="1800" dirty="0"/>
              <a:t>When the concentration of a substance is different at two places, the substance will diffuse along the concentration gradient until the concentration of the two areas becomes equal. </a:t>
            </a:r>
          </a:p>
        </p:txBody>
      </p:sp>
      <p:pic>
        <p:nvPicPr>
          <p:cNvPr id="21510" name="Picture 6" descr="Silicon_Cu_precipitation_mag_50x"/>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2123728" y="2852936"/>
            <a:ext cx="4698743" cy="3524058"/>
          </a:xfrm>
        </p:spPr>
      </p:pic>
      <p:sp>
        <p:nvSpPr>
          <p:cNvPr id="21511" name="Line 7"/>
          <p:cNvSpPr>
            <a:spLocks noChangeShapeType="1"/>
          </p:cNvSpPr>
          <p:nvPr/>
        </p:nvSpPr>
        <p:spPr bwMode="auto">
          <a:xfrm>
            <a:off x="2483297" y="3138590"/>
            <a:ext cx="4176712" cy="2952750"/>
          </a:xfrm>
          <a:prstGeom prst="line">
            <a:avLst/>
          </a:prstGeom>
          <a:noFill/>
          <a:ln w="571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Arial" charset="0"/>
              <a:ea typeface="ＭＳ Ｐゴシック" charset="0"/>
            </a:endParaRPr>
          </a:p>
        </p:txBody>
      </p:sp>
      <p:sp>
        <p:nvSpPr>
          <p:cNvPr id="21512" name="Text Box 8"/>
          <p:cNvSpPr txBox="1">
            <a:spLocks noChangeArrowheads="1"/>
          </p:cNvSpPr>
          <p:nvPr/>
        </p:nvSpPr>
        <p:spPr bwMode="auto">
          <a:xfrm>
            <a:off x="3017989" y="4435180"/>
            <a:ext cx="17272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spcBef>
                <a:spcPct val="50000"/>
              </a:spcBef>
              <a:defRPr/>
            </a:pPr>
            <a:r>
              <a:rPr lang="en-US" sz="2400" b="1" dirty="0">
                <a:solidFill>
                  <a:srgbClr val="FF0000"/>
                </a:solidFill>
                <a:latin typeface="Arial" charset="0"/>
                <a:ea typeface="ＭＳ Ｐゴシック" charset="0"/>
              </a:rPr>
              <a:t>Diffusion gradient</a:t>
            </a:r>
          </a:p>
        </p:txBody>
      </p:sp>
      <p:sp>
        <p:nvSpPr>
          <p:cNvPr id="21514" name="Text Box 10"/>
          <p:cNvSpPr txBox="1">
            <a:spLocks noChangeArrowheads="1"/>
          </p:cNvSpPr>
          <p:nvPr/>
        </p:nvSpPr>
        <p:spPr bwMode="auto">
          <a:xfrm>
            <a:off x="2987824" y="2851004"/>
            <a:ext cx="2230437"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spcBef>
                <a:spcPct val="50000"/>
              </a:spcBef>
              <a:defRPr/>
            </a:pPr>
            <a:r>
              <a:rPr lang="en-US" sz="2400" b="1" dirty="0">
                <a:solidFill>
                  <a:srgbClr val="FF0000"/>
                </a:solidFill>
                <a:latin typeface="Arial" charset="0"/>
                <a:ea typeface="ＭＳ Ｐゴシック" charset="0"/>
              </a:rPr>
              <a:t>High concentration</a:t>
            </a:r>
          </a:p>
        </p:txBody>
      </p:sp>
      <p:sp>
        <p:nvSpPr>
          <p:cNvPr id="21515" name="Text Box 11"/>
          <p:cNvSpPr txBox="1">
            <a:spLocks noChangeArrowheads="1"/>
          </p:cNvSpPr>
          <p:nvPr/>
        </p:nvSpPr>
        <p:spPr bwMode="auto">
          <a:xfrm>
            <a:off x="3851722" y="5588102"/>
            <a:ext cx="230346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r">
              <a:spcBef>
                <a:spcPct val="50000"/>
              </a:spcBef>
              <a:defRPr/>
            </a:pPr>
            <a:r>
              <a:rPr lang="en-US" sz="2400" b="1" dirty="0">
                <a:solidFill>
                  <a:srgbClr val="FF0000"/>
                </a:solidFill>
                <a:latin typeface="Arial" charset="0"/>
                <a:ea typeface="ＭＳ Ｐゴシック" charset="0"/>
              </a:rPr>
              <a:t>Low concentration</a:t>
            </a:r>
          </a:p>
        </p:txBody>
      </p:sp>
    </p:spTree>
    <p:extLst>
      <p:ext uri="{BB962C8B-B14F-4D97-AF65-F5344CB8AC3E}">
        <p14:creationId xmlns:p14="http://schemas.microsoft.com/office/powerpoint/2010/main" val="18919673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2" name="Line 6"/>
          <p:cNvSpPr>
            <a:spLocks noChangeShapeType="1"/>
          </p:cNvSpPr>
          <p:nvPr/>
        </p:nvSpPr>
        <p:spPr bwMode="auto">
          <a:xfrm>
            <a:off x="1908175" y="1412875"/>
            <a:ext cx="0" cy="1871663"/>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Arial" charset="0"/>
              <a:ea typeface="ＭＳ Ｐゴシック" charset="0"/>
            </a:endParaRPr>
          </a:p>
        </p:txBody>
      </p:sp>
      <p:sp>
        <p:nvSpPr>
          <p:cNvPr id="29703" name="Line 7"/>
          <p:cNvSpPr>
            <a:spLocks noChangeShapeType="1"/>
          </p:cNvSpPr>
          <p:nvPr/>
        </p:nvSpPr>
        <p:spPr bwMode="auto">
          <a:xfrm>
            <a:off x="1979613" y="6237288"/>
            <a:ext cx="482441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Arial" charset="0"/>
              <a:ea typeface="ＭＳ Ｐゴシック" charset="0"/>
            </a:endParaRPr>
          </a:p>
        </p:txBody>
      </p:sp>
      <p:sp>
        <p:nvSpPr>
          <p:cNvPr id="29704" name="Line 8"/>
          <p:cNvSpPr>
            <a:spLocks noChangeShapeType="1"/>
          </p:cNvSpPr>
          <p:nvPr/>
        </p:nvSpPr>
        <p:spPr bwMode="auto">
          <a:xfrm>
            <a:off x="1908175" y="4868863"/>
            <a:ext cx="482441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Arial" charset="0"/>
              <a:ea typeface="ＭＳ Ｐゴシック" charset="0"/>
            </a:endParaRPr>
          </a:p>
        </p:txBody>
      </p:sp>
      <p:sp>
        <p:nvSpPr>
          <p:cNvPr id="29705" name="Line 9"/>
          <p:cNvSpPr>
            <a:spLocks noChangeShapeType="1"/>
          </p:cNvSpPr>
          <p:nvPr/>
        </p:nvSpPr>
        <p:spPr bwMode="auto">
          <a:xfrm>
            <a:off x="1907380" y="3284538"/>
            <a:ext cx="482441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Arial" charset="0"/>
              <a:ea typeface="ＭＳ Ｐゴシック" charset="0"/>
            </a:endParaRPr>
          </a:p>
        </p:txBody>
      </p:sp>
      <p:sp>
        <p:nvSpPr>
          <p:cNvPr id="29706" name="Line 10"/>
          <p:cNvSpPr>
            <a:spLocks noChangeShapeType="1"/>
          </p:cNvSpPr>
          <p:nvPr/>
        </p:nvSpPr>
        <p:spPr bwMode="auto">
          <a:xfrm>
            <a:off x="1908175" y="3500438"/>
            <a:ext cx="0" cy="1368425"/>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Arial" charset="0"/>
              <a:ea typeface="ＭＳ Ｐゴシック" charset="0"/>
            </a:endParaRPr>
          </a:p>
        </p:txBody>
      </p:sp>
      <p:sp>
        <p:nvSpPr>
          <p:cNvPr id="29707" name="Line 11"/>
          <p:cNvSpPr>
            <a:spLocks noChangeShapeType="1"/>
          </p:cNvSpPr>
          <p:nvPr/>
        </p:nvSpPr>
        <p:spPr bwMode="auto">
          <a:xfrm>
            <a:off x="6732588" y="4365625"/>
            <a:ext cx="0" cy="503238"/>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Arial" charset="0"/>
              <a:ea typeface="ＭＳ Ｐゴシック" charset="0"/>
            </a:endParaRPr>
          </a:p>
        </p:txBody>
      </p:sp>
      <p:sp>
        <p:nvSpPr>
          <p:cNvPr id="29708" name="Line 12"/>
          <p:cNvSpPr>
            <a:spLocks noChangeShapeType="1"/>
          </p:cNvSpPr>
          <p:nvPr/>
        </p:nvSpPr>
        <p:spPr bwMode="auto">
          <a:xfrm>
            <a:off x="1979613" y="5373688"/>
            <a:ext cx="0" cy="863600"/>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Arial" charset="0"/>
              <a:ea typeface="ＭＳ Ｐゴシック" charset="0"/>
            </a:endParaRPr>
          </a:p>
        </p:txBody>
      </p:sp>
      <p:sp>
        <p:nvSpPr>
          <p:cNvPr id="29710" name="Line 14"/>
          <p:cNvSpPr>
            <a:spLocks noChangeShapeType="1"/>
          </p:cNvSpPr>
          <p:nvPr/>
        </p:nvSpPr>
        <p:spPr bwMode="auto">
          <a:xfrm>
            <a:off x="6804025" y="5373688"/>
            <a:ext cx="0" cy="863600"/>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Arial" charset="0"/>
              <a:ea typeface="ＭＳ Ｐゴシック" charset="0"/>
            </a:endParaRPr>
          </a:p>
        </p:txBody>
      </p:sp>
      <p:sp>
        <p:nvSpPr>
          <p:cNvPr id="29711" name="Line 15"/>
          <p:cNvSpPr>
            <a:spLocks noChangeShapeType="1"/>
          </p:cNvSpPr>
          <p:nvPr/>
        </p:nvSpPr>
        <p:spPr bwMode="auto">
          <a:xfrm>
            <a:off x="1979613" y="5373688"/>
            <a:ext cx="4824412" cy="0"/>
          </a:xfrm>
          <a:prstGeom prst="line">
            <a:avLst/>
          </a:prstGeom>
          <a:noFill/>
          <a:ln w="28575">
            <a:solidFill>
              <a:schemeClr val="tx1"/>
            </a:solidFill>
            <a:prstDash val="dash"/>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Arial" charset="0"/>
              <a:ea typeface="ＭＳ Ｐゴシック" charset="0"/>
            </a:endParaRPr>
          </a:p>
        </p:txBody>
      </p:sp>
      <p:sp>
        <p:nvSpPr>
          <p:cNvPr id="29712" name="Line 16"/>
          <p:cNvSpPr>
            <a:spLocks noChangeShapeType="1"/>
          </p:cNvSpPr>
          <p:nvPr/>
        </p:nvSpPr>
        <p:spPr bwMode="auto">
          <a:xfrm>
            <a:off x="1908175" y="3500438"/>
            <a:ext cx="4824413" cy="865187"/>
          </a:xfrm>
          <a:prstGeom prst="line">
            <a:avLst/>
          </a:prstGeom>
          <a:noFill/>
          <a:ln w="28575">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Arial" charset="0"/>
              <a:ea typeface="ＭＳ Ｐゴシック" charset="0"/>
            </a:endParaRPr>
          </a:p>
        </p:txBody>
      </p:sp>
      <p:sp>
        <p:nvSpPr>
          <p:cNvPr id="29713" name="Line 17"/>
          <p:cNvSpPr>
            <a:spLocks noChangeShapeType="1"/>
          </p:cNvSpPr>
          <p:nvPr/>
        </p:nvSpPr>
        <p:spPr bwMode="auto">
          <a:xfrm>
            <a:off x="1908175" y="1412875"/>
            <a:ext cx="4824413" cy="1871663"/>
          </a:xfrm>
          <a:prstGeom prst="line">
            <a:avLst/>
          </a:prstGeom>
          <a:noFill/>
          <a:ln w="28575">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Arial" charset="0"/>
              <a:ea typeface="ＭＳ Ｐゴシック" charset="0"/>
            </a:endParaRPr>
          </a:p>
        </p:txBody>
      </p:sp>
      <p:sp>
        <p:nvSpPr>
          <p:cNvPr id="29714" name="Text Box 18"/>
          <p:cNvSpPr txBox="1">
            <a:spLocks noChangeArrowheads="1"/>
          </p:cNvSpPr>
          <p:nvPr/>
        </p:nvSpPr>
        <p:spPr bwMode="auto">
          <a:xfrm>
            <a:off x="0" y="1844675"/>
            <a:ext cx="1871663" cy="792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prstDash val="dash"/>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r">
              <a:spcBef>
                <a:spcPct val="50000"/>
              </a:spcBef>
              <a:defRPr/>
            </a:pPr>
            <a:r>
              <a:rPr lang="en-US" sz="2200">
                <a:latin typeface="Arial" charset="0"/>
                <a:ea typeface="ＭＳ Ｐゴシック" charset="0"/>
              </a:rPr>
              <a:t>High</a:t>
            </a:r>
            <a:r>
              <a:rPr lang="en-US" sz="2400">
                <a:latin typeface="Arial" charset="0"/>
                <a:ea typeface="ＭＳ Ｐゴシック" charset="0"/>
              </a:rPr>
              <a:t> </a:t>
            </a:r>
            <a:r>
              <a:rPr lang="en-US" sz="2200">
                <a:latin typeface="Arial" charset="0"/>
                <a:ea typeface="ＭＳ Ｐゴシック" charset="0"/>
              </a:rPr>
              <a:t>concentration</a:t>
            </a:r>
          </a:p>
        </p:txBody>
      </p:sp>
      <p:sp>
        <p:nvSpPr>
          <p:cNvPr id="29715" name="Text Box 19"/>
          <p:cNvSpPr txBox="1">
            <a:spLocks noChangeArrowheads="1"/>
          </p:cNvSpPr>
          <p:nvPr/>
        </p:nvSpPr>
        <p:spPr bwMode="auto">
          <a:xfrm>
            <a:off x="6732588" y="2565400"/>
            <a:ext cx="2052637" cy="762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prstDash val="dash"/>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spcBef>
                <a:spcPct val="50000"/>
              </a:spcBef>
              <a:defRPr/>
            </a:pPr>
            <a:r>
              <a:rPr lang="en-US" sz="2200" b="1" dirty="0">
                <a:latin typeface="Arial" charset="0"/>
                <a:ea typeface="ＭＳ Ｐゴシック" charset="0"/>
              </a:rPr>
              <a:t>Low concentration</a:t>
            </a:r>
          </a:p>
        </p:txBody>
      </p:sp>
      <p:sp>
        <p:nvSpPr>
          <p:cNvPr id="29716" name="Text Box 20"/>
          <p:cNvSpPr txBox="1">
            <a:spLocks noChangeArrowheads="1"/>
          </p:cNvSpPr>
          <p:nvPr/>
        </p:nvSpPr>
        <p:spPr bwMode="auto">
          <a:xfrm>
            <a:off x="3097212" y="1228892"/>
            <a:ext cx="3006627"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prstDash val="dash"/>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a:spcBef>
                <a:spcPct val="50000"/>
              </a:spcBef>
              <a:defRPr/>
            </a:pPr>
            <a:r>
              <a:rPr lang="en-US" sz="2000" b="1" dirty="0">
                <a:latin typeface="Arial" charset="0"/>
                <a:ea typeface="ＭＳ Ｐゴシック" charset="0"/>
              </a:rPr>
              <a:t>Steep diffusion gradient = higher rate of diffusion</a:t>
            </a:r>
          </a:p>
        </p:txBody>
      </p:sp>
      <p:sp>
        <p:nvSpPr>
          <p:cNvPr id="29717" name="Text Box 21"/>
          <p:cNvSpPr txBox="1">
            <a:spLocks noChangeArrowheads="1"/>
          </p:cNvSpPr>
          <p:nvPr/>
        </p:nvSpPr>
        <p:spPr bwMode="auto">
          <a:xfrm>
            <a:off x="539750" y="1196975"/>
            <a:ext cx="12604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prstDash val="dash"/>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sz="2400" b="1">
                <a:latin typeface="Arial" charset="0"/>
                <a:ea typeface="ＭＳ Ｐゴシック" charset="0"/>
              </a:rPr>
              <a:t>1</a:t>
            </a:r>
          </a:p>
        </p:txBody>
      </p:sp>
      <p:sp>
        <p:nvSpPr>
          <p:cNvPr id="29718" name="Text Box 22"/>
          <p:cNvSpPr txBox="1">
            <a:spLocks noChangeArrowheads="1"/>
          </p:cNvSpPr>
          <p:nvPr/>
        </p:nvSpPr>
        <p:spPr bwMode="auto">
          <a:xfrm>
            <a:off x="539750" y="3692525"/>
            <a:ext cx="12604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prstDash val="dash"/>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sz="2400" b="1">
                <a:latin typeface="Arial" charset="0"/>
                <a:ea typeface="ＭＳ Ｐゴシック" charset="0"/>
              </a:rPr>
              <a:t>2</a:t>
            </a:r>
          </a:p>
        </p:txBody>
      </p:sp>
      <p:sp>
        <p:nvSpPr>
          <p:cNvPr id="29719" name="Text Box 23"/>
          <p:cNvSpPr txBox="1">
            <a:spLocks noChangeArrowheads="1"/>
          </p:cNvSpPr>
          <p:nvPr/>
        </p:nvSpPr>
        <p:spPr bwMode="auto">
          <a:xfrm>
            <a:off x="539750" y="5348288"/>
            <a:ext cx="12604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prstDash val="dash"/>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sz="2400" b="1">
                <a:latin typeface="Arial" charset="0"/>
                <a:ea typeface="ＭＳ Ｐゴシック" charset="0"/>
              </a:rPr>
              <a:t>3</a:t>
            </a:r>
          </a:p>
        </p:txBody>
      </p:sp>
      <p:sp>
        <p:nvSpPr>
          <p:cNvPr id="29720" name="AutoShape 24"/>
          <p:cNvSpPr>
            <a:spLocks noChangeArrowheads="1"/>
          </p:cNvSpPr>
          <p:nvPr/>
        </p:nvSpPr>
        <p:spPr bwMode="auto">
          <a:xfrm rot="1108188">
            <a:off x="3132138" y="2349500"/>
            <a:ext cx="1223962" cy="287338"/>
          </a:xfrm>
          <a:prstGeom prst="chevron">
            <a:avLst>
              <a:gd name="adj" fmla="val 106491"/>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29722" name="AutoShape 26"/>
          <p:cNvSpPr>
            <a:spLocks noChangeArrowheads="1"/>
          </p:cNvSpPr>
          <p:nvPr/>
        </p:nvSpPr>
        <p:spPr bwMode="auto">
          <a:xfrm rot="467368">
            <a:off x="3492500" y="4076700"/>
            <a:ext cx="1223963" cy="287338"/>
          </a:xfrm>
          <a:prstGeom prst="chevron">
            <a:avLst>
              <a:gd name="adj" fmla="val 106492"/>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29723" name="AutoShape 27"/>
          <p:cNvSpPr>
            <a:spLocks noChangeArrowheads="1"/>
          </p:cNvSpPr>
          <p:nvPr/>
        </p:nvSpPr>
        <p:spPr bwMode="auto">
          <a:xfrm>
            <a:off x="3851275" y="5589588"/>
            <a:ext cx="936625" cy="360362"/>
          </a:xfrm>
          <a:prstGeom prst="leftRightArrow">
            <a:avLst>
              <a:gd name="adj1" fmla="val 50000"/>
              <a:gd name="adj2" fmla="val 51982"/>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Arial" charset="0"/>
              <a:ea typeface="ＭＳ Ｐゴシック" charset="0"/>
            </a:endParaRPr>
          </a:p>
        </p:txBody>
      </p:sp>
      <p:sp>
        <p:nvSpPr>
          <p:cNvPr id="29724" name="Text Box 28"/>
          <p:cNvSpPr txBox="1">
            <a:spLocks noChangeArrowheads="1"/>
          </p:cNvSpPr>
          <p:nvPr/>
        </p:nvSpPr>
        <p:spPr bwMode="auto">
          <a:xfrm>
            <a:off x="3492500" y="6021388"/>
            <a:ext cx="2016125" cy="701675"/>
          </a:xfrm>
          <a:prstGeom prst="rect">
            <a:avLst/>
          </a:prstGeom>
          <a:solidFill>
            <a:schemeClr val="bg1"/>
          </a:solidFill>
          <a:ln>
            <a:noFill/>
          </a:ln>
          <a:effectLst/>
          <a:extLst>
            <a:ext uri="{91240B29-F687-4F45-9708-019B960494DF}">
              <a14:hiddenLine xmlns:a14="http://schemas.microsoft.com/office/drawing/2010/main" w="28575">
                <a:solidFill>
                  <a:schemeClr val="tx1"/>
                </a:solidFill>
                <a:prstDash val="dash"/>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b="1">
                <a:latin typeface="Arial" charset="0"/>
                <a:ea typeface="ＭＳ Ｐゴシック" charset="0"/>
              </a:rPr>
              <a:t>Uniform concentration</a:t>
            </a:r>
          </a:p>
        </p:txBody>
      </p:sp>
      <p:sp>
        <p:nvSpPr>
          <p:cNvPr id="29725" name="Text Box 29"/>
          <p:cNvSpPr txBox="1">
            <a:spLocks noChangeArrowheads="1"/>
          </p:cNvSpPr>
          <p:nvPr/>
        </p:nvSpPr>
        <p:spPr bwMode="auto">
          <a:xfrm>
            <a:off x="3495336" y="4951413"/>
            <a:ext cx="1943100" cy="396875"/>
          </a:xfrm>
          <a:prstGeom prst="rect">
            <a:avLst/>
          </a:prstGeom>
          <a:solidFill>
            <a:schemeClr val="bg1"/>
          </a:solidFill>
          <a:ln>
            <a:noFill/>
          </a:ln>
          <a:effectLst/>
          <a:extLst>
            <a:ext uri="{91240B29-F687-4F45-9708-019B960494DF}">
              <a14:hiddenLine xmlns:a14="http://schemas.microsoft.com/office/drawing/2010/main" w="28575">
                <a:solidFill>
                  <a:schemeClr val="tx1"/>
                </a:solidFill>
                <a:prstDash val="dash"/>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b="1" dirty="0">
                <a:latin typeface="Arial" charset="0"/>
                <a:ea typeface="ＭＳ Ｐゴシック" charset="0"/>
              </a:rPr>
              <a:t>Equilibrium</a:t>
            </a:r>
          </a:p>
        </p:txBody>
      </p:sp>
      <p:sp>
        <p:nvSpPr>
          <p:cNvPr id="29726" name="Text Box 30"/>
          <p:cNvSpPr txBox="1">
            <a:spLocks noChangeArrowheads="1"/>
          </p:cNvSpPr>
          <p:nvPr/>
        </p:nvSpPr>
        <p:spPr bwMode="auto">
          <a:xfrm rot="608826">
            <a:off x="2918869" y="3706054"/>
            <a:ext cx="4116387" cy="400110"/>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28575">
                <a:solidFill>
                  <a:schemeClr val="tx1"/>
                </a:solidFill>
                <a:prstDash val="dash"/>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sz="2000" b="1" dirty="0">
                <a:latin typeface="Arial" charset="0"/>
                <a:ea typeface="ＭＳ Ｐゴシック" charset="0"/>
              </a:rPr>
              <a:t>Rate of diffusion slows</a:t>
            </a:r>
          </a:p>
        </p:txBody>
      </p:sp>
      <p:sp>
        <p:nvSpPr>
          <p:cNvPr id="29727" name="Text Box 31"/>
          <p:cNvSpPr txBox="1">
            <a:spLocks noChangeArrowheads="1"/>
          </p:cNvSpPr>
          <p:nvPr/>
        </p:nvSpPr>
        <p:spPr bwMode="auto">
          <a:xfrm>
            <a:off x="611188" y="188913"/>
            <a:ext cx="2376487" cy="822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prstDash val="dash"/>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sz="2400" b="1">
                <a:solidFill>
                  <a:srgbClr val="CC00CC"/>
                </a:solidFill>
                <a:latin typeface="Arial" charset="0"/>
                <a:ea typeface="ＭＳ Ｐゴシック" charset="0"/>
              </a:rPr>
              <a:t>Concentration at A</a:t>
            </a:r>
          </a:p>
        </p:txBody>
      </p:sp>
      <p:sp>
        <p:nvSpPr>
          <p:cNvPr id="29728" name="Text Box 32"/>
          <p:cNvSpPr txBox="1">
            <a:spLocks noChangeArrowheads="1"/>
          </p:cNvSpPr>
          <p:nvPr/>
        </p:nvSpPr>
        <p:spPr bwMode="auto">
          <a:xfrm>
            <a:off x="5219700" y="266700"/>
            <a:ext cx="2376488" cy="822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prstDash val="dash"/>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sz="2400" b="1">
                <a:solidFill>
                  <a:srgbClr val="CC00CC"/>
                </a:solidFill>
                <a:latin typeface="Arial" charset="0"/>
                <a:ea typeface="ＭＳ Ｐゴシック" charset="0"/>
              </a:rPr>
              <a:t>Concentration at B</a:t>
            </a:r>
          </a:p>
        </p:txBody>
      </p:sp>
      <p:sp>
        <p:nvSpPr>
          <p:cNvPr id="29729" name="Line 33"/>
          <p:cNvSpPr>
            <a:spLocks noChangeShapeType="1"/>
          </p:cNvSpPr>
          <p:nvPr/>
        </p:nvSpPr>
        <p:spPr bwMode="auto">
          <a:xfrm>
            <a:off x="1908175" y="981075"/>
            <a:ext cx="0" cy="360363"/>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Arial" charset="0"/>
              <a:ea typeface="ＭＳ Ｐゴシック" charset="0"/>
            </a:endParaRPr>
          </a:p>
        </p:txBody>
      </p:sp>
      <p:sp>
        <p:nvSpPr>
          <p:cNvPr id="29730" name="Line 34"/>
          <p:cNvSpPr>
            <a:spLocks noChangeShapeType="1"/>
          </p:cNvSpPr>
          <p:nvPr/>
        </p:nvSpPr>
        <p:spPr bwMode="auto">
          <a:xfrm>
            <a:off x="6443663" y="1123950"/>
            <a:ext cx="0" cy="360363"/>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Arial" charset="0"/>
              <a:ea typeface="ＭＳ Ｐゴシック" charset="0"/>
            </a:endParaRPr>
          </a:p>
        </p:txBody>
      </p:sp>
    </p:spTree>
    <p:extLst>
      <p:ext uri="{BB962C8B-B14F-4D97-AF65-F5344CB8AC3E}">
        <p14:creationId xmlns:p14="http://schemas.microsoft.com/office/powerpoint/2010/main" val="10237379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ChangeArrowheads="1"/>
          </p:cNvSpPr>
          <p:nvPr/>
        </p:nvSpPr>
        <p:spPr bwMode="auto">
          <a:xfrm>
            <a:off x="2157413" y="2362200"/>
            <a:ext cx="381000" cy="30480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15363" name="Rectangle 3"/>
          <p:cNvSpPr>
            <a:spLocks noGrp="1" noChangeArrowheads="1"/>
          </p:cNvSpPr>
          <p:nvPr>
            <p:ph type="title"/>
          </p:nvPr>
        </p:nvSpPr>
        <p:spPr/>
        <p:txBody>
          <a:bodyPr>
            <a:normAutofit fontScale="90000"/>
          </a:bodyPr>
          <a:lstStyle/>
          <a:p>
            <a:r>
              <a:rPr lang="en-US" dirty="0"/>
              <a:t>Simple Diffusion</a:t>
            </a:r>
            <a:br>
              <a:rPr lang="en-US" dirty="0"/>
            </a:br>
            <a:r>
              <a:rPr lang="en-US" sz="2200" dirty="0"/>
              <a:t>- The movement of molecules along a concentration gradient without the assistance of membrane proteins.</a:t>
            </a:r>
            <a:r>
              <a:rPr lang="en-US" dirty="0"/>
              <a:t> </a:t>
            </a:r>
          </a:p>
        </p:txBody>
      </p:sp>
      <p:pic>
        <p:nvPicPr>
          <p:cNvPr id="15365" name="Picture 5"/>
          <p:cNvPicPr>
            <a:picLocks noChangeAspect="1" noChangeArrowheads="1"/>
          </p:cNvPicPr>
          <p:nvPr/>
        </p:nvPicPr>
        <p:blipFill>
          <a:blip r:embed="rId5">
            <a:extLst>
              <a:ext uri="{28A0092B-C50C-407E-A947-70E740481C1C}">
                <a14:useLocalDpi xmlns:a14="http://schemas.microsoft.com/office/drawing/2010/main" val="0"/>
              </a:ext>
            </a:extLst>
          </a:blip>
          <a:srcRect l="29604" t="49200" r="1057" b="7201"/>
          <a:stretch>
            <a:fillRect/>
          </a:stretch>
        </p:blipFill>
        <p:spPr bwMode="auto">
          <a:xfrm>
            <a:off x="2514600" y="2819400"/>
            <a:ext cx="4235450" cy="2344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6" name="Rectangle 6"/>
          <p:cNvSpPr>
            <a:spLocks noChangeArrowheads="1"/>
          </p:cNvSpPr>
          <p:nvPr/>
        </p:nvSpPr>
        <p:spPr bwMode="auto">
          <a:xfrm>
            <a:off x="1371600" y="2514600"/>
            <a:ext cx="5638800" cy="457200"/>
          </a:xfrm>
          <a:prstGeom prst="rect">
            <a:avLst/>
          </a:prstGeom>
          <a:solidFill>
            <a:srgbClr val="98D7F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l"/>
            <a:r>
              <a:rPr lang="en-US" b="1">
                <a:solidFill>
                  <a:srgbClr val="0F116A"/>
                </a:solidFill>
              </a:rPr>
              <a:t>inside cell</a:t>
            </a:r>
          </a:p>
        </p:txBody>
      </p:sp>
      <p:sp>
        <p:nvSpPr>
          <p:cNvPr id="15367" name="Rectangle 7"/>
          <p:cNvSpPr>
            <a:spLocks noChangeArrowheads="1"/>
          </p:cNvSpPr>
          <p:nvPr/>
        </p:nvSpPr>
        <p:spPr bwMode="auto">
          <a:xfrm>
            <a:off x="1371600" y="4953000"/>
            <a:ext cx="5638800" cy="457200"/>
          </a:xfrm>
          <a:prstGeom prst="rect">
            <a:avLst/>
          </a:prstGeom>
          <a:solidFill>
            <a:srgbClr val="98D7F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l"/>
            <a:r>
              <a:rPr lang="en-US" b="1">
                <a:solidFill>
                  <a:srgbClr val="0F116A"/>
                </a:solidFill>
              </a:rPr>
              <a:t>outside cell</a:t>
            </a:r>
          </a:p>
        </p:txBody>
      </p:sp>
      <p:sp>
        <p:nvSpPr>
          <p:cNvPr id="15368" name="Rectangle 8"/>
          <p:cNvSpPr>
            <a:spLocks noChangeArrowheads="1"/>
          </p:cNvSpPr>
          <p:nvPr/>
        </p:nvSpPr>
        <p:spPr bwMode="auto">
          <a:xfrm>
            <a:off x="6700838" y="2362200"/>
            <a:ext cx="381000" cy="30480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15369" name="Rectangle 9"/>
          <p:cNvSpPr>
            <a:spLocks noChangeArrowheads="1"/>
          </p:cNvSpPr>
          <p:nvPr/>
        </p:nvSpPr>
        <p:spPr bwMode="auto">
          <a:xfrm>
            <a:off x="6858000" y="1791325"/>
            <a:ext cx="2133600" cy="1446550"/>
          </a:xfrm>
          <a:prstGeom prst="rect">
            <a:avLst/>
          </a:prstGeom>
          <a:noFill/>
          <a:ln>
            <a:noFill/>
          </a:ln>
          <a:effectLst/>
          <a:extLst>
            <a:ext uri="{909E8E84-426E-40DD-AFC4-6F175D3DCCD1}">
              <a14:hiddenFill xmlns:a14="http://schemas.microsoft.com/office/drawing/2010/main">
                <a:solidFill>
                  <a:srgbClr val="FFEA18"/>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l"/>
            <a:r>
              <a:rPr lang="en-US" sz="2200" dirty="0">
                <a:solidFill>
                  <a:srgbClr val="0F116A"/>
                </a:solidFill>
              </a:rPr>
              <a:t>Which way will the fat molecules move?</a:t>
            </a:r>
            <a:endParaRPr lang="en-US" sz="3000" dirty="0">
              <a:solidFill>
                <a:srgbClr val="0F116A"/>
              </a:solidFill>
            </a:endParaRPr>
          </a:p>
        </p:txBody>
      </p:sp>
      <p:sp>
        <p:nvSpPr>
          <p:cNvPr id="405518" name="Oval 14"/>
          <p:cNvSpPr>
            <a:spLocks noChangeArrowheads="1"/>
          </p:cNvSpPr>
          <p:nvPr/>
        </p:nvSpPr>
        <p:spPr bwMode="auto">
          <a:xfrm>
            <a:off x="4724400" y="2667000"/>
            <a:ext cx="533400" cy="533400"/>
          </a:xfrm>
          <a:prstGeom prst="ellipse">
            <a:avLst/>
          </a:prstGeom>
          <a:solidFill>
            <a:srgbClr val="FFEA18"/>
          </a:solidFill>
          <a:ln w="9525">
            <a:solidFill>
              <a:srgbClr val="FFCC18"/>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b="1">
                <a:solidFill>
                  <a:srgbClr val="CC0000"/>
                </a:solidFill>
              </a:rPr>
              <a:t>fat</a:t>
            </a:r>
            <a:endParaRPr lang="en-US" sz="2800"/>
          </a:p>
        </p:txBody>
      </p:sp>
      <p:sp>
        <p:nvSpPr>
          <p:cNvPr id="15371" name="Oval 15"/>
          <p:cNvSpPr>
            <a:spLocks noChangeArrowheads="1"/>
          </p:cNvSpPr>
          <p:nvPr/>
        </p:nvSpPr>
        <p:spPr bwMode="auto">
          <a:xfrm>
            <a:off x="5715000" y="2057400"/>
            <a:ext cx="533400" cy="533400"/>
          </a:xfrm>
          <a:prstGeom prst="ellipse">
            <a:avLst/>
          </a:prstGeom>
          <a:solidFill>
            <a:srgbClr val="FFEA18"/>
          </a:solidFill>
          <a:ln w="9525">
            <a:solidFill>
              <a:srgbClr val="FFCC18"/>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b="1">
                <a:solidFill>
                  <a:srgbClr val="CC0000"/>
                </a:solidFill>
              </a:rPr>
              <a:t>fat</a:t>
            </a:r>
            <a:endParaRPr lang="en-US" sz="2800"/>
          </a:p>
        </p:txBody>
      </p:sp>
      <p:sp>
        <p:nvSpPr>
          <p:cNvPr id="15372" name="Oval 16"/>
          <p:cNvSpPr>
            <a:spLocks noChangeArrowheads="1"/>
          </p:cNvSpPr>
          <p:nvPr/>
        </p:nvSpPr>
        <p:spPr bwMode="auto">
          <a:xfrm>
            <a:off x="3429000" y="2667000"/>
            <a:ext cx="533400" cy="533400"/>
          </a:xfrm>
          <a:prstGeom prst="ellipse">
            <a:avLst/>
          </a:prstGeom>
          <a:solidFill>
            <a:srgbClr val="FFEA18"/>
          </a:solidFill>
          <a:ln w="9525">
            <a:solidFill>
              <a:srgbClr val="FFCC18"/>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b="1">
                <a:solidFill>
                  <a:srgbClr val="CC0000"/>
                </a:solidFill>
              </a:rPr>
              <a:t>fat</a:t>
            </a:r>
            <a:endParaRPr lang="en-US" sz="2800"/>
          </a:p>
        </p:txBody>
      </p:sp>
      <p:sp>
        <p:nvSpPr>
          <p:cNvPr id="15374" name="Oval 18"/>
          <p:cNvSpPr>
            <a:spLocks noChangeArrowheads="1"/>
          </p:cNvSpPr>
          <p:nvPr/>
        </p:nvSpPr>
        <p:spPr bwMode="auto">
          <a:xfrm>
            <a:off x="2514600" y="5715000"/>
            <a:ext cx="533400" cy="533400"/>
          </a:xfrm>
          <a:prstGeom prst="ellipse">
            <a:avLst/>
          </a:prstGeom>
          <a:solidFill>
            <a:srgbClr val="FFEA18"/>
          </a:solidFill>
          <a:ln w="9525">
            <a:solidFill>
              <a:srgbClr val="FFCC18"/>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b="1">
                <a:solidFill>
                  <a:srgbClr val="CC0000"/>
                </a:solidFill>
              </a:rPr>
              <a:t>fat</a:t>
            </a:r>
            <a:endParaRPr lang="en-US" sz="2800"/>
          </a:p>
        </p:txBody>
      </p:sp>
      <p:sp>
        <p:nvSpPr>
          <p:cNvPr id="15375" name="Oval 19"/>
          <p:cNvSpPr>
            <a:spLocks noChangeArrowheads="1"/>
          </p:cNvSpPr>
          <p:nvPr/>
        </p:nvSpPr>
        <p:spPr bwMode="auto">
          <a:xfrm>
            <a:off x="3429000" y="5105400"/>
            <a:ext cx="533400" cy="533400"/>
          </a:xfrm>
          <a:prstGeom prst="ellipse">
            <a:avLst/>
          </a:prstGeom>
          <a:solidFill>
            <a:srgbClr val="FFEA18"/>
          </a:solidFill>
          <a:ln w="9525">
            <a:solidFill>
              <a:srgbClr val="FFCC18"/>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b="1">
                <a:solidFill>
                  <a:srgbClr val="CC0000"/>
                </a:solidFill>
              </a:rPr>
              <a:t>fat</a:t>
            </a:r>
            <a:endParaRPr lang="en-US" sz="2800"/>
          </a:p>
        </p:txBody>
      </p:sp>
      <p:sp>
        <p:nvSpPr>
          <p:cNvPr id="15376" name="Oval 20"/>
          <p:cNvSpPr>
            <a:spLocks noChangeArrowheads="1"/>
          </p:cNvSpPr>
          <p:nvPr/>
        </p:nvSpPr>
        <p:spPr bwMode="auto">
          <a:xfrm>
            <a:off x="4572000" y="5029200"/>
            <a:ext cx="533400" cy="533400"/>
          </a:xfrm>
          <a:prstGeom prst="ellipse">
            <a:avLst/>
          </a:prstGeom>
          <a:solidFill>
            <a:srgbClr val="FFEA18"/>
          </a:solidFill>
          <a:ln w="9525">
            <a:solidFill>
              <a:srgbClr val="FFCC18"/>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b="1">
                <a:solidFill>
                  <a:srgbClr val="CC0000"/>
                </a:solidFill>
              </a:rPr>
              <a:t>fat</a:t>
            </a:r>
            <a:endParaRPr lang="en-US" sz="2800"/>
          </a:p>
        </p:txBody>
      </p:sp>
      <p:sp>
        <p:nvSpPr>
          <p:cNvPr id="15377" name="Oval 21"/>
          <p:cNvSpPr>
            <a:spLocks noChangeArrowheads="1"/>
          </p:cNvSpPr>
          <p:nvPr/>
        </p:nvSpPr>
        <p:spPr bwMode="auto">
          <a:xfrm>
            <a:off x="5257800" y="5867400"/>
            <a:ext cx="533400" cy="533400"/>
          </a:xfrm>
          <a:prstGeom prst="ellipse">
            <a:avLst/>
          </a:prstGeom>
          <a:solidFill>
            <a:srgbClr val="FFEA18"/>
          </a:solidFill>
          <a:ln w="9525">
            <a:solidFill>
              <a:srgbClr val="FFCC18"/>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b="1">
                <a:solidFill>
                  <a:srgbClr val="CC0000"/>
                </a:solidFill>
              </a:rPr>
              <a:t>fat</a:t>
            </a:r>
            <a:endParaRPr lang="en-US" sz="2800"/>
          </a:p>
        </p:txBody>
      </p:sp>
      <p:sp>
        <p:nvSpPr>
          <p:cNvPr id="15378" name="Oval 22"/>
          <p:cNvSpPr>
            <a:spLocks noChangeArrowheads="1"/>
          </p:cNvSpPr>
          <p:nvPr/>
        </p:nvSpPr>
        <p:spPr bwMode="auto">
          <a:xfrm>
            <a:off x="3733800" y="6019800"/>
            <a:ext cx="533400" cy="533400"/>
          </a:xfrm>
          <a:prstGeom prst="ellipse">
            <a:avLst/>
          </a:prstGeom>
          <a:solidFill>
            <a:srgbClr val="FFEA18"/>
          </a:solidFill>
          <a:ln w="9525">
            <a:solidFill>
              <a:srgbClr val="FFCC18"/>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b="1">
                <a:solidFill>
                  <a:srgbClr val="CC0000"/>
                </a:solidFill>
              </a:rPr>
              <a:t>fat</a:t>
            </a:r>
            <a:endParaRPr lang="en-US" sz="2800"/>
          </a:p>
        </p:txBody>
      </p:sp>
      <p:sp>
        <p:nvSpPr>
          <p:cNvPr id="15379" name="Oval 23"/>
          <p:cNvSpPr>
            <a:spLocks noChangeArrowheads="1"/>
          </p:cNvSpPr>
          <p:nvPr/>
        </p:nvSpPr>
        <p:spPr bwMode="auto">
          <a:xfrm>
            <a:off x="6934200" y="4724400"/>
            <a:ext cx="533400" cy="533400"/>
          </a:xfrm>
          <a:prstGeom prst="ellipse">
            <a:avLst/>
          </a:prstGeom>
          <a:solidFill>
            <a:srgbClr val="FFEA18"/>
          </a:solidFill>
          <a:ln w="9525">
            <a:solidFill>
              <a:srgbClr val="FFCC18"/>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b="1">
                <a:solidFill>
                  <a:srgbClr val="CC0000"/>
                </a:solidFill>
              </a:rPr>
              <a:t>fat</a:t>
            </a:r>
            <a:endParaRPr lang="en-US" sz="2800"/>
          </a:p>
        </p:txBody>
      </p:sp>
      <p:sp>
        <p:nvSpPr>
          <p:cNvPr id="15380" name="Oval 24"/>
          <p:cNvSpPr>
            <a:spLocks noChangeArrowheads="1"/>
          </p:cNvSpPr>
          <p:nvPr/>
        </p:nvSpPr>
        <p:spPr bwMode="auto">
          <a:xfrm>
            <a:off x="6781800" y="5791200"/>
            <a:ext cx="533400" cy="533400"/>
          </a:xfrm>
          <a:prstGeom prst="ellipse">
            <a:avLst/>
          </a:prstGeom>
          <a:solidFill>
            <a:srgbClr val="FFEA18"/>
          </a:solidFill>
          <a:ln w="9525">
            <a:solidFill>
              <a:srgbClr val="FFCC18"/>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b="1">
                <a:solidFill>
                  <a:srgbClr val="CC0000"/>
                </a:solidFill>
              </a:rPr>
              <a:t>fat</a:t>
            </a:r>
            <a:endParaRPr lang="en-US" sz="2800"/>
          </a:p>
        </p:txBody>
      </p:sp>
      <p:sp>
        <p:nvSpPr>
          <p:cNvPr id="15381" name="Oval 25"/>
          <p:cNvSpPr>
            <a:spLocks noChangeArrowheads="1"/>
          </p:cNvSpPr>
          <p:nvPr/>
        </p:nvSpPr>
        <p:spPr bwMode="auto">
          <a:xfrm>
            <a:off x="5943600" y="5029200"/>
            <a:ext cx="533400" cy="533400"/>
          </a:xfrm>
          <a:prstGeom prst="ellipse">
            <a:avLst/>
          </a:prstGeom>
          <a:solidFill>
            <a:srgbClr val="FFEA18"/>
          </a:solidFill>
          <a:ln w="9525">
            <a:solidFill>
              <a:srgbClr val="FFCC18"/>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b="1">
                <a:solidFill>
                  <a:srgbClr val="CC0000"/>
                </a:solidFill>
              </a:rPr>
              <a:t>fat</a:t>
            </a:r>
            <a:endParaRPr lang="en-US" sz="2800"/>
          </a:p>
        </p:txBody>
      </p:sp>
      <p:sp>
        <p:nvSpPr>
          <p:cNvPr id="405531" name="Oval 27"/>
          <p:cNvSpPr>
            <a:spLocks noChangeArrowheads="1"/>
          </p:cNvSpPr>
          <p:nvPr/>
        </p:nvSpPr>
        <p:spPr bwMode="auto">
          <a:xfrm>
            <a:off x="3048000" y="1905000"/>
            <a:ext cx="533400" cy="533400"/>
          </a:xfrm>
          <a:prstGeom prst="ellipse">
            <a:avLst/>
          </a:prstGeom>
          <a:solidFill>
            <a:srgbClr val="FFEA18"/>
          </a:solidFill>
          <a:ln w="9525">
            <a:solidFill>
              <a:srgbClr val="FFCC18"/>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b="1" dirty="0">
                <a:solidFill>
                  <a:srgbClr val="CC0000"/>
                </a:solidFill>
              </a:rPr>
              <a:t>fat</a:t>
            </a:r>
            <a:endParaRPr lang="en-US" sz="2800" dirty="0"/>
          </a:p>
        </p:txBody>
      </p:sp>
      <p:sp>
        <p:nvSpPr>
          <p:cNvPr id="405533" name="Rectangle 29"/>
          <p:cNvSpPr>
            <a:spLocks noChangeArrowheads="1"/>
          </p:cNvSpPr>
          <p:nvPr/>
        </p:nvSpPr>
        <p:spPr bwMode="auto">
          <a:xfrm>
            <a:off x="1368425" y="3028950"/>
            <a:ext cx="1079500" cy="442913"/>
          </a:xfrm>
          <a:prstGeom prst="rect">
            <a:avLst/>
          </a:prstGeom>
          <a:solidFill>
            <a:srgbClr val="CC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80000"/>
              </a:lnSpc>
            </a:pPr>
            <a:r>
              <a:rPr lang="en-US" sz="2800" b="1">
                <a:solidFill>
                  <a:schemeClr val="bg1"/>
                </a:solidFill>
              </a:rPr>
              <a:t>LOW</a:t>
            </a:r>
            <a:endParaRPr lang="en-US" sz="3600" b="1">
              <a:solidFill>
                <a:schemeClr val="bg1"/>
              </a:solidFill>
            </a:endParaRPr>
          </a:p>
        </p:txBody>
      </p:sp>
      <p:sp>
        <p:nvSpPr>
          <p:cNvPr id="405532" name="Rectangle 28"/>
          <p:cNvSpPr>
            <a:spLocks noChangeArrowheads="1"/>
          </p:cNvSpPr>
          <p:nvPr/>
        </p:nvSpPr>
        <p:spPr bwMode="auto">
          <a:xfrm>
            <a:off x="1360488" y="4421188"/>
            <a:ext cx="1096962" cy="455612"/>
          </a:xfrm>
          <a:prstGeom prst="rect">
            <a:avLst/>
          </a:prstGeom>
          <a:solidFill>
            <a:srgbClr val="CC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80000"/>
              </a:lnSpc>
            </a:pPr>
            <a:r>
              <a:rPr lang="en-US" sz="2800" b="1">
                <a:solidFill>
                  <a:schemeClr val="bg1"/>
                </a:solidFill>
              </a:rPr>
              <a:t>HIGH</a:t>
            </a:r>
            <a:endParaRPr lang="en-US" sz="3600" b="1">
              <a:solidFill>
                <a:schemeClr val="bg1"/>
              </a:solidFill>
            </a:endParaRPr>
          </a:p>
        </p:txBody>
      </p:sp>
    </p:spTree>
    <p:extLst>
      <p:ext uri="{BB962C8B-B14F-4D97-AF65-F5344CB8AC3E}">
        <p14:creationId xmlns:p14="http://schemas.microsoft.com/office/powerpoint/2010/main" val="309506048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7" presetClass="entr" presetSubtype="4" fill="hold" grpId="0" nodeType="clickEffect">
                                  <p:stCondLst>
                                    <p:cond delay="0"/>
                                  </p:stCondLst>
                                  <p:childTnLst>
                                    <p:set>
                                      <p:cBhvr>
                                        <p:cTn id="6" dur="1" fill="hold">
                                          <p:stCondLst>
                                            <p:cond delay="0"/>
                                          </p:stCondLst>
                                        </p:cTn>
                                        <p:tgtEl>
                                          <p:spTgt spid="405518"/>
                                        </p:tgtEl>
                                        <p:attrNameLst>
                                          <p:attrName>style.visibility</p:attrName>
                                        </p:attrNameLst>
                                      </p:cBhvr>
                                      <p:to>
                                        <p:strVal val="visible"/>
                                      </p:to>
                                    </p:set>
                                    <p:anim calcmode="lin" valueType="num">
                                      <p:cBhvr additive="base">
                                        <p:cTn id="7" dur="1000" fill="hold"/>
                                        <p:tgtEl>
                                          <p:spTgt spid="405518"/>
                                        </p:tgtEl>
                                        <p:attrNameLst>
                                          <p:attrName>ppt_x</p:attrName>
                                        </p:attrNameLst>
                                      </p:cBhvr>
                                      <p:tavLst>
                                        <p:tav tm="0">
                                          <p:val>
                                            <p:strVal val="#ppt_x"/>
                                          </p:val>
                                        </p:tav>
                                        <p:tav tm="100000">
                                          <p:val>
                                            <p:strVal val="#ppt_x"/>
                                          </p:val>
                                        </p:tav>
                                      </p:tavLst>
                                    </p:anim>
                                    <p:anim calcmode="lin" valueType="num">
                                      <p:cBhvr additive="base">
                                        <p:cTn id="8" dur="1000" fill="hold"/>
                                        <p:tgtEl>
                                          <p:spTgt spid="405518"/>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Bubbles"/>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7" presetClass="entr" presetSubtype="4" fill="hold" grpId="0" nodeType="clickEffect">
                                  <p:stCondLst>
                                    <p:cond delay="0"/>
                                  </p:stCondLst>
                                  <p:childTnLst>
                                    <p:set>
                                      <p:cBhvr>
                                        <p:cTn id="12" dur="1" fill="hold">
                                          <p:stCondLst>
                                            <p:cond delay="0"/>
                                          </p:stCondLst>
                                        </p:cTn>
                                        <p:tgtEl>
                                          <p:spTgt spid="405531"/>
                                        </p:tgtEl>
                                        <p:attrNameLst>
                                          <p:attrName>style.visibility</p:attrName>
                                        </p:attrNameLst>
                                      </p:cBhvr>
                                      <p:to>
                                        <p:strVal val="visible"/>
                                      </p:to>
                                    </p:set>
                                    <p:anim calcmode="lin" valueType="num">
                                      <p:cBhvr additive="base">
                                        <p:cTn id="13" dur="1000" fill="hold"/>
                                        <p:tgtEl>
                                          <p:spTgt spid="405531"/>
                                        </p:tgtEl>
                                        <p:attrNameLst>
                                          <p:attrName>ppt_x</p:attrName>
                                        </p:attrNameLst>
                                      </p:cBhvr>
                                      <p:tavLst>
                                        <p:tav tm="0">
                                          <p:val>
                                            <p:strVal val="#ppt_x"/>
                                          </p:val>
                                        </p:tav>
                                        <p:tav tm="100000">
                                          <p:val>
                                            <p:strVal val="#ppt_x"/>
                                          </p:val>
                                        </p:tav>
                                      </p:tavLst>
                                    </p:anim>
                                    <p:anim calcmode="lin" valueType="num">
                                      <p:cBhvr additive="base">
                                        <p:cTn id="14" dur="1000" fill="hold"/>
                                        <p:tgtEl>
                                          <p:spTgt spid="405531"/>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Bubbles"/>
                                        </p:tgtEl>
                                      </p:cMediaNode>
                                    </p:audio>
                                  </p:sub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405532"/>
                                        </p:tgtEl>
                                        <p:attrNameLst>
                                          <p:attrName>style.visibility</p:attrName>
                                        </p:attrNameLst>
                                      </p:cBhvr>
                                      <p:to>
                                        <p:strVal val="visible"/>
                                      </p:to>
                                    </p:set>
                                    <p:animEffect transition="in" filter="wipe(down)">
                                      <p:cBhvr>
                                        <p:cTn id="19" dur="500"/>
                                        <p:tgtEl>
                                          <p:spTgt spid="405532"/>
                                        </p:tgtEl>
                                      </p:cBhvr>
                                    </p:animEffect>
                                  </p:childTnLst>
                                  <p:subTnLst>
                                    <p:audio>
                                      <p:cMediaNode>
                                        <p:cTn display="0" masterRel="sameClick">
                                          <p:stCondLst>
                                            <p:cond evt="begin" delay="0">
                                              <p:tn val="17"/>
                                            </p:cond>
                                          </p:stCondLst>
                                          <p:endCondLst>
                                            <p:cond evt="onStopAudio" delay="0">
                                              <p:tgtEl>
                                                <p:sldTgt/>
                                              </p:tgtEl>
                                            </p:cond>
                                          </p:endCondLst>
                                        </p:cTn>
                                        <p:tgtEl>
                                          <p:sndTgt r:embed="rId3" name="Pencil Check"/>
                                        </p:tgtEl>
                                      </p:cMediaNode>
                                    </p:audio>
                                  </p:sub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405533"/>
                                        </p:tgtEl>
                                        <p:attrNameLst>
                                          <p:attrName>style.visibility</p:attrName>
                                        </p:attrNameLst>
                                      </p:cBhvr>
                                      <p:to>
                                        <p:strVal val="visible"/>
                                      </p:to>
                                    </p:set>
                                    <p:animEffect transition="in" filter="wipe(down)">
                                      <p:cBhvr>
                                        <p:cTn id="24" dur="500"/>
                                        <p:tgtEl>
                                          <p:spTgt spid="405533"/>
                                        </p:tgtEl>
                                      </p:cBhvr>
                                    </p:animEffect>
                                  </p:childTnLst>
                                  <p:subTnLst>
                                    <p:audio>
                                      <p:cMediaNode>
                                        <p:cTn display="0" masterRel="sameClick">
                                          <p:stCondLst>
                                            <p:cond evt="begin" delay="0">
                                              <p:tn val="22"/>
                                            </p:cond>
                                          </p:stCondLst>
                                          <p:endCondLst>
                                            <p:cond evt="onStopAudio" delay="0">
                                              <p:tgtEl>
                                                <p:sldTgt/>
                                              </p:tgtEl>
                                            </p:cond>
                                          </p:endCondLst>
                                        </p:cTn>
                                        <p:tgtEl>
                                          <p:sndTgt r:embed="rId4" name="String"/>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5518" grpId="0" animBg="1"/>
      <p:bldP spid="405531" grpId="0" animBg="1"/>
      <p:bldP spid="405533" grpId="0" animBg="1" autoUpdateAnimBg="0"/>
      <p:bldP spid="405532" grpId="0" animBg="1"/>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297" name="Rectangle 1"/>
          <p:cNvSpPr>
            <a:spLocks noGrp="1" noChangeArrowheads="1"/>
          </p:cNvSpPr>
          <p:nvPr>
            <p:ph type="title"/>
          </p:nvPr>
        </p:nvSpPr>
        <p:spPr>
          <a:xfrm>
            <a:off x="609600" y="274638"/>
            <a:ext cx="7924800" cy="805854"/>
          </a:xfrm>
        </p:spPr>
        <p:txBody>
          <a:bodyPr/>
          <a:lstStyle/>
          <a:p>
            <a:r>
              <a:rPr lang="en-US" dirty="0"/>
              <a:t>Osmosis</a:t>
            </a:r>
          </a:p>
        </p:txBody>
      </p:sp>
      <p:sp>
        <p:nvSpPr>
          <p:cNvPr id="55298" name="Rectangle 2"/>
          <p:cNvSpPr>
            <a:spLocks noGrp="1" noChangeArrowheads="1"/>
          </p:cNvSpPr>
          <p:nvPr>
            <p:ph sz="quarter" idx="13"/>
          </p:nvPr>
        </p:nvSpPr>
        <p:spPr>
          <a:xfrm>
            <a:off x="539552" y="1173262"/>
            <a:ext cx="4898504" cy="4997152"/>
          </a:xfrm>
        </p:spPr>
        <p:txBody>
          <a:bodyPr>
            <a:normAutofit/>
          </a:bodyPr>
          <a:lstStyle/>
          <a:p>
            <a:r>
              <a:rPr lang="en-US" sz="1800" dirty="0"/>
              <a:t>Osmosis is defined as the net movement of </a:t>
            </a:r>
            <a:r>
              <a:rPr lang="en-US" sz="1800" b="1" dirty="0"/>
              <a:t>water molecules </a:t>
            </a:r>
            <a:r>
              <a:rPr lang="en-US" sz="1800" dirty="0"/>
              <a:t>across a partially permeable membrane from a region of higher to lower concentration (of water molecules).</a:t>
            </a:r>
          </a:p>
          <a:p>
            <a:r>
              <a:rPr lang="en-US" sz="1800" dirty="0"/>
              <a:t>It is essentially the diffusion of water.</a:t>
            </a:r>
          </a:p>
          <a:p>
            <a:r>
              <a:rPr lang="en-US" sz="1800" dirty="0"/>
              <a:t>Osmosis provides the primary means by which water is transported into and out of cells. </a:t>
            </a:r>
          </a:p>
          <a:p>
            <a:r>
              <a:rPr lang="en-US" sz="1800" dirty="0"/>
              <a:t>Osmosis is affected by the same factors </a:t>
            </a:r>
            <a:br>
              <a:rPr lang="en-US" sz="1800" dirty="0"/>
            </a:br>
            <a:r>
              <a:rPr lang="en-US" sz="1800" dirty="0"/>
              <a:t>as diffusion.</a:t>
            </a:r>
          </a:p>
        </p:txBody>
      </p:sp>
      <p:pic>
        <p:nvPicPr>
          <p:cNvPr id="552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1086" y="1259086"/>
            <a:ext cx="2544961" cy="37593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sp>
        <p:nvSpPr>
          <p:cNvPr id="55300" name="Rectangle 4"/>
          <p:cNvSpPr>
            <a:spLocks/>
          </p:cNvSpPr>
          <p:nvPr/>
        </p:nvSpPr>
        <p:spPr bwMode="auto">
          <a:xfrm>
            <a:off x="5947172" y="5197078"/>
            <a:ext cx="2268141" cy="973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gn="ctr">
              <a:tabLst>
                <a:tab pos="366104" algn="l"/>
              </a:tabLst>
            </a:pPr>
            <a:r>
              <a:rPr lang="en-US" sz="1300">
                <a:solidFill>
                  <a:srgbClr val="001BFF"/>
                </a:solidFill>
                <a:latin typeface="Arial" charset="0"/>
                <a:cs typeface="Arial" charset="0"/>
                <a:sym typeface="Arial" charset="0"/>
              </a:rPr>
              <a:t>A plant’s root system covers a large area, allowing it to draw water and nutrients up from the soil. Water is drawn into the root system by osmosis.</a:t>
            </a:r>
          </a:p>
        </p:txBody>
      </p:sp>
      <p:pic>
        <p:nvPicPr>
          <p:cNvPr id="5" name="Picture 4">
            <a:extLst>
              <a:ext uri="{FF2B5EF4-FFF2-40B4-BE49-F238E27FC236}">
                <a16:creationId xmlns:a16="http://schemas.microsoft.com/office/drawing/2014/main" id="{320BABDF-01EA-69AC-2A97-D432C6E3870D}"/>
              </a:ext>
            </a:extLst>
          </p:cNvPr>
          <p:cNvPicPr>
            <a:picLocks noChangeAspect="1"/>
          </p:cNvPicPr>
          <p:nvPr/>
        </p:nvPicPr>
        <p:blipFill>
          <a:blip r:embed="rId4"/>
          <a:stretch>
            <a:fillRect/>
          </a:stretch>
        </p:blipFill>
        <p:spPr>
          <a:xfrm>
            <a:off x="1187624" y="4221088"/>
            <a:ext cx="3756422" cy="2111109"/>
          </a:xfrm>
          <a:prstGeom prst="rect">
            <a:avLst/>
          </a:prstGeom>
        </p:spPr>
      </p:pic>
      <p:cxnSp>
        <p:nvCxnSpPr>
          <p:cNvPr id="7" name="Straight Arrow Connector 6">
            <a:extLst>
              <a:ext uri="{FF2B5EF4-FFF2-40B4-BE49-F238E27FC236}">
                <a16:creationId xmlns:a16="http://schemas.microsoft.com/office/drawing/2014/main" id="{BA28F5EE-51DA-180F-82DC-E16B9C8AB5E8}"/>
              </a:ext>
            </a:extLst>
          </p:cNvPr>
          <p:cNvCxnSpPr/>
          <p:nvPr/>
        </p:nvCxnSpPr>
        <p:spPr>
          <a:xfrm flipV="1">
            <a:off x="928687" y="5589240"/>
            <a:ext cx="835001" cy="5811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E8939169-D818-F791-BF0F-B3749EAEB50F}"/>
              </a:ext>
            </a:extLst>
          </p:cNvPr>
          <p:cNvCxnSpPr/>
          <p:nvPr/>
        </p:nvCxnSpPr>
        <p:spPr>
          <a:xfrm>
            <a:off x="928687" y="4941168"/>
            <a:ext cx="546969" cy="2559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C0A32C1B-5AA7-7EE5-9FDE-9B55202AD1CA}"/>
              </a:ext>
            </a:extLst>
          </p:cNvPr>
          <p:cNvSpPr txBox="1"/>
          <p:nvPr/>
        </p:nvSpPr>
        <p:spPr>
          <a:xfrm>
            <a:off x="208607" y="4581128"/>
            <a:ext cx="835001" cy="461665"/>
          </a:xfrm>
          <a:prstGeom prst="rect">
            <a:avLst/>
          </a:prstGeom>
          <a:noFill/>
        </p:spPr>
        <p:txBody>
          <a:bodyPr wrap="square" rtlCol="0">
            <a:spAutoFit/>
          </a:bodyPr>
          <a:lstStyle/>
          <a:p>
            <a:r>
              <a:rPr lang="en-GB" sz="1200" dirty="0"/>
              <a:t>Solute molecule</a:t>
            </a:r>
            <a:endParaRPr lang="en-AU" sz="1200" dirty="0"/>
          </a:p>
        </p:txBody>
      </p:sp>
      <p:sp>
        <p:nvSpPr>
          <p:cNvPr id="11" name="TextBox 10">
            <a:extLst>
              <a:ext uri="{FF2B5EF4-FFF2-40B4-BE49-F238E27FC236}">
                <a16:creationId xmlns:a16="http://schemas.microsoft.com/office/drawing/2014/main" id="{4871EA27-31EA-9A74-5894-B1E03DF93B7E}"/>
              </a:ext>
            </a:extLst>
          </p:cNvPr>
          <p:cNvSpPr txBox="1"/>
          <p:nvPr/>
        </p:nvSpPr>
        <p:spPr>
          <a:xfrm>
            <a:off x="377988" y="6031914"/>
            <a:ext cx="576064" cy="276999"/>
          </a:xfrm>
          <a:prstGeom prst="rect">
            <a:avLst/>
          </a:prstGeom>
          <a:noFill/>
        </p:spPr>
        <p:txBody>
          <a:bodyPr wrap="square" rtlCol="0">
            <a:spAutoFit/>
          </a:bodyPr>
          <a:lstStyle/>
          <a:p>
            <a:r>
              <a:rPr lang="en-GB" sz="1200" dirty="0"/>
              <a:t>water</a:t>
            </a:r>
            <a:endParaRPr lang="en-AU" sz="1200" dirty="0"/>
          </a:p>
        </p:txBody>
      </p:sp>
    </p:spTree>
    <p:extLst>
      <p:ext uri="{BB962C8B-B14F-4D97-AF65-F5344CB8AC3E}">
        <p14:creationId xmlns:p14="http://schemas.microsoft.com/office/powerpoint/2010/main" val="162438882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529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5298">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529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5529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8" grpId="0" build="p" bldLvl="5"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188640"/>
            <a:ext cx="7924800" cy="854968"/>
          </a:xfrm>
        </p:spPr>
        <p:txBody>
          <a:bodyPr/>
          <a:lstStyle/>
          <a:p>
            <a:r>
              <a:rPr lang="en-AU" dirty="0"/>
              <a:t>Osmosis</a:t>
            </a:r>
          </a:p>
        </p:txBody>
      </p:sp>
      <p:sp>
        <p:nvSpPr>
          <p:cNvPr id="3" name="Content Placeholder 2"/>
          <p:cNvSpPr>
            <a:spLocks noGrp="1"/>
          </p:cNvSpPr>
          <p:nvPr>
            <p:ph sz="quarter" idx="13"/>
          </p:nvPr>
        </p:nvSpPr>
        <p:spPr>
          <a:xfrm>
            <a:off x="609600" y="1052736"/>
            <a:ext cx="7924800" cy="4662264"/>
          </a:xfrm>
        </p:spPr>
        <p:txBody>
          <a:bodyPr>
            <a:noAutofit/>
          </a:bodyPr>
          <a:lstStyle/>
          <a:p>
            <a:r>
              <a:rPr lang="en-AU" sz="1800" dirty="0"/>
              <a:t>Water in organisms is part of a </a:t>
            </a:r>
            <a:r>
              <a:rPr lang="en-AU" sz="1800" b="1" dirty="0"/>
              <a:t>solution</a:t>
            </a:r>
            <a:r>
              <a:rPr lang="en-AU" sz="1800" dirty="0"/>
              <a:t>.  A solution consists of a </a:t>
            </a:r>
            <a:r>
              <a:rPr lang="en-AU" sz="1800" b="1" dirty="0"/>
              <a:t>solute</a:t>
            </a:r>
            <a:r>
              <a:rPr lang="en-AU" sz="1800" dirty="0"/>
              <a:t> and a </a:t>
            </a:r>
            <a:r>
              <a:rPr lang="en-AU" sz="1800" b="1" dirty="0"/>
              <a:t>solvent</a:t>
            </a:r>
            <a:r>
              <a:rPr lang="en-AU" sz="1800" dirty="0"/>
              <a:t>.  Water is always the solvent (the one that does the dissolving) and solutes are the compounds dissolved in the solvent, like sugar and salt.</a:t>
            </a:r>
          </a:p>
          <a:p>
            <a:endParaRPr lang="en-AU" sz="1800" dirty="0"/>
          </a:p>
          <a:p>
            <a:endParaRPr lang="en-AU" sz="1800" dirty="0"/>
          </a:p>
          <a:p>
            <a:endParaRPr lang="en-AU" sz="1800" dirty="0"/>
          </a:p>
          <a:p>
            <a:endParaRPr lang="en-AU" sz="1800" dirty="0"/>
          </a:p>
          <a:p>
            <a:r>
              <a:rPr lang="en-AU" sz="1800" dirty="0"/>
              <a:t>A dilute solution means it has a high water concentration compared to the solute.  A concentrated solution means it has a low water concentration compared to the solute.</a:t>
            </a:r>
          </a:p>
          <a:p>
            <a:r>
              <a:rPr lang="en-AU" sz="1800" dirty="0"/>
              <a:t>Movement of water is affected by the                                                                        solution concentration of cellular fluids.</a:t>
            </a:r>
          </a:p>
        </p:txBody>
      </p:sp>
      <p:pic>
        <p:nvPicPr>
          <p:cNvPr id="1026" name="Picture 2" descr="https://encrypted-tbn2.gstatic.com/images?q=tbn:ANd9GcRwzCoUhZfzzORoHBbOXr2jhk2NnkZsE0Dt4nQ3tT_5N_z_O8oeL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9792" y="2060848"/>
            <a:ext cx="3528393" cy="133127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4788024" y="4365104"/>
            <a:ext cx="3571073" cy="2179900"/>
          </a:xfrm>
          <a:prstGeom prst="rect">
            <a:avLst/>
          </a:prstGeom>
        </p:spPr>
      </p:pic>
    </p:spTree>
    <p:extLst>
      <p:ext uri="{BB962C8B-B14F-4D97-AF65-F5344CB8AC3E}">
        <p14:creationId xmlns:p14="http://schemas.microsoft.com/office/powerpoint/2010/main" val="10222205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154965"/>
            <a:ext cx="7924800" cy="1143000"/>
          </a:xfrm>
        </p:spPr>
        <p:txBody>
          <a:bodyPr/>
          <a:lstStyle/>
          <a:p>
            <a:r>
              <a:rPr lang="en-AU" dirty="0"/>
              <a:t>Osmosis</a:t>
            </a:r>
          </a:p>
        </p:txBody>
      </p:sp>
      <p:sp>
        <p:nvSpPr>
          <p:cNvPr id="3" name="Content Placeholder 2"/>
          <p:cNvSpPr>
            <a:spLocks noGrp="1"/>
          </p:cNvSpPr>
          <p:nvPr>
            <p:ph sz="quarter" idx="13"/>
          </p:nvPr>
        </p:nvSpPr>
        <p:spPr>
          <a:xfrm>
            <a:off x="467544" y="1484784"/>
            <a:ext cx="8280920" cy="4230216"/>
          </a:xfrm>
        </p:spPr>
        <p:txBody>
          <a:bodyPr>
            <a:normAutofit/>
          </a:bodyPr>
          <a:lstStyle/>
          <a:p>
            <a:r>
              <a:rPr lang="en-AU" sz="1800" dirty="0"/>
              <a:t>If solution concentrations are equal inside and                                                                        outside a cell, it is said to be </a:t>
            </a:r>
            <a:r>
              <a:rPr lang="en-AU" sz="1800" b="1" dirty="0">
                <a:solidFill>
                  <a:srgbClr val="002060"/>
                </a:solidFill>
              </a:rPr>
              <a:t>isotonic</a:t>
            </a:r>
            <a:r>
              <a:rPr lang="en-AU" sz="1800" dirty="0"/>
              <a:t>.  In this case,                                                                         water will move equally in both directions and be at                                                              equilibrium.</a:t>
            </a:r>
          </a:p>
          <a:p>
            <a:r>
              <a:rPr lang="en-AU" sz="1800" dirty="0"/>
              <a:t>When cells are surrounded by a dilute solution (low solute/high water concentration), </a:t>
            </a:r>
            <a:r>
              <a:rPr lang="en-AU" sz="1800" u="sng" dirty="0"/>
              <a:t>the external solution </a:t>
            </a:r>
            <a:r>
              <a:rPr lang="en-AU" sz="1800" dirty="0"/>
              <a:t>is said to be </a:t>
            </a:r>
            <a:r>
              <a:rPr lang="en-AU" sz="1800" b="1" dirty="0">
                <a:solidFill>
                  <a:srgbClr val="002060"/>
                </a:solidFill>
              </a:rPr>
              <a:t>hypotonic</a:t>
            </a:r>
            <a:r>
              <a:rPr lang="en-AU" sz="1800" dirty="0"/>
              <a:t> compared to the inside of the cell.  In this case, water will move into the cell because the cell cytoplasm has a higher solute concentration (hence it also has a lower water concentration).</a:t>
            </a:r>
          </a:p>
          <a:p>
            <a:r>
              <a:rPr lang="en-AU" sz="1800" dirty="0"/>
              <a:t>When cells are surrounded by a concentrated solution (high solute/low water concentration), </a:t>
            </a:r>
            <a:r>
              <a:rPr lang="en-AU" sz="1800" u="sng" dirty="0"/>
              <a:t>the external solution </a:t>
            </a:r>
            <a:r>
              <a:rPr lang="en-AU" sz="1800" dirty="0"/>
              <a:t>is said to be</a:t>
            </a:r>
            <a:r>
              <a:rPr lang="en-AU" sz="1800" dirty="0">
                <a:solidFill>
                  <a:srgbClr val="002060"/>
                </a:solidFill>
              </a:rPr>
              <a:t> </a:t>
            </a:r>
            <a:r>
              <a:rPr lang="en-AU" sz="1800" b="1" dirty="0">
                <a:solidFill>
                  <a:srgbClr val="002060"/>
                </a:solidFill>
              </a:rPr>
              <a:t>hypertonic</a:t>
            </a:r>
            <a:r>
              <a:rPr lang="en-AU" sz="1800" dirty="0">
                <a:solidFill>
                  <a:srgbClr val="002060"/>
                </a:solidFill>
              </a:rPr>
              <a:t> </a:t>
            </a:r>
            <a:r>
              <a:rPr lang="en-AU" sz="1800" dirty="0"/>
              <a:t>compared to the inside of the cell.  In this case, water will move out of the cell because the cell cytoplasm has a lower solute concentration (a higher water concentration).</a:t>
            </a:r>
          </a:p>
        </p:txBody>
      </p:sp>
      <p:pic>
        <p:nvPicPr>
          <p:cNvPr id="5122" name="Picture 2" descr="http://www.phschool.com/science/biology_place/biocoach/images/biomembrane1/Tonic2.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59390" y="4725144"/>
            <a:ext cx="4680520" cy="184416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t="16800" b="3360"/>
          <a:stretch>
            <a:fillRect/>
          </a:stretch>
        </p:blipFill>
        <p:spPr bwMode="auto">
          <a:xfrm>
            <a:off x="5796136" y="483064"/>
            <a:ext cx="3107498" cy="18618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02644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9"/>
          <p:cNvSpPr>
            <a:spLocks noChangeArrowheads="1"/>
          </p:cNvSpPr>
          <p:nvPr/>
        </p:nvSpPr>
        <p:spPr bwMode="auto">
          <a:xfrm>
            <a:off x="820738" y="2500313"/>
            <a:ext cx="7561262" cy="3841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3556" name="Rectangle 2"/>
          <p:cNvSpPr>
            <a:spLocks noGrp="1" noChangeArrowheads="1"/>
          </p:cNvSpPr>
          <p:nvPr>
            <p:ph type="title"/>
          </p:nvPr>
        </p:nvSpPr>
        <p:spPr/>
        <p:txBody>
          <a:bodyPr/>
          <a:lstStyle/>
          <a:p>
            <a:r>
              <a:rPr lang="en-US" dirty="0"/>
              <a:t>Keeping the Water Balance</a:t>
            </a:r>
          </a:p>
        </p:txBody>
      </p:sp>
      <p:sp>
        <p:nvSpPr>
          <p:cNvPr id="23557" name="Rectangle 3" descr="Rectangle: Click to edit Master text styles&#10;Second level&#10;Third level&#10;Fourth level&#10;Fifth level"/>
          <p:cNvSpPr>
            <a:spLocks noGrp="1" noChangeArrowheads="1"/>
          </p:cNvSpPr>
          <p:nvPr>
            <p:ph sz="quarter" idx="13"/>
          </p:nvPr>
        </p:nvSpPr>
        <p:spPr/>
        <p:txBody>
          <a:bodyPr>
            <a:normAutofit/>
          </a:bodyPr>
          <a:lstStyle/>
          <a:p>
            <a:r>
              <a:rPr lang="en-US" sz="1800" dirty="0"/>
              <a:t>Cell survival depends on balancing water uptake &amp; water loss</a:t>
            </a:r>
          </a:p>
        </p:txBody>
      </p:sp>
      <p:pic>
        <p:nvPicPr>
          <p:cNvPr id="7170" name="Picture 2" descr="http://classconnection.s3.amazonaws.com/857/flashcards/3566857/png/tonicity1319265384782-1415192914B18B717B8.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1680" y="2060848"/>
            <a:ext cx="6048672" cy="45365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46583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Osmosis in animal cells</a:t>
            </a:r>
          </a:p>
        </p:txBody>
      </p:sp>
      <p:sp>
        <p:nvSpPr>
          <p:cNvPr id="3" name="Content Placeholder 2"/>
          <p:cNvSpPr>
            <a:spLocks noGrp="1"/>
          </p:cNvSpPr>
          <p:nvPr>
            <p:ph sz="quarter" idx="13"/>
          </p:nvPr>
        </p:nvSpPr>
        <p:spPr>
          <a:xfrm>
            <a:off x="626760" y="1406887"/>
            <a:ext cx="7924800" cy="4114800"/>
          </a:xfrm>
        </p:spPr>
        <p:txBody>
          <a:bodyPr/>
          <a:lstStyle/>
          <a:p>
            <a:r>
              <a:rPr lang="en-AU" dirty="0"/>
              <a:t>A cell wall (in plants) provides protection to cells from too much water uptake.  Animal cells do not have a cell wall and will burst (cell lysis) if too much water is taken into the cell.</a:t>
            </a:r>
          </a:p>
          <a:p>
            <a:r>
              <a:rPr lang="en-AU" dirty="0"/>
              <a:t>Animals overcome this in a number of ways.  Many unicellular animals are able to store water in contractile vacuoles.  Which expel water from the cell when filled.</a:t>
            </a:r>
          </a:p>
          <a:p>
            <a:r>
              <a:rPr lang="en-AU" dirty="0"/>
              <a:t>Multicellular animals have extracellular fluid which is maintained at an isotonic level.  The kidneys constantly filter and adjust solution concentration levels of the blood to maintain the isotonic environment.</a:t>
            </a:r>
          </a:p>
        </p:txBody>
      </p:sp>
      <p:pic>
        <p:nvPicPr>
          <p:cNvPr id="6146" name="Picture 2" descr="http://upload.wikimedia.org/wikipedia/commons/thumb/7/76/Osmotic_pressure_on_blood_cells_diagram.svg/1000px-Osmotic_pressure_on_blood_cells_diagram.sv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41992" y="4365104"/>
            <a:ext cx="4260015" cy="22322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78965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Osmosis in plants</a:t>
            </a:r>
          </a:p>
        </p:txBody>
      </p:sp>
      <p:sp>
        <p:nvSpPr>
          <p:cNvPr id="3" name="Content Placeholder 2"/>
          <p:cNvSpPr>
            <a:spLocks noGrp="1"/>
          </p:cNvSpPr>
          <p:nvPr>
            <p:ph sz="quarter" idx="13"/>
          </p:nvPr>
        </p:nvSpPr>
        <p:spPr>
          <a:xfrm>
            <a:off x="609600" y="1427195"/>
            <a:ext cx="7924800" cy="4114800"/>
          </a:xfrm>
        </p:spPr>
        <p:txBody>
          <a:bodyPr/>
          <a:lstStyle/>
          <a:p>
            <a:r>
              <a:rPr lang="en-US" dirty="0"/>
              <a:t>If a plant cell is placed in a hypotonic solution, water enters the cell causing it to swell. The rigid cell wall prevents cell rupture.  Cells in this state are termed </a:t>
            </a:r>
            <a:r>
              <a:rPr lang="en-US" b="1" dirty="0"/>
              <a:t>turgid</a:t>
            </a:r>
            <a:r>
              <a:rPr lang="en-US" dirty="0"/>
              <a:t>.</a:t>
            </a:r>
          </a:p>
          <a:p>
            <a:r>
              <a:rPr lang="en-US" dirty="0"/>
              <a:t>If a plant cell is placed in a hypertonic solution, the plant cell loses water to the environment.  This state is called </a:t>
            </a:r>
            <a:r>
              <a:rPr lang="en-US" b="1" dirty="0"/>
              <a:t>plasmolysis</a:t>
            </a:r>
            <a:r>
              <a:rPr lang="en-US" dirty="0"/>
              <a:t>.</a:t>
            </a:r>
          </a:p>
          <a:p>
            <a:r>
              <a:rPr lang="en-US" dirty="0"/>
              <a:t>Full plasmolysis is irreversible, the cell cannot recover by taking up water.</a:t>
            </a:r>
          </a:p>
          <a:p>
            <a:endParaRPr lang="en-AU" dirty="0"/>
          </a:p>
        </p:txBody>
      </p:sp>
      <p:pic>
        <p:nvPicPr>
          <p:cNvPr id="8194" name="Picture 2" descr="http://4.bp.blogspot.com/-OXlwkYaNaWY/UL-iJgceJnI/AAAAAAAAAIc/e5B0UXc-ILA/s1600/Osmosi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5930" y="3649452"/>
            <a:ext cx="4872784" cy="197281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64226" y="3944603"/>
            <a:ext cx="2348508" cy="29144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sp>
        <p:nvSpPr>
          <p:cNvPr id="6" name="Rectangle 7"/>
          <p:cNvSpPr>
            <a:spLocks/>
          </p:cNvSpPr>
          <p:nvPr/>
        </p:nvSpPr>
        <p:spPr bwMode="auto">
          <a:xfrm>
            <a:off x="5148064" y="5969856"/>
            <a:ext cx="1893094" cy="6072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tabLst>
                <a:tab pos="366104" algn="l"/>
              </a:tabLst>
            </a:pPr>
            <a:r>
              <a:rPr lang="en-US" sz="1300" b="1" dirty="0">
                <a:solidFill>
                  <a:srgbClr val="001BFF"/>
                </a:solidFill>
                <a:latin typeface="Arial" charset="0"/>
                <a:cs typeface="Arial" charset="0"/>
                <a:sym typeface="Arial" charset="0"/>
              </a:rPr>
              <a:t>Wilting</a:t>
            </a:r>
            <a:r>
              <a:rPr lang="en-US" sz="1300" dirty="0">
                <a:solidFill>
                  <a:srgbClr val="001BFF"/>
                </a:solidFill>
                <a:latin typeface="Arial" charset="0"/>
                <a:cs typeface="Arial" charset="0"/>
                <a:sym typeface="Arial" charset="0"/>
              </a:rPr>
              <a:t> in </a:t>
            </a:r>
            <a:r>
              <a:rPr lang="en-US" sz="1300" i="1" dirty="0">
                <a:solidFill>
                  <a:srgbClr val="001BFF"/>
                </a:solidFill>
                <a:latin typeface="Arial" charset="0"/>
                <a:cs typeface="Arial" charset="0"/>
                <a:sym typeface="Arial" charset="0"/>
              </a:rPr>
              <a:t>Coleus</a:t>
            </a:r>
            <a:r>
              <a:rPr lang="en-US" sz="1300" dirty="0">
                <a:solidFill>
                  <a:srgbClr val="001BFF"/>
                </a:solidFill>
                <a:latin typeface="Arial" charset="0"/>
                <a:cs typeface="Arial" charset="0"/>
                <a:sym typeface="Arial" charset="0"/>
              </a:rPr>
              <a:t> induced by water loss from the cells.</a:t>
            </a:r>
          </a:p>
        </p:txBody>
      </p:sp>
      <p:grpSp>
        <p:nvGrpSpPr>
          <p:cNvPr id="8" name="Group 9"/>
          <p:cNvGrpSpPr>
            <a:grpSpLocks/>
          </p:cNvGrpSpPr>
          <p:nvPr/>
        </p:nvGrpSpPr>
        <p:grpSpPr bwMode="auto">
          <a:xfrm>
            <a:off x="15772" y="4385507"/>
            <a:ext cx="3259336" cy="2473523"/>
            <a:chOff x="0" y="0"/>
            <a:chExt cx="2920" cy="2216"/>
          </a:xfrm>
        </p:grpSpPr>
        <p:pic>
          <p:nvPicPr>
            <p:cNvPr id="9" name="Picture 10"/>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0"/>
              <a:ext cx="1880" cy="22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sp>
          <p:nvSpPr>
            <p:cNvPr id="10" name="Rectangle 11"/>
            <p:cNvSpPr>
              <a:spLocks/>
            </p:cNvSpPr>
            <p:nvPr/>
          </p:nvSpPr>
          <p:spPr bwMode="auto">
            <a:xfrm>
              <a:off x="1752" y="1392"/>
              <a:ext cx="1168" cy="3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tabLst>
                  <a:tab pos="366104" algn="l"/>
                </a:tabLst>
              </a:pPr>
              <a:r>
                <a:rPr lang="en-US" sz="1300">
                  <a:solidFill>
                    <a:srgbClr val="001BFF"/>
                  </a:solidFill>
                  <a:latin typeface="Arial" charset="0"/>
                  <a:cs typeface="Arial" charset="0"/>
                  <a:sym typeface="Arial" charset="0"/>
                </a:rPr>
                <a:t>Healthy turgor in </a:t>
              </a:r>
              <a:r>
                <a:rPr lang="en-US" sz="1300" i="1">
                  <a:solidFill>
                    <a:srgbClr val="001BFF"/>
                  </a:solidFill>
                  <a:latin typeface="Arial" charset="0"/>
                  <a:cs typeface="Arial" charset="0"/>
                  <a:sym typeface="Arial" charset="0"/>
                </a:rPr>
                <a:t>Coleus</a:t>
              </a:r>
            </a:p>
          </p:txBody>
        </p:sp>
      </p:grpSp>
    </p:spTree>
    <p:extLst>
      <p:ext uri="{BB962C8B-B14F-4D97-AF65-F5344CB8AC3E}">
        <p14:creationId xmlns:p14="http://schemas.microsoft.com/office/powerpoint/2010/main" val="7396039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Osmosis</a:t>
            </a:r>
          </a:p>
        </p:txBody>
      </p:sp>
      <p:sp>
        <p:nvSpPr>
          <p:cNvPr id="3" name="Content Placeholder 2"/>
          <p:cNvSpPr>
            <a:spLocks noGrp="1"/>
          </p:cNvSpPr>
          <p:nvPr>
            <p:ph sz="quarter" idx="13"/>
          </p:nvPr>
        </p:nvSpPr>
        <p:spPr/>
        <p:txBody>
          <a:bodyPr>
            <a:normAutofit/>
          </a:bodyPr>
          <a:lstStyle/>
          <a:p>
            <a:r>
              <a:rPr lang="en-AU" sz="1800" dirty="0"/>
              <a:t>Observing osmosis in action, check out this video of experiments with eggs.</a:t>
            </a:r>
          </a:p>
          <a:p>
            <a:pPr marL="0" indent="0">
              <a:buNone/>
            </a:pPr>
            <a:r>
              <a:rPr lang="en-AU" sz="1800" dirty="0">
                <a:hlinkClick r:id="rId2"/>
              </a:rPr>
              <a:t>https://www.youtube.com/watch?v=SSS3EtKAzYc</a:t>
            </a:r>
            <a:endParaRPr lang="en-AU" sz="1800" dirty="0"/>
          </a:p>
          <a:p>
            <a:endParaRPr lang="en-AU" sz="1800" dirty="0"/>
          </a:p>
        </p:txBody>
      </p:sp>
      <p:sp>
        <p:nvSpPr>
          <p:cNvPr id="4" name="AutoShape 2" descr="data:image/jpeg;base64,/9j/4AAQSkZJRgABAQAAAQABAAD/2wCEAAkGBxQTEhQUExQWFhUXFBQUFBgUGBQXFxUXFxQXFhcVFRcYHSggGBolHBQUITEhJSkrLi4uFx8zODMsNygtLisBCgoKDg0OGhAQGywkHBwsLCwsLCwsLCwsLCwsLCwsLCwsLCwsLCwsLCwsLCwsLCwsLCwsLCwsLCwsLCwsLCwsNP/AABEIAMIBAwMBIgACEQEDEQH/xAAcAAABBQEBAQAAAAAAAAAAAAADAAECBAUGBwj/xABCEAABAgMEBgYIAwYHAQAAAAABAAIDESEEMUFRBRJhcYGRE6GxwdHwBhQiMkJS4fEHcpIVU2KCorIjQ1SDk8LSM//EABoBAAMBAQEBAAAAAAAAAAAAAAABAgMEBQb/xAAoEQEBAAICAQMDAwUAAAAAAAAAAQIRAxIhBDFBMlFhBRMiFBVSofD/2gAMAwEAAhEDEQA/ALsfSrhfqwx/G4A/pE3dSzrXpYH43H8jZDm49y6aJ6N2BwoyK38r5/3TVSN6G2VwkItob/xn/quWWRu5GLpUZRDnOIBPhqKk+3j5eb3nskusi/h9BPu2qIPzQwewhVIn4dfLbG8YTh2OK07RPlgw7XX3R+qJ4q621Sz4OPfNWnfh1G+G0wjvERvcVAegdrH+bAO6I8drEePuew26Rli79Y/8o8PSp/eP7e8IR9B7bnCO6IO8JN9Crf8AKw/7sPvKc0na8zSz/n/UB9UZulnYhh4EdZACz2ehlv8Akb/ywf8A0jM9DbflCG+KzummGlC0nP8Ayz/IdbsmtfRulp+yHEj5Tcsay+hlop0kaE38pc89g7V01nsbYTZaxiO+Zwu3bFNsN59+KNk1RBjMEogiy1sQ0hxaHbJjHvXFWzTNt+KKTSl1y9D/ABMtTYdjeHVdGfCDMzqP13EZAADmM15S61zwPNXj5iKlEt8c3vKA6JEN7iU/TDaiQLQ0GZB6vFWkO0wX+zrzum3cgGDvWtbtJMiSoRIAVA8VWMZkr+op3RRShw61VuHLM8kJxGY6/BMJZjrSNcLtvUrmgdC+t2hsLX1QQXOIFQ0SnLbUDisxrhi4Lrvw90pZoEV5jPDHOAax5PsAYtdL3ZmVbqYJexuvg+g1iggHonPPzRHxHT4NIb1Jo+hrKTP1aC7D2mOdTiV10I+yHAgtcJhzSHNcDiCKEKtaLBCiA6zBM01mGRSmZ6cr+ybPhY7N/wAbh/2Tfs6B/pIHBsUdj1txvRdhBMOIZ1k1zi0HYT99y5bSeibRBmX2aNIYsi6wrubNPseovO0ZA/00Pg61DsiIZ0ZZf3T2/kj2gf3ucFzcPSwBqIu4xRT+hGhacaL3xx/Mx0uYCNjTXjaCs7rotpZs14EQcnQwetZNq/D6C8kw7WWzwiQJDmx57ESFpxhvjO/nhN7Wko8LSQJo+A7eXQj/AFJ7hac7aPw8tI9yJAijDUe5pPCI0S5rMtXoha4Ym6C7+X2utsx1r0WBGea9G+WbHNeOCvWbSoFNfcHzYeuiNw+rw9wkZGhyNCkvePWCayB2+yetJLcLq6oWbcmNj3J222JmDwCM20v+VvJce62AFlIw60jAOR5qz05xaOtL1j+HrT3SVeidkepP0TsjyHgrbY2w80QRBt6kdqFEQzl1KQZs6lfDxt5BMYoyPV4o7DSkBs6kRrCcDwCM61AYHqQ3Ww4N5lGxpJkI5KhpvScCzwXxIzqMqQ32nbpDvUrRGiOEhnhlvXA/iLFDbHFa0zcdRpIuq8TA4TTxu7orNR536V+ksS2xzEcNVgGrChg0hsndtcbyceAWN0iYsORTapyXWxP0iXSKJamkgJ9In6RDSQE9dLXUEkBPWS1lBIID0v0B0rFgWVpY4yL3nVNW+9K7gV3Vi9KIT5dMww3fMyo4g3LmfQ7RTfU4PxTBdSXxOJWy6wNN4yFdgkByXP2m61kdMyG17daHEa8bL+Sk5jmDWDsK3iXiuVZYw2rSQdhIWnZdLRWUJDx/FLtT2eli2WWFG/8AtBhv2lonwIqFz9t9ArJErDdEgnIHXbydXrXVWXTEOc5ah2gFqO6GHiYLTlJVMk2PLrd+HMdtYUaFEGRnDdyMx1rEtforbYfvWeIRmwCIP6Jr2GNZ3twPCo6kBjHYU3EjsVdi08VY6JCd8cN23WYe4rVhek8cDVeWxWykREaHTH5ve616tEtD7nOJGTtV45OCoxrBZ3+/Z7O7/bDD+plU/A8vOf23Bxs9f4Yr2jgKySXcu9GLCTP1YcI0eX9ySPB7dS20Qx83CSl6/CzcOColqA+GuSLrVbbYB+I8WlSNsg/vP6XeCxRCU22JxuE9yvwlsC1wf3nU7wUxbIP70fpf4LKbol+IlvPgkdGOGSjeP3Py1fX4P7z+l/gl69B+c/pd3hY5sbheE7IcsOaNQbrVfbYdJBzp5ADtKDE0iBdD/U7uCo9FWaKGE0PnYjrBuivtDniRkAcGiS5D090VEiWdjIEJ8R5jDWDAXENDHGZlcJgLrnMkEaCYkvYGUySAKTz3rXj1KWXs8l0f+GlviOAdDbCEp60RzZCspSaSZ8FsD8HY+NpgzlQar7969HbFIq+KJ7BProji1w8Yh5S+y6OzLTxjTX4cWuCR0bDGB1pljRMapFZAmhnTG+gXPWjQdoZ78CK2svahvFTcLr6hfRJtsNuLtlaKD9Otw4T7k+0GnzY+AWzDmkSMjMESPFJsGfwz4L6KiaaY6c2t4gGc1XbpRouhtBFaBs7sKb0doNPAxo15Gt0TpZ6jpc5bRzSiaMLRN0Mje0jtX0G3Sxpty7N6MIgiCTmhwvk4AjjNPY0+chZWfKE7rGz5Qvog6LhTJFngkkSP+Gy7K5SNgbKRgQiCZkajMcbkbDj/AEYs+rY4E/3bOxWrRbC3AO2O8b1qW2F7Rw2C4bljWyHVcc93RPIkC2wT7wcw/qb4rQhWRr6scHflNeIvWCYIRBBlIhaaK4t9tgGKKywSq0y3LJgaQit+LWGTva6zVXoOlR8TJbWnuPiknrVzXiNyKXrQPvNI60zLXDPxgfmp13IvRTukRmJFBI9HCdiOJI7ZJHRgN0+FexObMhOsie6ekTo7aeSZS6N/zO/UUkuw0fVTaisBiBEi1kFy5ZdZtpMd0ez2Zt7q7FqQrQ0CQAAWF0yfp1zXm3fLWYabMeKMCgiIs0R1IRkTlFxazbPrXSQI9kleFVh2khXYekKSNV04Z4VlZYqdEBeitgJRXA3KNnjapr7v9u0bE7SGMCdCqNosUQzAnLBbzoVEKI7BdHDq+7PPw5yJo+LqzLSlZNGRXnFozPgt+K+UhNOy0htyXLnMbqHhjbN1XhaIY2+bjt8EYWVg+Eck77fSSAbQsLyteiyNGtcPdaeAVO06Db8styIy1kXFWGaTdjXetMeTFFxqlDssJgrDmd5P2Tt0kxokGt3DzerEeM11ZSKoRoAPfJazl+EdSdpszAAHJV4mn3g0E8dnYrg0YyV8xyQzZ2NuVW37lr8KLohie0bzVVI9mmVrNgGU5UUTBWMmq07MhljRBZFsMsqmbOr2OzE9VTerrYdAQ3QUrRtkOgKAhEXU3LWdBQnQErVSqsK1RRc93Ez7VYbpOLjqne0dyboUuhS2NQX9qP8AlZyPikg9GmS2NRr2j2WOOQWLrrc0gz/Ddw7VzpK4/UNOL2FMRLXQNZLWXDWywHqbYiq6ykHJShbEREbEVNr0Rr1vjkixdbEUg5VGvRGPW+ObOxs6MtNCw4VbuyR3CaybJEk4b1rONDuXfwZ7xv4c/JPLPixKlV3RVGK9Ac5eflla65NDGKm6RA1k01lcqelkRFIRFVDlIOROQrFoRFMRFUDlIOW+OaLFtj+RTuZmq7HK8GTE9i6+LLtNM7NAwY2qaI7gHVbxCA6DNJjNVa7TcdrkCIEV4BVURQb6HNS1/vgixHmJGGhuhIgeiBRVyqjoSE6CtDVUTDUqZphKJhrRMJQdCS2bPMNJXDCTJbCg7SRLSDKoWfECZ8I/ZRcZBTz47m1cd14RITKJem1l52Ub7SThQmnBUaAoKI0oLSiNKqRNGaUQOQQVIFaSkuWSrmjaFuuZQiazdD2U++dze8rUcPPiF6fpsbMPPy5eW7yc7FoSEOau6XhgHWGN+9Z4cuLkx6WyunG7m0yopi5NNc+TRIKYUA5TajH8JqQClJIJ5rTWkkCtaA0hopeBis2ywddwGGK07fF1IbiLwKdi7PSyyZZ32ZcnmzGAW2OGXkbsVQFuzuWc4Tbrl894N/yzzxqoiLQGeN2yQI7Vxc3rr8eHVh6eNGLazL2W8/BChW3VzG+o+ijCtcAVLYk8g9uqeOrMbqqrabQ1xEjLesv6m/VMpv7f9pf7MvjTfstpa8yFDkcdxVqoXIw4sjRWfXogoHEb69q6cP1DGz+Uc+XprL4dOHqQeuRi2mIb3u5y7FpaGt9dRxMpUJwOW5aYerxzy66905cNxm29NIhQEsCnkuu41lMjFqSUklHWntz1oeqEd6uxm+SqkZk8k8oqM42kTUxEQbRBqq4mLiuDk47vw1mTQD1MOVFkXNGZEWNwy+ytxba5Fa5U2uOSmHlVMM/sW4uB6LZ4rdb2ru3Ys4On3KzCgk4Y+b10cXDlbus8so6RukGgU88FStOl5XFUuhN0u4qtEshXflctMcZNixbYXC+aqttYnIowsBN/Wqlo0Y7Az4ri5uPLJ0Y2RbEZSERZYs0Rt05baqbYj8lw5cfJPhruNRr0RsRZYjHJSFoOSqd58JumqIqLBOsZTWG6K83dSNZGxA64hb8OGWV/lPDPK6nh1tnAaJCW05oGlogMJwnW/fVVYT3SrPl5zWXpSI7bxXpc1k4rJPhhxS3OVnl14Q9dJz5qBK+Ts+Hu4+yfSKUFhcRKgxJuG9CARXx3OvcT5wAuTxmPyL+B4mqKCZdOpJEtol9USA0nCfm/cq0Myy4iaNrOIlOmVw5Cids3v/TLKJuMtp2Xc1CG4hwO1O2GiBoFSnx5ZXKaRZJGnqHzNQcH4PdzKlCtLTSckSY4bV9W8rwzXCJ83WktEw0kx4GtdlBFKyylPsWZFshkCPCS6Nwn9bj1pGyg5HeJy3TWlwlRMq5OJAOKB6mTcJ+di7JtibkOQUxBa3LkFneKL7uXsegXuILpNGS3IWiYbcBcrzYgQ40QCU6TIF0793aqx48Yi5WqNo0a1wMhLcqY0ccQDkbjxzWu+YQw2avrE7qnBsQkDKWyhkrENsqS3KwyFPDzxU+jA2ncjUHlRdC2V87EwhTqBPiexaTYc8PPBE6IAAao4YI0JWPGZLyc5ZSmqTmAmQ23VNL7iuhfDZg3bggRIDZmguy8hLrFd652OC07BP4TTr2oEnEkCtMu2q6wWRjsByFJ5JHR7chLleNiX7cP9yuSNmOR/SfFEbYj5Dl1BsLMh/T1FMbEyfut3+JxuTnHCudYUGz6t9BSpaZHCW9XYUUBuPGQuMsRKSuPswOA2bMU4sYvEp7QMaia0kkZ22q8C1kigI/TuJvuRelnf1tNPG5Eh2aWYmZmZ79/arBgy8+e1PwGZF0fDiXtqcQJTWba9ASE2uwuOO5dC1mHL3pDyVAg1rul4Haufl9Jw8v1Yt+P1HJh7VxMWzuaTMXXqLQu0i2MPAmPHs3qk7QDcHSry2Ly+X9J/wAK7cPX7+qOfhtVljFrQ9BuHx54A+eSJ+wxKrz2Lm/tPNb7w8vV4MxjUVkAuIkKbVo2bRzWGc5nmOWCt9I3Ac12+n/TJx3tld1zcnqdzUZjdF1rKSkbARc7rmPqtFkWe3CgB3g7VNsLzOXUO5enMJHNctsh0B4waeKdbdMQP0pk+o7CMYb/ADxUYsTVkamtw7aorWAZKD2g4S3KyQfEyHgEBpJN3nsRgCLpHefFFhDMfTYppwzYOMu9NFh08VZbkoOhz2IKqWqDj5yU2sUxCAnzTUumK3JkckIJdMiU6cPuiyKcwwMOtAQDzh52IQiHOuSsPbMXU2KDITW3U7OSAhrHb1KRiyF3OSk+GM8O3Yo6t05+diATYgdPHkpAHPgEOHCIrfceIRq9qAYimW37IQZtxu8VYnTDbcoyEqXiYTABY4G/h9VOsueztU5yzwN2aefZkZoAbTP6qb+CnqlR1DikANbAmRM8EYsGPniomYmAa7U7YkqHzs2lPYIgS+yUx4pOupLu2KAlj54oCfmSdjzmoA7exOHbR4oCT2IESGBh5z3fZEMeSGbc3FARZElOk/EbUK0WjO403FE6WYJBACrxXi8ccMEaCPTOwJIzkfFJRFp2BJB7a9cK7Lj1qRZPMXXnwRHPlQApr8D2JA3SC6k/OCYEnCXFTLZXSCqxomV5xuU1S0HZ07eSWuCJ/RVmskJuMzuCaK8EAB0ieP0TLSb9hQHkYojLquB3BJgaaA1yTShDdkZyvmjsjTvTNs8rknQ+ScB541TOibsZz+6i5slFrtks6hBHLSbj1E96k4u+6iTvS6Ug/dPQTY7dOmM+5O6eYQmxcJSxynyTl3mqNAokQDEblNsTaLhdjtQNatZbiOZU2PExdlu8EAVrt+V/mSkHD7/VCcRvlK9Pr0uSAzjn48UMtndTioTpjlikXfa6o3o0ZGEb7+JPNTbkTVIGmI2CfFRcLqT3/VARdjKV9b1CoOGG87U8R/dn2oMSIRh13c0AVxExMX8U7nAUl3/ZV2xh8VPPakQKltSJAiXabkAG1zJOB8c9iyozZVBvNxpv4YrWeyYvA8efUqj3ieZvoa5TmmSoy1kHKW36qbdICftCfCdO9SJaTdjgE8SGDhTE9m9IwjaYQ+GXApKBD/lI4tTJbodT7JkZO61ZF10upABJF8lB8TfxrxomYsQ5TPYqceOBvrdfyTxnPuoAc6dQM1VMCU6gHEgEz4KbFQhfNxOwH/yO9O+0F0wyu2U5dwRobT8IpKRJ7h4orogFD3SEs1JhthuJvBAvLq8hcrLJGl/5ZKAIOE993BGaWSwCaanDMr1MOnsQQ7IJhEHxGW5UWljVCiZX0UBaG3IrHBBaBfZ8qVmolku9Wg4KLXtKNjSg5tRQGWOSnJwlvrSc/BXtQKIghAAJuvr5yUT134Ir7MO/embAkMsb796ZBzBFPOxBESRoCevl1qyIVPPJQMJ2e4C+SDMRnxllgmmJz57clMN1RuzKcndS6+450QcQnW7tUxXOffxwUXMQzDObp8JHgkZ4nEVVF4LSZZ50GyQuR3QTeZ5Xz4oTmOrLjL3th3plpIa0s+XMqTCReKXYCXJSYKDzXaiRYRIpwF4OwoLQTYYNKZ7Rv8UOPBEjK/H6K0yzgATpvyyKIZAYee5B6c7Gs78HSbyIGSgSRQnjnLLaujcAZ13qnaNHAignWYxkgtMI2p2IntBEiktA6N2FOgNpwmD7PnYoBmLj9etSDjiRuUC+d0jzpyS8qOxoF078Md5TkDJCiBxkRxAFeu5JjxdMax4lFEQdrHHVCg6M24TcccVOJnef4jdwVaLI3kn8okFntZokR1+sAcqlOIobImZObjTkqNptoFG6rd1XUVdrJyIaa1LnnDOSWw0jpSdB7XU3ehvtgF7x/IK81WbAaQNYkn+DLASUunAJLQ1ozoSTtTJcbGr7sqXvPZtRW2k0Be0DZfuCxIukC1wn7ZOJu4KYthIk1jRW89ZT2G6bUwTM3O23cAFI2kNE5SpiVz8OKXE60SgGCsCKzXBMzIc96ey014Gkmn4rr0naUaJ+8ROpWNEtTfghtBN5JoqEaJEOt/iANGVK7M0DTrG22ZupiZ9ik613VDd+Wa5KHFDWsBc456t/FFbaCZtAkb5uMwAjY06b14GciSRkMFNtquJpMXnALmnWl4I/xGjWvAwCBbLWAKuc/ajZadTE0g2XvBBbpEXAma5lmkZtAawTJxnIq7BtQhw5vlrTJbvVQq3G20EyF4vncqw0sHe7MgGpAquXj6VBBPtOeaUoAmh6UiNaQAGZmldqdDrYFuNaSlnIKf7QbiRzXIsjNiFpdFddUSx2K1Bjw2g+w5xBprXb1Np6dQLazMZURmxq0HFcyzSkjIBvtDkmfpA01nmRvDaADJTs9OoiRW4kHrURGBuXPDSrQZNkAKDWrPbVOdKNMwYhIwkD1STlLTfEQGicuOawYOkJ1Yxx+Gbs1dbaHa3tOA2XkJ7JcO4JIYjH5uoJ0zWwaFMTK7JMkmQL3GQVe2UFKbqJklOSoDZveO4LK0tEOuRM3HEpJLKrT0e0atw90IGkHHXvxCZJKiJaTcQ2hI9nCiqWETAn8qSSr5JbY0TFBj2KtG7kkkwcCo3KURxnekkgK0UpyatSSQScYyIkqjD7ydJAEgITnGtUkkBehn2TuQLDW9JJX8ELE+I4zWLEq+ta4p0kshGjZGj2d4QtIPMn1PvJJKL7HPdLRvnkrsAe/vCSSIdYcUziunmtiyiQpSmCSSWJ5D6NcZOrj3LQseBxkUklcRQIkQzNTzSSSQH/2Q=="/>
          <p:cNvSpPr>
            <a:spLocks noChangeAspect="1" noChangeArrowheads="1"/>
          </p:cNvSpPr>
          <p:nvPr/>
        </p:nvSpPr>
        <p:spPr bwMode="auto">
          <a:xfrm>
            <a:off x="155575" y="-2841625"/>
            <a:ext cx="7896225" cy="59245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5" name="AutoShape 4" descr="data:image/jpeg;base64,/9j/4AAQSkZJRgABAQAAAQABAAD/2wCEAAkGBxQTEhQUExQWFhUXFBQUFBgUGBQXFxUXFxQXFhcVFRcYHSggGBolHBQUITEhJSkrLi4uFx8zODMsNygtLisBCgoKDg0OGhAQGywkHBwsLCwsLCwsLCwsLCwsLCwsLCwsLCwsLCwsLCwsLCwsLCwsLCwsLCwsLCwsLCwsLCwsNP/AABEIAMIBAwMBIgACEQEDEQH/xAAcAAABBQEBAQAAAAAAAAAAAAADAAECBAUGBwj/xABCEAABAgMEBgYIAwYHAQAAAAABAAIDESEEMUFRBRJhcYGRE6GxwdHwBhQiMkJS4fEHcpIVU2KCorIjQ1SDk8LSM//EABoBAAMBAQEBAAAAAAAAAAAAAAABAgMEBQb/xAAoEQEBAAICAQMDAwUAAAAAAAAAAQIRAxIhBDFBMlFhBRMiFBVSofD/2gAMAwEAAhEDEQA/ALsfSrhfqwx/G4A/pE3dSzrXpYH43H8jZDm49y6aJ6N2BwoyK38r5/3TVSN6G2VwkItob/xn/quWWRu5GLpUZRDnOIBPhqKk+3j5eb3nskusi/h9BPu2qIPzQwewhVIn4dfLbG8YTh2OK07RPlgw7XX3R+qJ4q621Sz4OPfNWnfh1G+G0wjvERvcVAegdrH+bAO6I8drEePuew26Rli79Y/8o8PSp/eP7e8IR9B7bnCO6IO8JN9Crf8AKw/7sPvKc0na8zSz/n/UB9UZulnYhh4EdZACz2ehlv8Akb/ywf8A0jM9DbflCG+KzummGlC0nP8Ayz/IdbsmtfRulp+yHEj5Tcsay+hlop0kaE38pc89g7V01nsbYTZaxiO+Zwu3bFNsN59+KNk1RBjMEogiy1sQ0hxaHbJjHvXFWzTNt+KKTSl1y9D/ABMtTYdjeHVdGfCDMzqP13EZAADmM15S61zwPNXj5iKlEt8c3vKA6JEN7iU/TDaiQLQ0GZB6vFWkO0wX+zrzum3cgGDvWtbtJMiSoRIAVA8VWMZkr+op3RRShw61VuHLM8kJxGY6/BMJZjrSNcLtvUrmgdC+t2hsLX1QQXOIFQ0SnLbUDisxrhi4Lrvw90pZoEV5jPDHOAax5PsAYtdL3ZmVbqYJexuvg+g1iggHonPPzRHxHT4NIb1Jo+hrKTP1aC7D2mOdTiV10I+yHAgtcJhzSHNcDiCKEKtaLBCiA6zBM01mGRSmZ6cr+ybPhY7N/wAbh/2Tfs6B/pIHBsUdj1txvRdhBMOIZ1k1zi0HYT99y5bSeibRBmX2aNIYsi6wrubNPseovO0ZA/00Pg61DsiIZ0ZZf3T2/kj2gf3ucFzcPSwBqIu4xRT+hGhacaL3xx/Mx0uYCNjTXjaCs7rotpZs14EQcnQwetZNq/D6C8kw7WWzwiQJDmx57ESFpxhvjO/nhN7Wko8LSQJo+A7eXQj/AFJ7hac7aPw8tI9yJAijDUe5pPCI0S5rMtXoha4Ym6C7+X2utsx1r0WBGea9G+WbHNeOCvWbSoFNfcHzYeuiNw+rw9wkZGhyNCkvePWCayB2+yetJLcLq6oWbcmNj3J222JmDwCM20v+VvJce62AFlIw60jAOR5qz05xaOtL1j+HrT3SVeidkepP0TsjyHgrbY2w80QRBt6kdqFEQzl1KQZs6lfDxt5BMYoyPV4o7DSkBs6kRrCcDwCM61AYHqQ3Ww4N5lGxpJkI5KhpvScCzwXxIzqMqQ32nbpDvUrRGiOEhnhlvXA/iLFDbHFa0zcdRpIuq8TA4TTxu7orNR536V+ksS2xzEcNVgGrChg0hsndtcbyceAWN0iYsORTapyXWxP0iXSKJamkgJ9In6RDSQE9dLXUEkBPWS1lBIID0v0B0rFgWVpY4yL3nVNW+9K7gV3Vi9KIT5dMww3fMyo4g3LmfQ7RTfU4PxTBdSXxOJWy6wNN4yFdgkByXP2m61kdMyG17daHEa8bL+Sk5jmDWDsK3iXiuVZYw2rSQdhIWnZdLRWUJDx/FLtT2eli2WWFG/8AtBhv2lonwIqFz9t9ArJErDdEgnIHXbydXrXVWXTEOc5ah2gFqO6GHiYLTlJVMk2PLrd+HMdtYUaFEGRnDdyMx1rEtforbYfvWeIRmwCIP6Jr2GNZ3twPCo6kBjHYU3EjsVdi08VY6JCd8cN23WYe4rVhek8cDVeWxWykREaHTH5ve616tEtD7nOJGTtV45OCoxrBZ3+/Z7O7/bDD+plU/A8vOf23Bxs9f4Yr2jgKySXcu9GLCTP1YcI0eX9ySPB7dS20Qx83CSl6/CzcOColqA+GuSLrVbbYB+I8WlSNsg/vP6XeCxRCU22JxuE9yvwlsC1wf3nU7wUxbIP70fpf4LKbol+IlvPgkdGOGSjeP3Py1fX4P7z+l/gl69B+c/pd3hY5sbheE7IcsOaNQbrVfbYdJBzp5ADtKDE0iBdD/U7uCo9FWaKGE0PnYjrBuivtDniRkAcGiS5D090VEiWdjIEJ8R5jDWDAXENDHGZlcJgLrnMkEaCYkvYGUySAKTz3rXj1KWXs8l0f+GlviOAdDbCEp60RzZCspSaSZ8FsD8HY+NpgzlQar7969HbFIq+KJ7BProji1w8Yh5S+y6OzLTxjTX4cWuCR0bDGB1pljRMapFZAmhnTG+gXPWjQdoZ78CK2svahvFTcLr6hfRJtsNuLtlaKD9Otw4T7k+0GnzY+AWzDmkSMjMESPFJsGfwz4L6KiaaY6c2t4gGc1XbpRouhtBFaBs7sKb0doNPAxo15Gt0TpZ6jpc5bRzSiaMLRN0Mje0jtX0G3Sxpty7N6MIgiCTmhwvk4AjjNPY0+chZWfKE7rGz5Qvog6LhTJFngkkSP+Gy7K5SNgbKRgQiCZkajMcbkbDj/AEYs+rY4E/3bOxWrRbC3AO2O8b1qW2F7Rw2C4bljWyHVcc93RPIkC2wT7wcw/qb4rQhWRr6scHflNeIvWCYIRBBlIhaaK4t9tgGKKywSq0y3LJgaQit+LWGTva6zVXoOlR8TJbWnuPiknrVzXiNyKXrQPvNI60zLXDPxgfmp13IvRTukRmJFBI9HCdiOJI7ZJHRgN0+FexObMhOsie6ekTo7aeSZS6N/zO/UUkuw0fVTaisBiBEi1kFy5ZdZtpMd0ez2Zt7q7FqQrQ0CQAAWF0yfp1zXm3fLWYabMeKMCgiIs0R1IRkTlFxazbPrXSQI9kleFVh2khXYekKSNV04Z4VlZYqdEBeitgJRXA3KNnjapr7v9u0bE7SGMCdCqNosUQzAnLBbzoVEKI7BdHDq+7PPw5yJo+LqzLSlZNGRXnFozPgt+K+UhNOy0htyXLnMbqHhjbN1XhaIY2+bjt8EYWVg+Eck77fSSAbQsLyteiyNGtcPdaeAVO06Db8styIy1kXFWGaTdjXetMeTFFxqlDssJgrDmd5P2Tt0kxokGt3DzerEeM11ZSKoRoAPfJazl+EdSdpszAAHJV4mn3g0E8dnYrg0YyV8xyQzZ2NuVW37lr8KLohie0bzVVI9mmVrNgGU5UUTBWMmq07MhljRBZFsMsqmbOr2OzE9VTerrYdAQ3QUrRtkOgKAhEXU3LWdBQnQErVSqsK1RRc93Ez7VYbpOLjqne0dyboUuhS2NQX9qP8AlZyPikg9GmS2NRr2j2WOOQWLrrc0gz/Ddw7VzpK4/UNOL2FMRLXQNZLWXDWywHqbYiq6ykHJShbEREbEVNr0Rr1vjkixdbEUg5VGvRGPW+ObOxs6MtNCw4VbuyR3CaybJEk4b1rONDuXfwZ7xv4c/JPLPixKlV3RVGK9Ac5eflla65NDGKm6RA1k01lcqelkRFIRFVDlIOROQrFoRFMRFUDlIOW+OaLFtj+RTuZmq7HK8GTE9i6+LLtNM7NAwY2qaI7gHVbxCA6DNJjNVa7TcdrkCIEV4BVURQb6HNS1/vgixHmJGGhuhIgeiBRVyqjoSE6CtDVUTDUqZphKJhrRMJQdCS2bPMNJXDCTJbCg7SRLSDKoWfECZ8I/ZRcZBTz47m1cd14RITKJem1l52Ub7SThQmnBUaAoKI0oLSiNKqRNGaUQOQQVIFaSkuWSrmjaFuuZQiazdD2U++dze8rUcPPiF6fpsbMPPy5eW7yc7FoSEOau6XhgHWGN+9Z4cuLkx6WyunG7m0yopi5NNc+TRIKYUA5TajH8JqQClJIJ5rTWkkCtaA0hopeBis2ywddwGGK07fF1IbiLwKdi7PSyyZZ32ZcnmzGAW2OGXkbsVQFuzuWc4Tbrl894N/yzzxqoiLQGeN2yQI7Vxc3rr8eHVh6eNGLazL2W8/BChW3VzG+o+ijCtcAVLYk8g9uqeOrMbqqrabQ1xEjLesv6m/VMpv7f9pf7MvjTfstpa8yFDkcdxVqoXIw4sjRWfXogoHEb69q6cP1DGz+Uc+XprL4dOHqQeuRi2mIb3u5y7FpaGt9dRxMpUJwOW5aYerxzy66905cNxm29NIhQEsCnkuu41lMjFqSUklHWntz1oeqEd6uxm+SqkZk8k8oqM42kTUxEQbRBqq4mLiuDk47vw1mTQD1MOVFkXNGZEWNwy+ytxba5Fa5U2uOSmHlVMM/sW4uB6LZ4rdb2ru3Ys4On3KzCgk4Y+b10cXDlbus8so6RukGgU88FStOl5XFUuhN0u4qtEshXflctMcZNixbYXC+aqttYnIowsBN/Wqlo0Y7Az4ri5uPLJ0Y2RbEZSERZYs0Rt05baqbYj8lw5cfJPhruNRr0RsRZYjHJSFoOSqd58JumqIqLBOsZTWG6K83dSNZGxA64hb8OGWV/lPDPK6nh1tnAaJCW05oGlogMJwnW/fVVYT3SrPl5zWXpSI7bxXpc1k4rJPhhxS3OVnl14Q9dJz5qBK+Ts+Hu4+yfSKUFhcRKgxJuG9CARXx3OvcT5wAuTxmPyL+B4mqKCZdOpJEtol9USA0nCfm/cq0Myy4iaNrOIlOmVw5Cids3v/TLKJuMtp2Xc1CG4hwO1O2GiBoFSnx5ZXKaRZJGnqHzNQcH4PdzKlCtLTSckSY4bV9W8rwzXCJ83WktEw0kx4GtdlBFKyylPsWZFshkCPCS6Nwn9bj1pGyg5HeJy3TWlwlRMq5OJAOKB6mTcJ+di7JtibkOQUxBa3LkFneKL7uXsegXuILpNGS3IWiYbcBcrzYgQ40QCU6TIF0793aqx48Yi5WqNo0a1wMhLcqY0ccQDkbjxzWu+YQw2avrE7qnBsQkDKWyhkrENsqS3KwyFPDzxU+jA2ncjUHlRdC2V87EwhTqBPiexaTYc8PPBE6IAAao4YI0JWPGZLyc5ZSmqTmAmQ23VNL7iuhfDZg3bggRIDZmguy8hLrFd652OC07BP4TTr2oEnEkCtMu2q6wWRjsByFJ5JHR7chLleNiX7cP9yuSNmOR/SfFEbYj5Dl1BsLMh/T1FMbEyfut3+JxuTnHCudYUGz6t9BSpaZHCW9XYUUBuPGQuMsRKSuPswOA2bMU4sYvEp7QMaia0kkZ22q8C1kigI/TuJvuRelnf1tNPG5Eh2aWYmZmZ79/arBgy8+e1PwGZF0fDiXtqcQJTWba9ASE2uwuOO5dC1mHL3pDyVAg1rul4Haufl9Jw8v1Yt+P1HJh7VxMWzuaTMXXqLQu0i2MPAmPHs3qk7QDcHSry2Ly+X9J/wAK7cPX7+qOfhtVljFrQ9BuHx54A+eSJ+wxKrz2Lm/tPNb7w8vV4MxjUVkAuIkKbVo2bRzWGc5nmOWCt9I3Ac12+n/TJx3tld1zcnqdzUZjdF1rKSkbARc7rmPqtFkWe3CgB3g7VNsLzOXUO5enMJHNctsh0B4waeKdbdMQP0pk+o7CMYb/ADxUYsTVkamtw7aorWAZKD2g4S3KyQfEyHgEBpJN3nsRgCLpHefFFhDMfTYppwzYOMu9NFh08VZbkoOhz2IKqWqDj5yU2sUxCAnzTUumK3JkckIJdMiU6cPuiyKcwwMOtAQDzh52IQiHOuSsPbMXU2KDITW3U7OSAhrHb1KRiyF3OSk+GM8O3Yo6t05+diATYgdPHkpAHPgEOHCIrfceIRq9qAYimW37IQZtxu8VYnTDbcoyEqXiYTABY4G/h9VOsueztU5yzwN2aefZkZoAbTP6qb+CnqlR1DikANbAmRM8EYsGPniomYmAa7U7YkqHzs2lPYIgS+yUx4pOupLu2KAlj54oCfmSdjzmoA7exOHbR4oCT2IESGBh5z3fZEMeSGbc3FARZElOk/EbUK0WjO403FE6WYJBACrxXi8ccMEaCPTOwJIzkfFJRFp2BJB7a9cK7Lj1qRZPMXXnwRHPlQApr8D2JA3SC6k/OCYEnCXFTLZXSCqxomV5xuU1S0HZ07eSWuCJ/RVmskJuMzuCaK8EAB0ieP0TLSb9hQHkYojLquB3BJgaaA1yTShDdkZyvmjsjTvTNs8rknQ+ScB541TOibsZz+6i5slFrtks6hBHLSbj1E96k4u+6iTvS6Ug/dPQTY7dOmM+5O6eYQmxcJSxynyTl3mqNAokQDEblNsTaLhdjtQNatZbiOZU2PExdlu8EAVrt+V/mSkHD7/VCcRvlK9Pr0uSAzjn48UMtndTioTpjlikXfa6o3o0ZGEb7+JPNTbkTVIGmI2CfFRcLqT3/VARdjKV9b1CoOGG87U8R/dn2oMSIRh13c0AVxExMX8U7nAUl3/ZV2xh8VPPakQKltSJAiXabkAG1zJOB8c9iyozZVBvNxpv4YrWeyYvA8efUqj3ieZvoa5TmmSoy1kHKW36qbdICftCfCdO9SJaTdjgE8SGDhTE9m9IwjaYQ+GXApKBD/lI4tTJbodT7JkZO61ZF10upABJF8lB8TfxrxomYsQ5TPYqceOBvrdfyTxnPuoAc6dQM1VMCU6gHEgEz4KbFQhfNxOwH/yO9O+0F0wyu2U5dwRobT8IpKRJ7h4orogFD3SEs1JhthuJvBAvLq8hcrLJGl/5ZKAIOE993BGaWSwCaanDMr1MOnsQQ7IJhEHxGW5UWljVCiZX0UBaG3IrHBBaBfZ8qVmolku9Wg4KLXtKNjSg5tRQGWOSnJwlvrSc/BXtQKIghAAJuvr5yUT134Ir7MO/embAkMsb796ZBzBFPOxBESRoCevl1qyIVPPJQMJ2e4C+SDMRnxllgmmJz57clMN1RuzKcndS6+450QcQnW7tUxXOffxwUXMQzDObp8JHgkZ4nEVVF4LSZZ50GyQuR3QTeZ5Xz4oTmOrLjL3th3plpIa0s+XMqTCReKXYCXJSYKDzXaiRYRIpwF4OwoLQTYYNKZ7Rv8UOPBEjK/H6K0yzgATpvyyKIZAYee5B6c7Gs78HSbyIGSgSRQnjnLLaujcAZ13qnaNHAignWYxkgtMI2p2IntBEiktA6N2FOgNpwmD7PnYoBmLj9etSDjiRuUC+d0jzpyS8qOxoF078Md5TkDJCiBxkRxAFeu5JjxdMax4lFEQdrHHVCg6M24TcccVOJnef4jdwVaLI3kn8okFntZokR1+sAcqlOIobImZObjTkqNptoFG6rd1XUVdrJyIaa1LnnDOSWw0jpSdB7XU3ehvtgF7x/IK81WbAaQNYkn+DLASUunAJLQ1ozoSTtTJcbGr7sqXvPZtRW2k0Be0DZfuCxIukC1wn7ZOJu4KYthIk1jRW89ZT2G6bUwTM3O23cAFI2kNE5SpiVz8OKXE60SgGCsCKzXBMzIc96ey014Gkmn4rr0naUaJ+8ROpWNEtTfghtBN5JoqEaJEOt/iANGVK7M0DTrG22ZupiZ9ik613VDd+Wa5KHFDWsBc456t/FFbaCZtAkb5uMwAjY06b14GciSRkMFNtquJpMXnALmnWl4I/xGjWvAwCBbLWAKuc/ajZadTE0g2XvBBbpEXAma5lmkZtAawTJxnIq7BtQhw5vlrTJbvVQq3G20EyF4vncqw0sHe7MgGpAquXj6VBBPtOeaUoAmh6UiNaQAGZmldqdDrYFuNaSlnIKf7QbiRzXIsjNiFpdFddUSx2K1Bjw2g+w5xBprXb1Np6dQLazMZURmxq0HFcyzSkjIBvtDkmfpA01nmRvDaADJTs9OoiRW4kHrURGBuXPDSrQZNkAKDWrPbVOdKNMwYhIwkD1STlLTfEQGicuOawYOkJ1Yxx+Gbs1dbaHa3tOA2XkJ7JcO4JIYjH5uoJ0zWwaFMTK7JMkmQL3GQVe2UFKbqJklOSoDZveO4LK0tEOuRM3HEpJLKrT0e0atw90IGkHHXvxCZJKiJaTcQ2hI9nCiqWETAn8qSSr5JbY0TFBj2KtG7kkkwcCo3KURxnekkgK0UpyatSSQScYyIkqjD7ydJAEgITnGtUkkBehn2TuQLDW9JJX8ELE+I4zWLEq+ta4p0kshGjZGj2d4QtIPMn1PvJJKL7HPdLRvnkrsAe/vCSSIdYcUziunmtiyiQpSmCSSWJ5D6NcZOrj3LQseBxkUklcRQIkQzNTzSSSQH/2Q=="/>
          <p:cNvSpPr>
            <a:spLocks noChangeAspect="1" noChangeArrowheads="1"/>
          </p:cNvSpPr>
          <p:nvPr/>
        </p:nvSpPr>
        <p:spPr bwMode="auto">
          <a:xfrm>
            <a:off x="307975" y="-2689225"/>
            <a:ext cx="7896225" cy="59245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pic>
        <p:nvPicPr>
          <p:cNvPr id="10246" name="Picture 6" descr="http://www.yournursingtutor.com/wp-content/uploads/2012/06/IMG_0558.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95736" y="2636912"/>
            <a:ext cx="4866872" cy="36516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95340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Osmosis question</a:t>
            </a:r>
          </a:p>
        </p:txBody>
      </p:sp>
      <p:pic>
        <p:nvPicPr>
          <p:cNvPr id="4" name="Picture 3"/>
          <p:cNvPicPr>
            <a:picLocks noChangeAspect="1"/>
          </p:cNvPicPr>
          <p:nvPr/>
        </p:nvPicPr>
        <p:blipFill>
          <a:blip r:embed="rId3"/>
          <a:stretch>
            <a:fillRect/>
          </a:stretch>
        </p:blipFill>
        <p:spPr>
          <a:xfrm>
            <a:off x="323528" y="2481586"/>
            <a:ext cx="8424936" cy="2271955"/>
          </a:xfrm>
          <a:prstGeom prst="rect">
            <a:avLst/>
          </a:prstGeom>
        </p:spPr>
      </p:pic>
    </p:spTree>
    <p:extLst>
      <p:ext uri="{BB962C8B-B14F-4D97-AF65-F5344CB8AC3E}">
        <p14:creationId xmlns:p14="http://schemas.microsoft.com/office/powerpoint/2010/main" val="36270149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3596" y="116632"/>
            <a:ext cx="7924800" cy="1143000"/>
          </a:xfrm>
        </p:spPr>
        <p:txBody>
          <a:bodyPr/>
          <a:lstStyle/>
          <a:p>
            <a:r>
              <a:rPr lang="en-AU" dirty="0"/>
              <a:t>Facilitated Diffusion</a:t>
            </a:r>
          </a:p>
        </p:txBody>
      </p:sp>
      <p:sp>
        <p:nvSpPr>
          <p:cNvPr id="3" name="Content Placeholder 2"/>
          <p:cNvSpPr>
            <a:spLocks noGrp="1"/>
          </p:cNvSpPr>
          <p:nvPr>
            <p:ph sz="quarter" idx="13"/>
          </p:nvPr>
        </p:nvSpPr>
        <p:spPr>
          <a:xfrm>
            <a:off x="573596" y="1357013"/>
            <a:ext cx="7924800" cy="4114800"/>
          </a:xfrm>
        </p:spPr>
        <p:txBody>
          <a:bodyPr/>
          <a:lstStyle/>
          <a:p>
            <a:r>
              <a:rPr lang="en-US" sz="1800" dirty="0"/>
              <a:t>Facilitated diffusion occurs when a substance is aided across a membrane by channel proteins or carrier proteins.</a:t>
            </a:r>
          </a:p>
          <a:p>
            <a:r>
              <a:rPr lang="en-US" sz="1800" dirty="0"/>
              <a:t>Facilitated diffusion selectively increases the diffusion rate of specific molecules (e.g. glucose, amino acids).</a:t>
            </a:r>
          </a:p>
          <a:p>
            <a:r>
              <a:rPr lang="en-US" sz="1800" dirty="0"/>
              <a:t>It </a:t>
            </a:r>
            <a:r>
              <a:rPr lang="en-US" sz="1800" b="1" dirty="0"/>
              <a:t>does not </a:t>
            </a:r>
            <a:r>
              <a:rPr lang="en-US" sz="1800" dirty="0"/>
              <a:t>require energy because the molecules are not moving against their concentration gradient.</a:t>
            </a:r>
          </a:p>
          <a:p>
            <a:r>
              <a:rPr lang="en-US" sz="1800" dirty="0"/>
              <a:t>It occurs when a higher diffusion rate is desirable, e.g. transport of glucose into skeletal muscle fibers.</a:t>
            </a:r>
          </a:p>
          <a:p>
            <a:endParaRPr lang="en-AU" dirty="0"/>
          </a:p>
        </p:txBody>
      </p:sp>
      <p:sp>
        <p:nvSpPr>
          <p:cNvPr id="4" name="Rectangle 3"/>
          <p:cNvSpPr/>
          <p:nvPr/>
        </p:nvSpPr>
        <p:spPr>
          <a:xfrm>
            <a:off x="1630772" y="4251125"/>
            <a:ext cx="5904656" cy="2477285"/>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5" name="Picture 2" descr="https://upload.wikimedia.org/wikipedia/commons/thumb/9/91/Scheme_facilitated_diffusion_in_cell_membrane-en.svg/2000px-Scheme_facilitated_diffusion_in_cell_membrane-en.svg.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30772" y="4186329"/>
            <a:ext cx="5904656" cy="2606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52514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n-US"/>
              <a:t>Simple vs. facilitated diffusion</a:t>
            </a:r>
          </a:p>
        </p:txBody>
      </p:sp>
      <p:grpSp>
        <p:nvGrpSpPr>
          <p:cNvPr id="18435" name="Group 27"/>
          <p:cNvGrpSpPr>
            <a:grpSpLocks/>
          </p:cNvGrpSpPr>
          <p:nvPr/>
        </p:nvGrpSpPr>
        <p:grpSpPr bwMode="auto">
          <a:xfrm>
            <a:off x="204788" y="3048000"/>
            <a:ext cx="4567237" cy="3581400"/>
            <a:chOff x="129" y="1920"/>
            <a:chExt cx="2877" cy="2256"/>
          </a:xfrm>
        </p:grpSpPr>
        <p:pic>
          <p:nvPicPr>
            <p:cNvPr id="18447" name="Picture 5"/>
            <p:cNvPicPr>
              <a:picLocks noChangeAspect="1" noChangeArrowheads="1"/>
            </p:cNvPicPr>
            <p:nvPr/>
          </p:nvPicPr>
          <p:blipFill>
            <a:blip r:embed="rId6">
              <a:extLst>
                <a:ext uri="{28A0092B-C50C-407E-A947-70E740481C1C}">
                  <a14:useLocalDpi xmlns:a14="http://schemas.microsoft.com/office/drawing/2010/main" val="0"/>
                </a:ext>
              </a:extLst>
            </a:blip>
            <a:srcRect l="29604" t="49200" r="1057" b="7201"/>
            <a:stretch>
              <a:fillRect/>
            </a:stretch>
          </p:blipFill>
          <p:spPr bwMode="auto">
            <a:xfrm>
              <a:off x="129" y="2208"/>
              <a:ext cx="2668" cy="14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48" name="Rectangle 6"/>
            <p:cNvSpPr>
              <a:spLocks noChangeArrowheads="1"/>
            </p:cNvSpPr>
            <p:nvPr/>
          </p:nvSpPr>
          <p:spPr bwMode="auto">
            <a:xfrm>
              <a:off x="138" y="2016"/>
              <a:ext cx="2623" cy="288"/>
            </a:xfrm>
            <a:prstGeom prst="rect">
              <a:avLst/>
            </a:prstGeom>
            <a:solidFill>
              <a:srgbClr val="98D7F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l"/>
              <a:r>
                <a:rPr lang="en-US" b="1">
                  <a:solidFill>
                    <a:srgbClr val="0F116A"/>
                  </a:solidFill>
                </a:rPr>
                <a:t>inside cell</a:t>
              </a:r>
            </a:p>
          </p:txBody>
        </p:sp>
        <p:sp>
          <p:nvSpPr>
            <p:cNvPr id="18449" name="Rectangle 7"/>
            <p:cNvSpPr>
              <a:spLocks noChangeArrowheads="1"/>
            </p:cNvSpPr>
            <p:nvPr/>
          </p:nvSpPr>
          <p:spPr bwMode="auto">
            <a:xfrm>
              <a:off x="146" y="3552"/>
              <a:ext cx="2623" cy="288"/>
            </a:xfrm>
            <a:prstGeom prst="rect">
              <a:avLst/>
            </a:prstGeom>
            <a:solidFill>
              <a:srgbClr val="98D7F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l"/>
              <a:r>
                <a:rPr lang="en-US" b="1">
                  <a:solidFill>
                    <a:srgbClr val="0F116A"/>
                  </a:solidFill>
                </a:rPr>
                <a:t>outside cell</a:t>
              </a:r>
            </a:p>
          </p:txBody>
        </p:sp>
        <p:sp>
          <p:nvSpPr>
            <p:cNvPr id="18450" name="Rectangle 8"/>
            <p:cNvSpPr>
              <a:spLocks noChangeArrowheads="1"/>
            </p:cNvSpPr>
            <p:nvPr/>
          </p:nvSpPr>
          <p:spPr bwMode="auto">
            <a:xfrm>
              <a:off x="2766" y="1920"/>
              <a:ext cx="240" cy="225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grpSp>
      <p:sp>
        <p:nvSpPr>
          <p:cNvPr id="450570" name="Oval 10"/>
          <p:cNvSpPr>
            <a:spLocks noChangeArrowheads="1"/>
          </p:cNvSpPr>
          <p:nvPr/>
        </p:nvSpPr>
        <p:spPr bwMode="auto">
          <a:xfrm>
            <a:off x="2566988" y="2971800"/>
            <a:ext cx="533400" cy="533400"/>
          </a:xfrm>
          <a:prstGeom prst="ellipse">
            <a:avLst/>
          </a:prstGeom>
          <a:solidFill>
            <a:srgbClr val="FFEA18"/>
          </a:solidFill>
          <a:ln w="9525">
            <a:solidFill>
              <a:srgbClr val="FFCC18"/>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b="1">
                <a:solidFill>
                  <a:srgbClr val="CC0000"/>
                </a:solidFill>
              </a:rPr>
              <a:t>lipid</a:t>
            </a:r>
            <a:endParaRPr lang="en-US" sz="2800"/>
          </a:p>
        </p:txBody>
      </p:sp>
      <p:grpSp>
        <p:nvGrpSpPr>
          <p:cNvPr id="18437" name="Group 28"/>
          <p:cNvGrpSpPr>
            <a:grpSpLocks/>
          </p:cNvGrpSpPr>
          <p:nvPr/>
        </p:nvGrpSpPr>
        <p:grpSpPr bwMode="auto">
          <a:xfrm>
            <a:off x="4652963" y="3197225"/>
            <a:ext cx="4235450" cy="2895600"/>
            <a:chOff x="3072" y="2064"/>
            <a:chExt cx="2668" cy="1824"/>
          </a:xfrm>
        </p:grpSpPr>
        <p:pic>
          <p:nvPicPr>
            <p:cNvPr id="18443" name="Picture 16"/>
            <p:cNvPicPr>
              <a:picLocks noChangeAspect="1" noChangeArrowheads="1"/>
            </p:cNvPicPr>
            <p:nvPr/>
          </p:nvPicPr>
          <p:blipFill>
            <a:blip r:embed="rId6">
              <a:extLst>
                <a:ext uri="{28A0092B-C50C-407E-A947-70E740481C1C}">
                  <a14:useLocalDpi xmlns:a14="http://schemas.microsoft.com/office/drawing/2010/main" val="0"/>
                </a:ext>
              </a:extLst>
            </a:blip>
            <a:srcRect l="29604" t="49200" r="1057" b="7201"/>
            <a:stretch>
              <a:fillRect/>
            </a:stretch>
          </p:blipFill>
          <p:spPr bwMode="auto">
            <a:xfrm>
              <a:off x="3072" y="2256"/>
              <a:ext cx="2668" cy="14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44" name="Rectangle 17"/>
            <p:cNvSpPr>
              <a:spLocks noChangeArrowheads="1"/>
            </p:cNvSpPr>
            <p:nvPr/>
          </p:nvSpPr>
          <p:spPr bwMode="auto">
            <a:xfrm>
              <a:off x="3080" y="2064"/>
              <a:ext cx="2632" cy="288"/>
            </a:xfrm>
            <a:prstGeom prst="rect">
              <a:avLst/>
            </a:prstGeom>
            <a:solidFill>
              <a:srgbClr val="98D7F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l"/>
              <a:r>
                <a:rPr lang="en-US" b="1">
                  <a:solidFill>
                    <a:srgbClr val="0F116A"/>
                  </a:solidFill>
                </a:rPr>
                <a:t>inside cell</a:t>
              </a:r>
            </a:p>
          </p:txBody>
        </p:sp>
        <p:sp>
          <p:nvSpPr>
            <p:cNvPr id="18445" name="Rectangle 18"/>
            <p:cNvSpPr>
              <a:spLocks noChangeArrowheads="1"/>
            </p:cNvSpPr>
            <p:nvPr/>
          </p:nvSpPr>
          <p:spPr bwMode="auto">
            <a:xfrm>
              <a:off x="3072" y="3600"/>
              <a:ext cx="2640" cy="288"/>
            </a:xfrm>
            <a:prstGeom prst="rect">
              <a:avLst/>
            </a:prstGeom>
            <a:solidFill>
              <a:srgbClr val="98D7F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l"/>
              <a:r>
                <a:rPr lang="en-US" b="1">
                  <a:solidFill>
                    <a:srgbClr val="0F116A"/>
                  </a:solidFill>
                </a:rPr>
                <a:t>outside cell</a:t>
              </a:r>
            </a:p>
          </p:txBody>
        </p:sp>
        <p:sp>
          <p:nvSpPr>
            <p:cNvPr id="18446" name="AutoShape 20"/>
            <p:cNvSpPr>
              <a:spLocks noChangeArrowheads="1"/>
            </p:cNvSpPr>
            <p:nvPr/>
          </p:nvSpPr>
          <p:spPr bwMode="auto">
            <a:xfrm>
              <a:off x="4479" y="2448"/>
              <a:ext cx="480" cy="1104"/>
            </a:xfrm>
            <a:prstGeom prst="flowChartMagneticDisk">
              <a:avLst/>
            </a:prstGeom>
            <a:solidFill>
              <a:schemeClr va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grpSp>
      <p:sp>
        <p:nvSpPr>
          <p:cNvPr id="450584" name="Oval 24"/>
          <p:cNvSpPr>
            <a:spLocks noChangeArrowheads="1"/>
          </p:cNvSpPr>
          <p:nvPr/>
        </p:nvSpPr>
        <p:spPr bwMode="auto">
          <a:xfrm>
            <a:off x="7000875" y="3222625"/>
            <a:ext cx="533400" cy="533400"/>
          </a:xfrm>
          <a:prstGeom prst="ellipse">
            <a:avLst/>
          </a:prstGeom>
          <a:solidFill>
            <a:srgbClr val="0F116A"/>
          </a:solidFill>
          <a:ln w="9525">
            <a:solidFill>
              <a:srgbClr val="1A158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sz="2000" b="1">
                <a:solidFill>
                  <a:schemeClr val="bg1"/>
                </a:solidFill>
              </a:rPr>
              <a:t>H</a:t>
            </a:r>
            <a:r>
              <a:rPr lang="en-US" b="1" baseline="-25000">
                <a:solidFill>
                  <a:schemeClr val="bg1"/>
                </a:solidFill>
              </a:rPr>
              <a:t>2</a:t>
            </a:r>
            <a:r>
              <a:rPr lang="en-US" sz="2000" b="1">
                <a:solidFill>
                  <a:schemeClr val="bg1"/>
                </a:solidFill>
              </a:rPr>
              <a:t>O</a:t>
            </a:r>
            <a:endParaRPr lang="en-US" sz="2800"/>
          </a:p>
        </p:txBody>
      </p:sp>
      <p:sp>
        <p:nvSpPr>
          <p:cNvPr id="450589" name="AutoShape 29"/>
          <p:cNvSpPr>
            <a:spLocks noChangeArrowheads="1"/>
          </p:cNvSpPr>
          <p:nvPr/>
        </p:nvSpPr>
        <p:spPr bwMode="auto">
          <a:xfrm>
            <a:off x="696913" y="1979613"/>
            <a:ext cx="3162300" cy="600075"/>
          </a:xfrm>
          <a:prstGeom prst="roundRect">
            <a:avLst>
              <a:gd name="adj" fmla="val 16667"/>
            </a:avLst>
          </a:prstGeom>
          <a:solidFill>
            <a:srgbClr val="FFEA18"/>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sz="3000" b="1">
                <a:solidFill>
                  <a:srgbClr val="0F116A"/>
                </a:solidFill>
              </a:rPr>
              <a:t>simple diffusion</a:t>
            </a:r>
          </a:p>
        </p:txBody>
      </p:sp>
      <p:sp>
        <p:nvSpPr>
          <p:cNvPr id="450590" name="AutoShape 30"/>
          <p:cNvSpPr>
            <a:spLocks noChangeArrowheads="1"/>
          </p:cNvSpPr>
          <p:nvPr/>
        </p:nvSpPr>
        <p:spPr bwMode="auto">
          <a:xfrm>
            <a:off x="4938713" y="1979613"/>
            <a:ext cx="3733800" cy="600075"/>
          </a:xfrm>
          <a:prstGeom prst="roundRect">
            <a:avLst>
              <a:gd name="adj" fmla="val 16667"/>
            </a:avLst>
          </a:prstGeom>
          <a:solidFill>
            <a:srgbClr val="FFEA18"/>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sz="3000" b="1">
                <a:solidFill>
                  <a:srgbClr val="0F116A"/>
                </a:solidFill>
              </a:rPr>
              <a:t>facilitated diffusion</a:t>
            </a:r>
          </a:p>
        </p:txBody>
      </p:sp>
      <p:sp>
        <p:nvSpPr>
          <p:cNvPr id="450591" name="Oval 31"/>
          <p:cNvSpPr>
            <a:spLocks noChangeArrowheads="1"/>
          </p:cNvSpPr>
          <p:nvPr/>
        </p:nvSpPr>
        <p:spPr bwMode="auto">
          <a:xfrm>
            <a:off x="8077200" y="5437188"/>
            <a:ext cx="533400" cy="533400"/>
          </a:xfrm>
          <a:prstGeom prst="ellipse">
            <a:avLst/>
          </a:prstGeom>
          <a:solidFill>
            <a:srgbClr val="0F116A"/>
          </a:solidFill>
          <a:ln w="9525">
            <a:solidFill>
              <a:srgbClr val="1A158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sz="2000" b="1">
                <a:solidFill>
                  <a:schemeClr val="bg1"/>
                </a:solidFill>
              </a:rPr>
              <a:t>H</a:t>
            </a:r>
            <a:r>
              <a:rPr lang="en-US" b="1" baseline="-25000">
                <a:solidFill>
                  <a:schemeClr val="bg1"/>
                </a:solidFill>
              </a:rPr>
              <a:t>2</a:t>
            </a:r>
            <a:r>
              <a:rPr lang="en-US" sz="2000" b="1">
                <a:solidFill>
                  <a:schemeClr val="bg1"/>
                </a:solidFill>
              </a:rPr>
              <a:t>O</a:t>
            </a:r>
            <a:endParaRPr lang="en-US" sz="2800"/>
          </a:p>
        </p:txBody>
      </p:sp>
      <p:sp>
        <p:nvSpPr>
          <p:cNvPr id="450592" name="AutoShape 32"/>
          <p:cNvSpPr>
            <a:spLocks noChangeArrowheads="1"/>
          </p:cNvSpPr>
          <p:nvPr/>
        </p:nvSpPr>
        <p:spPr bwMode="auto">
          <a:xfrm>
            <a:off x="6089650" y="4551363"/>
            <a:ext cx="2298700" cy="373062"/>
          </a:xfrm>
          <a:prstGeom prst="roundRect">
            <a:avLst>
              <a:gd name="adj" fmla="val 16667"/>
            </a:avLst>
          </a:prstGeom>
          <a:solidFill>
            <a:srgbClr val="FFEA18"/>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spAutoFit/>
          </a:bodyPr>
          <a:lstStyle/>
          <a:p>
            <a:r>
              <a:rPr lang="en-US" sz="2200" b="1">
                <a:solidFill>
                  <a:srgbClr val="000000"/>
                </a:solidFill>
              </a:rPr>
              <a:t>protein channel</a:t>
            </a:r>
            <a:endParaRPr lang="en-US" sz="3000" b="1">
              <a:solidFill>
                <a:srgbClr val="000000"/>
              </a:solidFill>
            </a:endParaRPr>
          </a:p>
        </p:txBody>
      </p:sp>
    </p:spTree>
    <p:extLst>
      <p:ext uri="{BB962C8B-B14F-4D97-AF65-F5344CB8AC3E}">
        <p14:creationId xmlns:p14="http://schemas.microsoft.com/office/powerpoint/2010/main" val="51200748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7" presetClass="entr" presetSubtype="4" fill="hold" grpId="0" nodeType="clickEffect">
                                  <p:stCondLst>
                                    <p:cond delay="0"/>
                                  </p:stCondLst>
                                  <p:childTnLst>
                                    <p:set>
                                      <p:cBhvr>
                                        <p:cTn id="6" dur="1" fill="hold">
                                          <p:stCondLst>
                                            <p:cond delay="0"/>
                                          </p:stCondLst>
                                        </p:cTn>
                                        <p:tgtEl>
                                          <p:spTgt spid="450570"/>
                                        </p:tgtEl>
                                        <p:attrNameLst>
                                          <p:attrName>style.visibility</p:attrName>
                                        </p:attrNameLst>
                                      </p:cBhvr>
                                      <p:to>
                                        <p:strVal val="visible"/>
                                      </p:to>
                                    </p:set>
                                    <p:anim calcmode="lin" valueType="num">
                                      <p:cBhvr additive="base">
                                        <p:cTn id="7" dur="2000" fill="hold"/>
                                        <p:tgtEl>
                                          <p:spTgt spid="450570"/>
                                        </p:tgtEl>
                                        <p:attrNameLst>
                                          <p:attrName>ppt_x</p:attrName>
                                        </p:attrNameLst>
                                      </p:cBhvr>
                                      <p:tavLst>
                                        <p:tav tm="0">
                                          <p:val>
                                            <p:strVal val="#ppt_x"/>
                                          </p:val>
                                        </p:tav>
                                        <p:tav tm="100000">
                                          <p:val>
                                            <p:strVal val="#ppt_x"/>
                                          </p:val>
                                        </p:tav>
                                      </p:tavLst>
                                    </p:anim>
                                    <p:anim calcmode="lin" valueType="num">
                                      <p:cBhvr additive="base">
                                        <p:cTn id="8" dur="2000" fill="hold"/>
                                        <p:tgtEl>
                                          <p:spTgt spid="450570"/>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Bubbles"/>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450589"/>
                                        </p:tgtEl>
                                        <p:attrNameLst>
                                          <p:attrName>style.visibility</p:attrName>
                                        </p:attrNameLst>
                                      </p:cBhvr>
                                      <p:to>
                                        <p:strVal val="visible"/>
                                      </p:to>
                                    </p:set>
                                    <p:animEffect transition="in" filter="wipe(left)">
                                      <p:cBhvr>
                                        <p:cTn id="13" dur="500"/>
                                        <p:tgtEl>
                                          <p:spTgt spid="450589"/>
                                        </p:tgtEl>
                                      </p:cBhvr>
                                    </p:animEffect>
                                  </p:childTnLst>
                                  <p:subTnLst>
                                    <p:audio>
                                      <p:cMediaNode>
                                        <p:cTn display="0" masterRel="sameClick">
                                          <p:stCondLst>
                                            <p:cond evt="begin" delay="0">
                                              <p:tn val="11"/>
                                            </p:cond>
                                          </p:stCondLst>
                                          <p:endCondLst>
                                            <p:cond evt="onStopAudio" delay="0">
                                              <p:tgtEl>
                                                <p:sldTgt/>
                                              </p:tgtEl>
                                            </p:cond>
                                          </p:endCondLst>
                                        </p:cTn>
                                        <p:tgtEl>
                                          <p:sndTgt r:embed="rId3" name="Chimes"/>
                                        </p:tgtEl>
                                      </p:cMediaNode>
                                    </p:audio>
                                  </p:subTnLst>
                                </p:cTn>
                              </p:par>
                            </p:childTnLst>
                          </p:cTn>
                        </p:par>
                      </p:childTnLst>
                    </p:cTn>
                  </p:par>
                  <p:par>
                    <p:cTn id="14" fill="hold" nodeType="clickPar">
                      <p:stCondLst>
                        <p:cond delay="indefinite"/>
                      </p:stCondLst>
                      <p:childTnLst>
                        <p:par>
                          <p:cTn id="15" fill="hold" nodeType="withGroup">
                            <p:stCondLst>
                              <p:cond delay="0"/>
                            </p:stCondLst>
                            <p:childTnLst>
                              <p:par>
                                <p:cTn id="16" presetID="7" presetClass="entr" presetSubtype="4" fill="hold" grpId="0" nodeType="clickEffect">
                                  <p:stCondLst>
                                    <p:cond delay="0"/>
                                  </p:stCondLst>
                                  <p:childTnLst>
                                    <p:set>
                                      <p:cBhvr>
                                        <p:cTn id="17" dur="1" fill="hold">
                                          <p:stCondLst>
                                            <p:cond delay="0"/>
                                          </p:stCondLst>
                                        </p:cTn>
                                        <p:tgtEl>
                                          <p:spTgt spid="450591"/>
                                        </p:tgtEl>
                                        <p:attrNameLst>
                                          <p:attrName>style.visibility</p:attrName>
                                        </p:attrNameLst>
                                      </p:cBhvr>
                                      <p:to>
                                        <p:strVal val="visible"/>
                                      </p:to>
                                    </p:set>
                                    <p:anim calcmode="lin" valueType="num">
                                      <p:cBhvr additive="base">
                                        <p:cTn id="18" dur="500" fill="hold"/>
                                        <p:tgtEl>
                                          <p:spTgt spid="450591"/>
                                        </p:tgtEl>
                                        <p:attrNameLst>
                                          <p:attrName>ppt_x</p:attrName>
                                        </p:attrNameLst>
                                      </p:cBhvr>
                                      <p:tavLst>
                                        <p:tav tm="0">
                                          <p:val>
                                            <p:strVal val="#ppt_x"/>
                                          </p:val>
                                        </p:tav>
                                        <p:tav tm="100000">
                                          <p:val>
                                            <p:strVal val="#ppt_x"/>
                                          </p:val>
                                        </p:tav>
                                      </p:tavLst>
                                    </p:anim>
                                    <p:anim calcmode="lin" valueType="num">
                                      <p:cBhvr additive="base">
                                        <p:cTn id="19" dur="500" fill="hold"/>
                                        <p:tgtEl>
                                          <p:spTgt spid="450591"/>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4" name="String"/>
                                        </p:tgtEl>
                                      </p:cMediaNode>
                                    </p:audio>
                                  </p:subTnLst>
                                </p:cTn>
                              </p:par>
                            </p:childTnLst>
                          </p:cTn>
                        </p:par>
                      </p:childTnLst>
                    </p:cTn>
                  </p:par>
                  <p:par>
                    <p:cTn id="20" fill="hold" nodeType="clickPar">
                      <p:stCondLst>
                        <p:cond delay="indefinite"/>
                      </p:stCondLst>
                      <p:childTnLst>
                        <p:par>
                          <p:cTn id="21" fill="hold" nodeType="withGroup">
                            <p:stCondLst>
                              <p:cond delay="0"/>
                            </p:stCondLst>
                            <p:childTnLst>
                              <p:par>
                                <p:cTn id="22" presetID="7" presetClass="entr" presetSubtype="4" fill="hold" grpId="0" nodeType="clickEffect">
                                  <p:stCondLst>
                                    <p:cond delay="0"/>
                                  </p:stCondLst>
                                  <p:childTnLst>
                                    <p:set>
                                      <p:cBhvr>
                                        <p:cTn id="23" dur="1" fill="hold">
                                          <p:stCondLst>
                                            <p:cond delay="0"/>
                                          </p:stCondLst>
                                        </p:cTn>
                                        <p:tgtEl>
                                          <p:spTgt spid="450584"/>
                                        </p:tgtEl>
                                        <p:attrNameLst>
                                          <p:attrName>style.visibility</p:attrName>
                                        </p:attrNameLst>
                                      </p:cBhvr>
                                      <p:to>
                                        <p:strVal val="visible"/>
                                      </p:to>
                                    </p:set>
                                    <p:anim calcmode="lin" valueType="num">
                                      <p:cBhvr additive="base">
                                        <p:cTn id="24" dur="1000" fill="hold"/>
                                        <p:tgtEl>
                                          <p:spTgt spid="450584"/>
                                        </p:tgtEl>
                                        <p:attrNameLst>
                                          <p:attrName>ppt_x</p:attrName>
                                        </p:attrNameLst>
                                      </p:cBhvr>
                                      <p:tavLst>
                                        <p:tav tm="0">
                                          <p:val>
                                            <p:strVal val="#ppt_x"/>
                                          </p:val>
                                        </p:tav>
                                        <p:tav tm="100000">
                                          <p:val>
                                            <p:strVal val="#ppt_x"/>
                                          </p:val>
                                        </p:tav>
                                      </p:tavLst>
                                    </p:anim>
                                    <p:anim calcmode="lin" valueType="num">
                                      <p:cBhvr additive="base">
                                        <p:cTn id="25" dur="1000" fill="hold"/>
                                        <p:tgtEl>
                                          <p:spTgt spid="450584"/>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2"/>
                                            </p:cond>
                                          </p:stCondLst>
                                          <p:endCondLst>
                                            <p:cond evt="onStopAudio" delay="0">
                                              <p:tgtEl>
                                                <p:sldTgt/>
                                              </p:tgtEl>
                                            </p:cond>
                                          </p:endCondLst>
                                        </p:cTn>
                                        <p:tgtEl>
                                          <p:sndTgt r:embed="rId2" name="Bubbles"/>
                                        </p:tgtEl>
                                      </p:cMediaNode>
                                    </p:audio>
                                  </p:sub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450590"/>
                                        </p:tgtEl>
                                        <p:attrNameLst>
                                          <p:attrName>style.visibility</p:attrName>
                                        </p:attrNameLst>
                                      </p:cBhvr>
                                      <p:to>
                                        <p:strVal val="visible"/>
                                      </p:to>
                                    </p:set>
                                    <p:animEffect transition="in" filter="wipe(left)">
                                      <p:cBhvr>
                                        <p:cTn id="30" dur="500"/>
                                        <p:tgtEl>
                                          <p:spTgt spid="450590"/>
                                        </p:tgtEl>
                                      </p:cBhvr>
                                    </p:animEffect>
                                  </p:childTnLst>
                                  <p:subTnLst>
                                    <p:audio>
                                      <p:cMediaNode>
                                        <p:cTn display="0" masterRel="sameClick">
                                          <p:stCondLst>
                                            <p:cond evt="begin" delay="0">
                                              <p:tn val="28"/>
                                            </p:cond>
                                          </p:stCondLst>
                                          <p:endCondLst>
                                            <p:cond evt="onStopAudio" delay="0">
                                              <p:tgtEl>
                                                <p:sldTgt/>
                                              </p:tgtEl>
                                            </p:cond>
                                          </p:endCondLst>
                                        </p:cTn>
                                        <p:tgtEl>
                                          <p:sndTgt r:embed="rId3" name="Chimes"/>
                                        </p:tgtEl>
                                      </p:cMediaNode>
                                    </p:audio>
                                  </p:sub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450592"/>
                                        </p:tgtEl>
                                        <p:attrNameLst>
                                          <p:attrName>style.visibility</p:attrName>
                                        </p:attrNameLst>
                                      </p:cBhvr>
                                      <p:to>
                                        <p:strVal val="visible"/>
                                      </p:to>
                                    </p:set>
                                    <p:animEffect transition="in" filter="wipe(left)">
                                      <p:cBhvr>
                                        <p:cTn id="35" dur="500"/>
                                        <p:tgtEl>
                                          <p:spTgt spid="450592"/>
                                        </p:tgtEl>
                                      </p:cBhvr>
                                    </p:animEffect>
                                  </p:childTnLst>
                                  <p:subTnLst>
                                    <p:audio>
                                      <p:cMediaNode>
                                        <p:cTn display="0" masterRel="sameClick">
                                          <p:stCondLst>
                                            <p:cond evt="begin" delay="0">
                                              <p:tn val="33"/>
                                            </p:cond>
                                          </p:stCondLst>
                                          <p:endCondLst>
                                            <p:cond evt="onStopAudio" delay="0">
                                              <p:tgtEl>
                                                <p:sldTgt/>
                                              </p:tgtEl>
                                            </p:cond>
                                          </p:endCondLst>
                                        </p:cTn>
                                        <p:tgtEl>
                                          <p:sndTgt r:embed="rId5" name="Vibro Up"/>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70" grpId="0" animBg="1"/>
      <p:bldP spid="450584" grpId="0" animBg="1"/>
      <p:bldP spid="450589" grpId="0" animBg="1" autoUpdateAnimBg="0"/>
      <p:bldP spid="450590" grpId="0" animBg="1" autoUpdateAnimBg="0"/>
      <p:bldP spid="450591" grpId="0" animBg="1"/>
      <p:bldP spid="450592" grpId="0" animBg="1"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Facilitated diffusion – carrier protein</a:t>
            </a:r>
          </a:p>
        </p:txBody>
      </p:sp>
      <p:sp>
        <p:nvSpPr>
          <p:cNvPr id="3" name="Content Placeholder 2"/>
          <p:cNvSpPr>
            <a:spLocks noGrp="1"/>
          </p:cNvSpPr>
          <p:nvPr>
            <p:ph sz="quarter" idx="13"/>
          </p:nvPr>
        </p:nvSpPr>
        <p:spPr/>
        <p:txBody>
          <a:bodyPr>
            <a:normAutofit/>
          </a:bodyPr>
          <a:lstStyle/>
          <a:p>
            <a:r>
              <a:rPr lang="en-AU" sz="1800" dirty="0"/>
              <a:t>Carrier proteins bind to specific molecules on one side of the membrane, change shape and release the substance on the other side.  </a:t>
            </a:r>
          </a:p>
          <a:p>
            <a:r>
              <a:rPr lang="en-AU" sz="1800" dirty="0"/>
              <a:t>Glucose moves in this way.</a:t>
            </a:r>
          </a:p>
          <a:p>
            <a:r>
              <a:rPr lang="en-AU" sz="1800" dirty="0"/>
              <a:t>Remember – this still does not require energy.</a:t>
            </a:r>
          </a:p>
        </p:txBody>
      </p:sp>
      <p:pic>
        <p:nvPicPr>
          <p:cNvPr id="4" name="Picture 3"/>
          <p:cNvPicPr>
            <a:picLocks noChangeAspect="1"/>
          </p:cNvPicPr>
          <p:nvPr/>
        </p:nvPicPr>
        <p:blipFill>
          <a:blip r:embed="rId2"/>
          <a:stretch>
            <a:fillRect/>
          </a:stretch>
        </p:blipFill>
        <p:spPr>
          <a:xfrm>
            <a:off x="981517" y="3356992"/>
            <a:ext cx="7096125" cy="2676525"/>
          </a:xfrm>
          <a:prstGeom prst="rect">
            <a:avLst/>
          </a:prstGeom>
        </p:spPr>
      </p:pic>
    </p:spTree>
    <p:extLst>
      <p:ext uri="{BB962C8B-B14F-4D97-AF65-F5344CB8AC3E}">
        <p14:creationId xmlns:p14="http://schemas.microsoft.com/office/powerpoint/2010/main" val="17454709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a:t>Facilitated diffusion – channel protein</a:t>
            </a:r>
          </a:p>
        </p:txBody>
      </p:sp>
      <p:sp>
        <p:nvSpPr>
          <p:cNvPr id="3" name="Content Placeholder 2"/>
          <p:cNvSpPr>
            <a:spLocks noGrp="1"/>
          </p:cNvSpPr>
          <p:nvPr>
            <p:ph sz="quarter" idx="13"/>
          </p:nvPr>
        </p:nvSpPr>
        <p:spPr/>
        <p:txBody>
          <a:bodyPr/>
          <a:lstStyle/>
          <a:p>
            <a:r>
              <a:rPr lang="en-AU" sz="1800" dirty="0"/>
              <a:t>Channel proteins form narrow passageways through which small ions can diffuse rapidly from a high ion concentration to a lower ion concentration.  </a:t>
            </a:r>
          </a:p>
          <a:p>
            <a:r>
              <a:rPr lang="en-AU" sz="1800" dirty="0"/>
              <a:t>Only ions of a specific size and shape can pass through a particular channel protein.</a:t>
            </a:r>
          </a:p>
          <a:p>
            <a:r>
              <a:rPr lang="en-AU" sz="1800" dirty="0"/>
              <a:t>Remember – this still does not require energy.</a:t>
            </a:r>
            <a:endParaRPr lang="en-US" dirty="0"/>
          </a:p>
          <a:p>
            <a:endParaRPr lang="en-AU" dirty="0"/>
          </a:p>
        </p:txBody>
      </p:sp>
      <p:pic>
        <p:nvPicPr>
          <p:cNvPr id="4" name="Picture 3"/>
          <p:cNvPicPr>
            <a:picLocks noChangeAspect="1"/>
          </p:cNvPicPr>
          <p:nvPr/>
        </p:nvPicPr>
        <p:blipFill rotWithShape="1">
          <a:blip r:embed="rId2"/>
          <a:srcRect r="961"/>
          <a:stretch/>
        </p:blipFill>
        <p:spPr>
          <a:xfrm>
            <a:off x="755576" y="3429000"/>
            <a:ext cx="7848600" cy="2477741"/>
          </a:xfrm>
          <a:prstGeom prst="rect">
            <a:avLst/>
          </a:prstGeom>
        </p:spPr>
      </p:pic>
    </p:spTree>
    <p:extLst>
      <p:ext uri="{BB962C8B-B14F-4D97-AF65-F5344CB8AC3E}">
        <p14:creationId xmlns:p14="http://schemas.microsoft.com/office/powerpoint/2010/main" val="5168385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1"/>
          <p:cNvSpPr>
            <a:spLocks noGrp="1" noChangeArrowheads="1"/>
          </p:cNvSpPr>
          <p:nvPr>
            <p:ph type="title"/>
          </p:nvPr>
        </p:nvSpPr>
        <p:spPr/>
        <p:txBody>
          <a:bodyPr/>
          <a:lstStyle/>
          <a:p>
            <a:r>
              <a:rPr lang="en-US" dirty="0"/>
              <a:t>Active Transport</a:t>
            </a:r>
          </a:p>
        </p:txBody>
      </p:sp>
      <p:sp>
        <p:nvSpPr>
          <p:cNvPr id="63490" name="Rectangle 2"/>
          <p:cNvSpPr>
            <a:spLocks noGrp="1" noChangeArrowheads="1"/>
          </p:cNvSpPr>
          <p:nvPr>
            <p:ph sz="quarter" idx="13"/>
          </p:nvPr>
        </p:nvSpPr>
        <p:spPr>
          <a:xfrm>
            <a:off x="567035" y="1556792"/>
            <a:ext cx="4826496" cy="4781128"/>
          </a:xfrm>
        </p:spPr>
        <p:txBody>
          <a:bodyPr>
            <a:normAutofit/>
          </a:bodyPr>
          <a:lstStyle/>
          <a:p>
            <a:r>
              <a:rPr lang="en-US" sz="1800" dirty="0"/>
              <a:t>Active transport processes </a:t>
            </a:r>
            <a:r>
              <a:rPr lang="en-US" sz="1800" b="1" dirty="0"/>
              <a:t>require energy expenditure </a:t>
            </a:r>
            <a:r>
              <a:rPr lang="en-US" sz="1800" dirty="0"/>
              <a:t>because materials must be moved </a:t>
            </a:r>
            <a:r>
              <a:rPr lang="en-US" sz="1800" b="1" dirty="0"/>
              <a:t>against their concentration gradient</a:t>
            </a:r>
            <a:r>
              <a:rPr lang="en-US" sz="1800" dirty="0"/>
              <a:t>. </a:t>
            </a:r>
          </a:p>
          <a:p>
            <a:r>
              <a:rPr lang="en-US" sz="1800" dirty="0"/>
              <a:t>Active transport is performed by specific carrier proteins in the membrane. These are often referred to as </a:t>
            </a:r>
            <a:r>
              <a:rPr lang="en-US" sz="1800" b="1" dirty="0"/>
              <a:t>ion pumps.</a:t>
            </a:r>
          </a:p>
          <a:p>
            <a:r>
              <a:rPr lang="en-US" sz="1800" dirty="0"/>
              <a:t>Transport proteins harness the energy of ATP to pump molecules from a low concentration to a high concentration (the reverse of diffusion). </a:t>
            </a:r>
          </a:p>
          <a:p>
            <a:pPr lvl="1"/>
            <a:r>
              <a:rPr lang="en-US" sz="1800" dirty="0"/>
              <a:t>When ATP transfers a phosphate group to the carrier protein, the protein changes its shape so that the bound molecule can move across the membrane. </a:t>
            </a:r>
          </a:p>
        </p:txBody>
      </p:sp>
      <p:sp>
        <p:nvSpPr>
          <p:cNvPr id="63491" name="Rectangle 3"/>
          <p:cNvSpPr>
            <a:spLocks/>
          </p:cNvSpPr>
          <p:nvPr/>
        </p:nvSpPr>
        <p:spPr bwMode="auto">
          <a:xfrm>
            <a:off x="5804297" y="5232797"/>
            <a:ext cx="2723555" cy="10179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tabLst>
                <a:tab pos="366104" algn="l"/>
              </a:tabLst>
            </a:pPr>
            <a:r>
              <a:rPr lang="en-US" sz="1300">
                <a:solidFill>
                  <a:srgbClr val="001BFF"/>
                </a:solidFill>
                <a:latin typeface="Arial" charset="0"/>
                <a:cs typeface="Arial" charset="0"/>
                <a:sym typeface="Arial" charset="0"/>
              </a:rPr>
              <a:t>Space filling model of rabbit </a:t>
            </a:r>
            <a:br>
              <a:rPr lang="en-US" sz="1300">
                <a:solidFill>
                  <a:srgbClr val="001BFF"/>
                </a:solidFill>
                <a:latin typeface="Arial" charset="0"/>
                <a:cs typeface="Arial" charset="0"/>
                <a:sym typeface="Arial" charset="0"/>
              </a:rPr>
            </a:br>
            <a:r>
              <a:rPr lang="en-US" sz="1300">
                <a:solidFill>
                  <a:srgbClr val="001BFF"/>
                </a:solidFill>
                <a:latin typeface="Arial" charset="0"/>
                <a:cs typeface="Arial" charset="0"/>
                <a:sym typeface="Arial" charset="0"/>
              </a:rPr>
              <a:t>calcium ATPase. Calcium ATPase is a membrane transport protein which transfers calcium after a muscle has contracted.</a:t>
            </a:r>
          </a:p>
        </p:txBody>
      </p:sp>
      <p:pic>
        <p:nvPicPr>
          <p:cNvPr id="6349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3531" y="848320"/>
            <a:ext cx="3287242" cy="42237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25400" dist="12699" dir="5400000" algn="ctr" rotWithShape="0">
                    <a:schemeClr val="bg2">
                      <a:alpha val="50000"/>
                    </a:schemeClr>
                  </a:outerShdw>
                </a:effectLst>
              </a14:hiddenEffects>
            </a:ext>
          </a:extLst>
        </p:spPr>
      </p:pic>
    </p:spTree>
    <p:extLst>
      <p:ext uri="{BB962C8B-B14F-4D97-AF65-F5344CB8AC3E}">
        <p14:creationId xmlns:p14="http://schemas.microsoft.com/office/powerpoint/2010/main" val="274097109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3490">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63490">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63490">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6349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0" grpId="0" build="p" bldLvl="5"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Active Transport</a:t>
            </a:r>
          </a:p>
        </p:txBody>
      </p:sp>
      <p:sp>
        <p:nvSpPr>
          <p:cNvPr id="3" name="Content Placeholder 2"/>
          <p:cNvSpPr>
            <a:spLocks noGrp="1"/>
          </p:cNvSpPr>
          <p:nvPr>
            <p:ph sz="quarter" idx="13"/>
          </p:nvPr>
        </p:nvSpPr>
        <p:spPr/>
        <p:txBody>
          <a:bodyPr/>
          <a:lstStyle/>
          <a:p>
            <a:r>
              <a:rPr lang="en-AU" sz="1800" dirty="0"/>
              <a:t>Membrane transport proteins, similar to those responsible for facilitated diffusion, use energy from </a:t>
            </a:r>
            <a:r>
              <a:rPr lang="en-AU" sz="1800" b="1" dirty="0"/>
              <a:t>adenosine triphosphate (ATP) </a:t>
            </a:r>
            <a:r>
              <a:rPr lang="en-AU" sz="1800" dirty="0"/>
              <a:t>to move molecules or ions against the concentration gradient. </a:t>
            </a:r>
          </a:p>
          <a:p>
            <a:r>
              <a:rPr lang="en-AU" sz="1800" dirty="0"/>
              <a:t>As these carrier proteins work in only one direction, they effectively act as one-way valves.</a:t>
            </a:r>
            <a:endParaRPr lang="en-US" dirty="0"/>
          </a:p>
          <a:p>
            <a:endParaRPr lang="en-AU" dirty="0"/>
          </a:p>
        </p:txBody>
      </p:sp>
      <p:pic>
        <p:nvPicPr>
          <p:cNvPr id="4" name="Picture 3"/>
          <p:cNvPicPr>
            <a:picLocks noChangeAspect="1"/>
          </p:cNvPicPr>
          <p:nvPr/>
        </p:nvPicPr>
        <p:blipFill rotWithShape="1">
          <a:blip r:embed="rId2"/>
          <a:srcRect l="3582" t="4999" r="418"/>
          <a:stretch/>
        </p:blipFill>
        <p:spPr>
          <a:xfrm>
            <a:off x="827584" y="3416426"/>
            <a:ext cx="7488832" cy="3185621"/>
          </a:xfrm>
          <a:prstGeom prst="rect">
            <a:avLst/>
          </a:prstGeom>
        </p:spPr>
      </p:pic>
    </p:spTree>
    <p:extLst>
      <p:ext uri="{BB962C8B-B14F-4D97-AF65-F5344CB8AC3E}">
        <p14:creationId xmlns:p14="http://schemas.microsoft.com/office/powerpoint/2010/main" val="34477180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4513" name="Rectangle 1"/>
          <p:cNvSpPr>
            <a:spLocks/>
          </p:cNvSpPr>
          <p:nvPr/>
        </p:nvSpPr>
        <p:spPr bwMode="auto">
          <a:xfrm>
            <a:off x="4326434" y="0"/>
            <a:ext cx="4817566" cy="3661172"/>
          </a:xfrm>
          <a:prstGeom prst="rect">
            <a:avLst/>
          </a:prstGeom>
          <a:gradFill rotWithShape="0">
            <a:gsLst>
              <a:gs pos="0">
                <a:srgbClr val="0B81FF">
                  <a:alpha val="59999"/>
                </a:srgbClr>
              </a:gs>
              <a:gs pos="100000">
                <a:srgbClr val="DBF1F8"/>
              </a:gs>
            </a:gsLst>
            <a:lin ang="16260000" scaled="1"/>
          </a:gradFill>
          <a:ln>
            <a:noFill/>
          </a:ln>
          <a:effectLst/>
          <a:extLst>
            <a:ext uri="{91240B29-F687-4F45-9708-019B960494DF}">
              <a14:hiddenLine xmlns:a14="http://schemas.microsoft.com/office/drawing/2010/main" w="25400">
                <a:solidFill>
                  <a:srgbClr val="6D381D"/>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291" tIns="32146" rIns="64291" bIns="32146"/>
          <a:lstStyle/>
          <a:p>
            <a:endParaRPr lang="en-AU"/>
          </a:p>
        </p:txBody>
      </p:sp>
      <p:sp>
        <p:nvSpPr>
          <p:cNvPr id="64514" name="Rectangle 2"/>
          <p:cNvSpPr>
            <a:spLocks/>
          </p:cNvSpPr>
          <p:nvPr/>
        </p:nvSpPr>
        <p:spPr bwMode="auto">
          <a:xfrm>
            <a:off x="4330898" y="4522887"/>
            <a:ext cx="4804172" cy="2335113"/>
          </a:xfrm>
          <a:prstGeom prst="rect">
            <a:avLst/>
          </a:prstGeom>
          <a:solidFill>
            <a:srgbClr val="FECB63">
              <a:alpha val="69803"/>
            </a:srgbClr>
          </a:solidFill>
          <a:ln>
            <a:noFill/>
          </a:ln>
          <a:effectLst/>
          <a:extLst>
            <a:ext uri="{91240B29-F687-4F45-9708-019B960494DF}">
              <a14:hiddenLine xmlns:a14="http://schemas.microsoft.com/office/drawing/2010/main" w="25400">
                <a:solidFill>
                  <a:srgbClr val="6D381D"/>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p>
            <a:pPr marL="80364">
              <a:tabLst>
                <a:tab pos="366104" algn="l"/>
              </a:tabLst>
            </a:pPr>
            <a:r>
              <a:rPr lang="en-US">
                <a:solidFill>
                  <a:schemeClr val="tx1"/>
                </a:solidFill>
                <a:effectLst>
                  <a:outerShdw blurRad="38100" dist="38100" dir="2700000" algn="tl">
                    <a:srgbClr val="000000"/>
                  </a:outerShdw>
                </a:effectLst>
                <a:ea typeface="Hoefler Text" pitchFamily="1" charset="0"/>
                <a:cs typeface="Hoefler Text" pitchFamily="1" charset="0"/>
              </a:rPr>
              <a:t> </a:t>
            </a:r>
          </a:p>
        </p:txBody>
      </p:sp>
      <p:sp>
        <p:nvSpPr>
          <p:cNvPr id="64515" name="Rectangle 3"/>
          <p:cNvSpPr>
            <a:spLocks noGrp="1" noChangeArrowheads="1"/>
          </p:cNvSpPr>
          <p:nvPr>
            <p:ph type="title"/>
          </p:nvPr>
        </p:nvSpPr>
        <p:spPr>
          <a:xfrm>
            <a:off x="611560" y="450002"/>
            <a:ext cx="3098304" cy="1143000"/>
          </a:xfrm>
        </p:spPr>
        <p:txBody>
          <a:bodyPr>
            <a:normAutofit fontScale="90000"/>
          </a:bodyPr>
          <a:lstStyle/>
          <a:p>
            <a:r>
              <a:rPr lang="en-US" dirty="0"/>
              <a:t>Sodium-Potassium Pumps</a:t>
            </a:r>
          </a:p>
        </p:txBody>
      </p:sp>
      <p:sp>
        <p:nvSpPr>
          <p:cNvPr id="64516" name="Rectangle 4"/>
          <p:cNvSpPr>
            <a:spLocks noGrp="1" noChangeArrowheads="1"/>
          </p:cNvSpPr>
          <p:nvPr>
            <p:ph sz="quarter" idx="13"/>
          </p:nvPr>
        </p:nvSpPr>
        <p:spPr>
          <a:xfrm>
            <a:off x="609787" y="2107961"/>
            <a:ext cx="3314328" cy="4565104"/>
          </a:xfrm>
        </p:spPr>
        <p:txBody>
          <a:bodyPr>
            <a:normAutofit/>
          </a:bodyPr>
          <a:lstStyle/>
          <a:p>
            <a:r>
              <a:rPr lang="en-US" sz="1800" dirty="0"/>
              <a:t>The sodium-potassium pump is a protein in the membrane that exchanges sodium ions (Na+) for potassium ions (K+) across the membrane.</a:t>
            </a:r>
          </a:p>
          <a:p>
            <a:r>
              <a:rPr lang="en-US" sz="1800" dirty="0"/>
              <a:t>ATP is used as the energy source for the exchange.</a:t>
            </a:r>
          </a:p>
          <a:p>
            <a:r>
              <a:rPr lang="en-US" sz="1800" dirty="0"/>
              <a:t>The unequal balance of</a:t>
            </a:r>
            <a:br>
              <a:rPr lang="en-US" sz="1800" dirty="0"/>
            </a:br>
            <a:r>
              <a:rPr lang="en-US" sz="1800" dirty="0"/>
              <a:t>Na+ and K+ across the membrane creates large gradients in ion concentration, which can be used to drive other active transport mechanisms.</a:t>
            </a:r>
          </a:p>
        </p:txBody>
      </p:sp>
      <p:sp>
        <p:nvSpPr>
          <p:cNvPr id="64517" name="Rectangle 5"/>
          <p:cNvSpPr>
            <a:spLocks/>
          </p:cNvSpPr>
          <p:nvPr/>
        </p:nvSpPr>
        <p:spPr bwMode="auto">
          <a:xfrm>
            <a:off x="4330899" y="3656707"/>
            <a:ext cx="4795242" cy="875109"/>
          </a:xfrm>
          <a:prstGeom prst="rect">
            <a:avLst/>
          </a:prstGeom>
          <a:solidFill>
            <a:srgbClr val="FFFFFF"/>
          </a:solidFill>
          <a:ln>
            <a:noFill/>
          </a:ln>
          <a:effectLst/>
          <a:extLst>
            <a:ext uri="{91240B29-F687-4F45-9708-019B960494DF}">
              <a14:hiddenLine xmlns:a14="http://schemas.microsoft.com/office/drawing/2010/main" w="25400">
                <a:solidFill>
                  <a:srgbClr val="6D381D"/>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291" tIns="32146" rIns="64291" bIns="32146"/>
          <a:lstStyle/>
          <a:p>
            <a:endParaRPr lang="en-AU"/>
          </a:p>
        </p:txBody>
      </p:sp>
      <p:sp>
        <p:nvSpPr>
          <p:cNvPr id="64518" name="Rectangle 6"/>
          <p:cNvSpPr>
            <a:spLocks/>
          </p:cNvSpPr>
          <p:nvPr/>
        </p:nvSpPr>
        <p:spPr bwMode="auto">
          <a:xfrm>
            <a:off x="4661297" y="321469"/>
            <a:ext cx="1484061" cy="2000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p>
            <a:pPr marL="80364">
              <a:tabLst>
                <a:tab pos="366104" algn="l"/>
              </a:tabLst>
            </a:pPr>
            <a:r>
              <a:rPr lang="en-US" sz="1300" b="1">
                <a:solidFill>
                  <a:srgbClr val="000000"/>
                </a:solidFill>
                <a:latin typeface="Arial" charset="0"/>
                <a:cs typeface="Arial" charset="0"/>
                <a:sym typeface="Arial" charset="0"/>
              </a:rPr>
              <a:t>Extracellular fluid</a:t>
            </a:r>
          </a:p>
        </p:txBody>
      </p:sp>
      <p:sp>
        <p:nvSpPr>
          <p:cNvPr id="64519" name="Rectangle 7"/>
          <p:cNvSpPr>
            <a:spLocks/>
          </p:cNvSpPr>
          <p:nvPr/>
        </p:nvSpPr>
        <p:spPr bwMode="auto">
          <a:xfrm>
            <a:off x="4554139" y="2928938"/>
            <a:ext cx="982581" cy="36611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tabLst>
                <a:tab pos="366104" algn="l"/>
              </a:tabLst>
            </a:pPr>
            <a:r>
              <a:rPr lang="en-US" sz="1300" dirty="0">
                <a:solidFill>
                  <a:srgbClr val="000000"/>
                </a:solidFill>
                <a:latin typeface="Arial" charset="0"/>
                <a:cs typeface="Arial" charset="0"/>
                <a:sym typeface="Arial" charset="0"/>
              </a:rPr>
              <a:t>Plasma membrane</a:t>
            </a:r>
          </a:p>
        </p:txBody>
      </p:sp>
      <p:sp>
        <p:nvSpPr>
          <p:cNvPr id="64520" name="Rectangle 8"/>
          <p:cNvSpPr>
            <a:spLocks/>
          </p:cNvSpPr>
          <p:nvPr/>
        </p:nvSpPr>
        <p:spPr bwMode="auto">
          <a:xfrm>
            <a:off x="4607719" y="6429375"/>
            <a:ext cx="1261243" cy="2000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p>
            <a:pPr marL="80364">
              <a:tabLst>
                <a:tab pos="366104" algn="l"/>
              </a:tabLst>
            </a:pPr>
            <a:r>
              <a:rPr lang="en-US" sz="1300" b="1">
                <a:solidFill>
                  <a:srgbClr val="000000"/>
                </a:solidFill>
                <a:latin typeface="Arial" charset="0"/>
                <a:cs typeface="Arial" charset="0"/>
                <a:sym typeface="Arial" charset="0"/>
              </a:rPr>
              <a:t>Cell cytoplasm</a:t>
            </a:r>
          </a:p>
        </p:txBody>
      </p:sp>
      <p:sp>
        <p:nvSpPr>
          <p:cNvPr id="64521" name="Rectangle 9"/>
          <p:cNvSpPr>
            <a:spLocks/>
          </p:cNvSpPr>
          <p:nvPr/>
        </p:nvSpPr>
        <p:spPr bwMode="auto">
          <a:xfrm>
            <a:off x="7965281" y="3009305"/>
            <a:ext cx="803672" cy="36611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tabLst>
                <a:tab pos="366104" algn="l"/>
              </a:tabLst>
            </a:pPr>
            <a:r>
              <a:rPr lang="en-US" sz="1300">
                <a:solidFill>
                  <a:srgbClr val="000000"/>
                </a:solidFill>
                <a:latin typeface="Arial" charset="0"/>
                <a:cs typeface="Arial" charset="0"/>
                <a:sym typeface="Arial" charset="0"/>
              </a:rPr>
              <a:t>Carrier protein</a:t>
            </a:r>
          </a:p>
        </p:txBody>
      </p:sp>
      <p:grpSp>
        <p:nvGrpSpPr>
          <p:cNvPr id="64522" name="Group 10"/>
          <p:cNvGrpSpPr>
            <a:grpSpLocks/>
          </p:cNvGrpSpPr>
          <p:nvPr/>
        </p:nvGrpSpPr>
        <p:grpSpPr bwMode="auto">
          <a:xfrm>
            <a:off x="4964906" y="5140152"/>
            <a:ext cx="1630785" cy="485551"/>
            <a:chOff x="0" y="0"/>
            <a:chExt cx="1461" cy="434"/>
          </a:xfrm>
        </p:grpSpPr>
        <p:sp>
          <p:nvSpPr>
            <p:cNvPr id="64523" name="AutoShape 11"/>
            <p:cNvSpPr>
              <a:spLocks/>
            </p:cNvSpPr>
            <p:nvPr/>
          </p:nvSpPr>
          <p:spPr bwMode="auto">
            <a:xfrm>
              <a:off x="448" y="0"/>
              <a:ext cx="1013" cy="295"/>
            </a:xfrm>
            <a:custGeom>
              <a:avLst/>
              <a:gdLst/>
              <a:ahLst/>
              <a:cxnLst/>
              <a:rect l="0" t="0" r="r" b="b"/>
              <a:pathLst>
                <a:path w="21212" h="15226">
                  <a:moveTo>
                    <a:pt x="0" y="11282"/>
                  </a:moveTo>
                  <a:cubicBezTo>
                    <a:pt x="20260" y="21600"/>
                    <a:pt x="21600" y="9631"/>
                    <a:pt x="21153" y="0"/>
                  </a:cubicBezTo>
                </a:path>
              </a:pathLst>
            </a:custGeom>
            <a:noFill/>
            <a:ln w="50800">
              <a:solidFill>
                <a:srgbClr val="FD1C00"/>
              </a:solidFill>
              <a:prstDash val="sysDot"/>
              <a:miter lim="800000"/>
              <a:headEn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grpSp>
          <p:nvGrpSpPr>
            <p:cNvPr id="64524" name="Group 12"/>
            <p:cNvGrpSpPr>
              <a:grpSpLocks/>
            </p:cNvGrpSpPr>
            <p:nvPr/>
          </p:nvGrpSpPr>
          <p:grpSpPr bwMode="auto">
            <a:xfrm>
              <a:off x="0" y="2"/>
              <a:ext cx="552" cy="432"/>
              <a:chOff x="0" y="0"/>
              <a:chExt cx="552" cy="432"/>
            </a:xfrm>
          </p:grpSpPr>
          <p:sp>
            <p:nvSpPr>
              <p:cNvPr id="64525" name="Rectangle 13"/>
              <p:cNvSpPr>
                <a:spLocks/>
              </p:cNvSpPr>
              <p:nvPr/>
            </p:nvSpPr>
            <p:spPr bwMode="auto">
              <a:xfrm>
                <a:off x="0" y="0"/>
                <a:ext cx="552" cy="432"/>
              </a:xfrm>
              <a:prstGeom prst="rect">
                <a:avLst/>
              </a:prstGeom>
              <a:solidFill>
                <a:srgbClr val="000000"/>
              </a:solidFill>
              <a:ln w="50800">
                <a:solidFill>
                  <a:srgbClr val="FFFC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sp>
            <p:nvSpPr>
              <p:cNvPr id="64526" name="Rectangle 14"/>
              <p:cNvSpPr>
                <a:spLocks/>
              </p:cNvSpPr>
              <p:nvPr/>
            </p:nvSpPr>
            <p:spPr bwMode="auto">
              <a:xfrm>
                <a:off x="52" y="96"/>
                <a:ext cx="392" cy="1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p>
                <a:pPr marL="80364" algn="ctr">
                  <a:tabLst>
                    <a:tab pos="366104" algn="l"/>
                  </a:tabLst>
                </a:pPr>
                <a:r>
                  <a:rPr lang="en-US" sz="1400" b="1">
                    <a:solidFill>
                      <a:srgbClr val="FFFFFF"/>
                    </a:solidFill>
                    <a:effectLst>
                      <a:outerShdw blurRad="38100" dist="38100" dir="2700000" algn="tl">
                        <a:srgbClr val="000000"/>
                      </a:outerShdw>
                    </a:effectLst>
                    <a:latin typeface="Arial" charset="0"/>
                    <a:cs typeface="Arial" charset="0"/>
                    <a:sym typeface="Arial" charset="0"/>
                  </a:rPr>
                  <a:t>ATP</a:t>
                </a:r>
              </a:p>
            </p:txBody>
          </p:sp>
        </p:grpSp>
      </p:grpSp>
      <p:grpSp>
        <p:nvGrpSpPr>
          <p:cNvPr id="64527" name="Group 15"/>
          <p:cNvGrpSpPr>
            <a:grpSpLocks/>
          </p:cNvGrpSpPr>
          <p:nvPr/>
        </p:nvGrpSpPr>
        <p:grpSpPr bwMode="auto">
          <a:xfrm>
            <a:off x="4286250" y="3527227"/>
            <a:ext cx="3580805" cy="1099468"/>
            <a:chOff x="0" y="0"/>
            <a:chExt cx="3208" cy="985"/>
          </a:xfrm>
        </p:grpSpPr>
        <p:grpSp>
          <p:nvGrpSpPr>
            <p:cNvPr id="64528" name="Group 16"/>
            <p:cNvGrpSpPr>
              <a:grpSpLocks/>
            </p:cNvGrpSpPr>
            <p:nvPr/>
          </p:nvGrpSpPr>
          <p:grpSpPr bwMode="auto">
            <a:xfrm rot="10800000" flipH="1">
              <a:off x="20" y="460"/>
              <a:ext cx="3188" cy="525"/>
              <a:chOff x="0" y="0"/>
              <a:chExt cx="3187" cy="525"/>
            </a:xfrm>
          </p:grpSpPr>
          <p:pic>
            <p:nvPicPr>
              <p:cNvPr id="64529" name="Picture 1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98" y="0"/>
                <a:ext cx="289"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4530" name="Picture 1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658" y="0"/>
                <a:ext cx="288"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4531" name="Picture 1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18" y="0"/>
                <a:ext cx="288"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4532" name="Picture 2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77" y="0"/>
                <a:ext cx="289"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4533" name="Picture 2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30" y="0"/>
                <a:ext cx="288"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4534" name="Picture 2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89" y="0"/>
                <a:ext cx="289"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4535" name="Picture 2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49" y="0"/>
                <a:ext cx="288"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4536" name="Picture 2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209" y="0"/>
                <a:ext cx="288"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4537" name="Picture 2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68" y="0"/>
                <a:ext cx="289"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4538" name="Picture 2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28" y="0"/>
                <a:ext cx="288"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4539" name="Picture 2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0" y="0"/>
                <a:ext cx="289"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4540" name="Picture 2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0" y="0"/>
                <a:ext cx="288"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4541" name="Picture 2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0"/>
                <a:ext cx="288"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grpSp>
        <p:grpSp>
          <p:nvGrpSpPr>
            <p:cNvPr id="64542" name="Group 30"/>
            <p:cNvGrpSpPr>
              <a:grpSpLocks/>
            </p:cNvGrpSpPr>
            <p:nvPr/>
          </p:nvGrpSpPr>
          <p:grpSpPr bwMode="auto">
            <a:xfrm>
              <a:off x="0" y="0"/>
              <a:ext cx="3187" cy="525"/>
              <a:chOff x="0" y="0"/>
              <a:chExt cx="3187" cy="525"/>
            </a:xfrm>
          </p:grpSpPr>
          <p:pic>
            <p:nvPicPr>
              <p:cNvPr id="64543" name="Picture 3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98" y="0"/>
                <a:ext cx="289"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4544" name="Picture 3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658" y="0"/>
                <a:ext cx="288"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4545" name="Picture 3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18" y="0"/>
                <a:ext cx="288"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4546" name="Picture 3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77" y="0"/>
                <a:ext cx="289"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4547" name="Picture 3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30" y="0"/>
                <a:ext cx="288"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4548" name="Picture 3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89" y="0"/>
                <a:ext cx="289"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4549" name="Picture 3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49" y="0"/>
                <a:ext cx="288"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4550" name="Picture 3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209" y="0"/>
                <a:ext cx="288"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4551" name="Picture 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68" y="0"/>
                <a:ext cx="289"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4552" name="Picture 40"/>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28" y="0"/>
                <a:ext cx="288"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4553" name="Picture 4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0" y="0"/>
                <a:ext cx="289"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4554" name="Picture 4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0" y="0"/>
                <a:ext cx="288"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4555" name="Picture 4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0"/>
                <a:ext cx="288"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grpSp>
      </p:grpSp>
      <p:grpSp>
        <p:nvGrpSpPr>
          <p:cNvPr id="64556" name="Group 44"/>
          <p:cNvGrpSpPr>
            <a:grpSpLocks/>
          </p:cNvGrpSpPr>
          <p:nvPr/>
        </p:nvGrpSpPr>
        <p:grpSpPr bwMode="auto">
          <a:xfrm>
            <a:off x="7786688" y="3527227"/>
            <a:ext cx="1434331" cy="1099468"/>
            <a:chOff x="0" y="0"/>
            <a:chExt cx="1285" cy="985"/>
          </a:xfrm>
        </p:grpSpPr>
        <p:pic>
          <p:nvPicPr>
            <p:cNvPr id="64557" name="Picture 4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7" y="460"/>
              <a:ext cx="288"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4558" name="Picture 4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8" y="460"/>
              <a:ext cx="289"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4559" name="Picture 4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1" y="460"/>
              <a:ext cx="288"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4560" name="Picture 4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1" y="460"/>
              <a:ext cx="288"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4561" name="Picture 4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 y="460"/>
              <a:ext cx="289"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4562" name="Picture 5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6" y="0"/>
              <a:ext cx="289"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4563" name="Picture 5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28" y="0"/>
              <a:ext cx="288"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4564" name="Picture 5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0" y="0"/>
              <a:ext cx="289"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4565" name="Picture 5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0" y="0"/>
              <a:ext cx="288"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4566" name="Picture 5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0"/>
              <a:ext cx="288"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grpSp>
      <p:pic>
        <p:nvPicPr>
          <p:cNvPr id="64567" name="Picture 5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31545" y="2917776"/>
            <a:ext cx="2187773" cy="2414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sp>
        <p:nvSpPr>
          <p:cNvPr id="64568" name="Line 56"/>
          <p:cNvSpPr>
            <a:spLocks noChangeShapeType="1"/>
          </p:cNvSpPr>
          <p:nvPr/>
        </p:nvSpPr>
        <p:spPr bwMode="auto">
          <a:xfrm rot="10800000" flipH="1">
            <a:off x="7400479" y="3241477"/>
            <a:ext cx="582662" cy="238869"/>
          </a:xfrm>
          <a:prstGeom prst="line">
            <a:avLst/>
          </a:prstGeom>
          <a:noFill/>
          <a:ln w="25400">
            <a:solidFill>
              <a:srgbClr val="FD1C00"/>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291" tIns="32146" rIns="64291" bIns="32146"/>
          <a:lstStyle/>
          <a:p>
            <a:endParaRPr lang="en-AU"/>
          </a:p>
        </p:txBody>
      </p:sp>
      <p:grpSp>
        <p:nvGrpSpPr>
          <p:cNvPr id="64569" name="Group 57"/>
          <p:cNvGrpSpPr>
            <a:grpSpLocks/>
          </p:cNvGrpSpPr>
          <p:nvPr/>
        </p:nvGrpSpPr>
        <p:grpSpPr bwMode="auto">
          <a:xfrm>
            <a:off x="4592092" y="1246808"/>
            <a:ext cx="3471416" cy="5003973"/>
            <a:chOff x="0" y="0"/>
            <a:chExt cx="3109" cy="4482"/>
          </a:xfrm>
        </p:grpSpPr>
        <p:sp>
          <p:nvSpPr>
            <p:cNvPr id="64570" name="AutoShape 58"/>
            <p:cNvSpPr>
              <a:spLocks/>
            </p:cNvSpPr>
            <p:nvPr/>
          </p:nvSpPr>
          <p:spPr bwMode="auto">
            <a:xfrm>
              <a:off x="1573" y="3354"/>
              <a:ext cx="369" cy="728"/>
            </a:xfrm>
            <a:custGeom>
              <a:avLst/>
              <a:gdLst/>
              <a:ahLst/>
              <a:cxnLst/>
              <a:rect l="0" t="0" r="r" b="b"/>
              <a:pathLst>
                <a:path w="18095" h="21600">
                  <a:moveTo>
                    <a:pt x="0" y="21600"/>
                  </a:moveTo>
                  <a:cubicBezTo>
                    <a:pt x="21600" y="11879"/>
                    <a:pt x="17901" y="6974"/>
                    <a:pt x="17790" y="0"/>
                  </a:cubicBezTo>
                </a:path>
              </a:pathLst>
            </a:custGeom>
            <a:noFill/>
            <a:ln w="50800">
              <a:solidFill>
                <a:srgbClr val="FD1C00"/>
              </a:solidFill>
              <a:miter lim="800000"/>
              <a:headEn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sp>
          <p:nvSpPr>
            <p:cNvPr id="64571" name="Oval 59"/>
            <p:cNvSpPr>
              <a:spLocks/>
            </p:cNvSpPr>
            <p:nvPr/>
          </p:nvSpPr>
          <p:spPr bwMode="auto">
            <a:xfrm>
              <a:off x="1336" y="3840"/>
              <a:ext cx="472" cy="472"/>
            </a:xfrm>
            <a:prstGeom prst="ellipse">
              <a:avLst/>
            </a:prstGeom>
            <a:solidFill>
              <a:srgbClr val="7F1FFF"/>
            </a:solidFill>
            <a:ln>
              <a:noFill/>
            </a:ln>
            <a:effectLst/>
            <a:extLst>
              <a:ext uri="{91240B29-F687-4F45-9708-019B960494DF}">
                <a14:hiddenLine xmlns:a14="http://schemas.microsoft.com/office/drawing/2010/main" w="25400">
                  <a:solidFill>
                    <a:srgbClr val="6D381D"/>
                  </a:solidFill>
                  <a:round/>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txBody>
            <a:bodyPr lIns="0" tIns="0" rIns="0" bIns="0" anchor="ctr"/>
            <a:lstStyle/>
            <a:p>
              <a:pPr marL="80364" algn="ctr">
                <a:tabLst>
                  <a:tab pos="366104" algn="l"/>
                </a:tabLst>
              </a:pPr>
              <a:r>
                <a:rPr lang="en-US" sz="1300" b="1">
                  <a:solidFill>
                    <a:srgbClr val="FFFFFF"/>
                  </a:solidFill>
                  <a:effectLst>
                    <a:outerShdw blurRad="38100" dist="38100" dir="2700000" algn="tl">
                      <a:srgbClr val="000000"/>
                    </a:outerShdw>
                  </a:effectLst>
                  <a:latin typeface="Arial" charset="0"/>
                  <a:cs typeface="Arial" charset="0"/>
                  <a:sym typeface="Arial" charset="0"/>
                </a:rPr>
                <a:t>Na</a:t>
              </a:r>
              <a:r>
                <a:rPr lang="en-US" sz="1300" b="1" baseline="32000">
                  <a:solidFill>
                    <a:srgbClr val="FFFFFF"/>
                  </a:solidFill>
                  <a:effectLst>
                    <a:outerShdw blurRad="38100" dist="38100" dir="2700000" algn="tl">
                      <a:srgbClr val="000000"/>
                    </a:outerShdw>
                  </a:effectLst>
                  <a:latin typeface="Arial" charset="0"/>
                  <a:cs typeface="Arial" charset="0"/>
                  <a:sym typeface="Arial" charset="0"/>
                </a:rPr>
                <a:t>+</a:t>
              </a:r>
            </a:p>
          </p:txBody>
        </p:sp>
        <p:sp>
          <p:nvSpPr>
            <p:cNvPr id="64572" name="Rectangle 60"/>
            <p:cNvSpPr>
              <a:spLocks/>
            </p:cNvSpPr>
            <p:nvPr/>
          </p:nvSpPr>
          <p:spPr bwMode="auto">
            <a:xfrm>
              <a:off x="2037" y="4154"/>
              <a:ext cx="1072" cy="3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tabLst>
                  <a:tab pos="366104" algn="l"/>
                </a:tabLst>
              </a:pPr>
              <a:r>
                <a:rPr lang="en-US" sz="1300">
                  <a:solidFill>
                    <a:srgbClr val="000000"/>
                  </a:solidFill>
                  <a:latin typeface="Arial" charset="0"/>
                  <a:cs typeface="Arial" charset="0"/>
                  <a:sym typeface="Arial" charset="0"/>
                </a:rPr>
                <a:t>Na</a:t>
              </a:r>
              <a:r>
                <a:rPr lang="en-US" sz="1300" baseline="32000">
                  <a:solidFill>
                    <a:srgbClr val="000000"/>
                  </a:solidFill>
                  <a:latin typeface="Arial" charset="0"/>
                  <a:cs typeface="Arial" charset="0"/>
                  <a:sym typeface="Arial" charset="0"/>
                </a:rPr>
                <a:t>+</a:t>
              </a:r>
              <a:r>
                <a:rPr lang="en-US" sz="1300">
                  <a:solidFill>
                    <a:srgbClr val="000000"/>
                  </a:solidFill>
                  <a:latin typeface="Arial" charset="0"/>
                  <a:cs typeface="Arial" charset="0"/>
                  <a:sym typeface="Arial" charset="0"/>
                </a:rPr>
                <a:t> moves to its binding site</a:t>
              </a:r>
            </a:p>
          </p:txBody>
        </p:sp>
        <p:sp>
          <p:nvSpPr>
            <p:cNvPr id="64573" name="Line 61"/>
            <p:cNvSpPr>
              <a:spLocks noChangeShapeType="1"/>
            </p:cNvSpPr>
            <p:nvPr/>
          </p:nvSpPr>
          <p:spPr bwMode="auto">
            <a:xfrm>
              <a:off x="1700" y="4207"/>
              <a:ext cx="377" cy="139"/>
            </a:xfrm>
            <a:prstGeom prst="line">
              <a:avLst/>
            </a:prstGeom>
            <a:noFill/>
            <a:ln w="25400">
              <a:solidFill>
                <a:srgbClr val="FD1C00"/>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sp>
          <p:nvSpPr>
            <p:cNvPr id="64574" name="Oval 62"/>
            <p:cNvSpPr>
              <a:spLocks/>
            </p:cNvSpPr>
            <p:nvPr/>
          </p:nvSpPr>
          <p:spPr bwMode="auto">
            <a:xfrm>
              <a:off x="504" y="768"/>
              <a:ext cx="472" cy="472"/>
            </a:xfrm>
            <a:prstGeom prst="ellipse">
              <a:avLst/>
            </a:prstGeom>
            <a:solidFill>
              <a:srgbClr val="7F1FFF"/>
            </a:solidFill>
            <a:ln>
              <a:noFill/>
            </a:ln>
            <a:effectLst/>
            <a:extLst>
              <a:ext uri="{91240B29-F687-4F45-9708-019B960494DF}">
                <a14:hiddenLine xmlns:a14="http://schemas.microsoft.com/office/drawing/2010/main" w="25400">
                  <a:solidFill>
                    <a:srgbClr val="6D381D"/>
                  </a:solidFill>
                  <a:round/>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txBody>
            <a:bodyPr lIns="0" tIns="0" rIns="0" bIns="0" anchor="ctr"/>
            <a:lstStyle/>
            <a:p>
              <a:pPr marL="80364" algn="ctr">
                <a:tabLst>
                  <a:tab pos="366104" algn="l"/>
                </a:tabLst>
              </a:pPr>
              <a:r>
                <a:rPr lang="en-US" sz="1300" b="1">
                  <a:solidFill>
                    <a:srgbClr val="FFFFFF"/>
                  </a:solidFill>
                  <a:effectLst>
                    <a:outerShdw blurRad="38100" dist="38100" dir="2700000" algn="tl">
                      <a:srgbClr val="000000"/>
                    </a:outerShdw>
                  </a:effectLst>
                  <a:latin typeface="Arial" charset="0"/>
                  <a:cs typeface="Arial" charset="0"/>
                  <a:sym typeface="Arial" charset="0"/>
                </a:rPr>
                <a:t>Na</a:t>
              </a:r>
              <a:r>
                <a:rPr lang="en-US" sz="1300" b="1" baseline="32000">
                  <a:solidFill>
                    <a:srgbClr val="FFFFFF"/>
                  </a:solidFill>
                  <a:effectLst>
                    <a:outerShdw blurRad="38100" dist="38100" dir="2700000" algn="tl">
                      <a:srgbClr val="000000"/>
                    </a:outerShdw>
                  </a:effectLst>
                  <a:latin typeface="Arial" charset="0"/>
                  <a:cs typeface="Arial" charset="0"/>
                  <a:sym typeface="Arial" charset="0"/>
                </a:rPr>
                <a:t>+</a:t>
              </a:r>
            </a:p>
          </p:txBody>
        </p:sp>
        <p:sp>
          <p:nvSpPr>
            <p:cNvPr id="64575" name="Oval 63"/>
            <p:cNvSpPr>
              <a:spLocks/>
            </p:cNvSpPr>
            <p:nvPr/>
          </p:nvSpPr>
          <p:spPr bwMode="auto">
            <a:xfrm>
              <a:off x="1096" y="0"/>
              <a:ext cx="472" cy="472"/>
            </a:xfrm>
            <a:prstGeom prst="ellipse">
              <a:avLst/>
            </a:prstGeom>
            <a:solidFill>
              <a:srgbClr val="7F1FFF"/>
            </a:solidFill>
            <a:ln>
              <a:noFill/>
            </a:ln>
            <a:effectLst/>
            <a:extLst>
              <a:ext uri="{91240B29-F687-4F45-9708-019B960494DF}">
                <a14:hiddenLine xmlns:a14="http://schemas.microsoft.com/office/drawing/2010/main" w="25400">
                  <a:solidFill>
                    <a:srgbClr val="6D381D"/>
                  </a:solidFill>
                  <a:round/>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txBody>
            <a:bodyPr lIns="0" tIns="0" rIns="0" bIns="0" anchor="ctr"/>
            <a:lstStyle/>
            <a:p>
              <a:pPr marL="80364" algn="ctr">
                <a:tabLst>
                  <a:tab pos="366104" algn="l"/>
                </a:tabLst>
              </a:pPr>
              <a:r>
                <a:rPr lang="en-US" sz="1300" b="1">
                  <a:solidFill>
                    <a:srgbClr val="FFFFFF"/>
                  </a:solidFill>
                  <a:effectLst>
                    <a:outerShdw blurRad="38100" dist="38100" dir="2700000" algn="tl">
                      <a:srgbClr val="000000"/>
                    </a:outerShdw>
                  </a:effectLst>
                  <a:latin typeface="Arial" charset="0"/>
                  <a:cs typeface="Arial" charset="0"/>
                  <a:sym typeface="Arial" charset="0"/>
                </a:rPr>
                <a:t>Na</a:t>
              </a:r>
              <a:r>
                <a:rPr lang="en-US" sz="1300" b="1" baseline="32000">
                  <a:solidFill>
                    <a:srgbClr val="FFFFFF"/>
                  </a:solidFill>
                  <a:effectLst>
                    <a:outerShdw blurRad="38100" dist="38100" dir="2700000" algn="tl">
                      <a:srgbClr val="000000"/>
                    </a:outerShdw>
                  </a:effectLst>
                  <a:latin typeface="Arial" charset="0"/>
                  <a:cs typeface="Arial" charset="0"/>
                  <a:sym typeface="Arial" charset="0"/>
                </a:rPr>
                <a:t>+</a:t>
              </a:r>
            </a:p>
          </p:txBody>
        </p:sp>
        <p:sp>
          <p:nvSpPr>
            <p:cNvPr id="64576" name="Oval 64"/>
            <p:cNvSpPr>
              <a:spLocks/>
            </p:cNvSpPr>
            <p:nvPr/>
          </p:nvSpPr>
          <p:spPr bwMode="auto">
            <a:xfrm>
              <a:off x="0" y="224"/>
              <a:ext cx="472" cy="472"/>
            </a:xfrm>
            <a:prstGeom prst="ellipse">
              <a:avLst/>
            </a:prstGeom>
            <a:solidFill>
              <a:srgbClr val="7F1FFF"/>
            </a:solidFill>
            <a:ln>
              <a:noFill/>
            </a:ln>
            <a:effectLst/>
            <a:extLst>
              <a:ext uri="{91240B29-F687-4F45-9708-019B960494DF}">
                <a14:hiddenLine xmlns:a14="http://schemas.microsoft.com/office/drawing/2010/main" w="25400">
                  <a:solidFill>
                    <a:srgbClr val="6D381D"/>
                  </a:solidFill>
                  <a:round/>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txBody>
            <a:bodyPr lIns="0" tIns="0" rIns="0" bIns="0" anchor="ctr"/>
            <a:lstStyle/>
            <a:p>
              <a:pPr marL="80364" algn="ctr">
                <a:tabLst>
                  <a:tab pos="366104" algn="l"/>
                </a:tabLst>
              </a:pPr>
              <a:r>
                <a:rPr lang="en-US" sz="1300" b="1">
                  <a:solidFill>
                    <a:srgbClr val="FFFFFF"/>
                  </a:solidFill>
                  <a:effectLst>
                    <a:outerShdw blurRad="38100" dist="38100" dir="2700000" algn="tl">
                      <a:srgbClr val="000000"/>
                    </a:outerShdw>
                  </a:effectLst>
                  <a:latin typeface="Arial" charset="0"/>
                  <a:cs typeface="Arial" charset="0"/>
                  <a:sym typeface="Arial" charset="0"/>
                </a:rPr>
                <a:t>Na</a:t>
              </a:r>
              <a:r>
                <a:rPr lang="en-US" sz="1300" b="1" baseline="32000">
                  <a:solidFill>
                    <a:srgbClr val="FFFFFF"/>
                  </a:solidFill>
                  <a:effectLst>
                    <a:outerShdw blurRad="38100" dist="38100" dir="2700000" algn="tl">
                      <a:srgbClr val="000000"/>
                    </a:outerShdw>
                  </a:effectLst>
                  <a:latin typeface="Arial" charset="0"/>
                  <a:cs typeface="Arial" charset="0"/>
                  <a:sym typeface="Arial" charset="0"/>
                </a:rPr>
                <a:t>+</a:t>
              </a:r>
            </a:p>
          </p:txBody>
        </p:sp>
        <p:sp>
          <p:nvSpPr>
            <p:cNvPr id="64577" name="AutoShape 65"/>
            <p:cNvSpPr>
              <a:spLocks/>
            </p:cNvSpPr>
            <p:nvPr/>
          </p:nvSpPr>
          <p:spPr bwMode="auto">
            <a:xfrm>
              <a:off x="1125" y="1124"/>
              <a:ext cx="880" cy="1714"/>
            </a:xfrm>
            <a:custGeom>
              <a:avLst/>
              <a:gdLst/>
              <a:ahLst/>
              <a:cxnLst/>
              <a:rect l="0" t="0" r="r" b="b"/>
              <a:pathLst>
                <a:path w="18679" h="21600">
                  <a:moveTo>
                    <a:pt x="17970" y="21600"/>
                  </a:moveTo>
                  <a:cubicBezTo>
                    <a:pt x="19107" y="16431"/>
                    <a:pt x="21600" y="4064"/>
                    <a:pt x="0" y="0"/>
                  </a:cubicBezTo>
                </a:path>
              </a:pathLst>
            </a:custGeom>
            <a:noFill/>
            <a:ln w="50800">
              <a:solidFill>
                <a:srgbClr val="FD1C00"/>
              </a:solidFill>
              <a:miter lim="800000"/>
              <a:headEn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grpSp>
      <p:grpSp>
        <p:nvGrpSpPr>
          <p:cNvPr id="64578" name="Group 66"/>
          <p:cNvGrpSpPr>
            <a:grpSpLocks/>
          </p:cNvGrpSpPr>
          <p:nvPr/>
        </p:nvGrpSpPr>
        <p:grpSpPr bwMode="auto">
          <a:xfrm>
            <a:off x="7169423" y="1732359"/>
            <a:ext cx="1823889" cy="4527352"/>
            <a:chOff x="0" y="0"/>
            <a:chExt cx="1634" cy="4056"/>
          </a:xfrm>
        </p:grpSpPr>
        <p:sp>
          <p:nvSpPr>
            <p:cNvPr id="64579" name="Oval 67"/>
            <p:cNvSpPr>
              <a:spLocks/>
            </p:cNvSpPr>
            <p:nvPr/>
          </p:nvSpPr>
          <p:spPr bwMode="auto">
            <a:xfrm>
              <a:off x="458" y="0"/>
              <a:ext cx="448" cy="448"/>
            </a:xfrm>
            <a:prstGeom prst="ellipse">
              <a:avLst/>
            </a:prstGeom>
            <a:solidFill>
              <a:srgbClr val="7F1040"/>
            </a:solidFill>
            <a:ln>
              <a:noFill/>
            </a:ln>
            <a:effectLst/>
            <a:extLst>
              <a:ext uri="{91240B29-F687-4F45-9708-019B960494DF}">
                <a14:hiddenLine xmlns:a14="http://schemas.microsoft.com/office/drawing/2010/main" w="25400">
                  <a:solidFill>
                    <a:srgbClr val="6D381D"/>
                  </a:solidFill>
                  <a:round/>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txBody>
            <a:bodyPr lIns="25400" tIns="25400" rIns="25400" bIns="25400" anchor="ctr"/>
            <a:lstStyle/>
            <a:p>
              <a:pPr marL="80364" algn="ctr">
                <a:tabLst>
                  <a:tab pos="366104" algn="l"/>
                </a:tabLst>
              </a:pPr>
              <a:r>
                <a:rPr lang="en-US" sz="1400" b="1">
                  <a:solidFill>
                    <a:srgbClr val="FFFFFF"/>
                  </a:solidFill>
                  <a:effectLst>
                    <a:outerShdw blurRad="38100" dist="38100" dir="2700000" algn="tl">
                      <a:srgbClr val="000000"/>
                    </a:outerShdw>
                  </a:effectLst>
                  <a:latin typeface="Arial" charset="0"/>
                  <a:cs typeface="Arial" charset="0"/>
                  <a:sym typeface="Arial" charset="0"/>
                </a:rPr>
                <a:t>K</a:t>
              </a:r>
              <a:r>
                <a:rPr lang="en-US" sz="1400" b="1" baseline="32000">
                  <a:solidFill>
                    <a:srgbClr val="FFFFFF"/>
                  </a:solidFill>
                  <a:effectLst>
                    <a:outerShdw blurRad="38100" dist="38100" dir="2700000" algn="tl">
                      <a:srgbClr val="000000"/>
                    </a:outerShdw>
                  </a:effectLst>
                  <a:latin typeface="Arial" charset="0"/>
                  <a:cs typeface="Arial" charset="0"/>
                  <a:sym typeface="Arial" charset="0"/>
                </a:rPr>
                <a:t>+</a:t>
              </a:r>
            </a:p>
          </p:txBody>
        </p:sp>
        <p:sp>
          <p:nvSpPr>
            <p:cNvPr id="64580" name="AutoShape 68"/>
            <p:cNvSpPr>
              <a:spLocks/>
            </p:cNvSpPr>
            <p:nvPr/>
          </p:nvSpPr>
          <p:spPr bwMode="auto">
            <a:xfrm>
              <a:off x="0" y="347"/>
              <a:ext cx="449" cy="988"/>
            </a:xfrm>
            <a:custGeom>
              <a:avLst/>
              <a:gdLst/>
              <a:ahLst/>
              <a:cxnLst/>
              <a:rect l="0" t="0" r="r" b="b"/>
              <a:pathLst>
                <a:path w="19055" h="21600">
                  <a:moveTo>
                    <a:pt x="19055" y="0"/>
                  </a:moveTo>
                  <a:cubicBezTo>
                    <a:pt x="-2545" y="3639"/>
                    <a:pt x="-212" y="14209"/>
                    <a:pt x="354" y="21600"/>
                  </a:cubicBezTo>
                </a:path>
              </a:pathLst>
            </a:custGeom>
            <a:noFill/>
            <a:ln w="50800">
              <a:solidFill>
                <a:srgbClr val="FD1C00"/>
              </a:solidFill>
              <a:miter lim="800000"/>
              <a:headEn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grpSp>
          <p:nvGrpSpPr>
            <p:cNvPr id="64581" name="Group 69"/>
            <p:cNvGrpSpPr>
              <a:grpSpLocks/>
            </p:cNvGrpSpPr>
            <p:nvPr/>
          </p:nvGrpSpPr>
          <p:grpSpPr bwMode="auto">
            <a:xfrm>
              <a:off x="3" y="1669"/>
              <a:ext cx="1631" cy="2387"/>
              <a:chOff x="0" y="0"/>
              <a:chExt cx="1630" cy="2386"/>
            </a:xfrm>
          </p:grpSpPr>
          <p:sp>
            <p:nvSpPr>
              <p:cNvPr id="64582" name="Oval 70"/>
              <p:cNvSpPr>
                <a:spLocks/>
              </p:cNvSpPr>
              <p:nvPr/>
            </p:nvSpPr>
            <p:spPr bwMode="auto">
              <a:xfrm>
                <a:off x="1182" y="1938"/>
                <a:ext cx="448" cy="448"/>
              </a:xfrm>
              <a:prstGeom prst="ellipse">
                <a:avLst/>
              </a:prstGeom>
              <a:solidFill>
                <a:srgbClr val="7F1040"/>
              </a:solidFill>
              <a:ln>
                <a:noFill/>
              </a:ln>
              <a:effectLst/>
              <a:extLst>
                <a:ext uri="{91240B29-F687-4F45-9708-019B960494DF}">
                  <a14:hiddenLine xmlns:a14="http://schemas.microsoft.com/office/drawing/2010/main" w="25400">
                    <a:solidFill>
                      <a:srgbClr val="6D381D"/>
                    </a:solidFill>
                    <a:round/>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txBody>
              <a:bodyPr lIns="25400" tIns="25400" rIns="25400" bIns="25400" anchor="ctr"/>
              <a:lstStyle/>
              <a:p>
                <a:pPr marL="80364" algn="ctr">
                  <a:tabLst>
                    <a:tab pos="366104" algn="l"/>
                  </a:tabLst>
                </a:pPr>
                <a:r>
                  <a:rPr lang="en-US" sz="1400" b="1">
                    <a:solidFill>
                      <a:srgbClr val="FFFFFF"/>
                    </a:solidFill>
                    <a:effectLst>
                      <a:outerShdw blurRad="38100" dist="38100" dir="2700000" algn="tl">
                        <a:srgbClr val="000000"/>
                      </a:outerShdw>
                    </a:effectLst>
                    <a:latin typeface="Arial" charset="0"/>
                    <a:cs typeface="Arial" charset="0"/>
                    <a:sym typeface="Arial" charset="0"/>
                  </a:rPr>
                  <a:t>K</a:t>
                </a:r>
                <a:r>
                  <a:rPr lang="en-US" sz="1400" b="1" baseline="32000">
                    <a:solidFill>
                      <a:srgbClr val="FFFFFF"/>
                    </a:solidFill>
                    <a:effectLst>
                      <a:outerShdw blurRad="38100" dist="38100" dir="2700000" algn="tl">
                        <a:srgbClr val="000000"/>
                      </a:outerShdw>
                    </a:effectLst>
                    <a:latin typeface="Arial" charset="0"/>
                    <a:cs typeface="Arial" charset="0"/>
                    <a:sym typeface="Arial" charset="0"/>
                  </a:rPr>
                  <a:t>+</a:t>
                </a:r>
              </a:p>
            </p:txBody>
          </p:sp>
          <p:sp>
            <p:nvSpPr>
              <p:cNvPr id="64583" name="Oval 71"/>
              <p:cNvSpPr>
                <a:spLocks/>
              </p:cNvSpPr>
              <p:nvPr/>
            </p:nvSpPr>
            <p:spPr bwMode="auto">
              <a:xfrm>
                <a:off x="830" y="1338"/>
                <a:ext cx="448" cy="448"/>
              </a:xfrm>
              <a:prstGeom prst="ellipse">
                <a:avLst/>
              </a:prstGeom>
              <a:solidFill>
                <a:srgbClr val="7F1040"/>
              </a:solidFill>
              <a:ln>
                <a:noFill/>
              </a:ln>
              <a:effectLst/>
              <a:extLst>
                <a:ext uri="{91240B29-F687-4F45-9708-019B960494DF}">
                  <a14:hiddenLine xmlns:a14="http://schemas.microsoft.com/office/drawing/2010/main" w="25400">
                    <a:solidFill>
                      <a:srgbClr val="6D381D"/>
                    </a:solidFill>
                    <a:round/>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txBody>
              <a:bodyPr lIns="25400" tIns="25400" rIns="25400" bIns="25400" anchor="ctr"/>
              <a:lstStyle/>
              <a:p>
                <a:pPr marL="80364" algn="ctr">
                  <a:tabLst>
                    <a:tab pos="366104" algn="l"/>
                  </a:tabLst>
                </a:pPr>
                <a:r>
                  <a:rPr lang="en-US" sz="1400" b="1">
                    <a:solidFill>
                      <a:srgbClr val="FFFFFF"/>
                    </a:solidFill>
                    <a:effectLst>
                      <a:outerShdw blurRad="38100" dist="38100" dir="2700000" algn="tl">
                        <a:srgbClr val="000000"/>
                      </a:outerShdw>
                    </a:effectLst>
                    <a:latin typeface="Arial" charset="0"/>
                    <a:cs typeface="Arial" charset="0"/>
                    <a:sym typeface="Arial" charset="0"/>
                  </a:rPr>
                  <a:t>K</a:t>
                </a:r>
                <a:r>
                  <a:rPr lang="en-US" sz="1400" b="1" baseline="32000">
                    <a:solidFill>
                      <a:srgbClr val="FFFFFF"/>
                    </a:solidFill>
                    <a:effectLst>
                      <a:outerShdw blurRad="38100" dist="38100" dir="2700000" algn="tl">
                        <a:srgbClr val="000000"/>
                      </a:outerShdw>
                    </a:effectLst>
                    <a:latin typeface="Arial" charset="0"/>
                    <a:cs typeface="Arial" charset="0"/>
                    <a:sym typeface="Arial" charset="0"/>
                  </a:rPr>
                  <a:t>+</a:t>
                </a:r>
              </a:p>
            </p:txBody>
          </p:sp>
          <p:sp>
            <p:nvSpPr>
              <p:cNvPr id="64584" name="AutoShape 72"/>
              <p:cNvSpPr>
                <a:spLocks/>
              </p:cNvSpPr>
              <p:nvPr/>
            </p:nvSpPr>
            <p:spPr bwMode="auto">
              <a:xfrm>
                <a:off x="0" y="0"/>
                <a:ext cx="714" cy="1476"/>
              </a:xfrm>
              <a:custGeom>
                <a:avLst/>
                <a:gdLst/>
                <a:ahLst/>
                <a:cxnLst/>
                <a:rect l="0" t="0" r="r" b="b"/>
                <a:pathLst>
                  <a:path w="18201" h="21600">
                    <a:moveTo>
                      <a:pt x="55" y="0"/>
                    </a:moveTo>
                    <a:cubicBezTo>
                      <a:pt x="404" y="8108"/>
                      <a:pt x="-3399" y="18250"/>
                      <a:pt x="18201" y="21600"/>
                    </a:cubicBezTo>
                  </a:path>
                </a:pathLst>
              </a:custGeom>
              <a:noFill/>
              <a:ln w="50800">
                <a:solidFill>
                  <a:srgbClr val="FD1C00"/>
                </a:solidFill>
                <a:miter lim="800000"/>
                <a:headEn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grpSp>
      </p:grpSp>
      <p:sp>
        <p:nvSpPr>
          <p:cNvPr id="64585" name="Line 73"/>
          <p:cNvSpPr>
            <a:spLocks noChangeShapeType="1"/>
          </p:cNvSpPr>
          <p:nvPr/>
        </p:nvSpPr>
        <p:spPr bwMode="auto">
          <a:xfrm rot="10800000" flipH="1">
            <a:off x="5009555" y="3276080"/>
            <a:ext cx="0" cy="751210"/>
          </a:xfrm>
          <a:prstGeom prst="line">
            <a:avLst/>
          </a:prstGeom>
          <a:noFill/>
          <a:ln w="25400">
            <a:solidFill>
              <a:srgbClr val="FD1C00"/>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291" tIns="32146" rIns="64291" bIns="32146"/>
          <a:lstStyle/>
          <a:p>
            <a:endParaRPr lang="en-AU"/>
          </a:p>
        </p:txBody>
      </p:sp>
    </p:spTree>
    <p:extLst>
      <p:ext uri="{BB962C8B-B14F-4D97-AF65-F5344CB8AC3E}">
        <p14:creationId xmlns:p14="http://schemas.microsoft.com/office/powerpoint/2010/main" val="289933951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4516">
                                            <p:txEl>
                                              <p:pRg st="0" end="0"/>
                                            </p:txEl>
                                          </p:spTgt>
                                        </p:tgtEl>
                                        <p:attrNameLst>
                                          <p:attrName>style.visibility</p:attrName>
                                        </p:attrNameLst>
                                      </p:cBhvr>
                                      <p:to>
                                        <p:strVal val="visible"/>
                                      </p:to>
                                    </p:set>
                                  </p:childTnLst>
                                </p:cTn>
                              </p:par>
                            </p:childTnLst>
                          </p:cTn>
                        </p:par>
                        <p:par>
                          <p:cTn id="7" fill="hold" nodeType="afterGroup">
                            <p:stCondLst>
                              <p:cond delay="500"/>
                            </p:stCondLst>
                            <p:childTnLst>
                              <p:par>
                                <p:cTn id="8" presetID="1" presetClass="entr" presetSubtype="0" fill="hold" nodeType="afterEffect">
                                  <p:stCondLst>
                                    <p:cond delay="2000"/>
                                  </p:stCondLst>
                                  <p:childTnLst>
                                    <p:set>
                                      <p:cBhvr>
                                        <p:cTn id="9" dur="1" fill="hold">
                                          <p:stCondLst>
                                            <p:cond delay="499"/>
                                          </p:stCondLst>
                                        </p:cTn>
                                        <p:tgtEl>
                                          <p:spTgt spid="64569"/>
                                        </p:tgtEl>
                                        <p:attrNameLst>
                                          <p:attrName>style.visibility</p:attrName>
                                        </p:attrNameLst>
                                      </p:cBhvr>
                                      <p:to>
                                        <p:strVal val="visible"/>
                                      </p:to>
                                    </p:set>
                                  </p:childTnLst>
                                </p:cTn>
                              </p:par>
                              <p:par>
                                <p:cTn id="10" presetID="1" presetClass="entr" presetSubtype="0" fill="hold" nodeType="withEffect">
                                  <p:stCondLst>
                                    <p:cond delay="0"/>
                                  </p:stCondLst>
                                  <p:childTnLst>
                                    <p:set>
                                      <p:cBhvr>
                                        <p:cTn id="11" dur="1" fill="hold">
                                          <p:stCondLst>
                                            <p:cond delay="499"/>
                                          </p:stCondLst>
                                        </p:cTn>
                                        <p:tgtEl>
                                          <p:spTgt spid="64578"/>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64516">
                                            <p:txEl>
                                              <p:pRg st="1" end="1"/>
                                            </p:txEl>
                                          </p:spTgt>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499"/>
                                          </p:stCondLst>
                                        </p:cTn>
                                        <p:tgtEl>
                                          <p:spTgt spid="64522"/>
                                        </p:tgtEl>
                                        <p:attrNameLst>
                                          <p:attrName>style.visibility</p:attrName>
                                        </p:attrNameLst>
                                      </p:cBhvr>
                                      <p:to>
                                        <p:strVal val="visible"/>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grpId="0" nodeType="clickEffect">
                                  <p:stCondLst>
                                    <p:cond delay="0"/>
                                  </p:stCondLst>
                                  <p:childTnLst>
                                    <p:set>
                                      <p:cBhvr>
                                        <p:cTn id="21" dur="1" fill="hold">
                                          <p:stCondLst>
                                            <p:cond delay="499"/>
                                          </p:stCondLst>
                                        </p:cTn>
                                        <p:tgtEl>
                                          <p:spTgt spid="6451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6" grpId="0" build="p" bldLvl="5"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5537" name="Rectangle 1"/>
          <p:cNvSpPr>
            <a:spLocks/>
          </p:cNvSpPr>
          <p:nvPr/>
        </p:nvSpPr>
        <p:spPr bwMode="auto">
          <a:xfrm>
            <a:off x="4326434" y="0"/>
            <a:ext cx="4830961" cy="3687961"/>
          </a:xfrm>
          <a:prstGeom prst="rect">
            <a:avLst/>
          </a:prstGeom>
          <a:gradFill rotWithShape="0">
            <a:gsLst>
              <a:gs pos="0">
                <a:srgbClr val="0B81FF">
                  <a:alpha val="60001"/>
                </a:srgbClr>
              </a:gs>
              <a:gs pos="100000">
                <a:srgbClr val="DBF1F8"/>
              </a:gs>
            </a:gsLst>
            <a:lin ang="16260000" scaled="1"/>
          </a:gradFill>
          <a:ln>
            <a:noFill/>
          </a:ln>
          <a:effectLst/>
          <a:extLst>
            <a:ext uri="{91240B29-F687-4F45-9708-019B960494DF}">
              <a14:hiddenLine xmlns:a14="http://schemas.microsoft.com/office/drawing/2010/main" w="25400">
                <a:solidFill>
                  <a:srgbClr val="6D381D"/>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291" tIns="32146" rIns="64291" bIns="32146"/>
          <a:lstStyle/>
          <a:p>
            <a:endParaRPr lang="en-AU"/>
          </a:p>
        </p:txBody>
      </p:sp>
      <p:sp>
        <p:nvSpPr>
          <p:cNvPr id="65539" name="Rectangle 3"/>
          <p:cNvSpPr>
            <a:spLocks noGrp="1" noChangeArrowheads="1"/>
          </p:cNvSpPr>
          <p:nvPr>
            <p:ph type="title"/>
          </p:nvPr>
        </p:nvSpPr>
        <p:spPr/>
        <p:txBody>
          <a:bodyPr>
            <a:normAutofit fontScale="90000"/>
          </a:bodyPr>
          <a:lstStyle/>
          <a:p>
            <a:r>
              <a:rPr lang="en-US"/>
              <a:t>Proton</a:t>
            </a:r>
            <a:br>
              <a:rPr lang="en-US"/>
            </a:br>
            <a:r>
              <a:rPr lang="en-US"/>
              <a:t>Pumps</a:t>
            </a:r>
          </a:p>
        </p:txBody>
      </p:sp>
      <p:sp>
        <p:nvSpPr>
          <p:cNvPr id="65538" name="Rectangle 2"/>
          <p:cNvSpPr>
            <a:spLocks noGrp="1" noChangeArrowheads="1"/>
          </p:cNvSpPr>
          <p:nvPr>
            <p:ph sz="quarter" idx="13"/>
          </p:nvPr>
        </p:nvSpPr>
        <p:spPr>
          <a:xfrm>
            <a:off x="609600" y="1600200"/>
            <a:ext cx="3026296" cy="4114800"/>
          </a:xfrm>
        </p:spPr>
        <p:txBody>
          <a:bodyPr>
            <a:noAutofit/>
          </a:bodyPr>
          <a:lstStyle/>
          <a:p>
            <a:r>
              <a:rPr lang="en-US" sz="1800" dirty="0"/>
              <a:t>Proton pumps use the energy from ATP to move hydrogen ions (H+) from inside the cell to the outside. </a:t>
            </a:r>
          </a:p>
          <a:p>
            <a:r>
              <a:rPr lang="en-US" sz="1800" dirty="0"/>
              <a:t>This creates a large difference in the proton concentration either side of the membrane, leaving the inside of the plasma membrane negatively charged.</a:t>
            </a:r>
          </a:p>
          <a:p>
            <a:r>
              <a:rPr lang="en-US" sz="1800" dirty="0"/>
              <a:t>The potential difference created can be coupled to transport other molecules across the membrane.</a:t>
            </a:r>
          </a:p>
        </p:txBody>
      </p:sp>
      <p:sp>
        <p:nvSpPr>
          <p:cNvPr id="65540" name="Rectangle 4"/>
          <p:cNvSpPr>
            <a:spLocks/>
          </p:cNvSpPr>
          <p:nvPr/>
        </p:nvSpPr>
        <p:spPr bwMode="auto">
          <a:xfrm>
            <a:off x="4326434" y="4474890"/>
            <a:ext cx="4830961" cy="2383110"/>
          </a:xfrm>
          <a:prstGeom prst="rect">
            <a:avLst/>
          </a:prstGeom>
          <a:solidFill>
            <a:srgbClr val="FECB63">
              <a:alpha val="69803"/>
            </a:srgbClr>
          </a:solidFill>
          <a:ln>
            <a:noFill/>
          </a:ln>
          <a:effectLst/>
          <a:extLst>
            <a:ext uri="{91240B29-F687-4F45-9708-019B960494DF}">
              <a14:hiddenLine xmlns:a14="http://schemas.microsoft.com/office/drawing/2010/main" w="25400">
                <a:solidFill>
                  <a:srgbClr val="6D381D"/>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291" tIns="32146" rIns="64291" bIns="32146"/>
          <a:lstStyle/>
          <a:p>
            <a:endParaRPr lang="en-AU"/>
          </a:p>
        </p:txBody>
      </p:sp>
      <p:sp>
        <p:nvSpPr>
          <p:cNvPr id="65541" name="Rectangle 5"/>
          <p:cNvSpPr>
            <a:spLocks/>
          </p:cNvSpPr>
          <p:nvPr/>
        </p:nvSpPr>
        <p:spPr bwMode="auto">
          <a:xfrm>
            <a:off x="4326434" y="3683496"/>
            <a:ext cx="4830961" cy="803672"/>
          </a:xfrm>
          <a:prstGeom prst="rect">
            <a:avLst/>
          </a:prstGeom>
          <a:solidFill>
            <a:srgbClr val="FFFFFF"/>
          </a:solidFill>
          <a:ln>
            <a:noFill/>
          </a:ln>
          <a:effectLst/>
          <a:extLst>
            <a:ext uri="{91240B29-F687-4F45-9708-019B960494DF}">
              <a14:hiddenLine xmlns:a14="http://schemas.microsoft.com/office/drawing/2010/main" w="25400">
                <a:solidFill>
                  <a:srgbClr val="6D381D"/>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291" tIns="32146" rIns="64291" bIns="32146"/>
          <a:lstStyle/>
          <a:p>
            <a:endParaRPr lang="en-AU"/>
          </a:p>
        </p:txBody>
      </p:sp>
      <p:sp>
        <p:nvSpPr>
          <p:cNvPr id="65542" name="Rectangle 6"/>
          <p:cNvSpPr>
            <a:spLocks/>
          </p:cNvSpPr>
          <p:nvPr/>
        </p:nvSpPr>
        <p:spPr bwMode="auto">
          <a:xfrm>
            <a:off x="7447359" y="803672"/>
            <a:ext cx="1484061" cy="2000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p>
            <a:pPr marL="80364">
              <a:tabLst>
                <a:tab pos="366104" algn="l"/>
              </a:tabLst>
            </a:pPr>
            <a:r>
              <a:rPr lang="en-US" sz="1300" b="1">
                <a:solidFill>
                  <a:srgbClr val="000000"/>
                </a:solidFill>
                <a:latin typeface="Arial" charset="0"/>
                <a:cs typeface="Arial" charset="0"/>
                <a:sym typeface="Arial" charset="0"/>
              </a:rPr>
              <a:t>Extracellular fluid</a:t>
            </a:r>
          </a:p>
        </p:txBody>
      </p:sp>
      <p:sp>
        <p:nvSpPr>
          <p:cNvPr id="65543" name="Rectangle 7"/>
          <p:cNvSpPr>
            <a:spLocks/>
          </p:cNvSpPr>
          <p:nvPr/>
        </p:nvSpPr>
        <p:spPr bwMode="auto">
          <a:xfrm>
            <a:off x="7492008" y="4938117"/>
            <a:ext cx="1491258" cy="1785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tabLst>
                <a:tab pos="366104" algn="l"/>
              </a:tabLst>
            </a:pPr>
            <a:r>
              <a:rPr lang="en-US" sz="1300">
                <a:solidFill>
                  <a:srgbClr val="000000"/>
                </a:solidFill>
                <a:latin typeface="Arial" charset="0"/>
                <a:cs typeface="Arial" charset="0"/>
                <a:sym typeface="Arial" charset="0"/>
              </a:rPr>
              <a:t>Plasma membrane</a:t>
            </a:r>
          </a:p>
        </p:txBody>
      </p:sp>
      <p:sp>
        <p:nvSpPr>
          <p:cNvPr id="65544" name="Rectangle 8"/>
          <p:cNvSpPr>
            <a:spLocks/>
          </p:cNvSpPr>
          <p:nvPr/>
        </p:nvSpPr>
        <p:spPr bwMode="auto">
          <a:xfrm>
            <a:off x="7554515" y="6161484"/>
            <a:ext cx="1261243" cy="2000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p>
            <a:pPr marL="80364">
              <a:tabLst>
                <a:tab pos="366104" algn="l"/>
              </a:tabLst>
            </a:pPr>
            <a:r>
              <a:rPr lang="en-US" sz="1300" b="1">
                <a:solidFill>
                  <a:srgbClr val="000000"/>
                </a:solidFill>
                <a:latin typeface="Arial" charset="0"/>
                <a:cs typeface="Arial" charset="0"/>
                <a:sym typeface="Arial" charset="0"/>
              </a:rPr>
              <a:t>Cell cytoplasm</a:t>
            </a:r>
          </a:p>
        </p:txBody>
      </p:sp>
      <p:sp>
        <p:nvSpPr>
          <p:cNvPr id="65545" name="Rectangle 9"/>
          <p:cNvSpPr>
            <a:spLocks/>
          </p:cNvSpPr>
          <p:nvPr/>
        </p:nvSpPr>
        <p:spPr bwMode="auto">
          <a:xfrm>
            <a:off x="4750594" y="3062883"/>
            <a:ext cx="651867" cy="36611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tabLst>
                <a:tab pos="366104" algn="l"/>
              </a:tabLst>
            </a:pPr>
            <a:r>
              <a:rPr lang="en-US" sz="1300">
                <a:solidFill>
                  <a:srgbClr val="000000"/>
                </a:solidFill>
                <a:latin typeface="Arial" charset="0"/>
                <a:cs typeface="Arial" charset="0"/>
                <a:sym typeface="Arial" charset="0"/>
              </a:rPr>
              <a:t>Carrier protein</a:t>
            </a:r>
          </a:p>
        </p:txBody>
      </p:sp>
      <p:grpSp>
        <p:nvGrpSpPr>
          <p:cNvPr id="65546" name="Group 10"/>
          <p:cNvGrpSpPr>
            <a:grpSpLocks/>
          </p:cNvGrpSpPr>
          <p:nvPr/>
        </p:nvGrpSpPr>
        <p:grpSpPr bwMode="auto">
          <a:xfrm>
            <a:off x="4741664" y="5057552"/>
            <a:ext cx="1235646" cy="897434"/>
            <a:chOff x="0" y="0"/>
            <a:chExt cx="1107" cy="804"/>
          </a:xfrm>
        </p:grpSpPr>
        <p:sp>
          <p:nvSpPr>
            <p:cNvPr id="65547" name="AutoShape 11"/>
            <p:cNvSpPr>
              <a:spLocks/>
            </p:cNvSpPr>
            <p:nvPr/>
          </p:nvSpPr>
          <p:spPr bwMode="auto">
            <a:xfrm>
              <a:off x="462" y="0"/>
              <a:ext cx="645" cy="608"/>
            </a:xfrm>
            <a:custGeom>
              <a:avLst/>
              <a:gdLst/>
              <a:ahLst/>
              <a:cxnLst/>
              <a:rect l="0" t="0" r="r" b="b"/>
              <a:pathLst>
                <a:path w="21600" h="21485">
                  <a:moveTo>
                    <a:pt x="21600" y="0"/>
                  </a:moveTo>
                  <a:cubicBezTo>
                    <a:pt x="20686" y="9460"/>
                    <a:pt x="20418" y="21600"/>
                    <a:pt x="0" y="21485"/>
                  </a:cubicBezTo>
                </a:path>
              </a:pathLst>
            </a:custGeom>
            <a:noFill/>
            <a:ln w="50800">
              <a:solidFill>
                <a:srgbClr val="FD1C00"/>
              </a:solidFill>
              <a:prstDash val="sysDot"/>
              <a:miter lim="800000"/>
              <a:headEnd type="stealth" w="med" len="me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grpSp>
          <p:nvGrpSpPr>
            <p:cNvPr id="65548" name="Group 12"/>
            <p:cNvGrpSpPr>
              <a:grpSpLocks/>
            </p:cNvGrpSpPr>
            <p:nvPr/>
          </p:nvGrpSpPr>
          <p:grpSpPr bwMode="auto">
            <a:xfrm>
              <a:off x="0" y="372"/>
              <a:ext cx="552" cy="432"/>
              <a:chOff x="0" y="0"/>
              <a:chExt cx="552" cy="432"/>
            </a:xfrm>
          </p:grpSpPr>
          <p:sp>
            <p:nvSpPr>
              <p:cNvPr id="65549" name="Rectangle 13"/>
              <p:cNvSpPr>
                <a:spLocks/>
              </p:cNvSpPr>
              <p:nvPr/>
            </p:nvSpPr>
            <p:spPr bwMode="auto">
              <a:xfrm>
                <a:off x="0" y="0"/>
                <a:ext cx="552" cy="432"/>
              </a:xfrm>
              <a:prstGeom prst="rect">
                <a:avLst/>
              </a:prstGeom>
              <a:solidFill>
                <a:srgbClr val="000000"/>
              </a:solidFill>
              <a:ln w="50800">
                <a:solidFill>
                  <a:srgbClr val="FFFC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sp>
            <p:nvSpPr>
              <p:cNvPr id="65550" name="Rectangle 14"/>
              <p:cNvSpPr>
                <a:spLocks/>
              </p:cNvSpPr>
              <p:nvPr/>
            </p:nvSpPr>
            <p:spPr bwMode="auto">
              <a:xfrm>
                <a:off x="52" y="96"/>
                <a:ext cx="39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p>
                <a:pPr marL="80364" algn="ctr">
                  <a:tabLst>
                    <a:tab pos="366104" algn="l"/>
                  </a:tabLst>
                </a:pPr>
                <a:r>
                  <a:rPr lang="en-US" sz="1400" b="1">
                    <a:solidFill>
                      <a:srgbClr val="FFFFFF"/>
                    </a:solidFill>
                    <a:effectLst>
                      <a:outerShdw blurRad="38100" dist="38100" dir="2700000" algn="tl">
                        <a:srgbClr val="000000"/>
                      </a:outerShdw>
                    </a:effectLst>
                    <a:latin typeface="Arial" charset="0"/>
                    <a:cs typeface="Arial" charset="0"/>
                    <a:sym typeface="Arial" charset="0"/>
                  </a:rPr>
                  <a:t>ATP</a:t>
                </a:r>
              </a:p>
            </p:txBody>
          </p:sp>
        </p:grpSp>
      </p:grpSp>
      <p:grpSp>
        <p:nvGrpSpPr>
          <p:cNvPr id="65551" name="Group 15"/>
          <p:cNvGrpSpPr>
            <a:grpSpLocks/>
          </p:cNvGrpSpPr>
          <p:nvPr/>
        </p:nvGrpSpPr>
        <p:grpSpPr bwMode="auto">
          <a:xfrm>
            <a:off x="4286250" y="3527227"/>
            <a:ext cx="3580805" cy="1099468"/>
            <a:chOff x="0" y="0"/>
            <a:chExt cx="3208" cy="985"/>
          </a:xfrm>
        </p:grpSpPr>
        <p:grpSp>
          <p:nvGrpSpPr>
            <p:cNvPr id="65552" name="Group 16"/>
            <p:cNvGrpSpPr>
              <a:grpSpLocks/>
            </p:cNvGrpSpPr>
            <p:nvPr/>
          </p:nvGrpSpPr>
          <p:grpSpPr bwMode="auto">
            <a:xfrm rot="10800000" flipH="1">
              <a:off x="20" y="460"/>
              <a:ext cx="3188" cy="525"/>
              <a:chOff x="0" y="0"/>
              <a:chExt cx="3187" cy="525"/>
            </a:xfrm>
          </p:grpSpPr>
          <p:pic>
            <p:nvPicPr>
              <p:cNvPr id="65553" name="Picture 1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98" y="0"/>
                <a:ext cx="289"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5554" name="Picture 1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658" y="0"/>
                <a:ext cx="288"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5555" name="Picture 1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18" y="0"/>
                <a:ext cx="288"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5556" name="Picture 2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77" y="0"/>
                <a:ext cx="289"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5557" name="Picture 2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30" y="0"/>
                <a:ext cx="288"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5558" name="Picture 2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89" y="0"/>
                <a:ext cx="289"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5559" name="Picture 2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49" y="0"/>
                <a:ext cx="288"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5560" name="Picture 2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209" y="0"/>
                <a:ext cx="288"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5561" name="Picture 2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68" y="0"/>
                <a:ext cx="289"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5562" name="Picture 2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28" y="0"/>
                <a:ext cx="288"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5563" name="Picture 2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0" y="0"/>
                <a:ext cx="289"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5564" name="Picture 2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0" y="0"/>
                <a:ext cx="288"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5565" name="Picture 2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0"/>
                <a:ext cx="288"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grpSp>
        <p:grpSp>
          <p:nvGrpSpPr>
            <p:cNvPr id="65566" name="Group 30"/>
            <p:cNvGrpSpPr>
              <a:grpSpLocks/>
            </p:cNvGrpSpPr>
            <p:nvPr/>
          </p:nvGrpSpPr>
          <p:grpSpPr bwMode="auto">
            <a:xfrm>
              <a:off x="0" y="0"/>
              <a:ext cx="3187" cy="525"/>
              <a:chOff x="0" y="0"/>
              <a:chExt cx="3187" cy="525"/>
            </a:xfrm>
          </p:grpSpPr>
          <p:pic>
            <p:nvPicPr>
              <p:cNvPr id="65567" name="Picture 3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98" y="0"/>
                <a:ext cx="289"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5568" name="Picture 3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658" y="0"/>
                <a:ext cx="288"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5569" name="Picture 3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18" y="0"/>
                <a:ext cx="288"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5570" name="Picture 3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77" y="0"/>
                <a:ext cx="289"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5571" name="Picture 3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30" y="0"/>
                <a:ext cx="288"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5572" name="Picture 3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89" y="0"/>
                <a:ext cx="289"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5573" name="Picture 3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49" y="0"/>
                <a:ext cx="288"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5574" name="Picture 3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209" y="0"/>
                <a:ext cx="288"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5575" name="Picture 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68" y="0"/>
                <a:ext cx="289"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5576" name="Picture 40"/>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28" y="0"/>
                <a:ext cx="288"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5577" name="Picture 4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0" y="0"/>
                <a:ext cx="289"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5578" name="Picture 4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0" y="0"/>
                <a:ext cx="288"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5579" name="Picture 4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0"/>
                <a:ext cx="288"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grpSp>
      </p:grpSp>
      <p:grpSp>
        <p:nvGrpSpPr>
          <p:cNvPr id="65580" name="Group 44"/>
          <p:cNvGrpSpPr>
            <a:grpSpLocks/>
          </p:cNvGrpSpPr>
          <p:nvPr/>
        </p:nvGrpSpPr>
        <p:grpSpPr bwMode="auto">
          <a:xfrm>
            <a:off x="7786688" y="3527227"/>
            <a:ext cx="1434331" cy="1099468"/>
            <a:chOff x="0" y="0"/>
            <a:chExt cx="1285" cy="985"/>
          </a:xfrm>
        </p:grpSpPr>
        <p:pic>
          <p:nvPicPr>
            <p:cNvPr id="65581" name="Picture 4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7" y="460"/>
              <a:ext cx="288"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5582" name="Picture 4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8" y="460"/>
              <a:ext cx="289"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5583" name="Picture 4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1" y="460"/>
              <a:ext cx="288"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5584" name="Picture 4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1" y="460"/>
              <a:ext cx="288"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5585" name="Picture 4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 y="460"/>
              <a:ext cx="289"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5586" name="Picture 5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6" y="0"/>
              <a:ext cx="289"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5587" name="Picture 5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28" y="0"/>
              <a:ext cx="288"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5588" name="Picture 5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0" y="0"/>
              <a:ext cx="289"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5589" name="Picture 5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0" y="0"/>
              <a:ext cx="288"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5590" name="Picture 5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0"/>
              <a:ext cx="288"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grpSp>
      <p:pic>
        <p:nvPicPr>
          <p:cNvPr id="65591" name="Picture 5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44220" y="3156645"/>
            <a:ext cx="1496839" cy="19455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grpSp>
        <p:nvGrpSpPr>
          <p:cNvPr id="65592" name="Group 56"/>
          <p:cNvGrpSpPr>
            <a:grpSpLocks/>
          </p:cNvGrpSpPr>
          <p:nvPr/>
        </p:nvGrpSpPr>
        <p:grpSpPr bwMode="auto">
          <a:xfrm>
            <a:off x="5038576" y="1380753"/>
            <a:ext cx="2693417" cy="4521770"/>
            <a:chOff x="0" y="0"/>
            <a:chExt cx="2413" cy="4050"/>
          </a:xfrm>
        </p:grpSpPr>
        <p:sp>
          <p:nvSpPr>
            <p:cNvPr id="65593" name="Oval 57"/>
            <p:cNvSpPr>
              <a:spLocks/>
            </p:cNvSpPr>
            <p:nvPr/>
          </p:nvSpPr>
          <p:spPr bwMode="auto">
            <a:xfrm>
              <a:off x="924" y="3643"/>
              <a:ext cx="407" cy="407"/>
            </a:xfrm>
            <a:prstGeom prst="ellipse">
              <a:avLst/>
            </a:prstGeom>
            <a:solidFill>
              <a:srgbClr val="054080"/>
            </a:solidFill>
            <a:ln>
              <a:noFill/>
            </a:ln>
            <a:effectLst/>
            <a:extLst>
              <a:ext uri="{91240B29-F687-4F45-9708-019B960494DF}">
                <a14:hiddenLine xmlns:a14="http://schemas.microsoft.com/office/drawing/2010/main" w="25400">
                  <a:solidFill>
                    <a:srgbClr val="6D381D"/>
                  </a:solidFill>
                  <a:round/>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txBody>
            <a:bodyPr lIns="0" tIns="0" rIns="0" bIns="0" anchor="ctr"/>
            <a:lstStyle/>
            <a:p>
              <a:pPr marL="80364" algn="ctr">
                <a:tabLst>
                  <a:tab pos="366104" algn="l"/>
                </a:tabLst>
              </a:pPr>
              <a:r>
                <a:rPr lang="en-US" sz="1300" b="1">
                  <a:solidFill>
                    <a:srgbClr val="FFFFFF"/>
                  </a:solidFill>
                  <a:effectLst>
                    <a:outerShdw blurRad="38100" dist="38100" dir="2700000" algn="tl">
                      <a:srgbClr val="000000"/>
                    </a:outerShdw>
                  </a:effectLst>
                  <a:latin typeface="Arial" charset="0"/>
                  <a:cs typeface="Arial" charset="0"/>
                  <a:sym typeface="Arial" charset="0"/>
                </a:rPr>
                <a:t>H</a:t>
              </a:r>
              <a:r>
                <a:rPr lang="en-US" sz="1300" b="1" baseline="32000">
                  <a:solidFill>
                    <a:srgbClr val="FFFFFF"/>
                  </a:solidFill>
                  <a:effectLst>
                    <a:outerShdw blurRad="38100" dist="38100" dir="2700000" algn="tl">
                      <a:srgbClr val="000000"/>
                    </a:outerShdw>
                  </a:effectLst>
                  <a:latin typeface="Arial" charset="0"/>
                  <a:cs typeface="Arial" charset="0"/>
                  <a:sym typeface="Arial" charset="0"/>
                </a:rPr>
                <a:t>+</a:t>
              </a:r>
            </a:p>
          </p:txBody>
        </p:sp>
        <p:sp>
          <p:nvSpPr>
            <p:cNvPr id="65594" name="Oval 58"/>
            <p:cNvSpPr>
              <a:spLocks/>
            </p:cNvSpPr>
            <p:nvPr/>
          </p:nvSpPr>
          <p:spPr bwMode="auto">
            <a:xfrm>
              <a:off x="249" y="0"/>
              <a:ext cx="407" cy="406"/>
            </a:xfrm>
            <a:prstGeom prst="ellipse">
              <a:avLst/>
            </a:prstGeom>
            <a:solidFill>
              <a:srgbClr val="054080"/>
            </a:solidFill>
            <a:ln>
              <a:noFill/>
            </a:ln>
            <a:effectLst/>
            <a:extLst>
              <a:ext uri="{91240B29-F687-4F45-9708-019B960494DF}">
                <a14:hiddenLine xmlns:a14="http://schemas.microsoft.com/office/drawing/2010/main" w="25400">
                  <a:solidFill>
                    <a:srgbClr val="6D381D"/>
                  </a:solidFill>
                  <a:round/>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txBody>
            <a:bodyPr lIns="0" tIns="0" rIns="0" bIns="0" anchor="ctr"/>
            <a:lstStyle/>
            <a:p>
              <a:pPr marL="80364" algn="ctr">
                <a:tabLst>
                  <a:tab pos="366104" algn="l"/>
                </a:tabLst>
              </a:pPr>
              <a:r>
                <a:rPr lang="en-US" sz="1300" b="1">
                  <a:solidFill>
                    <a:srgbClr val="FFFFFF"/>
                  </a:solidFill>
                  <a:effectLst>
                    <a:outerShdw blurRad="38100" dist="38100" dir="2700000" algn="tl">
                      <a:srgbClr val="000000"/>
                    </a:outerShdw>
                  </a:effectLst>
                  <a:latin typeface="Arial" charset="0"/>
                  <a:cs typeface="Arial" charset="0"/>
                  <a:sym typeface="Arial" charset="0"/>
                </a:rPr>
                <a:t>H</a:t>
              </a:r>
              <a:r>
                <a:rPr lang="en-US" sz="1300" b="1" baseline="32000">
                  <a:solidFill>
                    <a:srgbClr val="FFFFFF"/>
                  </a:solidFill>
                  <a:effectLst>
                    <a:outerShdw blurRad="38100" dist="38100" dir="2700000" algn="tl">
                      <a:srgbClr val="000000"/>
                    </a:outerShdw>
                  </a:effectLst>
                  <a:latin typeface="Arial" charset="0"/>
                  <a:cs typeface="Arial" charset="0"/>
                  <a:sym typeface="Arial" charset="0"/>
                </a:rPr>
                <a:t>+</a:t>
              </a:r>
            </a:p>
          </p:txBody>
        </p:sp>
        <p:sp>
          <p:nvSpPr>
            <p:cNvPr id="65595" name="Oval 59"/>
            <p:cNvSpPr>
              <a:spLocks/>
            </p:cNvSpPr>
            <p:nvPr/>
          </p:nvSpPr>
          <p:spPr bwMode="auto">
            <a:xfrm>
              <a:off x="2006" y="268"/>
              <a:ext cx="407" cy="407"/>
            </a:xfrm>
            <a:prstGeom prst="ellipse">
              <a:avLst/>
            </a:prstGeom>
            <a:solidFill>
              <a:srgbClr val="054080"/>
            </a:solidFill>
            <a:ln>
              <a:noFill/>
            </a:ln>
            <a:effectLst/>
            <a:extLst>
              <a:ext uri="{91240B29-F687-4F45-9708-019B960494DF}">
                <a14:hiddenLine xmlns:a14="http://schemas.microsoft.com/office/drawing/2010/main" w="25400">
                  <a:solidFill>
                    <a:srgbClr val="6D381D"/>
                  </a:solidFill>
                  <a:round/>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txBody>
            <a:bodyPr lIns="0" tIns="0" rIns="0" bIns="0" anchor="ctr"/>
            <a:lstStyle/>
            <a:p>
              <a:pPr marL="80364" algn="ctr">
                <a:tabLst>
                  <a:tab pos="366104" algn="l"/>
                </a:tabLst>
              </a:pPr>
              <a:r>
                <a:rPr lang="en-US" sz="1300" b="1">
                  <a:solidFill>
                    <a:srgbClr val="FFFFFF"/>
                  </a:solidFill>
                  <a:effectLst>
                    <a:outerShdw blurRad="38100" dist="38100" dir="2700000" algn="tl">
                      <a:srgbClr val="000000"/>
                    </a:outerShdw>
                  </a:effectLst>
                  <a:latin typeface="Arial" charset="0"/>
                  <a:cs typeface="Arial" charset="0"/>
                  <a:sym typeface="Arial" charset="0"/>
                </a:rPr>
                <a:t>H</a:t>
              </a:r>
              <a:r>
                <a:rPr lang="en-US" sz="1300" b="1" baseline="32000">
                  <a:solidFill>
                    <a:srgbClr val="FFFFFF"/>
                  </a:solidFill>
                  <a:effectLst>
                    <a:outerShdw blurRad="38100" dist="38100" dir="2700000" algn="tl">
                      <a:srgbClr val="000000"/>
                    </a:outerShdw>
                  </a:effectLst>
                  <a:latin typeface="Arial" charset="0"/>
                  <a:cs typeface="Arial" charset="0"/>
                  <a:sym typeface="Arial" charset="0"/>
                </a:rPr>
                <a:t>+</a:t>
              </a:r>
            </a:p>
          </p:txBody>
        </p:sp>
        <p:sp>
          <p:nvSpPr>
            <p:cNvPr id="65596" name="Oval 60"/>
            <p:cNvSpPr>
              <a:spLocks/>
            </p:cNvSpPr>
            <p:nvPr/>
          </p:nvSpPr>
          <p:spPr bwMode="auto">
            <a:xfrm>
              <a:off x="0" y="850"/>
              <a:ext cx="406" cy="407"/>
            </a:xfrm>
            <a:prstGeom prst="ellipse">
              <a:avLst/>
            </a:prstGeom>
            <a:solidFill>
              <a:srgbClr val="054080"/>
            </a:solidFill>
            <a:ln>
              <a:noFill/>
            </a:ln>
            <a:effectLst/>
            <a:extLst>
              <a:ext uri="{91240B29-F687-4F45-9708-019B960494DF}">
                <a14:hiddenLine xmlns:a14="http://schemas.microsoft.com/office/drawing/2010/main" w="25400">
                  <a:solidFill>
                    <a:srgbClr val="6D381D"/>
                  </a:solidFill>
                  <a:round/>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txBody>
            <a:bodyPr lIns="0" tIns="0" rIns="0" bIns="0" anchor="ctr"/>
            <a:lstStyle/>
            <a:p>
              <a:pPr marL="80364" algn="ctr">
                <a:tabLst>
                  <a:tab pos="366104" algn="l"/>
                </a:tabLst>
              </a:pPr>
              <a:r>
                <a:rPr lang="en-US" sz="1300" b="1">
                  <a:solidFill>
                    <a:srgbClr val="FFFFFF"/>
                  </a:solidFill>
                  <a:effectLst>
                    <a:outerShdw blurRad="38100" dist="38100" dir="2700000" algn="tl">
                      <a:srgbClr val="000000"/>
                    </a:outerShdw>
                  </a:effectLst>
                  <a:latin typeface="Arial" charset="0"/>
                  <a:cs typeface="Arial" charset="0"/>
                  <a:sym typeface="Arial" charset="0"/>
                </a:rPr>
                <a:t>H</a:t>
              </a:r>
              <a:r>
                <a:rPr lang="en-US" sz="1300" b="1" baseline="32000">
                  <a:solidFill>
                    <a:srgbClr val="FFFFFF"/>
                  </a:solidFill>
                  <a:effectLst>
                    <a:outerShdw blurRad="38100" dist="38100" dir="2700000" algn="tl">
                      <a:srgbClr val="000000"/>
                    </a:outerShdw>
                  </a:effectLst>
                  <a:latin typeface="Arial" charset="0"/>
                  <a:cs typeface="Arial" charset="0"/>
                  <a:sym typeface="Arial" charset="0"/>
                </a:rPr>
                <a:t>+</a:t>
              </a:r>
            </a:p>
          </p:txBody>
        </p:sp>
        <p:sp>
          <p:nvSpPr>
            <p:cNvPr id="65597" name="Oval 61"/>
            <p:cNvSpPr>
              <a:spLocks/>
            </p:cNvSpPr>
            <p:nvPr/>
          </p:nvSpPr>
          <p:spPr bwMode="auto">
            <a:xfrm>
              <a:off x="887" y="712"/>
              <a:ext cx="407" cy="406"/>
            </a:xfrm>
            <a:prstGeom prst="ellipse">
              <a:avLst/>
            </a:prstGeom>
            <a:solidFill>
              <a:srgbClr val="054080"/>
            </a:solidFill>
            <a:ln>
              <a:noFill/>
            </a:ln>
            <a:effectLst/>
            <a:extLst>
              <a:ext uri="{91240B29-F687-4F45-9708-019B960494DF}">
                <a14:hiddenLine xmlns:a14="http://schemas.microsoft.com/office/drawing/2010/main" w="25400">
                  <a:solidFill>
                    <a:srgbClr val="6D381D"/>
                  </a:solidFill>
                  <a:round/>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txBody>
            <a:bodyPr lIns="0" tIns="0" rIns="0" bIns="0" anchor="ctr"/>
            <a:lstStyle/>
            <a:p>
              <a:pPr marL="80364" algn="ctr">
                <a:tabLst>
                  <a:tab pos="366104" algn="l"/>
                </a:tabLst>
              </a:pPr>
              <a:r>
                <a:rPr lang="en-US" sz="1300" b="1">
                  <a:solidFill>
                    <a:srgbClr val="FFFFFF"/>
                  </a:solidFill>
                  <a:effectLst>
                    <a:outerShdw blurRad="38100" dist="38100" dir="2700000" algn="tl">
                      <a:srgbClr val="000000"/>
                    </a:outerShdw>
                  </a:effectLst>
                  <a:latin typeface="Arial" charset="0"/>
                  <a:cs typeface="Arial" charset="0"/>
                  <a:sym typeface="Arial" charset="0"/>
                </a:rPr>
                <a:t>H</a:t>
              </a:r>
              <a:r>
                <a:rPr lang="en-US" sz="1300" b="1" baseline="32000">
                  <a:solidFill>
                    <a:srgbClr val="FFFFFF"/>
                  </a:solidFill>
                  <a:effectLst>
                    <a:outerShdw blurRad="38100" dist="38100" dir="2700000" algn="tl">
                      <a:srgbClr val="000000"/>
                    </a:outerShdw>
                  </a:effectLst>
                  <a:latin typeface="Arial" charset="0"/>
                  <a:cs typeface="Arial" charset="0"/>
                  <a:sym typeface="Arial" charset="0"/>
                </a:rPr>
                <a:t>+</a:t>
              </a:r>
            </a:p>
          </p:txBody>
        </p:sp>
        <p:sp>
          <p:nvSpPr>
            <p:cNvPr id="65598" name="Line 62"/>
            <p:cNvSpPr>
              <a:spLocks noChangeShapeType="1"/>
            </p:cNvSpPr>
            <p:nvPr/>
          </p:nvSpPr>
          <p:spPr bwMode="auto">
            <a:xfrm>
              <a:off x="1124" y="1357"/>
              <a:ext cx="0" cy="2232"/>
            </a:xfrm>
            <a:prstGeom prst="line">
              <a:avLst/>
            </a:prstGeom>
            <a:noFill/>
            <a:ln w="50800">
              <a:solidFill>
                <a:srgbClr val="FD1C00"/>
              </a:solidFill>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sp>
          <p:nvSpPr>
            <p:cNvPr id="65599" name="Oval 63"/>
            <p:cNvSpPr>
              <a:spLocks/>
            </p:cNvSpPr>
            <p:nvPr/>
          </p:nvSpPr>
          <p:spPr bwMode="auto">
            <a:xfrm>
              <a:off x="1326" y="100"/>
              <a:ext cx="407" cy="407"/>
            </a:xfrm>
            <a:prstGeom prst="ellipse">
              <a:avLst/>
            </a:prstGeom>
            <a:solidFill>
              <a:srgbClr val="054080"/>
            </a:solidFill>
            <a:ln>
              <a:noFill/>
            </a:ln>
            <a:effectLst/>
            <a:extLst>
              <a:ext uri="{91240B29-F687-4F45-9708-019B960494DF}">
                <a14:hiddenLine xmlns:a14="http://schemas.microsoft.com/office/drawing/2010/main" w="25400">
                  <a:solidFill>
                    <a:srgbClr val="6D381D"/>
                  </a:solidFill>
                  <a:round/>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txBody>
            <a:bodyPr lIns="0" tIns="0" rIns="0" bIns="0" anchor="ctr"/>
            <a:lstStyle/>
            <a:p>
              <a:pPr marL="80364" algn="ctr">
                <a:tabLst>
                  <a:tab pos="366104" algn="l"/>
                </a:tabLst>
              </a:pPr>
              <a:r>
                <a:rPr lang="en-US" sz="1300" b="1">
                  <a:solidFill>
                    <a:srgbClr val="FFFFFF"/>
                  </a:solidFill>
                  <a:effectLst>
                    <a:outerShdw blurRad="38100" dist="38100" dir="2700000" algn="tl">
                      <a:srgbClr val="000000"/>
                    </a:outerShdw>
                  </a:effectLst>
                  <a:latin typeface="Arial" charset="0"/>
                  <a:cs typeface="Arial" charset="0"/>
                  <a:sym typeface="Arial" charset="0"/>
                </a:rPr>
                <a:t>H</a:t>
              </a:r>
              <a:r>
                <a:rPr lang="en-US" sz="1300" b="1" baseline="32000">
                  <a:solidFill>
                    <a:srgbClr val="FFFFFF"/>
                  </a:solidFill>
                  <a:effectLst>
                    <a:outerShdw blurRad="38100" dist="38100" dir="2700000" algn="tl">
                      <a:srgbClr val="000000"/>
                    </a:outerShdw>
                  </a:effectLst>
                  <a:latin typeface="Arial" charset="0"/>
                  <a:cs typeface="Arial" charset="0"/>
                  <a:sym typeface="Arial" charset="0"/>
                </a:rPr>
                <a:t>+</a:t>
              </a:r>
            </a:p>
          </p:txBody>
        </p:sp>
        <p:sp>
          <p:nvSpPr>
            <p:cNvPr id="65600" name="Oval 64"/>
            <p:cNvSpPr>
              <a:spLocks/>
            </p:cNvSpPr>
            <p:nvPr/>
          </p:nvSpPr>
          <p:spPr bwMode="auto">
            <a:xfrm>
              <a:off x="1638" y="956"/>
              <a:ext cx="407" cy="407"/>
            </a:xfrm>
            <a:prstGeom prst="ellipse">
              <a:avLst/>
            </a:prstGeom>
            <a:solidFill>
              <a:srgbClr val="054080"/>
            </a:solidFill>
            <a:ln>
              <a:noFill/>
            </a:ln>
            <a:effectLst/>
            <a:extLst>
              <a:ext uri="{91240B29-F687-4F45-9708-019B960494DF}">
                <a14:hiddenLine xmlns:a14="http://schemas.microsoft.com/office/drawing/2010/main" w="25400">
                  <a:solidFill>
                    <a:srgbClr val="6D381D"/>
                  </a:solidFill>
                  <a:round/>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txBody>
            <a:bodyPr lIns="0" tIns="0" rIns="0" bIns="0" anchor="ctr"/>
            <a:lstStyle/>
            <a:p>
              <a:pPr marL="80364" algn="ctr">
                <a:tabLst>
                  <a:tab pos="366104" algn="l"/>
                </a:tabLst>
              </a:pPr>
              <a:r>
                <a:rPr lang="en-US" sz="1300" b="1">
                  <a:solidFill>
                    <a:srgbClr val="FFFFFF"/>
                  </a:solidFill>
                  <a:effectLst>
                    <a:outerShdw blurRad="38100" dist="38100" dir="2700000" algn="tl">
                      <a:srgbClr val="000000"/>
                    </a:outerShdw>
                  </a:effectLst>
                  <a:latin typeface="Arial" charset="0"/>
                  <a:cs typeface="Arial" charset="0"/>
                  <a:sym typeface="Arial" charset="0"/>
                </a:rPr>
                <a:t>H</a:t>
              </a:r>
              <a:r>
                <a:rPr lang="en-US" sz="1300" b="1" baseline="32000">
                  <a:solidFill>
                    <a:srgbClr val="FFFFFF"/>
                  </a:solidFill>
                  <a:effectLst>
                    <a:outerShdw blurRad="38100" dist="38100" dir="2700000" algn="tl">
                      <a:srgbClr val="000000"/>
                    </a:outerShdw>
                  </a:effectLst>
                  <a:latin typeface="Arial" charset="0"/>
                  <a:cs typeface="Arial" charset="0"/>
                  <a:sym typeface="Arial" charset="0"/>
                </a:rPr>
                <a:t>+</a:t>
              </a:r>
            </a:p>
          </p:txBody>
        </p:sp>
      </p:grpSp>
      <p:sp>
        <p:nvSpPr>
          <p:cNvPr id="65601" name="Line 65"/>
          <p:cNvSpPr>
            <a:spLocks noChangeShapeType="1"/>
          </p:cNvSpPr>
          <p:nvPr/>
        </p:nvSpPr>
        <p:spPr bwMode="auto">
          <a:xfrm rot="10800000">
            <a:off x="5356697" y="3356447"/>
            <a:ext cx="679772" cy="146223"/>
          </a:xfrm>
          <a:prstGeom prst="line">
            <a:avLst/>
          </a:prstGeom>
          <a:noFill/>
          <a:ln w="25400">
            <a:solidFill>
              <a:srgbClr val="FD1C00"/>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291" tIns="32146" rIns="64291" bIns="32146"/>
          <a:lstStyle/>
          <a:p>
            <a:endParaRPr lang="en-AU"/>
          </a:p>
        </p:txBody>
      </p:sp>
      <p:sp>
        <p:nvSpPr>
          <p:cNvPr id="65602" name="Line 66"/>
          <p:cNvSpPr>
            <a:spLocks noChangeShapeType="1"/>
          </p:cNvSpPr>
          <p:nvPr/>
        </p:nvSpPr>
        <p:spPr bwMode="auto">
          <a:xfrm>
            <a:off x="8197453" y="4268391"/>
            <a:ext cx="0" cy="660797"/>
          </a:xfrm>
          <a:prstGeom prst="line">
            <a:avLst/>
          </a:prstGeom>
          <a:noFill/>
          <a:ln w="25400">
            <a:solidFill>
              <a:srgbClr val="FD1C00"/>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291" tIns="32146" rIns="64291" bIns="32146"/>
          <a:lstStyle/>
          <a:p>
            <a:endParaRPr lang="en-AU"/>
          </a:p>
        </p:txBody>
      </p:sp>
      <p:sp>
        <p:nvSpPr>
          <p:cNvPr id="65604" name="Rectangle 68"/>
          <p:cNvSpPr>
            <a:spLocks/>
          </p:cNvSpPr>
          <p:nvPr/>
        </p:nvSpPr>
        <p:spPr bwMode="auto">
          <a:xfrm>
            <a:off x="1278062" y="-142874"/>
            <a:ext cx="129902" cy="341919"/>
          </a:xfrm>
          <a:prstGeom prst="rect">
            <a:avLst/>
          </a:prstGeom>
          <a:noFill/>
          <a:ln>
            <a:noFill/>
          </a:ln>
          <a:effectLst/>
          <a:extLst>
            <a:ext uri="{909E8E84-426E-40DD-AFC4-6F175D3DCCD1}">
              <a14:hiddenFill xmlns:a14="http://schemas.microsoft.com/office/drawing/2010/main">
                <a:solidFill>
                  <a:srgbClr val="D6A650">
                    <a:alpha val="14902"/>
                  </a:srgbClr>
                </a:solidFill>
              </a14:hiddenFill>
            </a:ext>
            <a:ext uri="{91240B29-F687-4F45-9708-019B960494DF}">
              <a14:hiddenLine xmlns:a14="http://schemas.microsoft.com/office/drawing/2010/main" w="25400">
                <a:solidFill>
                  <a:srgbClr val="6D381D"/>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4291" tIns="32146" rIns="64291" bIns="32146">
            <a:spAutoFit/>
          </a:bodyPr>
          <a:lstStyle/>
          <a:p>
            <a:endParaRPr lang="en-US"/>
          </a:p>
        </p:txBody>
      </p:sp>
    </p:spTree>
    <p:extLst>
      <p:ext uri="{BB962C8B-B14F-4D97-AF65-F5344CB8AC3E}">
        <p14:creationId xmlns:p14="http://schemas.microsoft.com/office/powerpoint/2010/main" val="415601377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553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499"/>
                                          </p:stCondLst>
                                        </p:cTn>
                                        <p:tgtEl>
                                          <p:spTgt spid="65546"/>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65538">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499"/>
                                          </p:stCondLst>
                                        </p:cTn>
                                        <p:tgtEl>
                                          <p:spTgt spid="6559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6553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8" grpId="0" build="p" bldLvl="5"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1"/>
          <p:cNvSpPr>
            <a:spLocks/>
          </p:cNvSpPr>
          <p:nvPr/>
        </p:nvSpPr>
        <p:spPr bwMode="auto">
          <a:xfrm>
            <a:off x="4339828" y="4566420"/>
            <a:ext cx="4822031" cy="2291581"/>
          </a:xfrm>
          <a:prstGeom prst="rect">
            <a:avLst/>
          </a:prstGeom>
          <a:solidFill>
            <a:srgbClr val="FECB63">
              <a:alpha val="69803"/>
            </a:srgbClr>
          </a:solidFill>
          <a:ln>
            <a:noFill/>
          </a:ln>
          <a:effectLst/>
          <a:extLst>
            <a:ext uri="{91240B29-F687-4F45-9708-019B960494DF}">
              <a14:hiddenLine xmlns:a14="http://schemas.microsoft.com/office/drawing/2010/main" w="25400">
                <a:solidFill>
                  <a:srgbClr val="6D381D"/>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291" tIns="32146" rIns="64291" bIns="32146"/>
          <a:lstStyle/>
          <a:p>
            <a:endParaRPr lang="en-AU"/>
          </a:p>
        </p:txBody>
      </p:sp>
      <p:sp>
        <p:nvSpPr>
          <p:cNvPr id="66562" name="Rectangle 2"/>
          <p:cNvSpPr>
            <a:spLocks/>
          </p:cNvSpPr>
          <p:nvPr/>
        </p:nvSpPr>
        <p:spPr bwMode="auto">
          <a:xfrm>
            <a:off x="4339828" y="0"/>
            <a:ext cx="4822031" cy="3795117"/>
          </a:xfrm>
          <a:prstGeom prst="rect">
            <a:avLst/>
          </a:prstGeom>
          <a:gradFill rotWithShape="0">
            <a:gsLst>
              <a:gs pos="0">
                <a:srgbClr val="0B81FF">
                  <a:alpha val="60001"/>
                </a:srgbClr>
              </a:gs>
              <a:gs pos="100000">
                <a:srgbClr val="DBF1F8"/>
              </a:gs>
            </a:gsLst>
            <a:lin ang="16260000" scaled="1"/>
          </a:gradFill>
          <a:ln>
            <a:noFill/>
          </a:ln>
          <a:effectLst/>
          <a:extLst>
            <a:ext uri="{91240B29-F687-4F45-9708-019B960494DF}">
              <a14:hiddenLine xmlns:a14="http://schemas.microsoft.com/office/drawing/2010/main" w="25400">
                <a:solidFill>
                  <a:srgbClr val="6D381D"/>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291" tIns="32146" rIns="64291" bIns="32146"/>
          <a:lstStyle/>
          <a:p>
            <a:endParaRPr lang="en-AU"/>
          </a:p>
        </p:txBody>
      </p:sp>
      <p:sp>
        <p:nvSpPr>
          <p:cNvPr id="66563" name="Rectangle 3"/>
          <p:cNvSpPr>
            <a:spLocks/>
          </p:cNvSpPr>
          <p:nvPr/>
        </p:nvSpPr>
        <p:spPr bwMode="auto">
          <a:xfrm>
            <a:off x="4317504" y="3795117"/>
            <a:ext cx="4822031" cy="776883"/>
          </a:xfrm>
          <a:prstGeom prst="rect">
            <a:avLst/>
          </a:prstGeom>
          <a:solidFill>
            <a:srgbClr val="FFFFFF"/>
          </a:solidFill>
          <a:ln>
            <a:noFill/>
          </a:ln>
          <a:effectLst/>
          <a:extLst>
            <a:ext uri="{91240B29-F687-4F45-9708-019B960494DF}">
              <a14:hiddenLine xmlns:a14="http://schemas.microsoft.com/office/drawing/2010/main" w="25400">
                <a:solidFill>
                  <a:srgbClr val="6D381D"/>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291" tIns="32146" rIns="64291" bIns="32146"/>
          <a:lstStyle/>
          <a:p>
            <a:endParaRPr lang="en-AU"/>
          </a:p>
        </p:txBody>
      </p:sp>
      <p:grpSp>
        <p:nvGrpSpPr>
          <p:cNvPr id="66564" name="Group 4"/>
          <p:cNvGrpSpPr>
            <a:grpSpLocks/>
          </p:cNvGrpSpPr>
          <p:nvPr/>
        </p:nvGrpSpPr>
        <p:grpSpPr bwMode="auto">
          <a:xfrm>
            <a:off x="4232672" y="3598664"/>
            <a:ext cx="3580805" cy="1099468"/>
            <a:chOff x="0" y="0"/>
            <a:chExt cx="3208" cy="985"/>
          </a:xfrm>
        </p:grpSpPr>
        <p:grpSp>
          <p:nvGrpSpPr>
            <p:cNvPr id="66565" name="Group 5"/>
            <p:cNvGrpSpPr>
              <a:grpSpLocks/>
            </p:cNvGrpSpPr>
            <p:nvPr/>
          </p:nvGrpSpPr>
          <p:grpSpPr bwMode="auto">
            <a:xfrm rot="10800000" flipH="1">
              <a:off x="20" y="460"/>
              <a:ext cx="3188" cy="525"/>
              <a:chOff x="0" y="0"/>
              <a:chExt cx="3187" cy="525"/>
            </a:xfrm>
          </p:grpSpPr>
          <p:pic>
            <p:nvPicPr>
              <p:cNvPr id="66566" name="Picture 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98" y="0"/>
                <a:ext cx="289"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6567" name="Picture 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658" y="0"/>
                <a:ext cx="288"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6568" name="Picture 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18" y="0"/>
                <a:ext cx="288"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6569" name="Picture 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77" y="0"/>
                <a:ext cx="289"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6570" name="Picture 10"/>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30" y="0"/>
                <a:ext cx="288"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6571" name="Picture 1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89" y="0"/>
                <a:ext cx="289"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6572" name="Picture 1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49" y="0"/>
                <a:ext cx="288"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6573" name="Picture 1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209" y="0"/>
                <a:ext cx="288"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6574" name="Picture 1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68" y="0"/>
                <a:ext cx="289"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6575" name="Picture 1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28" y="0"/>
                <a:ext cx="288"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6576" name="Picture 1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0" y="0"/>
                <a:ext cx="289"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6577" name="Picture 1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0" y="0"/>
                <a:ext cx="288"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6578" name="Picture 1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0"/>
                <a:ext cx="288"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grpSp>
        <p:grpSp>
          <p:nvGrpSpPr>
            <p:cNvPr id="66579" name="Group 19"/>
            <p:cNvGrpSpPr>
              <a:grpSpLocks/>
            </p:cNvGrpSpPr>
            <p:nvPr/>
          </p:nvGrpSpPr>
          <p:grpSpPr bwMode="auto">
            <a:xfrm>
              <a:off x="0" y="0"/>
              <a:ext cx="3187" cy="525"/>
              <a:chOff x="0" y="0"/>
              <a:chExt cx="3187" cy="525"/>
            </a:xfrm>
          </p:grpSpPr>
          <p:pic>
            <p:nvPicPr>
              <p:cNvPr id="66580" name="Picture 2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98" y="0"/>
                <a:ext cx="289"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6581" name="Picture 2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658" y="0"/>
                <a:ext cx="288"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6582" name="Picture 2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18" y="0"/>
                <a:ext cx="288"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6583" name="Picture 2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77" y="0"/>
                <a:ext cx="289"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6584" name="Picture 2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30" y="0"/>
                <a:ext cx="288"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6585" name="Picture 2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89" y="0"/>
                <a:ext cx="289"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6586" name="Picture 2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49" y="0"/>
                <a:ext cx="288"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6587" name="Picture 2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209" y="0"/>
                <a:ext cx="288"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6588" name="Picture 2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68" y="0"/>
                <a:ext cx="289"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6589" name="Picture 2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28" y="0"/>
                <a:ext cx="288"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6590" name="Picture 3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0" y="0"/>
                <a:ext cx="289"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6591" name="Picture 3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0" y="0"/>
                <a:ext cx="288"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6592" name="Picture 3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0"/>
                <a:ext cx="288"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grpSp>
      </p:grpSp>
      <p:sp>
        <p:nvSpPr>
          <p:cNvPr id="66594" name="Rectangle 34"/>
          <p:cNvSpPr>
            <a:spLocks noGrp="1" noChangeArrowheads="1"/>
          </p:cNvSpPr>
          <p:nvPr>
            <p:ph type="title"/>
          </p:nvPr>
        </p:nvSpPr>
        <p:spPr>
          <a:xfrm>
            <a:off x="609600" y="274638"/>
            <a:ext cx="4074155" cy="1143000"/>
          </a:xfrm>
        </p:spPr>
        <p:txBody>
          <a:bodyPr/>
          <a:lstStyle/>
          <a:p>
            <a:r>
              <a:rPr lang="en-US" dirty="0"/>
              <a:t>Co-Transport</a:t>
            </a:r>
          </a:p>
        </p:txBody>
      </p:sp>
      <p:sp>
        <p:nvSpPr>
          <p:cNvPr id="66593" name="Rectangle 33"/>
          <p:cNvSpPr>
            <a:spLocks noGrp="1" noChangeArrowheads="1"/>
          </p:cNvSpPr>
          <p:nvPr>
            <p:ph sz="quarter" idx="13"/>
          </p:nvPr>
        </p:nvSpPr>
        <p:spPr>
          <a:xfrm>
            <a:off x="609600" y="1600200"/>
            <a:ext cx="3530352" cy="4114800"/>
          </a:xfrm>
        </p:spPr>
        <p:txBody>
          <a:bodyPr>
            <a:noAutofit/>
          </a:bodyPr>
          <a:lstStyle/>
          <a:p>
            <a:r>
              <a:rPr lang="en-US" sz="1800" dirty="0"/>
              <a:t>Co-transport is when substances couple together to move across the ion pumps.</a:t>
            </a:r>
          </a:p>
          <a:p>
            <a:r>
              <a:rPr lang="en-US" sz="1800" dirty="0"/>
              <a:t>Plant cells use the hydrogen gradient created by proton pumps to actively transport nutrients into the cell.</a:t>
            </a:r>
          </a:p>
          <a:p>
            <a:r>
              <a:rPr lang="en-US" sz="1800" dirty="0"/>
              <a:t>For example, the return of</a:t>
            </a:r>
            <a:br>
              <a:rPr lang="en-US" sz="1800" dirty="0"/>
            </a:br>
            <a:r>
              <a:rPr lang="en-US" sz="1800" dirty="0"/>
              <a:t>H+ is coupled to the transport of sucrose into the phloem cells. The sucrose rides with the H+ as it diffuses down the concentration gradient maintained by the proton pump.</a:t>
            </a:r>
          </a:p>
        </p:txBody>
      </p:sp>
      <p:pic>
        <p:nvPicPr>
          <p:cNvPr id="66595" name="Picture 3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54068" y="3022699"/>
            <a:ext cx="1359545" cy="20404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25400" dist="12699" dir="5400000" algn="ctr" rotWithShape="0">
                    <a:schemeClr val="bg2">
                      <a:alpha val="50000"/>
                    </a:schemeClr>
                  </a:outerShdw>
                </a:effectLst>
              </a14:hiddenEffects>
            </a:ext>
          </a:extLst>
        </p:spPr>
      </p:pic>
      <p:sp>
        <p:nvSpPr>
          <p:cNvPr id="66596" name="Line 36"/>
          <p:cNvSpPr>
            <a:spLocks noChangeShapeType="1"/>
          </p:cNvSpPr>
          <p:nvPr/>
        </p:nvSpPr>
        <p:spPr bwMode="auto">
          <a:xfrm rot="10800000">
            <a:off x="5371207" y="3161110"/>
            <a:ext cx="601638" cy="351607"/>
          </a:xfrm>
          <a:prstGeom prst="line">
            <a:avLst/>
          </a:prstGeom>
          <a:noFill/>
          <a:ln w="25400">
            <a:solidFill>
              <a:srgbClr val="FD1C00"/>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291" tIns="32146" rIns="64291" bIns="32146"/>
          <a:lstStyle/>
          <a:p>
            <a:endParaRPr lang="en-AU"/>
          </a:p>
        </p:txBody>
      </p:sp>
      <p:grpSp>
        <p:nvGrpSpPr>
          <p:cNvPr id="66597" name="Group 37"/>
          <p:cNvGrpSpPr>
            <a:grpSpLocks/>
          </p:cNvGrpSpPr>
          <p:nvPr/>
        </p:nvGrpSpPr>
        <p:grpSpPr bwMode="auto">
          <a:xfrm>
            <a:off x="6519789" y="1831703"/>
            <a:ext cx="2080617" cy="4132213"/>
            <a:chOff x="0" y="0"/>
            <a:chExt cx="1864" cy="3702"/>
          </a:xfrm>
        </p:grpSpPr>
        <p:sp>
          <p:nvSpPr>
            <p:cNvPr id="66598" name="AutoShape 38"/>
            <p:cNvSpPr>
              <a:spLocks/>
            </p:cNvSpPr>
            <p:nvPr/>
          </p:nvSpPr>
          <p:spPr bwMode="auto">
            <a:xfrm rot="-1262250">
              <a:off x="752" y="75"/>
              <a:ext cx="514" cy="514"/>
            </a:xfrm>
            <a:custGeom>
              <a:avLst/>
              <a:gdLst/>
              <a:ahLst/>
              <a:cxnLst/>
              <a:rect l="0" t="0" r="r" b="b"/>
              <a:pathLst>
                <a:path w="24942" h="21600">
                  <a:moveTo>
                    <a:pt x="12471" y="0"/>
                  </a:moveTo>
                  <a:lnTo>
                    <a:pt x="23271" y="5400"/>
                  </a:lnTo>
                  <a:lnTo>
                    <a:pt x="23271" y="16200"/>
                  </a:lnTo>
                  <a:lnTo>
                    <a:pt x="12471" y="21600"/>
                  </a:lnTo>
                  <a:lnTo>
                    <a:pt x="1671" y="16200"/>
                  </a:lnTo>
                  <a:lnTo>
                    <a:pt x="1671" y="5400"/>
                  </a:lnTo>
                  <a:lnTo>
                    <a:pt x="12471" y="0"/>
                  </a:lnTo>
                  <a:close/>
                  <a:moveTo>
                    <a:pt x="12471" y="0"/>
                  </a:moveTo>
                </a:path>
              </a:pathLst>
            </a:custGeom>
            <a:solidFill>
              <a:srgbClr val="FFFC62"/>
            </a:solidFill>
            <a:ln>
              <a:noFill/>
            </a:ln>
            <a:effectLst/>
            <a:extLst>
              <a:ext uri="{91240B29-F687-4F45-9708-019B960494DF}">
                <a14:hiddenLine xmlns:a14="http://schemas.microsoft.com/office/drawing/2010/main" w="25400">
                  <a:solidFill>
                    <a:srgbClr val="6D381D"/>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txBody>
            <a:bodyPr/>
            <a:lstStyle/>
            <a:p>
              <a:endParaRPr lang="en-AU"/>
            </a:p>
          </p:txBody>
        </p:sp>
        <p:sp>
          <p:nvSpPr>
            <p:cNvPr id="66599" name="AutoShape 39"/>
            <p:cNvSpPr>
              <a:spLocks/>
            </p:cNvSpPr>
            <p:nvPr/>
          </p:nvSpPr>
          <p:spPr bwMode="auto">
            <a:xfrm rot="-1262250">
              <a:off x="428" y="3112"/>
              <a:ext cx="514" cy="514"/>
            </a:xfrm>
            <a:custGeom>
              <a:avLst/>
              <a:gdLst/>
              <a:ahLst/>
              <a:cxnLst/>
              <a:rect l="0" t="0" r="r" b="b"/>
              <a:pathLst>
                <a:path w="24942" h="21600">
                  <a:moveTo>
                    <a:pt x="12471" y="0"/>
                  </a:moveTo>
                  <a:lnTo>
                    <a:pt x="23271" y="5400"/>
                  </a:lnTo>
                  <a:lnTo>
                    <a:pt x="23271" y="16200"/>
                  </a:lnTo>
                  <a:lnTo>
                    <a:pt x="12471" y="21600"/>
                  </a:lnTo>
                  <a:lnTo>
                    <a:pt x="1671" y="16200"/>
                  </a:lnTo>
                  <a:lnTo>
                    <a:pt x="1671" y="5400"/>
                  </a:lnTo>
                  <a:lnTo>
                    <a:pt x="12471" y="0"/>
                  </a:lnTo>
                  <a:close/>
                  <a:moveTo>
                    <a:pt x="12471" y="0"/>
                  </a:moveTo>
                </a:path>
              </a:pathLst>
            </a:custGeom>
            <a:solidFill>
              <a:srgbClr val="FFFC62"/>
            </a:solidFill>
            <a:ln>
              <a:noFill/>
            </a:ln>
            <a:effectLst/>
            <a:extLst>
              <a:ext uri="{91240B29-F687-4F45-9708-019B960494DF}">
                <a14:hiddenLine xmlns:a14="http://schemas.microsoft.com/office/drawing/2010/main" w="25400">
                  <a:solidFill>
                    <a:srgbClr val="6D381D"/>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txBody>
            <a:bodyPr/>
            <a:lstStyle/>
            <a:p>
              <a:endParaRPr lang="en-AU"/>
            </a:p>
          </p:txBody>
        </p:sp>
        <p:sp>
          <p:nvSpPr>
            <p:cNvPr id="66600" name="Rectangle 40"/>
            <p:cNvSpPr>
              <a:spLocks/>
            </p:cNvSpPr>
            <p:nvPr/>
          </p:nvSpPr>
          <p:spPr bwMode="auto">
            <a:xfrm>
              <a:off x="1192" y="357"/>
              <a:ext cx="672" cy="2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p>
              <a:pPr marL="80364" algn="ctr">
                <a:tabLst>
                  <a:tab pos="366104" algn="l"/>
                </a:tabLst>
              </a:pPr>
              <a:r>
                <a:rPr lang="en-US" sz="1300">
                  <a:solidFill>
                    <a:srgbClr val="000000"/>
                  </a:solidFill>
                  <a:latin typeface="Arial" charset="0"/>
                  <a:cs typeface="Arial" charset="0"/>
                  <a:sym typeface="Arial" charset="0"/>
                </a:rPr>
                <a:t>Sucrose</a:t>
              </a:r>
            </a:p>
          </p:txBody>
        </p:sp>
        <p:sp>
          <p:nvSpPr>
            <p:cNvPr id="66601" name="AutoShape 41"/>
            <p:cNvSpPr>
              <a:spLocks/>
            </p:cNvSpPr>
            <p:nvPr/>
          </p:nvSpPr>
          <p:spPr bwMode="auto">
            <a:xfrm>
              <a:off x="0" y="438"/>
              <a:ext cx="763" cy="2715"/>
            </a:xfrm>
            <a:custGeom>
              <a:avLst/>
              <a:gdLst/>
              <a:ahLst/>
              <a:cxnLst/>
              <a:rect l="0" t="0" r="r" b="b"/>
              <a:pathLst>
                <a:path w="13011" h="21600">
                  <a:moveTo>
                    <a:pt x="13011" y="0"/>
                  </a:moveTo>
                  <a:cubicBezTo>
                    <a:pt x="-8589" y="6663"/>
                    <a:pt x="2142" y="17696"/>
                    <a:pt x="6870" y="21600"/>
                  </a:cubicBezTo>
                </a:path>
              </a:pathLst>
            </a:custGeom>
            <a:noFill/>
            <a:ln w="50800">
              <a:solidFill>
                <a:srgbClr val="FD1C00"/>
              </a:solidFill>
              <a:miter lim="800000"/>
              <a:headEn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grpSp>
      <p:sp>
        <p:nvSpPr>
          <p:cNvPr id="66602" name="Rectangle 42"/>
          <p:cNvSpPr>
            <a:spLocks/>
          </p:cNvSpPr>
          <p:nvPr/>
        </p:nvSpPr>
        <p:spPr bwMode="auto">
          <a:xfrm>
            <a:off x="7447359" y="589359"/>
            <a:ext cx="1484061" cy="2000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p>
            <a:pPr marL="80364">
              <a:tabLst>
                <a:tab pos="366104" algn="l"/>
              </a:tabLst>
            </a:pPr>
            <a:r>
              <a:rPr lang="en-US" sz="1300" b="1">
                <a:solidFill>
                  <a:srgbClr val="000000"/>
                </a:solidFill>
                <a:latin typeface="Arial" charset="0"/>
                <a:cs typeface="Arial" charset="0"/>
                <a:sym typeface="Arial" charset="0"/>
              </a:rPr>
              <a:t>Extracellular fluid</a:t>
            </a:r>
          </a:p>
        </p:txBody>
      </p:sp>
      <p:sp>
        <p:nvSpPr>
          <p:cNvPr id="66603" name="Rectangle 43"/>
          <p:cNvSpPr>
            <a:spLocks/>
          </p:cNvSpPr>
          <p:nvPr/>
        </p:nvSpPr>
        <p:spPr bwMode="auto">
          <a:xfrm>
            <a:off x="8134946" y="5045274"/>
            <a:ext cx="875109" cy="36611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tabLst>
                <a:tab pos="366104" algn="l"/>
              </a:tabLst>
            </a:pPr>
            <a:r>
              <a:rPr lang="en-US" sz="1300">
                <a:solidFill>
                  <a:srgbClr val="000000"/>
                </a:solidFill>
                <a:latin typeface="Arial" charset="0"/>
                <a:cs typeface="Arial" charset="0"/>
                <a:sym typeface="Arial" charset="0"/>
              </a:rPr>
              <a:t>Plasma membrane</a:t>
            </a:r>
          </a:p>
        </p:txBody>
      </p:sp>
      <p:sp>
        <p:nvSpPr>
          <p:cNvPr id="66604" name="Rectangle 44"/>
          <p:cNvSpPr>
            <a:spLocks/>
          </p:cNvSpPr>
          <p:nvPr/>
        </p:nvSpPr>
        <p:spPr bwMode="auto">
          <a:xfrm>
            <a:off x="7500937" y="6322219"/>
            <a:ext cx="1261243" cy="2000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p>
            <a:pPr marL="80364">
              <a:tabLst>
                <a:tab pos="366104" algn="l"/>
              </a:tabLst>
            </a:pPr>
            <a:r>
              <a:rPr lang="en-US" sz="1300" b="1">
                <a:solidFill>
                  <a:srgbClr val="000000"/>
                </a:solidFill>
                <a:latin typeface="Arial" charset="0"/>
                <a:cs typeface="Arial" charset="0"/>
                <a:sym typeface="Arial" charset="0"/>
              </a:rPr>
              <a:t>Cell cytoplasm</a:t>
            </a:r>
          </a:p>
        </p:txBody>
      </p:sp>
      <p:grpSp>
        <p:nvGrpSpPr>
          <p:cNvPr id="66605" name="Group 45"/>
          <p:cNvGrpSpPr>
            <a:grpSpLocks/>
          </p:cNvGrpSpPr>
          <p:nvPr/>
        </p:nvGrpSpPr>
        <p:grpSpPr bwMode="auto">
          <a:xfrm>
            <a:off x="4540747" y="1151930"/>
            <a:ext cx="2222376" cy="4787429"/>
            <a:chOff x="0" y="0"/>
            <a:chExt cx="1991" cy="4289"/>
          </a:xfrm>
        </p:grpSpPr>
        <p:sp>
          <p:nvSpPr>
            <p:cNvPr id="66606" name="Rectangle 46"/>
            <p:cNvSpPr>
              <a:spLocks/>
            </p:cNvSpPr>
            <p:nvPr/>
          </p:nvSpPr>
          <p:spPr bwMode="auto">
            <a:xfrm>
              <a:off x="0" y="0"/>
              <a:ext cx="1536" cy="4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tabLst>
                  <a:tab pos="366104" algn="l"/>
                </a:tabLst>
              </a:pPr>
              <a:r>
                <a:rPr lang="en-US" sz="1300">
                  <a:solidFill>
                    <a:srgbClr val="000000"/>
                  </a:solidFill>
                  <a:latin typeface="Arial" charset="0"/>
                  <a:cs typeface="Arial" charset="0"/>
                  <a:sym typeface="Arial" charset="0"/>
                </a:rPr>
                <a:t>Diffusion of hydrogen ions down their concentration gradient</a:t>
              </a:r>
            </a:p>
          </p:txBody>
        </p:sp>
        <p:grpSp>
          <p:nvGrpSpPr>
            <p:cNvPr id="66607" name="Group 47"/>
            <p:cNvGrpSpPr>
              <a:grpSpLocks/>
            </p:cNvGrpSpPr>
            <p:nvPr/>
          </p:nvGrpSpPr>
          <p:grpSpPr bwMode="auto">
            <a:xfrm>
              <a:off x="84" y="669"/>
              <a:ext cx="1907" cy="3620"/>
              <a:chOff x="0" y="0"/>
              <a:chExt cx="1906" cy="3620"/>
            </a:xfrm>
          </p:grpSpPr>
          <p:sp>
            <p:nvSpPr>
              <p:cNvPr id="66608" name="Oval 48"/>
              <p:cNvSpPr>
                <a:spLocks/>
              </p:cNvSpPr>
              <p:nvPr/>
            </p:nvSpPr>
            <p:spPr bwMode="auto">
              <a:xfrm>
                <a:off x="758" y="3201"/>
                <a:ext cx="419" cy="419"/>
              </a:xfrm>
              <a:prstGeom prst="ellipse">
                <a:avLst/>
              </a:prstGeom>
              <a:solidFill>
                <a:srgbClr val="054080"/>
              </a:solidFill>
              <a:ln>
                <a:noFill/>
              </a:ln>
              <a:effectLst/>
              <a:extLst>
                <a:ext uri="{91240B29-F687-4F45-9708-019B960494DF}">
                  <a14:hiddenLine xmlns:a14="http://schemas.microsoft.com/office/drawing/2010/main" w="25400">
                    <a:solidFill>
                      <a:srgbClr val="6D381D"/>
                    </a:solidFill>
                    <a:round/>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txBody>
              <a:bodyPr lIns="0" tIns="0" rIns="0" bIns="0" anchor="ctr"/>
              <a:lstStyle/>
              <a:p>
                <a:pPr marL="80364" algn="ctr">
                  <a:tabLst>
                    <a:tab pos="366104" algn="l"/>
                  </a:tabLst>
                </a:pPr>
                <a:r>
                  <a:rPr lang="en-US" sz="1400" b="1">
                    <a:solidFill>
                      <a:srgbClr val="FFFFFF"/>
                    </a:solidFill>
                    <a:effectLst>
                      <a:outerShdw blurRad="38100" dist="38100" dir="2700000" algn="tl">
                        <a:srgbClr val="000000"/>
                      </a:outerShdw>
                    </a:effectLst>
                    <a:latin typeface="Arial" charset="0"/>
                    <a:cs typeface="Arial" charset="0"/>
                    <a:sym typeface="Arial" charset="0"/>
                  </a:rPr>
                  <a:t>H</a:t>
                </a:r>
                <a:r>
                  <a:rPr lang="en-US" sz="1400" b="1" baseline="32000">
                    <a:solidFill>
                      <a:srgbClr val="FFFFFF"/>
                    </a:solidFill>
                    <a:effectLst>
                      <a:outerShdw blurRad="38100" dist="38100" dir="2700000" algn="tl">
                        <a:srgbClr val="000000"/>
                      </a:outerShdw>
                    </a:effectLst>
                    <a:latin typeface="Arial" charset="0"/>
                    <a:cs typeface="Arial" charset="0"/>
                    <a:sym typeface="Arial" charset="0"/>
                  </a:rPr>
                  <a:t>+</a:t>
                </a:r>
              </a:p>
            </p:txBody>
          </p:sp>
          <p:sp>
            <p:nvSpPr>
              <p:cNvPr id="66609" name="Oval 49"/>
              <p:cNvSpPr>
                <a:spLocks/>
              </p:cNvSpPr>
              <p:nvPr/>
            </p:nvSpPr>
            <p:spPr bwMode="auto">
              <a:xfrm>
                <a:off x="1488" y="0"/>
                <a:ext cx="418" cy="418"/>
              </a:xfrm>
              <a:prstGeom prst="ellipse">
                <a:avLst/>
              </a:prstGeom>
              <a:solidFill>
                <a:srgbClr val="054080"/>
              </a:solidFill>
              <a:ln>
                <a:noFill/>
              </a:ln>
              <a:effectLst/>
              <a:extLst>
                <a:ext uri="{91240B29-F687-4F45-9708-019B960494DF}">
                  <a14:hiddenLine xmlns:a14="http://schemas.microsoft.com/office/drawing/2010/main" w="25400">
                    <a:solidFill>
                      <a:srgbClr val="6D381D"/>
                    </a:solidFill>
                    <a:round/>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txBody>
              <a:bodyPr lIns="0" tIns="0" rIns="0" bIns="0" anchor="ctr"/>
              <a:lstStyle/>
              <a:p>
                <a:pPr marL="80364" algn="ctr">
                  <a:tabLst>
                    <a:tab pos="366104" algn="l"/>
                  </a:tabLst>
                </a:pPr>
                <a:r>
                  <a:rPr lang="en-US" sz="1400" b="1">
                    <a:solidFill>
                      <a:srgbClr val="FFFFFF"/>
                    </a:solidFill>
                    <a:effectLst>
                      <a:outerShdw blurRad="38100" dist="38100" dir="2700000" algn="tl">
                        <a:srgbClr val="000000"/>
                      </a:outerShdw>
                    </a:effectLst>
                    <a:latin typeface="Arial" charset="0"/>
                    <a:cs typeface="Arial" charset="0"/>
                    <a:sym typeface="Arial" charset="0"/>
                  </a:rPr>
                  <a:t>H</a:t>
                </a:r>
                <a:r>
                  <a:rPr lang="en-US" sz="1400" b="1" baseline="32000">
                    <a:solidFill>
                      <a:srgbClr val="FFFFFF"/>
                    </a:solidFill>
                    <a:effectLst>
                      <a:outerShdw blurRad="38100" dist="38100" dir="2700000" algn="tl">
                        <a:srgbClr val="000000"/>
                      </a:outerShdw>
                    </a:effectLst>
                    <a:latin typeface="Arial" charset="0"/>
                    <a:cs typeface="Arial" charset="0"/>
                    <a:sym typeface="Arial" charset="0"/>
                  </a:rPr>
                  <a:t>+</a:t>
                </a:r>
              </a:p>
            </p:txBody>
          </p:sp>
          <p:sp>
            <p:nvSpPr>
              <p:cNvPr id="66610" name="Oval 50"/>
              <p:cNvSpPr>
                <a:spLocks/>
              </p:cNvSpPr>
              <p:nvPr/>
            </p:nvSpPr>
            <p:spPr bwMode="auto">
              <a:xfrm>
                <a:off x="728" y="256"/>
                <a:ext cx="418" cy="419"/>
              </a:xfrm>
              <a:prstGeom prst="ellipse">
                <a:avLst/>
              </a:prstGeom>
              <a:solidFill>
                <a:srgbClr val="054080"/>
              </a:solidFill>
              <a:ln>
                <a:noFill/>
              </a:ln>
              <a:effectLst/>
              <a:extLst>
                <a:ext uri="{91240B29-F687-4F45-9708-019B960494DF}">
                  <a14:hiddenLine xmlns:a14="http://schemas.microsoft.com/office/drawing/2010/main" w="25400">
                    <a:solidFill>
                      <a:srgbClr val="6D381D"/>
                    </a:solidFill>
                    <a:round/>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txBody>
              <a:bodyPr lIns="0" tIns="0" rIns="0" bIns="0" anchor="ctr"/>
              <a:lstStyle/>
              <a:p>
                <a:pPr marL="80364" algn="ctr">
                  <a:tabLst>
                    <a:tab pos="366104" algn="l"/>
                  </a:tabLst>
                </a:pPr>
                <a:r>
                  <a:rPr lang="en-US" sz="1400" b="1">
                    <a:solidFill>
                      <a:srgbClr val="FFFFFF"/>
                    </a:solidFill>
                    <a:effectLst>
                      <a:outerShdw blurRad="38100" dist="38100" dir="2700000" algn="tl">
                        <a:srgbClr val="000000"/>
                      </a:outerShdw>
                    </a:effectLst>
                    <a:latin typeface="Arial" charset="0"/>
                    <a:cs typeface="Arial" charset="0"/>
                    <a:sym typeface="Arial" charset="0"/>
                  </a:rPr>
                  <a:t>H</a:t>
                </a:r>
                <a:r>
                  <a:rPr lang="en-US" sz="1400" b="1" baseline="32000">
                    <a:solidFill>
                      <a:srgbClr val="FFFFFF"/>
                    </a:solidFill>
                    <a:effectLst>
                      <a:outerShdw blurRad="38100" dist="38100" dir="2700000" algn="tl">
                        <a:srgbClr val="000000"/>
                      </a:outerShdw>
                    </a:effectLst>
                    <a:latin typeface="Arial" charset="0"/>
                    <a:cs typeface="Arial" charset="0"/>
                    <a:sym typeface="Arial" charset="0"/>
                  </a:rPr>
                  <a:t>+</a:t>
                </a:r>
              </a:p>
            </p:txBody>
          </p:sp>
          <p:sp>
            <p:nvSpPr>
              <p:cNvPr id="66611" name="Oval 51"/>
              <p:cNvSpPr>
                <a:spLocks/>
              </p:cNvSpPr>
              <p:nvPr/>
            </p:nvSpPr>
            <p:spPr bwMode="auto">
              <a:xfrm>
                <a:off x="1126" y="950"/>
                <a:ext cx="419" cy="419"/>
              </a:xfrm>
              <a:prstGeom prst="ellipse">
                <a:avLst/>
              </a:prstGeom>
              <a:solidFill>
                <a:srgbClr val="054080"/>
              </a:solidFill>
              <a:ln>
                <a:noFill/>
              </a:ln>
              <a:effectLst/>
              <a:extLst>
                <a:ext uri="{91240B29-F687-4F45-9708-019B960494DF}">
                  <a14:hiddenLine xmlns:a14="http://schemas.microsoft.com/office/drawing/2010/main" w="25400">
                    <a:solidFill>
                      <a:srgbClr val="6D381D"/>
                    </a:solidFill>
                    <a:round/>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txBody>
              <a:bodyPr lIns="0" tIns="0" rIns="0" bIns="0" anchor="ctr"/>
              <a:lstStyle/>
              <a:p>
                <a:pPr marL="80364" algn="ctr">
                  <a:tabLst>
                    <a:tab pos="366104" algn="l"/>
                  </a:tabLst>
                </a:pPr>
                <a:r>
                  <a:rPr lang="en-US" sz="1400" b="1">
                    <a:solidFill>
                      <a:srgbClr val="FFFFFF"/>
                    </a:solidFill>
                    <a:effectLst>
                      <a:outerShdw blurRad="38100" dist="38100" dir="2700000" algn="tl">
                        <a:srgbClr val="000000"/>
                      </a:outerShdw>
                    </a:effectLst>
                    <a:latin typeface="Arial" charset="0"/>
                    <a:cs typeface="Arial" charset="0"/>
                    <a:sym typeface="Arial" charset="0"/>
                  </a:rPr>
                  <a:t>H</a:t>
                </a:r>
                <a:r>
                  <a:rPr lang="en-US" sz="1400" b="1" baseline="32000">
                    <a:solidFill>
                      <a:srgbClr val="FFFFFF"/>
                    </a:solidFill>
                    <a:effectLst>
                      <a:outerShdw blurRad="38100" dist="38100" dir="2700000" algn="tl">
                        <a:srgbClr val="000000"/>
                      </a:outerShdw>
                    </a:effectLst>
                    <a:latin typeface="Arial" charset="0"/>
                    <a:cs typeface="Arial" charset="0"/>
                    <a:sym typeface="Arial" charset="0"/>
                  </a:rPr>
                  <a:t>+</a:t>
                </a:r>
              </a:p>
            </p:txBody>
          </p:sp>
          <p:sp>
            <p:nvSpPr>
              <p:cNvPr id="66612" name="AutoShape 52"/>
              <p:cNvSpPr>
                <a:spLocks/>
              </p:cNvSpPr>
              <p:nvPr/>
            </p:nvSpPr>
            <p:spPr bwMode="auto">
              <a:xfrm>
                <a:off x="1281" y="1448"/>
                <a:ext cx="302" cy="1653"/>
              </a:xfrm>
              <a:custGeom>
                <a:avLst/>
                <a:gdLst/>
                <a:ahLst/>
                <a:cxnLst/>
                <a:rect l="0" t="0" r="r" b="b"/>
                <a:pathLst>
                  <a:path w="15533" h="21600">
                    <a:moveTo>
                      <a:pt x="3018" y="0"/>
                    </a:moveTo>
                    <a:cubicBezTo>
                      <a:pt x="21600" y="7951"/>
                      <a:pt x="18655" y="16165"/>
                      <a:pt x="0" y="21600"/>
                    </a:cubicBezTo>
                  </a:path>
                </a:pathLst>
              </a:custGeom>
              <a:noFill/>
              <a:ln w="50800">
                <a:solidFill>
                  <a:srgbClr val="FD1C00"/>
                </a:solidFill>
                <a:miter lim="800000"/>
                <a:headEn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sp>
            <p:nvSpPr>
              <p:cNvPr id="66613" name="Oval 53"/>
              <p:cNvSpPr>
                <a:spLocks/>
              </p:cNvSpPr>
              <p:nvPr/>
            </p:nvSpPr>
            <p:spPr bwMode="auto">
              <a:xfrm>
                <a:off x="0" y="152"/>
                <a:ext cx="418" cy="419"/>
              </a:xfrm>
              <a:prstGeom prst="ellipse">
                <a:avLst/>
              </a:prstGeom>
              <a:solidFill>
                <a:srgbClr val="054080"/>
              </a:solidFill>
              <a:ln>
                <a:noFill/>
              </a:ln>
              <a:effectLst/>
              <a:extLst>
                <a:ext uri="{91240B29-F687-4F45-9708-019B960494DF}">
                  <a14:hiddenLine xmlns:a14="http://schemas.microsoft.com/office/drawing/2010/main" w="25400">
                    <a:solidFill>
                      <a:srgbClr val="6D381D"/>
                    </a:solidFill>
                    <a:round/>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txBody>
              <a:bodyPr lIns="0" tIns="0" rIns="0" bIns="0" anchor="ctr"/>
              <a:lstStyle/>
              <a:p>
                <a:pPr marL="80364" algn="ctr">
                  <a:tabLst>
                    <a:tab pos="366104" algn="l"/>
                  </a:tabLst>
                </a:pPr>
                <a:r>
                  <a:rPr lang="en-US" sz="1400" b="1">
                    <a:solidFill>
                      <a:srgbClr val="FFFFFF"/>
                    </a:solidFill>
                    <a:effectLst>
                      <a:outerShdw blurRad="38100" dist="38100" dir="2700000" algn="tl">
                        <a:srgbClr val="000000"/>
                      </a:outerShdw>
                    </a:effectLst>
                    <a:latin typeface="Arial" charset="0"/>
                    <a:cs typeface="Arial" charset="0"/>
                    <a:sym typeface="Arial" charset="0"/>
                  </a:rPr>
                  <a:t>H</a:t>
                </a:r>
                <a:r>
                  <a:rPr lang="en-US" sz="1400" b="1" baseline="32000">
                    <a:solidFill>
                      <a:srgbClr val="FFFFFF"/>
                    </a:solidFill>
                    <a:effectLst>
                      <a:outerShdw blurRad="38100" dist="38100" dir="2700000" algn="tl">
                        <a:srgbClr val="000000"/>
                      </a:outerShdw>
                    </a:effectLst>
                    <a:latin typeface="Arial" charset="0"/>
                    <a:cs typeface="Arial" charset="0"/>
                    <a:sym typeface="Arial" charset="0"/>
                  </a:rPr>
                  <a:t>+</a:t>
                </a:r>
              </a:p>
            </p:txBody>
          </p:sp>
        </p:grpSp>
      </p:grpSp>
      <p:sp>
        <p:nvSpPr>
          <p:cNvPr id="66614" name="Rectangle 54"/>
          <p:cNvSpPr>
            <a:spLocks/>
          </p:cNvSpPr>
          <p:nvPr/>
        </p:nvSpPr>
        <p:spPr bwMode="auto">
          <a:xfrm>
            <a:off x="4772918" y="2928938"/>
            <a:ext cx="625078" cy="36611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tabLst>
                <a:tab pos="366104" algn="l"/>
              </a:tabLst>
            </a:pPr>
            <a:r>
              <a:rPr lang="en-US" sz="1300">
                <a:solidFill>
                  <a:srgbClr val="000000"/>
                </a:solidFill>
                <a:latin typeface="Arial" charset="0"/>
                <a:cs typeface="Arial" charset="0"/>
                <a:sym typeface="Arial" charset="0"/>
              </a:rPr>
              <a:t>Carrier protein</a:t>
            </a:r>
          </a:p>
        </p:txBody>
      </p:sp>
      <p:grpSp>
        <p:nvGrpSpPr>
          <p:cNvPr id="66615" name="Group 55"/>
          <p:cNvGrpSpPr>
            <a:grpSpLocks/>
          </p:cNvGrpSpPr>
          <p:nvPr/>
        </p:nvGrpSpPr>
        <p:grpSpPr bwMode="auto">
          <a:xfrm>
            <a:off x="7733110" y="3598664"/>
            <a:ext cx="1434331" cy="1099468"/>
            <a:chOff x="0" y="0"/>
            <a:chExt cx="1285" cy="985"/>
          </a:xfrm>
        </p:grpSpPr>
        <p:pic>
          <p:nvPicPr>
            <p:cNvPr id="66616" name="Picture 5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97" y="460"/>
              <a:ext cx="288"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6617" name="Picture 5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8" y="460"/>
              <a:ext cx="289"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6618" name="Picture 5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1" y="460"/>
              <a:ext cx="288"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6619" name="Picture 5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1" y="460"/>
              <a:ext cx="288"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6620" name="Picture 6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 y="460"/>
              <a:ext cx="289"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6621" name="Picture 6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6" y="0"/>
              <a:ext cx="289"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6622" name="Picture 6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28" y="0"/>
              <a:ext cx="288"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6623" name="Picture 6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0" y="0"/>
              <a:ext cx="289"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6624" name="Picture 6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0" y="0"/>
              <a:ext cx="288"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pic>
          <p:nvPicPr>
            <p:cNvPr id="66625" name="Picture 6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0"/>
              <a:ext cx="288" cy="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5400000" algn="ctr" rotWithShape="0">
                      <a:schemeClr val="bg2">
                        <a:alpha val="50000"/>
                      </a:schemeClr>
                    </a:outerShdw>
                  </a:effectLst>
                </a14:hiddenEffects>
              </a:ext>
            </a:extLst>
          </p:spPr>
        </p:pic>
      </p:grpSp>
      <p:sp>
        <p:nvSpPr>
          <p:cNvPr id="66626" name="Line 66"/>
          <p:cNvSpPr>
            <a:spLocks noChangeShapeType="1"/>
          </p:cNvSpPr>
          <p:nvPr/>
        </p:nvSpPr>
        <p:spPr bwMode="auto">
          <a:xfrm>
            <a:off x="8456414" y="4302994"/>
            <a:ext cx="0" cy="644053"/>
          </a:xfrm>
          <a:prstGeom prst="line">
            <a:avLst/>
          </a:prstGeom>
          <a:noFill/>
          <a:ln w="25400">
            <a:solidFill>
              <a:srgbClr val="FD1C00"/>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291" tIns="32146" rIns="64291" bIns="32146"/>
          <a:lstStyle/>
          <a:p>
            <a:endParaRPr lang="en-AU"/>
          </a:p>
        </p:txBody>
      </p:sp>
    </p:spTree>
    <p:extLst>
      <p:ext uri="{BB962C8B-B14F-4D97-AF65-F5344CB8AC3E}">
        <p14:creationId xmlns:p14="http://schemas.microsoft.com/office/powerpoint/2010/main" val="2886706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659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6659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66593">
                                            <p:txEl>
                                              <p:pRg st="2" end="2"/>
                                            </p:txEl>
                                          </p:spTgt>
                                        </p:tgtEl>
                                        <p:attrNameLst>
                                          <p:attrName>style.visibility</p:attrName>
                                        </p:attrNameLst>
                                      </p:cBhvr>
                                      <p:to>
                                        <p:strVal val="visible"/>
                                      </p:to>
                                    </p:set>
                                  </p:childTnLst>
                                </p:cTn>
                              </p:par>
                            </p:childTnLst>
                          </p:cTn>
                        </p:par>
                        <p:par>
                          <p:cTn id="15" fill="hold" nodeType="afterGroup">
                            <p:stCondLst>
                              <p:cond delay="500"/>
                            </p:stCondLst>
                            <p:childTnLst>
                              <p:par>
                                <p:cTn id="16" presetID="1" presetClass="entr" presetSubtype="0" fill="hold" nodeType="afterEffect">
                                  <p:stCondLst>
                                    <p:cond delay="4000"/>
                                  </p:stCondLst>
                                  <p:childTnLst>
                                    <p:set>
                                      <p:cBhvr>
                                        <p:cTn id="17" dur="1" fill="hold">
                                          <p:stCondLst>
                                            <p:cond delay="499"/>
                                          </p:stCondLst>
                                        </p:cTn>
                                        <p:tgtEl>
                                          <p:spTgt spid="66605"/>
                                        </p:tgtEl>
                                        <p:attrNameLst>
                                          <p:attrName>style.visibility</p:attrName>
                                        </p:attrNameLst>
                                      </p:cBhvr>
                                      <p:to>
                                        <p:strVal val="visible"/>
                                      </p:to>
                                    </p:set>
                                  </p:childTnLst>
                                </p:cTn>
                              </p:par>
                            </p:childTnLst>
                          </p:cTn>
                        </p:par>
                        <p:par>
                          <p:cTn id="18" fill="hold" nodeType="afterGroup">
                            <p:stCondLst>
                              <p:cond delay="5000"/>
                            </p:stCondLst>
                            <p:childTnLst>
                              <p:par>
                                <p:cTn id="19" presetID="1" presetClass="entr" presetSubtype="0" fill="hold" nodeType="afterEffect">
                                  <p:stCondLst>
                                    <p:cond delay="2000"/>
                                  </p:stCondLst>
                                  <p:childTnLst>
                                    <p:set>
                                      <p:cBhvr>
                                        <p:cTn id="20" dur="1" fill="hold">
                                          <p:stCondLst>
                                            <p:cond delay="499"/>
                                          </p:stCondLst>
                                        </p:cTn>
                                        <p:tgtEl>
                                          <p:spTgt spid="6659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93" grpId="0" build="p" bldLvl="5"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609"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4589302" y="1660364"/>
            <a:ext cx="4278436" cy="3357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sp>
        <p:nvSpPr>
          <p:cNvPr id="68610" name="Rectangle 2"/>
          <p:cNvSpPr>
            <a:spLocks noGrp="1" noChangeArrowheads="1"/>
          </p:cNvSpPr>
          <p:nvPr>
            <p:ph type="title"/>
          </p:nvPr>
        </p:nvSpPr>
        <p:spPr/>
        <p:txBody>
          <a:bodyPr/>
          <a:lstStyle/>
          <a:p>
            <a:r>
              <a:rPr lang="en-US" dirty="0" err="1"/>
              <a:t>Cytosis</a:t>
            </a:r>
            <a:endParaRPr lang="en-US" dirty="0"/>
          </a:p>
        </p:txBody>
      </p:sp>
      <p:sp>
        <p:nvSpPr>
          <p:cNvPr id="68611" name="Rectangle 3"/>
          <p:cNvSpPr>
            <a:spLocks noGrp="1" noChangeArrowheads="1"/>
          </p:cNvSpPr>
          <p:nvPr>
            <p:ph sz="quarter" idx="13"/>
          </p:nvPr>
        </p:nvSpPr>
        <p:spPr>
          <a:xfrm>
            <a:off x="609600" y="1600200"/>
            <a:ext cx="4106416" cy="4114800"/>
          </a:xfrm>
        </p:spPr>
        <p:txBody>
          <a:bodyPr>
            <a:normAutofit fontScale="92500" lnSpcReduction="10000"/>
          </a:bodyPr>
          <a:lstStyle/>
          <a:p>
            <a:r>
              <a:rPr lang="en-US" dirty="0" err="1"/>
              <a:t>Cytosis</a:t>
            </a:r>
            <a:r>
              <a:rPr lang="en-US" dirty="0"/>
              <a:t> is a form of active transport (requires energy) involving the formation of membrane-bound vesicles or vacuoles.</a:t>
            </a:r>
          </a:p>
          <a:p>
            <a:r>
              <a:rPr lang="en-US" dirty="0"/>
              <a:t>Regions of the plasma membrane become </a:t>
            </a:r>
            <a:r>
              <a:rPr lang="en-US" dirty="0" err="1"/>
              <a:t>infolded</a:t>
            </a:r>
            <a:r>
              <a:rPr lang="en-US" dirty="0"/>
              <a:t> or </a:t>
            </a:r>
            <a:r>
              <a:rPr lang="en-US" dirty="0" err="1"/>
              <a:t>outfolded</a:t>
            </a:r>
            <a:r>
              <a:rPr lang="en-US" dirty="0"/>
              <a:t> to transport substances across the membrane.</a:t>
            </a:r>
          </a:p>
          <a:p>
            <a:r>
              <a:rPr lang="en-US" dirty="0"/>
              <a:t>Cells are able to do this because of the mobile nature of the membrane.</a:t>
            </a:r>
          </a:p>
          <a:p>
            <a:r>
              <a:rPr lang="en-US" dirty="0"/>
              <a:t>Most cells carry out various forms of </a:t>
            </a:r>
            <a:r>
              <a:rPr lang="en-US" dirty="0" err="1"/>
              <a:t>cytosis</a:t>
            </a:r>
            <a:r>
              <a:rPr lang="en-US" dirty="0"/>
              <a:t>, including:</a:t>
            </a:r>
          </a:p>
          <a:p>
            <a:pPr lvl="1"/>
            <a:r>
              <a:rPr lang="en-US" b="1" dirty="0"/>
              <a:t>endocytosis</a:t>
            </a:r>
          </a:p>
          <a:p>
            <a:pPr lvl="1"/>
            <a:r>
              <a:rPr lang="en-US" b="1" dirty="0" err="1"/>
              <a:t>exocytotosis</a:t>
            </a:r>
            <a:r>
              <a:rPr lang="en-US" b="1" dirty="0"/>
              <a:t> </a:t>
            </a:r>
          </a:p>
        </p:txBody>
      </p:sp>
      <p:sp>
        <p:nvSpPr>
          <p:cNvPr id="68612" name="Rectangle 4"/>
          <p:cNvSpPr>
            <a:spLocks/>
          </p:cNvSpPr>
          <p:nvPr/>
        </p:nvSpPr>
        <p:spPr bwMode="auto">
          <a:xfrm>
            <a:off x="5036344" y="5679281"/>
            <a:ext cx="3420070" cy="8126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tabLst>
                <a:tab pos="366104" algn="l"/>
              </a:tabLst>
            </a:pPr>
            <a:r>
              <a:rPr lang="en-US" sz="1300">
                <a:solidFill>
                  <a:srgbClr val="001BFF"/>
                </a:solidFill>
                <a:latin typeface="Arial" charset="0"/>
                <a:cs typeface="Arial" charset="0"/>
                <a:sym typeface="Arial" charset="0"/>
              </a:rPr>
              <a:t>This cell is carrying out a form of </a:t>
            </a:r>
            <a:r>
              <a:rPr lang="en-US" sz="1300" b="1">
                <a:solidFill>
                  <a:srgbClr val="001BFF"/>
                </a:solidFill>
                <a:latin typeface="Arial" charset="0"/>
                <a:cs typeface="Arial" charset="0"/>
                <a:sym typeface="Arial" charset="0"/>
              </a:rPr>
              <a:t>endocytosis</a:t>
            </a:r>
            <a:r>
              <a:rPr lang="en-US" sz="1300">
                <a:solidFill>
                  <a:srgbClr val="001BFF"/>
                </a:solidFill>
                <a:latin typeface="Arial" charset="0"/>
                <a:cs typeface="Arial" charset="0"/>
                <a:sym typeface="Arial" charset="0"/>
              </a:rPr>
              <a:t> called pinocytosis in which the plasma membrane forms </a:t>
            </a:r>
            <a:r>
              <a:rPr lang="en-US" sz="1300" b="1">
                <a:solidFill>
                  <a:srgbClr val="001BFF"/>
                </a:solidFill>
                <a:latin typeface="Arial" charset="0"/>
                <a:cs typeface="Arial" charset="0"/>
                <a:sym typeface="Arial" charset="0"/>
              </a:rPr>
              <a:t>invaginations</a:t>
            </a:r>
            <a:r>
              <a:rPr lang="en-US" sz="1300">
                <a:solidFill>
                  <a:srgbClr val="001BFF"/>
                </a:solidFill>
                <a:latin typeface="Arial" charset="0"/>
                <a:cs typeface="Arial" charset="0"/>
                <a:sym typeface="Arial" charset="0"/>
              </a:rPr>
              <a:t> to enclose liquids and bring them into the cell.</a:t>
            </a:r>
          </a:p>
        </p:txBody>
      </p:sp>
      <p:grpSp>
        <p:nvGrpSpPr>
          <p:cNvPr id="68613" name="Group 5"/>
          <p:cNvGrpSpPr>
            <a:grpSpLocks/>
          </p:cNvGrpSpPr>
          <p:nvPr/>
        </p:nvGrpSpPr>
        <p:grpSpPr bwMode="auto">
          <a:xfrm>
            <a:off x="6000750" y="1312664"/>
            <a:ext cx="2187773" cy="1422053"/>
            <a:chOff x="0" y="0"/>
            <a:chExt cx="1960" cy="1274"/>
          </a:xfrm>
        </p:grpSpPr>
        <p:sp>
          <p:nvSpPr>
            <p:cNvPr id="68614" name="Rectangle 6"/>
            <p:cNvSpPr>
              <a:spLocks/>
            </p:cNvSpPr>
            <p:nvPr/>
          </p:nvSpPr>
          <p:spPr bwMode="auto">
            <a:xfrm>
              <a:off x="0" y="392"/>
              <a:ext cx="1312" cy="3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gn="ctr">
                <a:tabLst>
                  <a:tab pos="366104" algn="l"/>
                </a:tabLst>
              </a:pPr>
              <a:r>
                <a:rPr lang="en-US" sz="1300">
                  <a:solidFill>
                    <a:srgbClr val="000000"/>
                  </a:solidFill>
                  <a:latin typeface="Arial" charset="0"/>
                  <a:cs typeface="Arial" charset="0"/>
                  <a:sym typeface="Arial" charset="0"/>
                </a:rPr>
                <a:t>Plasma membrane folding inwards</a:t>
              </a:r>
            </a:p>
          </p:txBody>
        </p:sp>
        <p:sp>
          <p:nvSpPr>
            <p:cNvPr id="68615" name="Rectangle 7"/>
            <p:cNvSpPr>
              <a:spLocks/>
            </p:cNvSpPr>
            <p:nvPr/>
          </p:nvSpPr>
          <p:spPr bwMode="auto">
            <a:xfrm>
              <a:off x="832" y="0"/>
              <a:ext cx="1128" cy="3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gn="ctr">
                <a:tabLst>
                  <a:tab pos="366104" algn="l"/>
                </a:tabLst>
              </a:pPr>
              <a:r>
                <a:rPr lang="en-US" sz="1300">
                  <a:solidFill>
                    <a:srgbClr val="000000"/>
                  </a:solidFill>
                  <a:latin typeface="Arial" charset="0"/>
                  <a:cs typeface="Arial" charset="0"/>
                  <a:sym typeface="Arial" charset="0"/>
                </a:rPr>
                <a:t>Membrane-bound vesicle</a:t>
              </a:r>
            </a:p>
          </p:txBody>
        </p:sp>
        <p:sp>
          <p:nvSpPr>
            <p:cNvPr id="68616" name="Line 8"/>
            <p:cNvSpPr>
              <a:spLocks noChangeShapeType="1"/>
            </p:cNvSpPr>
            <p:nvPr/>
          </p:nvSpPr>
          <p:spPr bwMode="auto">
            <a:xfrm rot="10800000">
              <a:off x="1472" y="344"/>
              <a:ext cx="90" cy="930"/>
            </a:xfrm>
            <a:prstGeom prst="line">
              <a:avLst/>
            </a:prstGeom>
            <a:noFill/>
            <a:ln w="25400">
              <a:solidFill>
                <a:srgbClr val="FD1C00"/>
              </a:solidFill>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25400" dist="12699" dir="5400000" algn="ctr" rotWithShape="0">
                      <a:schemeClr val="bg2">
                        <a:alpha val="20000"/>
                      </a:schemeClr>
                    </a:outerShdw>
                  </a:effectLst>
                </a14:hiddenEffects>
              </a:ext>
            </a:extLst>
          </p:spPr>
          <p:txBody>
            <a:bodyPr/>
            <a:lstStyle/>
            <a:p>
              <a:endParaRPr lang="en-AU"/>
            </a:p>
          </p:txBody>
        </p:sp>
        <p:sp>
          <p:nvSpPr>
            <p:cNvPr id="68617" name="Line 9"/>
            <p:cNvSpPr>
              <a:spLocks noChangeShapeType="1"/>
            </p:cNvSpPr>
            <p:nvPr/>
          </p:nvSpPr>
          <p:spPr bwMode="auto">
            <a:xfrm rot="10800000">
              <a:off x="904" y="784"/>
              <a:ext cx="328" cy="469"/>
            </a:xfrm>
            <a:prstGeom prst="line">
              <a:avLst/>
            </a:prstGeom>
            <a:noFill/>
            <a:ln w="25400">
              <a:solidFill>
                <a:srgbClr val="FD1C00"/>
              </a:solidFill>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25400" dist="12699" dir="5400000" algn="ctr" rotWithShape="0">
                      <a:schemeClr val="bg2">
                        <a:alpha val="20000"/>
                      </a:schemeClr>
                    </a:outerShdw>
                  </a:effectLst>
                </a14:hiddenEffects>
              </a:ext>
            </a:extLst>
          </p:spPr>
          <p:txBody>
            <a:bodyPr/>
            <a:lstStyle/>
            <a:p>
              <a:endParaRPr lang="en-AU"/>
            </a:p>
          </p:txBody>
        </p:sp>
      </p:grpSp>
    </p:spTree>
    <p:extLst>
      <p:ext uri="{BB962C8B-B14F-4D97-AF65-F5344CB8AC3E}">
        <p14:creationId xmlns:p14="http://schemas.microsoft.com/office/powerpoint/2010/main" val="38663207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861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68611">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499"/>
                                          </p:stCondLst>
                                        </p:cTn>
                                        <p:tgtEl>
                                          <p:spTgt spid="68613"/>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68611">
                                            <p:txEl>
                                              <p:pRg st="2" end="2"/>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68611">
                                            <p:txEl>
                                              <p:pRg st="3" end="3"/>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68611">
                                            <p:txEl>
                                              <p:pRg st="4" end="4"/>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6861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1" grpId="0" build="p" bldLvl="5"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1"/>
          <p:cNvSpPr>
            <a:spLocks noGrp="1" noChangeArrowheads="1"/>
          </p:cNvSpPr>
          <p:nvPr>
            <p:ph type="title"/>
          </p:nvPr>
        </p:nvSpPr>
        <p:spPr/>
        <p:txBody>
          <a:bodyPr/>
          <a:lstStyle/>
          <a:p>
            <a:r>
              <a:rPr lang="en-US"/>
              <a:t>Endocytosis</a:t>
            </a:r>
          </a:p>
        </p:txBody>
      </p:sp>
      <p:sp>
        <p:nvSpPr>
          <p:cNvPr id="69634" name="Rectangle 2"/>
          <p:cNvSpPr>
            <a:spLocks noGrp="1" noChangeArrowheads="1"/>
          </p:cNvSpPr>
          <p:nvPr>
            <p:ph sz="quarter" idx="13"/>
          </p:nvPr>
        </p:nvSpPr>
        <p:spPr>
          <a:xfrm>
            <a:off x="609600" y="1600200"/>
            <a:ext cx="4394448" cy="4114800"/>
          </a:xfrm>
        </p:spPr>
        <p:txBody>
          <a:bodyPr>
            <a:noAutofit/>
          </a:bodyPr>
          <a:lstStyle/>
          <a:p>
            <a:r>
              <a:rPr lang="en-US" sz="1800" dirty="0"/>
              <a:t>Endocytosis describes the incorporation of substances from outside the cell into the cell as a membrane-bound vesicle or vacuole.</a:t>
            </a:r>
          </a:p>
          <a:p>
            <a:r>
              <a:rPr lang="en-US" sz="1800" dirty="0"/>
              <a:t>During endocytosis the plasma membrane folds in around the molecules to be transported into the cell. </a:t>
            </a:r>
          </a:p>
          <a:p>
            <a:r>
              <a:rPr lang="en-US" sz="1800" dirty="0"/>
              <a:t>There are several forms of endocytosis:</a:t>
            </a:r>
          </a:p>
          <a:p>
            <a:pPr lvl="1"/>
            <a:r>
              <a:rPr lang="en-US" sz="1800" dirty="0"/>
              <a:t>phagocytosis: the engulfment</a:t>
            </a:r>
            <a:br>
              <a:rPr lang="en-US" sz="1800" dirty="0"/>
            </a:br>
            <a:r>
              <a:rPr lang="en-US" sz="1800" dirty="0"/>
              <a:t>of solid particles.</a:t>
            </a:r>
          </a:p>
          <a:p>
            <a:pPr lvl="1"/>
            <a:r>
              <a:rPr lang="en-US" sz="1800" dirty="0"/>
              <a:t>pinocytosis: the engulfment</a:t>
            </a:r>
            <a:br>
              <a:rPr lang="en-US" sz="1800" dirty="0"/>
            </a:br>
            <a:r>
              <a:rPr lang="en-US" sz="1800" dirty="0"/>
              <a:t>of liquid particles.</a:t>
            </a:r>
          </a:p>
        </p:txBody>
      </p:sp>
      <p:grpSp>
        <p:nvGrpSpPr>
          <p:cNvPr id="69635" name="Group 3"/>
          <p:cNvGrpSpPr>
            <a:grpSpLocks/>
          </p:cNvGrpSpPr>
          <p:nvPr/>
        </p:nvGrpSpPr>
        <p:grpSpPr bwMode="auto">
          <a:xfrm>
            <a:off x="5295305" y="3927947"/>
            <a:ext cx="3259336" cy="2563936"/>
            <a:chOff x="0" y="0"/>
            <a:chExt cx="2919" cy="2296"/>
          </a:xfrm>
        </p:grpSpPr>
        <p:pic>
          <p:nvPicPr>
            <p:cNvPr id="6963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2919" cy="22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sp>
          <p:nvSpPr>
            <p:cNvPr id="69637" name="Rectangle 5"/>
            <p:cNvSpPr>
              <a:spLocks/>
            </p:cNvSpPr>
            <p:nvPr/>
          </p:nvSpPr>
          <p:spPr bwMode="auto">
            <a:xfrm>
              <a:off x="40" y="136"/>
              <a:ext cx="914" cy="1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p>
              <a:pPr marL="80364">
                <a:tabLst>
                  <a:tab pos="366104" algn="l"/>
                </a:tabLst>
              </a:pPr>
              <a:r>
                <a:rPr lang="en-US" sz="1300" b="1">
                  <a:latin typeface="Arial" charset="0"/>
                  <a:cs typeface="Arial" charset="0"/>
                  <a:sym typeface="Arial" charset="0"/>
                </a:rPr>
                <a:t>Pinocytosis</a:t>
              </a:r>
            </a:p>
          </p:txBody>
        </p:sp>
        <p:sp>
          <p:nvSpPr>
            <p:cNvPr id="69638" name="Rectangle 6"/>
            <p:cNvSpPr>
              <a:spLocks/>
            </p:cNvSpPr>
            <p:nvPr/>
          </p:nvSpPr>
          <p:spPr bwMode="auto">
            <a:xfrm>
              <a:off x="184" y="512"/>
              <a:ext cx="1128" cy="3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gn="ctr">
                <a:tabLst>
                  <a:tab pos="366104" algn="l"/>
                </a:tabLst>
              </a:pPr>
              <a:r>
                <a:rPr lang="en-US" sz="1300">
                  <a:solidFill>
                    <a:srgbClr val="000000"/>
                  </a:solidFill>
                  <a:latin typeface="Arial" charset="0"/>
                  <a:cs typeface="Arial" charset="0"/>
                  <a:sym typeface="Arial" charset="0"/>
                </a:rPr>
                <a:t>Membrane-bound vesicle</a:t>
              </a:r>
            </a:p>
          </p:txBody>
        </p:sp>
        <p:sp>
          <p:nvSpPr>
            <p:cNvPr id="69639" name="Line 7"/>
            <p:cNvSpPr>
              <a:spLocks noChangeShapeType="1"/>
            </p:cNvSpPr>
            <p:nvPr/>
          </p:nvSpPr>
          <p:spPr bwMode="auto">
            <a:xfrm rot="10800000">
              <a:off x="781" y="870"/>
              <a:ext cx="77" cy="621"/>
            </a:xfrm>
            <a:prstGeom prst="line">
              <a:avLst/>
            </a:prstGeom>
            <a:noFill/>
            <a:ln w="25400">
              <a:solidFill>
                <a:srgbClr val="FD1C00"/>
              </a:solidFill>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25400" dist="12699" dir="5400000" algn="ctr" rotWithShape="0">
                      <a:schemeClr val="bg2">
                        <a:alpha val="20000"/>
                      </a:schemeClr>
                    </a:outerShdw>
                  </a:effectLst>
                </a14:hiddenEffects>
              </a:ext>
            </a:extLst>
          </p:spPr>
          <p:txBody>
            <a:bodyPr/>
            <a:lstStyle/>
            <a:p>
              <a:endParaRPr lang="en-AU"/>
            </a:p>
          </p:txBody>
        </p:sp>
      </p:grpSp>
      <p:grpSp>
        <p:nvGrpSpPr>
          <p:cNvPr id="69640" name="Group 8"/>
          <p:cNvGrpSpPr>
            <a:grpSpLocks/>
          </p:cNvGrpSpPr>
          <p:nvPr/>
        </p:nvGrpSpPr>
        <p:grpSpPr bwMode="auto">
          <a:xfrm>
            <a:off x="5295304" y="955477"/>
            <a:ext cx="3442395" cy="2604120"/>
            <a:chOff x="0" y="0"/>
            <a:chExt cx="3084" cy="2333"/>
          </a:xfrm>
        </p:grpSpPr>
        <p:pic>
          <p:nvPicPr>
            <p:cNvPr id="69641"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2920" cy="22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sp>
          <p:nvSpPr>
            <p:cNvPr id="69642" name="Rectangle 10"/>
            <p:cNvSpPr>
              <a:spLocks/>
            </p:cNvSpPr>
            <p:nvPr/>
          </p:nvSpPr>
          <p:spPr bwMode="auto">
            <a:xfrm>
              <a:off x="32" y="80"/>
              <a:ext cx="1048" cy="1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p>
              <a:pPr marL="80364">
                <a:tabLst>
                  <a:tab pos="366104" algn="l"/>
                </a:tabLst>
              </a:pPr>
              <a:r>
                <a:rPr lang="en-US" sz="1300" b="1">
                  <a:solidFill>
                    <a:srgbClr val="000000"/>
                  </a:solidFill>
                  <a:latin typeface="Arial" charset="0"/>
                  <a:cs typeface="Arial" charset="0"/>
                  <a:sym typeface="Arial" charset="0"/>
                </a:rPr>
                <a:t>Phagocytosis</a:t>
              </a:r>
              <a:endParaRPr lang="en-US" sz="1400" b="1">
                <a:solidFill>
                  <a:srgbClr val="000000"/>
                </a:solidFill>
                <a:latin typeface="Arial" charset="0"/>
                <a:cs typeface="Arial" charset="0"/>
                <a:sym typeface="Arial" charset="0"/>
              </a:endParaRPr>
            </a:p>
          </p:txBody>
        </p:sp>
        <p:sp>
          <p:nvSpPr>
            <p:cNvPr id="69643" name="Rectangle 11"/>
            <p:cNvSpPr>
              <a:spLocks/>
            </p:cNvSpPr>
            <p:nvPr/>
          </p:nvSpPr>
          <p:spPr bwMode="auto">
            <a:xfrm rot="-5400000">
              <a:off x="2927" y="2176"/>
              <a:ext cx="228" cy="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p>
              <a:pPr marL="80364">
                <a:tabLst>
                  <a:tab pos="366104" algn="l"/>
                </a:tabLst>
              </a:pPr>
              <a:r>
                <a:rPr lang="en-US" sz="600">
                  <a:solidFill>
                    <a:srgbClr val="000000"/>
                  </a:solidFill>
                  <a:latin typeface="Arial" charset="0"/>
                  <a:cs typeface="Arial" charset="0"/>
                  <a:sym typeface="Arial" charset="0"/>
                </a:rPr>
                <a:t>CDC</a:t>
              </a:r>
              <a:endParaRPr lang="en-US" sz="800">
                <a:solidFill>
                  <a:srgbClr val="000000"/>
                </a:solidFill>
                <a:latin typeface="Arial" charset="0"/>
                <a:cs typeface="Arial" charset="0"/>
                <a:sym typeface="Arial" charset="0"/>
              </a:endParaRPr>
            </a:p>
          </p:txBody>
        </p:sp>
        <p:sp>
          <p:nvSpPr>
            <p:cNvPr id="69644" name="Rectangle 12"/>
            <p:cNvSpPr>
              <a:spLocks/>
            </p:cNvSpPr>
            <p:nvPr/>
          </p:nvSpPr>
          <p:spPr bwMode="auto">
            <a:xfrm>
              <a:off x="16" y="648"/>
              <a:ext cx="1024" cy="1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gn="ctr">
                <a:tabLst>
                  <a:tab pos="366104" algn="l"/>
                </a:tabLst>
              </a:pPr>
              <a:r>
                <a:rPr lang="en-US" sz="1300">
                  <a:solidFill>
                    <a:srgbClr val="000000"/>
                  </a:solidFill>
                  <a:latin typeface="Arial" charset="0"/>
                  <a:cs typeface="Arial" charset="0"/>
                  <a:sym typeface="Arial" charset="0"/>
                </a:rPr>
                <a:t>Solid particle</a:t>
              </a:r>
            </a:p>
          </p:txBody>
        </p:sp>
        <p:sp>
          <p:nvSpPr>
            <p:cNvPr id="69645" name="Line 13"/>
            <p:cNvSpPr>
              <a:spLocks noChangeShapeType="1"/>
            </p:cNvSpPr>
            <p:nvPr/>
          </p:nvSpPr>
          <p:spPr bwMode="auto">
            <a:xfrm rot="10800000">
              <a:off x="872" y="839"/>
              <a:ext cx="410" cy="203"/>
            </a:xfrm>
            <a:prstGeom prst="line">
              <a:avLst/>
            </a:prstGeom>
            <a:noFill/>
            <a:ln w="25400">
              <a:solidFill>
                <a:srgbClr val="FD1C00"/>
              </a:solidFill>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25400" dist="12699" dir="5400000" algn="ctr" rotWithShape="0">
                      <a:schemeClr val="bg2">
                        <a:alpha val="20000"/>
                      </a:schemeClr>
                    </a:outerShdw>
                  </a:effectLst>
                </a14:hiddenEffects>
              </a:ext>
            </a:extLst>
          </p:spPr>
          <p:txBody>
            <a:bodyPr/>
            <a:lstStyle/>
            <a:p>
              <a:endParaRPr lang="en-AU"/>
            </a:p>
          </p:txBody>
        </p:sp>
      </p:grpSp>
    </p:spTree>
    <p:extLst>
      <p:ext uri="{BB962C8B-B14F-4D97-AF65-F5344CB8AC3E}">
        <p14:creationId xmlns:p14="http://schemas.microsoft.com/office/powerpoint/2010/main" val="127869064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9634">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69634">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69634">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69634">
                                            <p:txEl>
                                              <p:pRg st="3" end="3"/>
                                            </p:txEl>
                                          </p:spTgt>
                                        </p:tgtEl>
                                        <p:attrNameLst>
                                          <p:attrName>style.visibility</p:attrName>
                                        </p:attrNameLst>
                                      </p:cBhvr>
                                      <p:to>
                                        <p:strVal val="visible"/>
                                      </p:to>
                                    </p:set>
                                  </p:childTnLst>
                                </p:cTn>
                              </p:par>
                            </p:childTnLst>
                          </p:cTn>
                        </p:par>
                        <p:par>
                          <p:cTn id="19" fill="hold" nodeType="afterGroup">
                            <p:stCondLst>
                              <p:cond delay="500"/>
                            </p:stCondLst>
                            <p:childTnLst>
                              <p:par>
                                <p:cTn id="20" presetID="1" presetClass="entr" presetSubtype="0" fill="hold" nodeType="afterEffect">
                                  <p:stCondLst>
                                    <p:cond delay="0"/>
                                  </p:stCondLst>
                                  <p:childTnLst>
                                    <p:set>
                                      <p:cBhvr>
                                        <p:cTn id="21" dur="1" fill="hold">
                                          <p:stCondLst>
                                            <p:cond delay="499"/>
                                          </p:stCondLst>
                                        </p:cTn>
                                        <p:tgtEl>
                                          <p:spTgt spid="69640"/>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grpId="0" nodeType="clickEffect">
                                  <p:stCondLst>
                                    <p:cond delay="0"/>
                                  </p:stCondLst>
                                  <p:childTnLst>
                                    <p:set>
                                      <p:cBhvr>
                                        <p:cTn id="25" dur="1" fill="hold">
                                          <p:stCondLst>
                                            <p:cond delay="499"/>
                                          </p:stCondLst>
                                        </p:cTn>
                                        <p:tgtEl>
                                          <p:spTgt spid="69634">
                                            <p:txEl>
                                              <p:pRg st="4" end="4"/>
                                            </p:txEl>
                                          </p:spTgt>
                                        </p:tgtEl>
                                        <p:attrNameLst>
                                          <p:attrName>style.visibility</p:attrName>
                                        </p:attrNameLst>
                                      </p:cBhvr>
                                      <p:to>
                                        <p:strVal val="visible"/>
                                      </p:to>
                                    </p:set>
                                  </p:childTnLst>
                                </p:cTn>
                              </p:par>
                            </p:childTnLst>
                          </p:cTn>
                        </p:par>
                        <p:par>
                          <p:cTn id="26" fill="hold" nodeType="afterGroup">
                            <p:stCondLst>
                              <p:cond delay="500"/>
                            </p:stCondLst>
                            <p:childTnLst>
                              <p:par>
                                <p:cTn id="27" presetID="1" presetClass="entr" presetSubtype="0" fill="hold" nodeType="afterEffect">
                                  <p:stCondLst>
                                    <p:cond delay="0"/>
                                  </p:stCondLst>
                                  <p:childTnLst>
                                    <p:set>
                                      <p:cBhvr>
                                        <p:cTn id="28" dur="1" fill="hold">
                                          <p:stCondLst>
                                            <p:cond delay="499"/>
                                          </p:stCondLst>
                                        </p:cTn>
                                        <p:tgtEl>
                                          <p:spTgt spid="696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4" grpId="0" build="p" bldLvl="5"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57"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393031"/>
            <a:ext cx="9144000" cy="54649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sp>
        <p:nvSpPr>
          <p:cNvPr id="70658" name="Rectangle 2"/>
          <p:cNvSpPr>
            <a:spLocks noGrp="1" noChangeArrowheads="1"/>
          </p:cNvSpPr>
          <p:nvPr>
            <p:ph type="title"/>
          </p:nvPr>
        </p:nvSpPr>
        <p:spPr/>
        <p:txBody>
          <a:bodyPr/>
          <a:lstStyle/>
          <a:p>
            <a:r>
              <a:rPr lang="en-US"/>
              <a:t>Endocytosis</a:t>
            </a:r>
          </a:p>
        </p:txBody>
      </p:sp>
      <p:sp>
        <p:nvSpPr>
          <p:cNvPr id="70659" name="Rectangle 3"/>
          <p:cNvSpPr>
            <a:spLocks/>
          </p:cNvSpPr>
          <p:nvPr/>
        </p:nvSpPr>
        <p:spPr bwMode="auto">
          <a:xfrm>
            <a:off x="6500813" y="1616273"/>
            <a:ext cx="1053703" cy="4018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gn="ctr">
              <a:tabLst>
                <a:tab pos="366104" algn="l"/>
              </a:tabLst>
            </a:pPr>
            <a:r>
              <a:rPr lang="en-US" sz="1300">
                <a:solidFill>
                  <a:srgbClr val="000000"/>
                </a:solidFill>
                <a:latin typeface="Arial" charset="0"/>
                <a:cs typeface="Arial" charset="0"/>
                <a:sym typeface="Arial" charset="0"/>
              </a:rPr>
              <a:t>Plasma membrane</a:t>
            </a:r>
          </a:p>
        </p:txBody>
      </p:sp>
      <p:sp>
        <p:nvSpPr>
          <p:cNvPr id="70660" name="Line 4"/>
          <p:cNvSpPr>
            <a:spLocks noChangeShapeType="1"/>
          </p:cNvSpPr>
          <p:nvPr/>
        </p:nvSpPr>
        <p:spPr bwMode="auto">
          <a:xfrm rot="10800000" flipH="1">
            <a:off x="7018734" y="2016994"/>
            <a:ext cx="0" cy="1424285"/>
          </a:xfrm>
          <a:prstGeom prst="line">
            <a:avLst/>
          </a:prstGeom>
          <a:noFill/>
          <a:ln w="38100">
            <a:solidFill>
              <a:srgbClr val="FD1C00"/>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291" tIns="32146" rIns="64291" bIns="32146"/>
          <a:lstStyle/>
          <a:p>
            <a:endParaRPr lang="en-AU"/>
          </a:p>
        </p:txBody>
      </p:sp>
      <p:sp>
        <p:nvSpPr>
          <p:cNvPr id="70661" name="Rectangle 5"/>
          <p:cNvSpPr>
            <a:spLocks/>
          </p:cNvSpPr>
          <p:nvPr/>
        </p:nvSpPr>
        <p:spPr bwMode="auto">
          <a:xfrm>
            <a:off x="205383" y="6331149"/>
            <a:ext cx="1526977" cy="1964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tabLst>
                <a:tab pos="366104" algn="l"/>
              </a:tabLst>
            </a:pPr>
            <a:r>
              <a:rPr lang="en-US" sz="1400" b="1">
                <a:solidFill>
                  <a:srgbClr val="000000"/>
                </a:solidFill>
                <a:latin typeface="Arial" charset="0"/>
                <a:cs typeface="Arial" charset="0"/>
                <a:sym typeface="Arial" charset="0"/>
              </a:rPr>
              <a:t>Cell cytoplasm</a:t>
            </a:r>
          </a:p>
        </p:txBody>
      </p:sp>
      <p:grpSp>
        <p:nvGrpSpPr>
          <p:cNvPr id="70685" name="Group 29"/>
          <p:cNvGrpSpPr>
            <a:grpSpLocks/>
          </p:cNvGrpSpPr>
          <p:nvPr/>
        </p:nvGrpSpPr>
        <p:grpSpPr bwMode="auto">
          <a:xfrm>
            <a:off x="1178719" y="1446609"/>
            <a:ext cx="2732484" cy="812602"/>
            <a:chOff x="1440" y="1248"/>
            <a:chExt cx="2448" cy="728"/>
          </a:xfrm>
        </p:grpSpPr>
        <p:sp>
          <p:nvSpPr>
            <p:cNvPr id="70663" name="Rectangle 7"/>
            <p:cNvSpPr>
              <a:spLocks/>
            </p:cNvSpPr>
            <p:nvPr/>
          </p:nvSpPr>
          <p:spPr bwMode="auto">
            <a:xfrm>
              <a:off x="1728" y="1248"/>
              <a:ext cx="2160" cy="7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tabLst>
                  <a:tab pos="366104" algn="l"/>
                </a:tabLst>
              </a:pPr>
              <a:r>
                <a:rPr lang="en-US" sz="1300" dirty="0">
                  <a:solidFill>
                    <a:schemeClr val="tx1">
                      <a:lumMod val="95000"/>
                    </a:schemeClr>
                  </a:solidFill>
                  <a:latin typeface="Arial" charset="0"/>
                  <a:cs typeface="Arial" charset="0"/>
                  <a:sym typeface="Arial" charset="0"/>
                </a:rPr>
                <a:t>Materials that are to be collected and brought into the cell are engulfed by an of the plasma membrane.</a:t>
              </a:r>
            </a:p>
          </p:txBody>
        </p:sp>
        <p:grpSp>
          <p:nvGrpSpPr>
            <p:cNvPr id="70679" name="Group 23"/>
            <p:cNvGrpSpPr>
              <a:grpSpLocks/>
            </p:cNvGrpSpPr>
            <p:nvPr/>
          </p:nvGrpSpPr>
          <p:grpSpPr bwMode="auto">
            <a:xfrm>
              <a:off x="1440" y="1248"/>
              <a:ext cx="259" cy="288"/>
              <a:chOff x="1296" y="1104"/>
              <a:chExt cx="259" cy="288"/>
            </a:xfrm>
          </p:grpSpPr>
          <p:sp>
            <p:nvSpPr>
              <p:cNvPr id="70665" name="Oval 9"/>
              <p:cNvSpPr>
                <a:spLocks/>
              </p:cNvSpPr>
              <p:nvPr/>
            </p:nvSpPr>
            <p:spPr bwMode="auto">
              <a:xfrm>
                <a:off x="1296" y="1104"/>
                <a:ext cx="259" cy="288"/>
              </a:xfrm>
              <a:prstGeom prst="ellipse">
                <a:avLst/>
              </a:prstGeom>
              <a:solidFill>
                <a:srgbClr val="000000"/>
              </a:solidFill>
              <a:ln>
                <a:noFill/>
              </a:ln>
              <a:effectLst/>
              <a:extLst>
                <a:ext uri="{91240B29-F687-4F45-9708-019B960494DF}">
                  <a14:hiddenLine xmlns:a14="http://schemas.microsoft.com/office/drawing/2010/main" w="25400">
                    <a:solidFill>
                      <a:srgbClr val="6D381D"/>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sp>
            <p:nvSpPr>
              <p:cNvPr id="70666" name="Rectangle 10"/>
              <p:cNvSpPr>
                <a:spLocks/>
              </p:cNvSpPr>
              <p:nvPr/>
            </p:nvSpPr>
            <p:spPr bwMode="auto">
              <a:xfrm>
                <a:off x="1296" y="1152"/>
                <a:ext cx="198" cy="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gn="ctr">
                  <a:lnSpc>
                    <a:spcPct val="92000"/>
                  </a:lnSpc>
                  <a:tabLst>
                    <a:tab pos="366104" algn="l"/>
                  </a:tabLst>
                </a:pPr>
                <a:r>
                  <a:rPr lang="en-US" sz="1700" b="1">
                    <a:solidFill>
                      <a:srgbClr val="FFFFFF"/>
                    </a:solidFill>
                    <a:latin typeface="Arial" charset="0"/>
                    <a:cs typeface="Arial" charset="0"/>
                    <a:sym typeface="Arial" charset="0"/>
                  </a:rPr>
                  <a:t>1</a:t>
                </a:r>
              </a:p>
            </p:txBody>
          </p:sp>
        </p:grpSp>
      </p:grpSp>
      <p:grpSp>
        <p:nvGrpSpPr>
          <p:cNvPr id="70683" name="Group 27"/>
          <p:cNvGrpSpPr>
            <a:grpSpLocks/>
          </p:cNvGrpSpPr>
          <p:nvPr/>
        </p:nvGrpSpPr>
        <p:grpSpPr bwMode="auto">
          <a:xfrm>
            <a:off x="1768078" y="4500562"/>
            <a:ext cx="2089547" cy="401836"/>
            <a:chOff x="1488" y="4216"/>
            <a:chExt cx="1872" cy="360"/>
          </a:xfrm>
        </p:grpSpPr>
        <p:sp>
          <p:nvSpPr>
            <p:cNvPr id="70668" name="Rectangle 12"/>
            <p:cNvSpPr>
              <a:spLocks/>
            </p:cNvSpPr>
            <p:nvPr/>
          </p:nvSpPr>
          <p:spPr bwMode="auto">
            <a:xfrm>
              <a:off x="1776" y="4216"/>
              <a:ext cx="1584" cy="3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tabLst>
                  <a:tab pos="366104" algn="l"/>
                </a:tabLst>
              </a:pPr>
              <a:r>
                <a:rPr lang="en-US" sz="1300">
                  <a:solidFill>
                    <a:srgbClr val="000000"/>
                  </a:solidFill>
                  <a:latin typeface="Arial" charset="0"/>
                  <a:cs typeface="Arial" charset="0"/>
                  <a:sym typeface="Arial" charset="0"/>
                </a:rPr>
                <a:t>Vesicle buds off from the plasma membrane.</a:t>
              </a:r>
            </a:p>
          </p:txBody>
        </p:sp>
        <p:grpSp>
          <p:nvGrpSpPr>
            <p:cNvPr id="70680" name="Group 24"/>
            <p:cNvGrpSpPr>
              <a:grpSpLocks/>
            </p:cNvGrpSpPr>
            <p:nvPr/>
          </p:nvGrpSpPr>
          <p:grpSpPr bwMode="auto">
            <a:xfrm>
              <a:off x="1488" y="4224"/>
              <a:ext cx="288" cy="288"/>
              <a:chOff x="4464" y="1440"/>
              <a:chExt cx="288" cy="288"/>
            </a:xfrm>
          </p:grpSpPr>
          <p:sp>
            <p:nvSpPr>
              <p:cNvPr id="70670" name="Oval 14"/>
              <p:cNvSpPr>
                <a:spLocks/>
              </p:cNvSpPr>
              <p:nvPr/>
            </p:nvSpPr>
            <p:spPr bwMode="auto">
              <a:xfrm>
                <a:off x="4464" y="1440"/>
                <a:ext cx="288" cy="288"/>
              </a:xfrm>
              <a:prstGeom prst="ellipse">
                <a:avLst/>
              </a:prstGeom>
              <a:solidFill>
                <a:srgbClr val="000000"/>
              </a:solidFill>
              <a:ln>
                <a:noFill/>
              </a:ln>
              <a:effectLst/>
              <a:extLst>
                <a:ext uri="{91240B29-F687-4F45-9708-019B960494DF}">
                  <a14:hiddenLine xmlns:a14="http://schemas.microsoft.com/office/drawing/2010/main" w="25400">
                    <a:solidFill>
                      <a:srgbClr val="6D381D"/>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sp>
            <p:nvSpPr>
              <p:cNvPr id="70671" name="Rectangle 15"/>
              <p:cNvSpPr>
                <a:spLocks/>
              </p:cNvSpPr>
              <p:nvPr/>
            </p:nvSpPr>
            <p:spPr bwMode="auto">
              <a:xfrm>
                <a:off x="4512" y="1488"/>
                <a:ext cx="140" cy="2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gn="ctr">
                  <a:lnSpc>
                    <a:spcPct val="92000"/>
                  </a:lnSpc>
                  <a:tabLst>
                    <a:tab pos="366104" algn="l"/>
                  </a:tabLst>
                </a:pPr>
                <a:r>
                  <a:rPr lang="en-US" sz="1700" b="1">
                    <a:solidFill>
                      <a:srgbClr val="FFFFFF"/>
                    </a:solidFill>
                    <a:latin typeface="Arial" charset="0"/>
                    <a:cs typeface="Arial" charset="0"/>
                    <a:sym typeface="Arial" charset="0"/>
                  </a:rPr>
                  <a:t>2</a:t>
                </a:r>
              </a:p>
            </p:txBody>
          </p:sp>
        </p:grpSp>
      </p:grpSp>
      <p:grpSp>
        <p:nvGrpSpPr>
          <p:cNvPr id="70684" name="Group 28"/>
          <p:cNvGrpSpPr>
            <a:grpSpLocks/>
          </p:cNvGrpSpPr>
          <p:nvPr/>
        </p:nvGrpSpPr>
        <p:grpSpPr bwMode="auto">
          <a:xfrm>
            <a:off x="3964781" y="5679281"/>
            <a:ext cx="2893219" cy="821531"/>
            <a:chOff x="3264" y="4992"/>
            <a:chExt cx="2592" cy="736"/>
          </a:xfrm>
        </p:grpSpPr>
        <p:sp>
          <p:nvSpPr>
            <p:cNvPr id="70673" name="Rectangle 17"/>
            <p:cNvSpPr>
              <a:spLocks/>
            </p:cNvSpPr>
            <p:nvPr/>
          </p:nvSpPr>
          <p:spPr bwMode="auto">
            <a:xfrm>
              <a:off x="3560" y="5000"/>
              <a:ext cx="2296" cy="7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tabLst>
                  <a:tab pos="366104" algn="l"/>
                </a:tabLst>
              </a:pPr>
              <a:r>
                <a:rPr lang="en-US" sz="1300">
                  <a:solidFill>
                    <a:srgbClr val="000000"/>
                  </a:solidFill>
                  <a:latin typeface="Arial" charset="0"/>
                  <a:cs typeface="Arial" charset="0"/>
                  <a:sym typeface="Arial" charset="0"/>
                </a:rPr>
                <a:t>The vesicle carries molecules into the cell. The contents may then be digested by enzymes delivered to the vacuole by lysosomes.  </a:t>
              </a:r>
            </a:p>
          </p:txBody>
        </p:sp>
        <p:grpSp>
          <p:nvGrpSpPr>
            <p:cNvPr id="70681" name="Group 25"/>
            <p:cNvGrpSpPr>
              <a:grpSpLocks/>
            </p:cNvGrpSpPr>
            <p:nvPr/>
          </p:nvGrpSpPr>
          <p:grpSpPr bwMode="auto">
            <a:xfrm>
              <a:off x="3264" y="4992"/>
              <a:ext cx="288" cy="288"/>
              <a:chOff x="4656" y="1344"/>
              <a:chExt cx="288" cy="288"/>
            </a:xfrm>
          </p:grpSpPr>
          <p:sp>
            <p:nvSpPr>
              <p:cNvPr id="70675" name="Oval 19"/>
              <p:cNvSpPr>
                <a:spLocks/>
              </p:cNvSpPr>
              <p:nvPr/>
            </p:nvSpPr>
            <p:spPr bwMode="auto">
              <a:xfrm>
                <a:off x="4656" y="1344"/>
                <a:ext cx="288" cy="288"/>
              </a:xfrm>
              <a:prstGeom prst="ellipse">
                <a:avLst/>
              </a:prstGeom>
              <a:solidFill>
                <a:srgbClr val="000000"/>
              </a:solidFill>
              <a:ln>
                <a:noFill/>
              </a:ln>
              <a:effectLst/>
              <a:extLst>
                <a:ext uri="{91240B29-F687-4F45-9708-019B960494DF}">
                  <a14:hiddenLine xmlns:a14="http://schemas.microsoft.com/office/drawing/2010/main" w="25400">
                    <a:solidFill>
                      <a:srgbClr val="6D381D"/>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sp>
            <p:nvSpPr>
              <p:cNvPr id="70676" name="Rectangle 20"/>
              <p:cNvSpPr>
                <a:spLocks/>
              </p:cNvSpPr>
              <p:nvPr/>
            </p:nvSpPr>
            <p:spPr bwMode="auto">
              <a:xfrm>
                <a:off x="4704" y="1392"/>
                <a:ext cx="152" cy="2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gn="ctr">
                  <a:lnSpc>
                    <a:spcPct val="92000"/>
                  </a:lnSpc>
                  <a:tabLst>
                    <a:tab pos="366104" algn="l"/>
                  </a:tabLst>
                </a:pPr>
                <a:r>
                  <a:rPr lang="en-US" sz="1700" b="1">
                    <a:solidFill>
                      <a:srgbClr val="FFFFFF"/>
                    </a:solidFill>
                    <a:latin typeface="Arial" charset="0"/>
                    <a:cs typeface="Arial" charset="0"/>
                    <a:sym typeface="Arial" charset="0"/>
                  </a:rPr>
                  <a:t>3</a:t>
                </a:r>
              </a:p>
            </p:txBody>
          </p:sp>
        </p:grpSp>
      </p:grpSp>
    </p:spTree>
    <p:extLst>
      <p:ext uri="{BB962C8B-B14F-4D97-AF65-F5344CB8AC3E}">
        <p14:creationId xmlns:p14="http://schemas.microsoft.com/office/powerpoint/2010/main" val="270952481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068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068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706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681" name="Rectangle 1"/>
          <p:cNvSpPr>
            <a:spLocks noGrp="1" noChangeArrowheads="1"/>
          </p:cNvSpPr>
          <p:nvPr>
            <p:ph type="title"/>
          </p:nvPr>
        </p:nvSpPr>
        <p:spPr>
          <a:xfrm>
            <a:off x="609600" y="274638"/>
            <a:ext cx="7924800" cy="689768"/>
          </a:xfrm>
        </p:spPr>
        <p:txBody>
          <a:bodyPr/>
          <a:lstStyle/>
          <a:p>
            <a:r>
              <a:rPr lang="en-US" dirty="0"/>
              <a:t>Phagocytosis</a:t>
            </a:r>
          </a:p>
        </p:txBody>
      </p:sp>
      <p:sp>
        <p:nvSpPr>
          <p:cNvPr id="71682" name="Rectangle 2"/>
          <p:cNvSpPr>
            <a:spLocks noGrp="1" noChangeArrowheads="1"/>
          </p:cNvSpPr>
          <p:nvPr>
            <p:ph sz="quarter" idx="13"/>
          </p:nvPr>
        </p:nvSpPr>
        <p:spPr>
          <a:xfrm>
            <a:off x="609600" y="1124744"/>
            <a:ext cx="4250432" cy="4590256"/>
          </a:xfrm>
        </p:spPr>
        <p:txBody>
          <a:bodyPr>
            <a:noAutofit/>
          </a:bodyPr>
          <a:lstStyle/>
          <a:p>
            <a:r>
              <a:rPr lang="en-US" sz="1800" dirty="0"/>
              <a:t>Phagocytosis (literally cell eating) describes the engulfment and transport of solid particles into the cell.</a:t>
            </a:r>
          </a:p>
          <a:p>
            <a:pPr lvl="1"/>
            <a:r>
              <a:rPr lang="en-US" sz="1800" dirty="0"/>
              <a:t>The particles are contained within a membrane enclosed sac (a vacuole).</a:t>
            </a:r>
          </a:p>
          <a:p>
            <a:pPr lvl="1"/>
            <a:r>
              <a:rPr lang="en-US" sz="1800" dirty="0"/>
              <a:t>Digestion of the particles occur when the vacuole fuses with a lysosome containing digestive enzymes.</a:t>
            </a:r>
          </a:p>
          <a:p>
            <a:r>
              <a:rPr lang="en-US" sz="1800" dirty="0"/>
              <a:t>Amoebae use phagocytosis to capture and ingest their food.</a:t>
            </a:r>
          </a:p>
          <a:p>
            <a:r>
              <a:rPr lang="en-US" sz="1800" dirty="0"/>
              <a:t>In humans, white blood cells, such as neutrophils and macrophages, use phagocytosis to clean up cell debris and foreign material such as bacteria.</a:t>
            </a:r>
          </a:p>
        </p:txBody>
      </p:sp>
      <p:grpSp>
        <p:nvGrpSpPr>
          <p:cNvPr id="71683" name="Group 3"/>
          <p:cNvGrpSpPr>
            <a:grpSpLocks/>
          </p:cNvGrpSpPr>
          <p:nvPr/>
        </p:nvGrpSpPr>
        <p:grpSpPr bwMode="auto">
          <a:xfrm>
            <a:off x="5072062" y="964406"/>
            <a:ext cx="3527227" cy="2732484"/>
            <a:chOff x="0" y="0"/>
            <a:chExt cx="3160" cy="2448"/>
          </a:xfrm>
        </p:grpSpPr>
        <p:pic>
          <p:nvPicPr>
            <p:cNvPr id="7168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3160" cy="24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sp>
          <p:nvSpPr>
            <p:cNvPr id="71685" name="Rectangle 5"/>
            <p:cNvSpPr>
              <a:spLocks/>
            </p:cNvSpPr>
            <p:nvPr/>
          </p:nvSpPr>
          <p:spPr bwMode="auto">
            <a:xfrm>
              <a:off x="1432" y="1944"/>
              <a:ext cx="976" cy="3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gn="ctr">
                <a:tabLst>
                  <a:tab pos="366104" algn="l"/>
                </a:tabLst>
              </a:pPr>
              <a:r>
                <a:rPr lang="en-US" sz="1300" b="1">
                  <a:solidFill>
                    <a:srgbClr val="FFFFFF"/>
                  </a:solidFill>
                  <a:latin typeface="Arial" charset="0"/>
                  <a:cs typeface="Arial" charset="0"/>
                  <a:sym typeface="Arial" charset="0"/>
                </a:rPr>
                <a:t>Amoeba pseudopod</a:t>
              </a:r>
            </a:p>
          </p:txBody>
        </p:sp>
        <p:sp>
          <p:nvSpPr>
            <p:cNvPr id="71686" name="Rectangle 6"/>
            <p:cNvSpPr>
              <a:spLocks/>
            </p:cNvSpPr>
            <p:nvPr/>
          </p:nvSpPr>
          <p:spPr bwMode="auto">
            <a:xfrm>
              <a:off x="1712" y="224"/>
              <a:ext cx="1232" cy="1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gn="ctr">
                <a:tabLst>
                  <a:tab pos="366104" algn="l"/>
                </a:tabLst>
              </a:pPr>
              <a:r>
                <a:rPr lang="en-US" sz="1300" b="1">
                  <a:solidFill>
                    <a:srgbClr val="FFFFFF"/>
                  </a:solidFill>
                  <a:latin typeface="Arial" charset="0"/>
                  <a:cs typeface="Arial" charset="0"/>
                  <a:sym typeface="Arial" charset="0"/>
                </a:rPr>
                <a:t>Food particle</a:t>
              </a:r>
            </a:p>
          </p:txBody>
        </p:sp>
        <p:sp>
          <p:nvSpPr>
            <p:cNvPr id="71687" name="Line 7"/>
            <p:cNvSpPr>
              <a:spLocks noChangeShapeType="1"/>
            </p:cNvSpPr>
            <p:nvPr/>
          </p:nvSpPr>
          <p:spPr bwMode="auto">
            <a:xfrm rot="10800000" flipH="1">
              <a:off x="2326" y="480"/>
              <a:ext cx="0" cy="753"/>
            </a:xfrm>
            <a:prstGeom prst="line">
              <a:avLst/>
            </a:prstGeom>
            <a:noFill/>
            <a:ln w="25400">
              <a:solidFill>
                <a:srgbClr val="FD1C00"/>
              </a:solidFill>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sp>
          <p:nvSpPr>
            <p:cNvPr id="71688" name="Line 8"/>
            <p:cNvSpPr>
              <a:spLocks noChangeShapeType="1"/>
            </p:cNvSpPr>
            <p:nvPr/>
          </p:nvSpPr>
          <p:spPr bwMode="auto">
            <a:xfrm>
              <a:off x="1920" y="1440"/>
              <a:ext cx="0" cy="493"/>
            </a:xfrm>
            <a:prstGeom prst="line">
              <a:avLst/>
            </a:prstGeom>
            <a:noFill/>
            <a:ln w="25400">
              <a:solidFill>
                <a:srgbClr val="FD1C00"/>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grpSp>
      <p:grpSp>
        <p:nvGrpSpPr>
          <p:cNvPr id="71689" name="Group 9"/>
          <p:cNvGrpSpPr>
            <a:grpSpLocks/>
          </p:cNvGrpSpPr>
          <p:nvPr/>
        </p:nvGrpSpPr>
        <p:grpSpPr bwMode="auto">
          <a:xfrm>
            <a:off x="5058668" y="3924597"/>
            <a:ext cx="3545086" cy="2696766"/>
            <a:chOff x="0" y="0"/>
            <a:chExt cx="3176" cy="2416"/>
          </a:xfrm>
        </p:grpSpPr>
        <p:pic>
          <p:nvPicPr>
            <p:cNvPr id="71690"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5400000">
              <a:off x="380" y="-380"/>
              <a:ext cx="2416" cy="3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sp>
          <p:nvSpPr>
            <p:cNvPr id="71691" name="Rectangle 11"/>
            <p:cNvSpPr>
              <a:spLocks/>
            </p:cNvSpPr>
            <p:nvPr/>
          </p:nvSpPr>
          <p:spPr bwMode="auto">
            <a:xfrm>
              <a:off x="2132" y="244"/>
              <a:ext cx="976" cy="3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gn="ctr">
                <a:tabLst>
                  <a:tab pos="366104" algn="l"/>
                </a:tabLst>
              </a:pPr>
              <a:r>
                <a:rPr lang="en-US" sz="1300" b="1">
                  <a:solidFill>
                    <a:srgbClr val="FFFFFF"/>
                  </a:solidFill>
                  <a:latin typeface="Arial" charset="0"/>
                  <a:cs typeface="Arial" charset="0"/>
                  <a:sym typeface="Arial" charset="0"/>
                </a:rPr>
                <a:t>Engulfed bacterium</a:t>
              </a:r>
            </a:p>
          </p:txBody>
        </p:sp>
        <p:sp>
          <p:nvSpPr>
            <p:cNvPr id="71692" name="Line 12"/>
            <p:cNvSpPr>
              <a:spLocks noChangeShapeType="1"/>
            </p:cNvSpPr>
            <p:nvPr/>
          </p:nvSpPr>
          <p:spPr bwMode="auto">
            <a:xfrm rot="10800000" flipH="1">
              <a:off x="1789" y="590"/>
              <a:ext cx="409" cy="368"/>
            </a:xfrm>
            <a:prstGeom prst="line">
              <a:avLst/>
            </a:prstGeom>
            <a:noFill/>
            <a:ln w="25400">
              <a:solidFill>
                <a:srgbClr val="FD1C00"/>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grpSp>
    </p:spTree>
    <p:extLst>
      <p:ext uri="{BB962C8B-B14F-4D97-AF65-F5344CB8AC3E}">
        <p14:creationId xmlns:p14="http://schemas.microsoft.com/office/powerpoint/2010/main" val="330457896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1682">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71682">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71682">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71682">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499"/>
                                          </p:stCondLst>
                                        </p:cTn>
                                        <p:tgtEl>
                                          <p:spTgt spid="71683"/>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71682">
                                            <p:txEl>
                                              <p:pRg st="4" end="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499"/>
                                          </p:stCondLst>
                                        </p:cTn>
                                        <p:tgtEl>
                                          <p:spTgt spid="716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2" grpId="0" build="p" bldLvl="5"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705"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4340386" y="1640272"/>
            <a:ext cx="4884539" cy="38431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sp>
        <p:nvSpPr>
          <p:cNvPr id="72706" name="Rectangle 2"/>
          <p:cNvSpPr>
            <a:spLocks noGrp="1" noChangeArrowheads="1"/>
          </p:cNvSpPr>
          <p:nvPr>
            <p:ph type="title"/>
          </p:nvPr>
        </p:nvSpPr>
        <p:spPr/>
        <p:txBody>
          <a:bodyPr/>
          <a:lstStyle/>
          <a:p>
            <a:r>
              <a:rPr lang="en-US" dirty="0"/>
              <a:t>Pinocytosis</a:t>
            </a:r>
          </a:p>
        </p:txBody>
      </p:sp>
      <p:sp>
        <p:nvSpPr>
          <p:cNvPr id="72707" name="Rectangle 3"/>
          <p:cNvSpPr>
            <a:spLocks noGrp="1" noChangeArrowheads="1"/>
          </p:cNvSpPr>
          <p:nvPr>
            <p:ph sz="quarter" idx="13"/>
          </p:nvPr>
        </p:nvSpPr>
        <p:spPr>
          <a:xfrm>
            <a:off x="609600" y="1600200"/>
            <a:ext cx="4034408" cy="4114800"/>
          </a:xfrm>
        </p:spPr>
        <p:txBody>
          <a:bodyPr>
            <a:noAutofit/>
          </a:bodyPr>
          <a:lstStyle/>
          <a:p>
            <a:r>
              <a:rPr lang="en-US" sz="1800" dirty="0"/>
              <a:t>Pinocytosis describes the engulfment of liquids or fine liquid suspensions into the cell. </a:t>
            </a:r>
          </a:p>
          <a:p>
            <a:pPr lvl="1"/>
            <a:r>
              <a:rPr lang="en-US" sz="1800" dirty="0"/>
              <a:t>The plasma membrane enclose the liquid droplets within small vesicles.</a:t>
            </a:r>
          </a:p>
          <a:p>
            <a:pPr lvl="1"/>
            <a:r>
              <a:rPr lang="en-US" sz="1800" dirty="0"/>
              <a:t>The fluid within the vesicle is transferred to the cytosol.</a:t>
            </a:r>
          </a:p>
          <a:p>
            <a:r>
              <a:rPr lang="en-US" sz="1800" dirty="0"/>
              <a:t>Pinocytosis is a non-specific form of endocytosis.</a:t>
            </a:r>
          </a:p>
          <a:p>
            <a:pPr lvl="1"/>
            <a:r>
              <a:rPr lang="en-US" sz="1800" dirty="0"/>
              <a:t>Whatever solutes are suspended within the watery medium are also taken into the cell.</a:t>
            </a:r>
          </a:p>
        </p:txBody>
      </p:sp>
      <p:grpSp>
        <p:nvGrpSpPr>
          <p:cNvPr id="72708" name="Group 4"/>
          <p:cNvGrpSpPr>
            <a:grpSpLocks/>
          </p:cNvGrpSpPr>
          <p:nvPr/>
        </p:nvGrpSpPr>
        <p:grpSpPr bwMode="auto">
          <a:xfrm>
            <a:off x="6248549" y="1607344"/>
            <a:ext cx="2206749" cy="553641"/>
            <a:chOff x="0" y="0"/>
            <a:chExt cx="1977" cy="496"/>
          </a:xfrm>
        </p:grpSpPr>
        <p:sp>
          <p:nvSpPr>
            <p:cNvPr id="72709" name="Rectangle 5"/>
            <p:cNvSpPr>
              <a:spLocks/>
            </p:cNvSpPr>
            <p:nvPr/>
          </p:nvSpPr>
          <p:spPr bwMode="auto">
            <a:xfrm>
              <a:off x="529" y="0"/>
              <a:ext cx="1448" cy="4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tabLst>
                  <a:tab pos="366104" algn="l"/>
                </a:tabLst>
              </a:pPr>
              <a:r>
                <a:rPr lang="en-US" sz="1300">
                  <a:solidFill>
                    <a:srgbClr val="000000"/>
                  </a:solidFill>
                  <a:latin typeface="Arial" charset="0"/>
                  <a:cs typeface="Arial" charset="0"/>
                  <a:sym typeface="Arial" charset="0"/>
                </a:rPr>
                <a:t>Plasma membrane engulfing liquid substance.</a:t>
              </a:r>
            </a:p>
          </p:txBody>
        </p:sp>
        <p:sp>
          <p:nvSpPr>
            <p:cNvPr id="72710" name="Line 6"/>
            <p:cNvSpPr>
              <a:spLocks noChangeShapeType="1"/>
            </p:cNvSpPr>
            <p:nvPr/>
          </p:nvSpPr>
          <p:spPr bwMode="auto">
            <a:xfrm>
              <a:off x="0" y="250"/>
              <a:ext cx="513" cy="0"/>
            </a:xfrm>
            <a:prstGeom prst="line">
              <a:avLst/>
            </a:prstGeom>
            <a:noFill/>
            <a:ln w="25400">
              <a:solidFill>
                <a:srgbClr val="000000"/>
              </a:solidFill>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grpSp>
      <p:grpSp>
        <p:nvGrpSpPr>
          <p:cNvPr id="72711" name="Group 7"/>
          <p:cNvGrpSpPr>
            <a:grpSpLocks/>
          </p:cNvGrpSpPr>
          <p:nvPr/>
        </p:nvGrpSpPr>
        <p:grpSpPr bwMode="auto">
          <a:xfrm>
            <a:off x="6759773" y="2884289"/>
            <a:ext cx="1741289" cy="446484"/>
            <a:chOff x="0" y="0"/>
            <a:chExt cx="1560" cy="400"/>
          </a:xfrm>
        </p:grpSpPr>
        <p:sp>
          <p:nvSpPr>
            <p:cNvPr id="72712" name="Rectangle 8"/>
            <p:cNvSpPr>
              <a:spLocks/>
            </p:cNvSpPr>
            <p:nvPr/>
          </p:nvSpPr>
          <p:spPr bwMode="auto">
            <a:xfrm>
              <a:off x="432" y="0"/>
              <a:ext cx="1128" cy="3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tabLst>
                  <a:tab pos="366104" algn="l"/>
                </a:tabLst>
              </a:pPr>
              <a:r>
                <a:rPr lang="en-US" sz="1300">
                  <a:solidFill>
                    <a:srgbClr val="000000"/>
                  </a:solidFill>
                  <a:latin typeface="Arial" charset="0"/>
                  <a:cs typeface="Arial" charset="0"/>
                  <a:sym typeface="Arial" charset="0"/>
                </a:rPr>
                <a:t>Membrane-bound vesicle</a:t>
              </a:r>
            </a:p>
          </p:txBody>
        </p:sp>
        <p:sp>
          <p:nvSpPr>
            <p:cNvPr id="72713" name="Line 9"/>
            <p:cNvSpPr>
              <a:spLocks noChangeShapeType="1"/>
            </p:cNvSpPr>
            <p:nvPr/>
          </p:nvSpPr>
          <p:spPr bwMode="auto">
            <a:xfrm rot="10800000" flipH="1">
              <a:off x="0" y="160"/>
              <a:ext cx="424" cy="240"/>
            </a:xfrm>
            <a:prstGeom prst="line">
              <a:avLst/>
            </a:prstGeom>
            <a:noFill/>
            <a:ln w="25400">
              <a:solidFill>
                <a:srgbClr val="000000"/>
              </a:solidFill>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25400" dist="12699" dir="5400000" algn="ctr" rotWithShape="0">
                      <a:schemeClr val="bg2">
                        <a:alpha val="20000"/>
                      </a:schemeClr>
                    </a:outerShdw>
                  </a:effectLst>
                </a14:hiddenEffects>
              </a:ext>
            </a:extLst>
          </p:spPr>
          <p:txBody>
            <a:bodyPr/>
            <a:lstStyle/>
            <a:p>
              <a:endParaRPr lang="en-AU"/>
            </a:p>
          </p:txBody>
        </p:sp>
      </p:grpSp>
      <p:sp>
        <p:nvSpPr>
          <p:cNvPr id="72714" name="Rectangle 10"/>
          <p:cNvSpPr>
            <a:spLocks/>
          </p:cNvSpPr>
          <p:nvPr/>
        </p:nvSpPr>
        <p:spPr bwMode="auto">
          <a:xfrm>
            <a:off x="5250656" y="6107906"/>
            <a:ext cx="3187898" cy="4018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gn="ctr">
              <a:tabLst>
                <a:tab pos="366104" algn="l"/>
              </a:tabLst>
            </a:pPr>
            <a:r>
              <a:rPr lang="en-US" sz="1300" b="1">
                <a:solidFill>
                  <a:srgbClr val="001BFF"/>
                </a:solidFill>
                <a:latin typeface="Arial" charset="0"/>
                <a:cs typeface="Arial" charset="0"/>
                <a:sym typeface="Arial" charset="0"/>
              </a:rPr>
              <a:t>Pinocytosis</a:t>
            </a:r>
            <a:r>
              <a:rPr lang="en-US" sz="1300">
                <a:solidFill>
                  <a:srgbClr val="001BFF"/>
                </a:solidFill>
                <a:latin typeface="Arial" charset="0"/>
                <a:cs typeface="Arial" charset="0"/>
                <a:sym typeface="Arial" charset="0"/>
              </a:rPr>
              <a:t> by a capillary endothelial cell. TEM (X12,880)</a:t>
            </a:r>
          </a:p>
        </p:txBody>
      </p:sp>
    </p:spTree>
    <p:extLst>
      <p:ext uri="{BB962C8B-B14F-4D97-AF65-F5344CB8AC3E}">
        <p14:creationId xmlns:p14="http://schemas.microsoft.com/office/powerpoint/2010/main" val="255061351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270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72707">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499"/>
                                          </p:stCondLst>
                                        </p:cTn>
                                        <p:tgtEl>
                                          <p:spTgt spid="72708"/>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72707">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499"/>
                                          </p:stCondLst>
                                        </p:cTn>
                                        <p:tgtEl>
                                          <p:spTgt spid="72711"/>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72707">
                                            <p:txEl>
                                              <p:pRg st="3" end="3"/>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7270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7" grpId="0" build="p" bldLvl="5"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1"/>
          <p:cNvSpPr>
            <a:spLocks noGrp="1" noChangeArrowheads="1"/>
          </p:cNvSpPr>
          <p:nvPr>
            <p:ph type="title"/>
          </p:nvPr>
        </p:nvSpPr>
        <p:spPr/>
        <p:txBody>
          <a:bodyPr/>
          <a:lstStyle/>
          <a:p>
            <a:r>
              <a:rPr lang="en-US"/>
              <a:t>Exocytosis</a:t>
            </a:r>
          </a:p>
        </p:txBody>
      </p:sp>
      <p:sp>
        <p:nvSpPr>
          <p:cNvPr id="75778" name="Rectangle 2"/>
          <p:cNvSpPr>
            <a:spLocks noGrp="1" noChangeArrowheads="1"/>
          </p:cNvSpPr>
          <p:nvPr>
            <p:ph sz="quarter" idx="13"/>
          </p:nvPr>
        </p:nvSpPr>
        <p:spPr>
          <a:xfrm>
            <a:off x="609600" y="1600200"/>
            <a:ext cx="4250432" cy="4114800"/>
          </a:xfrm>
        </p:spPr>
        <p:txBody>
          <a:bodyPr>
            <a:normAutofit/>
          </a:bodyPr>
          <a:lstStyle/>
          <a:p>
            <a:r>
              <a:rPr lang="en-US" sz="1800" dirty="0"/>
              <a:t>Exocytosis releases substances from the inside of the cell to outside of the cell. </a:t>
            </a:r>
          </a:p>
          <a:p>
            <a:r>
              <a:rPr lang="en-US" sz="1800" dirty="0"/>
              <a:t>Exocytosis occurs by fusion of a vesicle membrane with the plasma membrane.  The vesicle contents are then released to the outside of the cell.</a:t>
            </a:r>
          </a:p>
          <a:p>
            <a:r>
              <a:rPr lang="en-US" sz="1800" dirty="0"/>
              <a:t>In multicellular organisms, various types of cells are specialized to manufacture and export products from the cell to elsewhere in the body or outside it. </a:t>
            </a:r>
          </a:p>
        </p:txBody>
      </p:sp>
      <p:sp>
        <p:nvSpPr>
          <p:cNvPr id="75779" name="Rectangle 3"/>
          <p:cNvSpPr>
            <a:spLocks/>
          </p:cNvSpPr>
          <p:nvPr/>
        </p:nvSpPr>
        <p:spPr bwMode="auto">
          <a:xfrm>
            <a:off x="5509617" y="5706070"/>
            <a:ext cx="2875359" cy="8126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tabLst>
                <a:tab pos="366104" algn="l"/>
              </a:tabLst>
            </a:pPr>
            <a:r>
              <a:rPr lang="en-US" sz="1300">
                <a:solidFill>
                  <a:srgbClr val="001BFF"/>
                </a:solidFill>
                <a:latin typeface="Arial" charset="0"/>
                <a:cs typeface="Arial" charset="0"/>
                <a:sym typeface="Arial" charset="0"/>
              </a:rPr>
              <a:t>Cross section through the plasma membrane of cardiac muscle showing the presence of </a:t>
            </a:r>
            <a:r>
              <a:rPr lang="en-US" sz="1300" b="1">
                <a:solidFill>
                  <a:srgbClr val="001BFF"/>
                </a:solidFill>
                <a:latin typeface="Arial" charset="0"/>
                <a:cs typeface="Arial" charset="0"/>
                <a:sym typeface="Arial" charset="0"/>
              </a:rPr>
              <a:t>transport vesicles</a:t>
            </a:r>
            <a:r>
              <a:rPr lang="en-US" sz="1300">
                <a:solidFill>
                  <a:srgbClr val="001BFF"/>
                </a:solidFill>
                <a:latin typeface="Arial" charset="0"/>
                <a:cs typeface="Arial" charset="0"/>
                <a:sym typeface="Arial" charset="0"/>
              </a:rPr>
              <a:t>. TEM X 162,000</a:t>
            </a:r>
          </a:p>
        </p:txBody>
      </p:sp>
      <p:pic>
        <p:nvPicPr>
          <p:cNvPr id="7578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4659623" y="1821099"/>
            <a:ext cx="4564186" cy="29646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sp>
        <p:nvSpPr>
          <p:cNvPr id="75781" name="Rectangle 5"/>
          <p:cNvSpPr>
            <a:spLocks/>
          </p:cNvSpPr>
          <p:nvPr/>
        </p:nvSpPr>
        <p:spPr bwMode="auto">
          <a:xfrm>
            <a:off x="7393781" y="3625453"/>
            <a:ext cx="955477" cy="4018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gn="ctr">
              <a:tabLst>
                <a:tab pos="366104" algn="l"/>
              </a:tabLst>
            </a:pPr>
            <a:r>
              <a:rPr lang="en-US" sz="1300" b="1">
                <a:solidFill>
                  <a:srgbClr val="000000"/>
                </a:solidFill>
                <a:latin typeface="Arial" charset="0"/>
                <a:cs typeface="Arial" charset="0"/>
                <a:sym typeface="Arial" charset="0"/>
              </a:rPr>
              <a:t>Transport vesicle</a:t>
            </a:r>
          </a:p>
        </p:txBody>
      </p:sp>
      <p:sp>
        <p:nvSpPr>
          <p:cNvPr id="75782" name="Line 6"/>
          <p:cNvSpPr>
            <a:spLocks noChangeShapeType="1"/>
          </p:cNvSpPr>
          <p:nvPr/>
        </p:nvSpPr>
        <p:spPr bwMode="auto">
          <a:xfrm rot="10800000" flipH="1">
            <a:off x="7228583" y="4077519"/>
            <a:ext cx="488900" cy="236637"/>
          </a:xfrm>
          <a:prstGeom prst="line">
            <a:avLst/>
          </a:prstGeom>
          <a:noFill/>
          <a:ln w="38100">
            <a:solidFill>
              <a:srgbClr val="FD1C00"/>
            </a:solidFill>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291" tIns="32146" rIns="64291" bIns="32146"/>
          <a:lstStyle/>
          <a:p>
            <a:endParaRPr lang="en-AU"/>
          </a:p>
        </p:txBody>
      </p:sp>
    </p:spTree>
    <p:extLst>
      <p:ext uri="{BB962C8B-B14F-4D97-AF65-F5344CB8AC3E}">
        <p14:creationId xmlns:p14="http://schemas.microsoft.com/office/powerpoint/2010/main" val="202339869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5778">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75778">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7577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8" grpId="0" build="p" bldLvl="5"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801"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129605"/>
            <a:ext cx="9144000" cy="572839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sp>
        <p:nvSpPr>
          <p:cNvPr id="76802" name="Rectangle 2"/>
          <p:cNvSpPr>
            <a:spLocks noGrp="1" noChangeArrowheads="1"/>
          </p:cNvSpPr>
          <p:nvPr>
            <p:ph type="title"/>
          </p:nvPr>
        </p:nvSpPr>
        <p:spPr/>
        <p:txBody>
          <a:bodyPr/>
          <a:lstStyle/>
          <a:p>
            <a:r>
              <a:rPr lang="en-US"/>
              <a:t>Exocytosis</a:t>
            </a:r>
          </a:p>
        </p:txBody>
      </p:sp>
      <p:grpSp>
        <p:nvGrpSpPr>
          <p:cNvPr id="76826" name="Group 26"/>
          <p:cNvGrpSpPr>
            <a:grpSpLocks/>
          </p:cNvGrpSpPr>
          <p:nvPr/>
        </p:nvGrpSpPr>
        <p:grpSpPr bwMode="auto">
          <a:xfrm>
            <a:off x="2625328" y="5572125"/>
            <a:ext cx="2527102" cy="660797"/>
            <a:chOff x="2352" y="4992"/>
            <a:chExt cx="2264" cy="592"/>
          </a:xfrm>
        </p:grpSpPr>
        <p:sp>
          <p:nvSpPr>
            <p:cNvPr id="76804" name="Rectangle 4"/>
            <p:cNvSpPr>
              <a:spLocks/>
            </p:cNvSpPr>
            <p:nvPr/>
          </p:nvSpPr>
          <p:spPr bwMode="auto">
            <a:xfrm>
              <a:off x="2632" y="5040"/>
              <a:ext cx="1984" cy="5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tabLst>
                  <a:tab pos="366104" algn="l"/>
                </a:tabLst>
              </a:pPr>
              <a:r>
                <a:rPr lang="en-US" sz="1300">
                  <a:solidFill>
                    <a:srgbClr val="000000"/>
                  </a:solidFill>
                  <a:latin typeface="Arial" charset="0"/>
                  <a:cs typeface="Arial" charset="0"/>
                  <a:sym typeface="Arial" charset="0"/>
                </a:rPr>
                <a:t>Vesicle carrying molecules for export moves to the perimeter of the cell.</a:t>
              </a:r>
            </a:p>
          </p:txBody>
        </p:sp>
        <p:grpSp>
          <p:nvGrpSpPr>
            <p:cNvPr id="76819" name="Group 19"/>
            <p:cNvGrpSpPr>
              <a:grpSpLocks/>
            </p:cNvGrpSpPr>
            <p:nvPr/>
          </p:nvGrpSpPr>
          <p:grpSpPr bwMode="auto">
            <a:xfrm>
              <a:off x="2352" y="4992"/>
              <a:ext cx="288" cy="288"/>
              <a:chOff x="2400" y="4992"/>
              <a:chExt cx="288" cy="288"/>
            </a:xfrm>
          </p:grpSpPr>
          <p:sp>
            <p:nvSpPr>
              <p:cNvPr id="76806" name="Oval 6"/>
              <p:cNvSpPr>
                <a:spLocks/>
              </p:cNvSpPr>
              <p:nvPr/>
            </p:nvSpPr>
            <p:spPr bwMode="auto">
              <a:xfrm>
                <a:off x="2400" y="4992"/>
                <a:ext cx="288" cy="288"/>
              </a:xfrm>
              <a:prstGeom prst="ellipse">
                <a:avLst/>
              </a:prstGeom>
              <a:solidFill>
                <a:srgbClr val="000000"/>
              </a:solidFill>
              <a:ln>
                <a:noFill/>
              </a:ln>
              <a:effectLst/>
              <a:extLst>
                <a:ext uri="{91240B29-F687-4F45-9708-019B960494DF}">
                  <a14:hiddenLine xmlns:a14="http://schemas.microsoft.com/office/drawing/2010/main" w="25400">
                    <a:solidFill>
                      <a:srgbClr val="6D381D"/>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sp>
            <p:nvSpPr>
              <p:cNvPr id="76807" name="Rectangle 7"/>
              <p:cNvSpPr>
                <a:spLocks/>
              </p:cNvSpPr>
              <p:nvPr/>
            </p:nvSpPr>
            <p:spPr bwMode="auto">
              <a:xfrm>
                <a:off x="2448" y="5040"/>
                <a:ext cx="152" cy="2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gn="ctr">
                  <a:lnSpc>
                    <a:spcPct val="92000"/>
                  </a:lnSpc>
                  <a:tabLst>
                    <a:tab pos="366104" algn="l"/>
                  </a:tabLst>
                </a:pPr>
                <a:r>
                  <a:rPr lang="en-US" sz="1700" b="1">
                    <a:solidFill>
                      <a:srgbClr val="FFFFFF"/>
                    </a:solidFill>
                    <a:latin typeface="Arial" charset="0"/>
                    <a:cs typeface="Arial" charset="0"/>
                    <a:sym typeface="Arial" charset="0"/>
                  </a:rPr>
                  <a:t>1</a:t>
                </a:r>
              </a:p>
            </p:txBody>
          </p:sp>
        </p:grpSp>
      </p:grpSp>
      <p:grpSp>
        <p:nvGrpSpPr>
          <p:cNvPr id="76825" name="Group 25"/>
          <p:cNvGrpSpPr>
            <a:grpSpLocks/>
          </p:cNvGrpSpPr>
          <p:nvPr/>
        </p:nvGrpSpPr>
        <p:grpSpPr bwMode="auto">
          <a:xfrm>
            <a:off x="4875609" y="4446984"/>
            <a:ext cx="2035969" cy="455414"/>
            <a:chOff x="4608" y="3984"/>
            <a:chExt cx="1824" cy="408"/>
          </a:xfrm>
        </p:grpSpPr>
        <p:sp>
          <p:nvSpPr>
            <p:cNvPr id="76809" name="Rectangle 9"/>
            <p:cNvSpPr>
              <a:spLocks/>
            </p:cNvSpPr>
            <p:nvPr/>
          </p:nvSpPr>
          <p:spPr bwMode="auto">
            <a:xfrm>
              <a:off x="4944" y="4032"/>
              <a:ext cx="1488" cy="3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tabLst>
                  <a:tab pos="366104" algn="l"/>
                </a:tabLst>
              </a:pPr>
              <a:r>
                <a:rPr lang="en-US" sz="1300">
                  <a:solidFill>
                    <a:srgbClr val="000000"/>
                  </a:solidFill>
                  <a:latin typeface="Arial" charset="0"/>
                  <a:cs typeface="Arial" charset="0"/>
                  <a:sym typeface="Arial" charset="0"/>
                </a:rPr>
                <a:t>Vesicle fuses with the plasma membrane.</a:t>
              </a:r>
            </a:p>
          </p:txBody>
        </p:sp>
        <p:grpSp>
          <p:nvGrpSpPr>
            <p:cNvPr id="76823" name="Group 23"/>
            <p:cNvGrpSpPr>
              <a:grpSpLocks/>
            </p:cNvGrpSpPr>
            <p:nvPr/>
          </p:nvGrpSpPr>
          <p:grpSpPr bwMode="auto">
            <a:xfrm>
              <a:off x="4608" y="3984"/>
              <a:ext cx="288" cy="288"/>
              <a:chOff x="4608" y="4032"/>
              <a:chExt cx="288" cy="288"/>
            </a:xfrm>
          </p:grpSpPr>
          <p:sp>
            <p:nvSpPr>
              <p:cNvPr id="76811" name="Oval 11"/>
              <p:cNvSpPr>
                <a:spLocks/>
              </p:cNvSpPr>
              <p:nvPr/>
            </p:nvSpPr>
            <p:spPr bwMode="auto">
              <a:xfrm>
                <a:off x="4608" y="4032"/>
                <a:ext cx="288" cy="288"/>
              </a:xfrm>
              <a:prstGeom prst="ellipse">
                <a:avLst/>
              </a:prstGeom>
              <a:solidFill>
                <a:srgbClr val="000000"/>
              </a:solidFill>
              <a:ln>
                <a:noFill/>
              </a:ln>
              <a:effectLst/>
              <a:extLst>
                <a:ext uri="{91240B29-F687-4F45-9708-019B960494DF}">
                  <a14:hiddenLine xmlns:a14="http://schemas.microsoft.com/office/drawing/2010/main" w="25400">
                    <a:solidFill>
                      <a:srgbClr val="6D381D"/>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sp>
            <p:nvSpPr>
              <p:cNvPr id="76812" name="Rectangle 12"/>
              <p:cNvSpPr>
                <a:spLocks/>
              </p:cNvSpPr>
              <p:nvPr/>
            </p:nvSpPr>
            <p:spPr bwMode="auto">
              <a:xfrm>
                <a:off x="4656" y="4080"/>
                <a:ext cx="152" cy="2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gn="ctr">
                  <a:lnSpc>
                    <a:spcPct val="92000"/>
                  </a:lnSpc>
                  <a:tabLst>
                    <a:tab pos="366104" algn="l"/>
                  </a:tabLst>
                </a:pPr>
                <a:r>
                  <a:rPr lang="en-US" sz="1700" b="1">
                    <a:solidFill>
                      <a:srgbClr val="FFFFFF"/>
                    </a:solidFill>
                    <a:latin typeface="Arial" charset="0"/>
                    <a:cs typeface="Arial" charset="0"/>
                    <a:sym typeface="Arial" charset="0"/>
                  </a:rPr>
                  <a:t>2</a:t>
                </a:r>
              </a:p>
            </p:txBody>
          </p:sp>
        </p:grpSp>
      </p:grpSp>
      <p:grpSp>
        <p:nvGrpSpPr>
          <p:cNvPr id="76824" name="Group 24"/>
          <p:cNvGrpSpPr>
            <a:grpSpLocks/>
          </p:cNvGrpSpPr>
          <p:nvPr/>
        </p:nvGrpSpPr>
        <p:grpSpPr bwMode="auto">
          <a:xfrm>
            <a:off x="4822031" y="1339453"/>
            <a:ext cx="3143250" cy="607219"/>
            <a:chOff x="4320" y="1200"/>
            <a:chExt cx="2816" cy="544"/>
          </a:xfrm>
        </p:grpSpPr>
        <p:sp>
          <p:nvSpPr>
            <p:cNvPr id="76814" name="Rectangle 14"/>
            <p:cNvSpPr>
              <a:spLocks/>
            </p:cNvSpPr>
            <p:nvPr/>
          </p:nvSpPr>
          <p:spPr bwMode="auto">
            <a:xfrm>
              <a:off x="4608" y="1200"/>
              <a:ext cx="2528" cy="5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tabLst>
                  <a:tab pos="366104" algn="l"/>
                </a:tabLst>
              </a:pPr>
              <a:r>
                <a:rPr lang="en-US" sz="1300" dirty="0">
                  <a:latin typeface="Arial" charset="0"/>
                  <a:cs typeface="Arial" charset="0"/>
                  <a:sym typeface="Arial" charset="0"/>
                </a:rPr>
                <a:t>The contents of the vesicle are expelled into the intercellular space (which may be into the bloodstream</a:t>
              </a:r>
              <a:r>
                <a:rPr lang="en-US" sz="1300" dirty="0">
                  <a:solidFill>
                    <a:srgbClr val="000000"/>
                  </a:solidFill>
                  <a:latin typeface="Arial" charset="0"/>
                  <a:cs typeface="Arial" charset="0"/>
                  <a:sym typeface="Arial" charset="0"/>
                </a:rPr>
                <a:t>).</a:t>
              </a:r>
            </a:p>
          </p:txBody>
        </p:sp>
        <p:grpSp>
          <p:nvGrpSpPr>
            <p:cNvPr id="76820" name="Group 20"/>
            <p:cNvGrpSpPr>
              <a:grpSpLocks/>
            </p:cNvGrpSpPr>
            <p:nvPr/>
          </p:nvGrpSpPr>
          <p:grpSpPr bwMode="auto">
            <a:xfrm>
              <a:off x="4320" y="1200"/>
              <a:ext cx="288" cy="288"/>
              <a:chOff x="3888" y="1200"/>
              <a:chExt cx="288" cy="288"/>
            </a:xfrm>
          </p:grpSpPr>
          <p:sp>
            <p:nvSpPr>
              <p:cNvPr id="76816" name="Oval 16"/>
              <p:cNvSpPr>
                <a:spLocks/>
              </p:cNvSpPr>
              <p:nvPr/>
            </p:nvSpPr>
            <p:spPr bwMode="auto">
              <a:xfrm>
                <a:off x="3888" y="1200"/>
                <a:ext cx="288" cy="288"/>
              </a:xfrm>
              <a:prstGeom prst="ellipse">
                <a:avLst/>
              </a:prstGeom>
              <a:solidFill>
                <a:srgbClr val="000000"/>
              </a:solidFill>
              <a:ln>
                <a:noFill/>
              </a:ln>
              <a:effectLst/>
              <a:extLst>
                <a:ext uri="{91240B29-F687-4F45-9708-019B960494DF}">
                  <a14:hiddenLine xmlns:a14="http://schemas.microsoft.com/office/drawing/2010/main" w="25400">
                    <a:solidFill>
                      <a:srgbClr val="6D381D"/>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AU"/>
              </a:p>
            </p:txBody>
          </p:sp>
          <p:sp>
            <p:nvSpPr>
              <p:cNvPr id="76817" name="Rectangle 17"/>
              <p:cNvSpPr>
                <a:spLocks/>
              </p:cNvSpPr>
              <p:nvPr/>
            </p:nvSpPr>
            <p:spPr bwMode="auto">
              <a:xfrm>
                <a:off x="3920" y="1256"/>
                <a:ext cx="152" cy="2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gn="ctr">
                  <a:lnSpc>
                    <a:spcPct val="92000"/>
                  </a:lnSpc>
                  <a:tabLst>
                    <a:tab pos="366104" algn="l"/>
                  </a:tabLst>
                </a:pPr>
                <a:r>
                  <a:rPr lang="en-US" sz="1700" b="1">
                    <a:solidFill>
                      <a:srgbClr val="FFFFFF"/>
                    </a:solidFill>
                    <a:latin typeface="Arial" charset="0"/>
                    <a:cs typeface="Arial" charset="0"/>
                    <a:sym typeface="Arial" charset="0"/>
                  </a:rPr>
                  <a:t>3</a:t>
                </a:r>
              </a:p>
            </p:txBody>
          </p:sp>
        </p:grpSp>
      </p:grpSp>
    </p:spTree>
    <p:extLst>
      <p:ext uri="{BB962C8B-B14F-4D97-AF65-F5344CB8AC3E}">
        <p14:creationId xmlns:p14="http://schemas.microsoft.com/office/powerpoint/2010/main" val="289825900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682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682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768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Transport videos</a:t>
            </a:r>
          </a:p>
        </p:txBody>
      </p:sp>
      <p:sp>
        <p:nvSpPr>
          <p:cNvPr id="3" name="Content Placeholder 2"/>
          <p:cNvSpPr>
            <a:spLocks noGrp="1"/>
          </p:cNvSpPr>
          <p:nvPr>
            <p:ph sz="quarter" idx="13"/>
          </p:nvPr>
        </p:nvSpPr>
        <p:spPr/>
        <p:txBody>
          <a:bodyPr/>
          <a:lstStyle/>
          <a:p>
            <a:r>
              <a:rPr lang="en-AU" sz="1800" dirty="0"/>
              <a:t>Diffusion video - </a:t>
            </a:r>
            <a:r>
              <a:rPr lang="en-AU" sz="1800" dirty="0">
                <a:hlinkClick r:id="rId3"/>
              </a:rPr>
              <a:t>http://www.you2repeat.com/watch/?v=VY0mZUDvbH4</a:t>
            </a:r>
            <a:endParaRPr lang="en-AU" sz="1800" dirty="0"/>
          </a:p>
          <a:p>
            <a:r>
              <a:rPr lang="en-AU" sz="1800" dirty="0"/>
              <a:t>Facilitated diffusion - </a:t>
            </a:r>
            <a:r>
              <a:rPr lang="en-AU" sz="1800" dirty="0">
                <a:hlinkClick r:id="rId4"/>
              </a:rPr>
              <a:t>https://www.youtube.com/watch?v=vKGN_Zhz8AY</a:t>
            </a:r>
            <a:endParaRPr lang="en-AU" sz="1800" dirty="0"/>
          </a:p>
          <a:p>
            <a:r>
              <a:rPr lang="en-AU" sz="1800" dirty="0"/>
              <a:t>Osmosis video - </a:t>
            </a:r>
            <a:r>
              <a:rPr lang="en-AU" sz="1800" dirty="0">
                <a:hlinkClick r:id="rId5"/>
              </a:rPr>
              <a:t>http://highered.mheducation.com/sites/0072495855/student_view0/chapter2/animation__how_osmosis_works.html</a:t>
            </a:r>
            <a:endParaRPr lang="en-AU" sz="1800" dirty="0"/>
          </a:p>
          <a:p>
            <a:r>
              <a:rPr lang="en-AU" sz="1800" dirty="0"/>
              <a:t>Active transport video - </a:t>
            </a:r>
            <a:r>
              <a:rPr lang="en-AU" sz="1800" dirty="0">
                <a:hlinkClick r:id="rId6"/>
              </a:rPr>
              <a:t>https://www.youtube.com/watch?v=JGF6ry0SWPs</a:t>
            </a:r>
            <a:endParaRPr lang="en-AU" sz="1800" dirty="0"/>
          </a:p>
          <a:p>
            <a:r>
              <a:rPr lang="en-AU" sz="1800" dirty="0"/>
              <a:t>Endo and exocytosis video - </a:t>
            </a:r>
            <a:r>
              <a:rPr lang="en-AU" sz="1800" dirty="0">
                <a:hlinkClick r:id="rId7"/>
              </a:rPr>
              <a:t>http://highered.mheducation.com/sites/007337797x/student_view0/chapter5/animation_quiz_-_endocytosis_and_exocytosis.html</a:t>
            </a:r>
            <a:endParaRPr lang="en-AU" sz="1800" dirty="0"/>
          </a:p>
          <a:p>
            <a:endParaRPr lang="en-AU" dirty="0"/>
          </a:p>
        </p:txBody>
      </p:sp>
    </p:spTree>
    <p:extLst>
      <p:ext uri="{BB962C8B-B14F-4D97-AF65-F5344CB8AC3E}">
        <p14:creationId xmlns:p14="http://schemas.microsoft.com/office/powerpoint/2010/main" val="129454455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p:cNvPicPr>
            <a:picLocks noChangeAspect="1" noChangeArrowheads="1"/>
          </p:cNvPicPr>
          <p:nvPr/>
        </p:nvPicPr>
        <p:blipFill>
          <a:blip r:embed="rId5">
            <a:extLst>
              <a:ext uri="{28A0092B-C50C-407E-A947-70E740481C1C}">
                <a14:useLocalDpi xmlns:a14="http://schemas.microsoft.com/office/drawing/2010/main" val="0"/>
              </a:ext>
            </a:extLst>
          </a:blip>
          <a:srcRect b="4539"/>
          <a:stretch>
            <a:fillRect/>
          </a:stretch>
        </p:blipFill>
        <p:spPr bwMode="auto">
          <a:xfrm>
            <a:off x="457200" y="1341438"/>
            <a:ext cx="8305800" cy="528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3" name="Rectangle 3"/>
          <p:cNvSpPr>
            <a:spLocks noChangeArrowheads="1"/>
          </p:cNvSpPr>
          <p:nvPr/>
        </p:nvSpPr>
        <p:spPr bwMode="auto">
          <a:xfrm>
            <a:off x="4087813" y="1587500"/>
            <a:ext cx="2222500" cy="4987925"/>
          </a:xfrm>
          <a:prstGeom prst="rect">
            <a:avLst/>
          </a:prstGeom>
          <a:solidFill>
            <a:srgbClr val="FEF7D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484" name="Rectangle 4"/>
          <p:cNvSpPr>
            <a:spLocks noGrp="1" noChangeArrowheads="1"/>
          </p:cNvSpPr>
          <p:nvPr>
            <p:ph type="title"/>
          </p:nvPr>
        </p:nvSpPr>
        <p:spPr>
          <a:xfrm>
            <a:off x="609600" y="274638"/>
            <a:ext cx="7924800" cy="778098"/>
          </a:xfrm>
        </p:spPr>
        <p:txBody>
          <a:bodyPr/>
          <a:lstStyle/>
          <a:p>
            <a:r>
              <a:rPr lang="en-US" dirty="0"/>
              <a:t>Transport summary</a:t>
            </a:r>
          </a:p>
        </p:txBody>
      </p:sp>
      <p:sp>
        <p:nvSpPr>
          <p:cNvPr id="412677" name="Rectangle 5"/>
          <p:cNvSpPr>
            <a:spLocks noChangeArrowheads="1"/>
          </p:cNvSpPr>
          <p:nvPr/>
        </p:nvSpPr>
        <p:spPr bwMode="auto">
          <a:xfrm>
            <a:off x="4264025" y="1598613"/>
            <a:ext cx="1900238" cy="1066800"/>
          </a:xfrm>
          <a:prstGeom prst="rect">
            <a:avLst/>
          </a:prstGeom>
          <a:solidFill>
            <a:srgbClr val="FEF7D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l"/>
            <a:r>
              <a:rPr lang="en-US" sz="3200" b="1">
                <a:solidFill>
                  <a:srgbClr val="000000"/>
                </a:solidFill>
              </a:rPr>
              <a:t>simple</a:t>
            </a:r>
            <a:br>
              <a:rPr lang="en-US" sz="3200" b="1">
                <a:solidFill>
                  <a:srgbClr val="000000"/>
                </a:solidFill>
              </a:rPr>
            </a:br>
            <a:r>
              <a:rPr lang="en-US" sz="3200" b="1">
                <a:solidFill>
                  <a:srgbClr val="000000"/>
                </a:solidFill>
              </a:rPr>
              <a:t>diffusion</a:t>
            </a:r>
            <a:endParaRPr lang="en-US" sz="3200" b="1">
              <a:solidFill>
                <a:schemeClr val="tx2"/>
              </a:solidFill>
            </a:endParaRPr>
          </a:p>
        </p:txBody>
      </p:sp>
      <p:sp>
        <p:nvSpPr>
          <p:cNvPr id="412678" name="Rectangle 6"/>
          <p:cNvSpPr>
            <a:spLocks noChangeArrowheads="1"/>
          </p:cNvSpPr>
          <p:nvPr/>
        </p:nvSpPr>
        <p:spPr bwMode="auto">
          <a:xfrm>
            <a:off x="4264025" y="2935288"/>
            <a:ext cx="2081213" cy="1066800"/>
          </a:xfrm>
          <a:prstGeom prst="rect">
            <a:avLst/>
          </a:prstGeom>
          <a:solidFill>
            <a:srgbClr val="FEF7D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l"/>
            <a:r>
              <a:rPr lang="en-US" sz="3200" b="1" dirty="0">
                <a:solidFill>
                  <a:srgbClr val="000000"/>
                </a:solidFill>
              </a:rPr>
              <a:t>facilitated</a:t>
            </a:r>
            <a:br>
              <a:rPr lang="en-US" sz="3200" b="1" dirty="0">
                <a:solidFill>
                  <a:srgbClr val="000000"/>
                </a:solidFill>
              </a:rPr>
            </a:br>
            <a:r>
              <a:rPr lang="en-US" sz="3200" b="1" dirty="0">
                <a:solidFill>
                  <a:srgbClr val="000000"/>
                </a:solidFill>
              </a:rPr>
              <a:t>diffusion</a:t>
            </a:r>
            <a:endParaRPr lang="en-US" sz="3200" b="1" dirty="0">
              <a:solidFill>
                <a:schemeClr val="tx2"/>
              </a:solidFill>
            </a:endParaRPr>
          </a:p>
        </p:txBody>
      </p:sp>
      <p:sp>
        <p:nvSpPr>
          <p:cNvPr id="412679" name="Rectangle 7"/>
          <p:cNvSpPr>
            <a:spLocks noChangeArrowheads="1"/>
          </p:cNvSpPr>
          <p:nvPr/>
        </p:nvSpPr>
        <p:spPr bwMode="auto">
          <a:xfrm>
            <a:off x="4264025" y="5276850"/>
            <a:ext cx="1968500" cy="1066800"/>
          </a:xfrm>
          <a:prstGeom prst="rect">
            <a:avLst/>
          </a:prstGeom>
          <a:solidFill>
            <a:srgbClr val="FEF7D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l"/>
            <a:r>
              <a:rPr lang="en-US" sz="3200" b="1">
                <a:solidFill>
                  <a:srgbClr val="000000"/>
                </a:solidFill>
              </a:rPr>
              <a:t>active</a:t>
            </a:r>
            <a:br>
              <a:rPr lang="en-US" sz="3200" b="1">
                <a:solidFill>
                  <a:srgbClr val="000000"/>
                </a:solidFill>
              </a:rPr>
            </a:br>
            <a:r>
              <a:rPr lang="en-US" sz="3200" b="1">
                <a:solidFill>
                  <a:srgbClr val="000000"/>
                </a:solidFill>
              </a:rPr>
              <a:t>transport</a:t>
            </a:r>
            <a:endParaRPr lang="en-US" sz="3200" b="1">
              <a:solidFill>
                <a:schemeClr val="tx2"/>
              </a:solidFill>
            </a:endParaRPr>
          </a:p>
        </p:txBody>
      </p:sp>
      <p:sp>
        <p:nvSpPr>
          <p:cNvPr id="412680" name="AutoShape 8"/>
          <p:cNvSpPr>
            <a:spLocks noChangeArrowheads="1"/>
          </p:cNvSpPr>
          <p:nvPr/>
        </p:nvSpPr>
        <p:spPr bwMode="auto">
          <a:xfrm>
            <a:off x="6084888" y="4962525"/>
            <a:ext cx="1295400" cy="1295400"/>
          </a:xfrm>
          <a:prstGeom prst="irregularSeal1">
            <a:avLst/>
          </a:prstGeom>
          <a:solidFill>
            <a:srgbClr val="ED001D"/>
          </a:solidFill>
          <a:ln w="38100">
            <a:solidFill>
              <a:srgbClr val="FF6404"/>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b="1">
                <a:solidFill>
                  <a:schemeClr val="bg1"/>
                </a:solidFill>
              </a:rPr>
              <a:t>ATP</a:t>
            </a:r>
          </a:p>
        </p:txBody>
      </p:sp>
    </p:spTree>
    <p:extLst>
      <p:ext uri="{BB962C8B-B14F-4D97-AF65-F5344CB8AC3E}">
        <p14:creationId xmlns:p14="http://schemas.microsoft.com/office/powerpoint/2010/main" val="28155443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12677"/>
                                        </p:tgtEl>
                                        <p:attrNameLst>
                                          <p:attrName>style.visibility</p:attrName>
                                        </p:attrNameLst>
                                      </p:cBhvr>
                                      <p:to>
                                        <p:strVal val="visible"/>
                                      </p:to>
                                    </p:set>
                                    <p:animEffect transition="in" filter="wipe(left)">
                                      <p:cBhvr>
                                        <p:cTn id="7" dur="500"/>
                                        <p:tgtEl>
                                          <p:spTgt spid="412677"/>
                                        </p:tgtEl>
                                      </p:cBhvr>
                                    </p:animEffect>
                                  </p:childTnLst>
                                  <p:subTnLst>
                                    <p:audio>
                                      <p:cMediaNode>
                                        <p:cTn display="0" masterRel="sameClick">
                                          <p:stCondLst>
                                            <p:cond evt="begin" delay="0">
                                              <p:tn val="5"/>
                                            </p:cond>
                                          </p:stCondLst>
                                          <p:endCondLst>
                                            <p:cond evt="onStopAudio" delay="0">
                                              <p:tgtEl>
                                                <p:sldTgt/>
                                              </p:tgtEl>
                                            </p:cond>
                                          </p:endCondLst>
                                        </p:cTn>
                                        <p:tgtEl>
                                          <p:sndTgt r:embed="rId3" name="Whoosh"/>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12678"/>
                                        </p:tgtEl>
                                        <p:attrNameLst>
                                          <p:attrName>style.visibility</p:attrName>
                                        </p:attrNameLst>
                                      </p:cBhvr>
                                      <p:to>
                                        <p:strVal val="visible"/>
                                      </p:to>
                                    </p:set>
                                    <p:animEffect transition="in" filter="wipe(left)">
                                      <p:cBhvr>
                                        <p:cTn id="12" dur="500"/>
                                        <p:tgtEl>
                                          <p:spTgt spid="412678"/>
                                        </p:tgtEl>
                                      </p:cBhvr>
                                    </p:animEffect>
                                  </p:childTnLst>
                                  <p:subTnLst>
                                    <p:audio>
                                      <p:cMediaNode>
                                        <p:cTn display="0" masterRel="sameClick">
                                          <p:stCondLst>
                                            <p:cond evt="begin" delay="0">
                                              <p:tn val="10"/>
                                            </p:cond>
                                          </p:stCondLst>
                                          <p:endCondLst>
                                            <p:cond evt="onStopAudio" delay="0">
                                              <p:tgtEl>
                                                <p:sldTgt/>
                                              </p:tgtEl>
                                            </p:cond>
                                          </p:endCondLst>
                                        </p:cTn>
                                        <p:tgtEl>
                                          <p:sndTgt r:embed="rId3" name="Whoosh"/>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12679"/>
                                        </p:tgtEl>
                                        <p:attrNameLst>
                                          <p:attrName>style.visibility</p:attrName>
                                        </p:attrNameLst>
                                      </p:cBhvr>
                                      <p:to>
                                        <p:strVal val="visible"/>
                                      </p:to>
                                    </p:set>
                                    <p:animEffect transition="in" filter="wipe(left)">
                                      <p:cBhvr>
                                        <p:cTn id="17" dur="500"/>
                                        <p:tgtEl>
                                          <p:spTgt spid="412679"/>
                                        </p:tgtEl>
                                      </p:cBhvr>
                                    </p:animEffect>
                                  </p:childTnLst>
                                  <p:subTnLst>
                                    <p:audio>
                                      <p:cMediaNode>
                                        <p:cTn display="0" masterRel="sameClick">
                                          <p:stCondLst>
                                            <p:cond evt="begin" delay="0">
                                              <p:tn val="15"/>
                                            </p:cond>
                                          </p:stCondLst>
                                          <p:endCondLst>
                                            <p:cond evt="onStopAudio" delay="0">
                                              <p:tgtEl>
                                                <p:sldTgt/>
                                              </p:tgtEl>
                                            </p:cond>
                                          </p:endCondLst>
                                        </p:cTn>
                                        <p:tgtEl>
                                          <p:sndTgt r:embed="rId3" name="Whoosh"/>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6" presetClass="entr" presetSubtype="32" fill="hold" grpId="0" nodeType="clickEffect">
                                  <p:stCondLst>
                                    <p:cond delay="0"/>
                                  </p:stCondLst>
                                  <p:childTnLst>
                                    <p:set>
                                      <p:cBhvr>
                                        <p:cTn id="21" dur="1" fill="hold">
                                          <p:stCondLst>
                                            <p:cond delay="0"/>
                                          </p:stCondLst>
                                        </p:cTn>
                                        <p:tgtEl>
                                          <p:spTgt spid="412680"/>
                                        </p:tgtEl>
                                        <p:attrNameLst>
                                          <p:attrName>style.visibility</p:attrName>
                                        </p:attrNameLst>
                                      </p:cBhvr>
                                      <p:to>
                                        <p:strVal val="visible"/>
                                      </p:to>
                                    </p:set>
                                    <p:animEffect transition="in" filter="circle(out)">
                                      <p:cBhvr>
                                        <p:cTn id="22" dur="500"/>
                                        <p:tgtEl>
                                          <p:spTgt spid="412680"/>
                                        </p:tgtEl>
                                      </p:cBhvr>
                                    </p:animEffect>
                                  </p:childTnLst>
                                  <p:subTnLst>
                                    <p:audio>
                                      <p:cMediaNode>
                                        <p:cTn display="0" masterRel="sameClick">
                                          <p:stCondLst>
                                            <p:cond evt="begin" delay="0">
                                              <p:tn val="20"/>
                                            </p:cond>
                                          </p:stCondLst>
                                          <p:endCondLst>
                                            <p:cond evt="onStopAudio" delay="0">
                                              <p:tgtEl>
                                                <p:sldTgt/>
                                              </p:tgtEl>
                                            </p:cond>
                                          </p:endCondLst>
                                        </p:cTn>
                                        <p:tgtEl>
                                          <p:sndTgt r:embed="rId4" name="Explosion"/>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2677" grpId="0" animBg="1" autoUpdateAnimBg="0"/>
      <p:bldP spid="412678" grpId="0" animBg="1" autoUpdateAnimBg="0"/>
      <p:bldP spid="412679" grpId="0" animBg="1" autoUpdateAnimBg="0"/>
      <p:bldP spid="412680" grpId="0" animBg="1"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480" y="404664"/>
            <a:ext cx="7924800" cy="1143000"/>
          </a:xfrm>
        </p:spPr>
        <p:txBody>
          <a:bodyPr/>
          <a:lstStyle/>
          <a:p>
            <a:r>
              <a:rPr lang="en-AU" dirty="0"/>
              <a:t>Success Criteria</a:t>
            </a:r>
          </a:p>
        </p:txBody>
      </p:sp>
      <p:sp>
        <p:nvSpPr>
          <p:cNvPr id="3" name="Content Placeholder 2"/>
          <p:cNvSpPr>
            <a:spLocks noGrp="1"/>
          </p:cNvSpPr>
          <p:nvPr>
            <p:ph sz="quarter" idx="13"/>
          </p:nvPr>
        </p:nvSpPr>
        <p:spPr/>
        <p:txBody>
          <a:bodyPr/>
          <a:lstStyle/>
          <a:p>
            <a:r>
              <a:rPr lang="en-AU" sz="2400" dirty="0"/>
              <a:t>Describe the structure and function of the cell membrane.</a:t>
            </a:r>
          </a:p>
          <a:p>
            <a:r>
              <a:rPr lang="en-AU" sz="2400" dirty="0"/>
              <a:t>Distinguish between various methods of material transport across semi-permeable membranes.</a:t>
            </a:r>
          </a:p>
          <a:p>
            <a:pPr marL="34290" indent="0">
              <a:buNone/>
            </a:pPr>
            <a:endParaRPr lang="en-AU" dirty="0"/>
          </a:p>
          <a:p>
            <a:endParaRPr lang="en-AU" dirty="0"/>
          </a:p>
        </p:txBody>
      </p:sp>
      <p:pic>
        <p:nvPicPr>
          <p:cNvPr id="4" name="Picture 3">
            <a:extLst>
              <a:ext uri="{FF2B5EF4-FFF2-40B4-BE49-F238E27FC236}">
                <a16:creationId xmlns:a16="http://schemas.microsoft.com/office/drawing/2014/main" id="{8D7F63BC-DB8E-49F4-812B-019F7830690B}"/>
              </a:ext>
            </a:extLst>
          </p:cNvPr>
          <p:cNvPicPr>
            <a:picLocks noChangeAspect="1"/>
          </p:cNvPicPr>
          <p:nvPr/>
        </p:nvPicPr>
        <p:blipFill>
          <a:blip r:embed="rId2"/>
          <a:stretch>
            <a:fillRect/>
          </a:stretch>
        </p:blipFill>
        <p:spPr>
          <a:xfrm>
            <a:off x="2806371" y="3635872"/>
            <a:ext cx="3531258" cy="1636776"/>
          </a:xfrm>
          <a:prstGeom prst="rect">
            <a:avLst/>
          </a:prstGeom>
        </p:spPr>
      </p:pic>
    </p:spTree>
    <p:extLst>
      <p:ext uri="{BB962C8B-B14F-4D97-AF65-F5344CB8AC3E}">
        <p14:creationId xmlns:p14="http://schemas.microsoft.com/office/powerpoint/2010/main" val="258160657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Exam review question</a:t>
            </a:r>
          </a:p>
        </p:txBody>
      </p:sp>
      <p:pic>
        <p:nvPicPr>
          <p:cNvPr id="4" name="Content Placeholder 3"/>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1439573" y="3381550"/>
            <a:ext cx="5957716" cy="3071786"/>
          </a:xfr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03648" y="1547583"/>
            <a:ext cx="6480720" cy="1704022"/>
          </a:xfrm>
          <a:prstGeom prst="rect">
            <a:avLst/>
          </a:prstGeom>
        </p:spPr>
      </p:pic>
    </p:spTree>
    <p:extLst>
      <p:ext uri="{BB962C8B-B14F-4D97-AF65-F5344CB8AC3E}">
        <p14:creationId xmlns:p14="http://schemas.microsoft.com/office/powerpoint/2010/main" val="16272009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Moodle &amp; Textbook Work</a:t>
            </a:r>
          </a:p>
        </p:txBody>
      </p:sp>
      <p:sp>
        <p:nvSpPr>
          <p:cNvPr id="6" name="Content Placeholder 2"/>
          <p:cNvSpPr txBox="1">
            <a:spLocks/>
          </p:cNvSpPr>
          <p:nvPr/>
        </p:nvSpPr>
        <p:spPr>
          <a:xfrm>
            <a:off x="3059832" y="2107175"/>
            <a:ext cx="5461800" cy="2331621"/>
          </a:xfrm>
          <a:prstGeom prst="rect">
            <a:avLst/>
          </a:prstGeom>
        </p:spPr>
        <p:txBody>
          <a:bodyPr vert="horz" lIns="91440" tIns="45720" rIns="91440" bIns="45720" rtlCol="0">
            <a:normAutofit/>
          </a:bodyPr>
          <a:lstStyle>
            <a:lvl1pPr marL="171450" indent="-137160" algn="l" defTabSz="685800" rtl="0" eaLnBrk="1" latinLnBrk="0" hangingPunct="1">
              <a:lnSpc>
                <a:spcPct val="90000"/>
              </a:lnSpc>
              <a:spcBef>
                <a:spcPts val="1000"/>
              </a:spcBef>
              <a:buClr>
                <a:schemeClr val="accent1"/>
              </a:buClr>
              <a:buSzPct val="80000"/>
              <a:buFont typeface="Corbel" pitchFamily="34" charset="0"/>
              <a:buChar char="•"/>
              <a:defRPr sz="2000" kern="1200">
                <a:solidFill>
                  <a:schemeClr val="accent1"/>
                </a:solidFill>
                <a:latin typeface="+mn-lt"/>
                <a:ea typeface="+mn-ea"/>
                <a:cs typeface="+mn-cs"/>
              </a:defRPr>
            </a:lvl1pPr>
            <a:lvl2pPr marL="34290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800" kern="1200">
                <a:solidFill>
                  <a:schemeClr val="accent1"/>
                </a:solidFill>
                <a:latin typeface="+mn-lt"/>
                <a:ea typeface="+mn-ea"/>
                <a:cs typeface="+mn-cs"/>
              </a:defRPr>
            </a:lvl2pPr>
            <a:lvl3pPr marL="54864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600" kern="1200">
                <a:solidFill>
                  <a:schemeClr val="accent1"/>
                </a:solidFill>
                <a:latin typeface="+mn-lt"/>
                <a:ea typeface="+mn-ea"/>
                <a:cs typeface="+mn-cs"/>
              </a:defRPr>
            </a:lvl3pPr>
            <a:lvl4pPr marL="75438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4pPr>
            <a:lvl5pPr marL="92012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5pPr>
            <a:lvl6pPr marL="11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6pPr>
            <a:lvl7pPr marL="13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7pPr>
            <a:lvl8pPr marL="15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8pPr>
            <a:lvl9pPr marL="17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9pPr>
          </a:lstStyle>
          <a:p>
            <a:pPr>
              <a:spcBef>
                <a:spcPts val="0"/>
              </a:spcBef>
              <a:spcAft>
                <a:spcPts val="0"/>
              </a:spcAft>
            </a:pPr>
            <a:r>
              <a:rPr lang="en-AU" dirty="0">
                <a:latin typeface="Arial" panose="020B0604020202020204" pitchFamily="34" charset="0"/>
                <a:cs typeface="Arial" panose="020B0604020202020204" pitchFamily="34" charset="0"/>
              </a:rPr>
              <a:t>Chapter 9 pages 275-295 – check Moodle for questions sets.</a:t>
            </a:r>
          </a:p>
          <a:p>
            <a:pPr>
              <a:spcBef>
                <a:spcPts val="0"/>
              </a:spcBef>
              <a:spcAft>
                <a:spcPts val="0"/>
              </a:spcAft>
            </a:pPr>
            <a:r>
              <a:rPr lang="en-AU" dirty="0">
                <a:latin typeface="Arial" panose="020B0604020202020204" pitchFamily="34" charset="0"/>
                <a:cs typeface="Arial" panose="020B0604020202020204" pitchFamily="34" charset="0"/>
              </a:rPr>
              <a:t>Moodle workbook.</a:t>
            </a:r>
          </a:p>
          <a:p>
            <a:pPr>
              <a:spcBef>
                <a:spcPts val="0"/>
              </a:spcBef>
              <a:spcAft>
                <a:spcPts val="0"/>
              </a:spcAft>
            </a:pPr>
            <a:r>
              <a:rPr lang="en-AU" dirty="0">
                <a:latin typeface="Arial" panose="020B0604020202020204" pitchFamily="34" charset="0"/>
                <a:cs typeface="Arial" panose="020B0604020202020204" pitchFamily="34" charset="0"/>
              </a:rPr>
              <a:t>WACE study guide – Chapter 4.2 pages 99 -102.</a:t>
            </a:r>
          </a:p>
          <a:p>
            <a:pPr>
              <a:spcBef>
                <a:spcPts val="0"/>
              </a:spcBef>
              <a:spcAft>
                <a:spcPts val="0"/>
              </a:spcAft>
            </a:pPr>
            <a:endParaRPr lang="en-AU" dirty="0">
              <a:latin typeface="Arial" panose="020B0604020202020204" pitchFamily="34" charset="0"/>
              <a:cs typeface="Arial" panose="020B0604020202020204" pitchFamily="34" charset="0"/>
            </a:endParaRPr>
          </a:p>
          <a:p>
            <a:pPr marL="34290" indent="0">
              <a:spcBef>
                <a:spcPts val="0"/>
              </a:spcBef>
              <a:spcAft>
                <a:spcPts val="0"/>
              </a:spcAft>
              <a:buNone/>
            </a:pPr>
            <a:r>
              <a:rPr lang="en-AU" dirty="0">
                <a:latin typeface="Arial" panose="020B0604020202020204" pitchFamily="34" charset="0"/>
                <a:cs typeface="Arial" panose="020B0604020202020204" pitchFamily="34" charset="0"/>
              </a:rPr>
              <a:t>MARK YOUR WORK!</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5576" y="1965960"/>
            <a:ext cx="1866900" cy="2447925"/>
          </a:xfrm>
          <a:prstGeom prst="rect">
            <a:avLst/>
          </a:prstGeom>
        </p:spPr>
      </p:pic>
    </p:spTree>
    <p:extLst>
      <p:ext uri="{BB962C8B-B14F-4D97-AF65-F5344CB8AC3E}">
        <p14:creationId xmlns:p14="http://schemas.microsoft.com/office/powerpoint/2010/main" val="152678623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Student Feedback</a:t>
            </a:r>
            <a:endParaRPr lang="en-AU" dirty="0"/>
          </a:p>
        </p:txBody>
      </p:sp>
      <p:sp>
        <p:nvSpPr>
          <p:cNvPr id="3" name="Content Placeholder 2"/>
          <p:cNvSpPr>
            <a:spLocks noGrp="1"/>
          </p:cNvSpPr>
          <p:nvPr>
            <p:ph sz="quarter" idx="1"/>
          </p:nvPr>
        </p:nvSpPr>
        <p:spPr/>
        <p:txBody>
          <a:bodyPr/>
          <a:lstStyle/>
          <a:p>
            <a:r>
              <a:rPr lang="en-AU" dirty="0"/>
              <a:t>What I learnt today…..</a:t>
            </a:r>
          </a:p>
          <a:p>
            <a:endParaRPr lang="en-AU" dirty="0"/>
          </a:p>
          <a:p>
            <a:endParaRPr lang="en-AU" dirty="0"/>
          </a:p>
          <a:p>
            <a:endParaRPr lang="en-AU" dirty="0"/>
          </a:p>
          <a:p>
            <a:endParaRPr lang="en-AU" dirty="0"/>
          </a:p>
          <a:p>
            <a:r>
              <a:rPr lang="en-AU" dirty="0"/>
              <a:t>What I need to revise….</a:t>
            </a:r>
          </a:p>
          <a:p>
            <a:endParaRPr lang="en-AU" dirty="0"/>
          </a:p>
        </p:txBody>
      </p:sp>
    </p:spTree>
    <p:extLst>
      <p:ext uri="{BB962C8B-B14F-4D97-AF65-F5344CB8AC3E}">
        <p14:creationId xmlns:p14="http://schemas.microsoft.com/office/powerpoint/2010/main" val="4139151786"/>
      </p:ext>
    </p:extLst>
  </p:cSld>
  <p:clrMapOvr>
    <a:masterClrMapping/>
  </p:clrMapOvr>
</p:sld>
</file>

<file path=ppt/theme/theme1.xml><?xml version="1.0" encoding="utf-8"?>
<a:theme xmlns:a="http://schemas.openxmlformats.org/drawingml/2006/main" name="Basis">
  <a:themeElements>
    <a:clrScheme name="Marquee">
      <a:dk1>
        <a:srgbClr val="000000"/>
      </a:dk1>
      <a:lt1>
        <a:sysClr val="window" lastClr="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D9D01AC2-EE7D-4E49-99EE-8E62E4E7E8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Basis</Template>
  <TotalTime>927</TotalTime>
  <Words>3218</Words>
  <Application>Microsoft Office PowerPoint</Application>
  <PresentationFormat>On-screen Show (4:3)</PresentationFormat>
  <Paragraphs>408</Paragraphs>
  <Slides>50</Slides>
  <Notes>25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50</vt:i4>
      </vt:variant>
    </vt:vector>
  </HeadingPairs>
  <TitlesOfParts>
    <vt:vector size="55" baseType="lpstr">
      <vt:lpstr>Arial</vt:lpstr>
      <vt:lpstr>Calibri</vt:lpstr>
      <vt:lpstr>Corbel</vt:lpstr>
      <vt:lpstr>Times</vt:lpstr>
      <vt:lpstr>Basis</vt:lpstr>
      <vt:lpstr>11ATAR Biology  Week 21 – Exchange of Materials</vt:lpstr>
      <vt:lpstr>Year 11 Biology Work Schedule</vt:lpstr>
      <vt:lpstr>Review from last term</vt:lpstr>
      <vt:lpstr>Plant and Animal cells</vt:lpstr>
      <vt:lpstr>Plant and Animal Cell Differences</vt:lpstr>
      <vt:lpstr>Learning Intentions</vt:lpstr>
      <vt:lpstr>Internal Environment of Cells</vt:lpstr>
      <vt:lpstr>Internal Environment of Cells </vt:lpstr>
      <vt:lpstr>Plasma membrane</vt:lpstr>
      <vt:lpstr>Lipids of the plasma membrane</vt:lpstr>
      <vt:lpstr>Plasma membrane</vt:lpstr>
      <vt:lpstr>Semi-permeable membrane</vt:lpstr>
      <vt:lpstr>Proteins of the Plasma membrane</vt:lpstr>
      <vt:lpstr>Cell Transport</vt:lpstr>
      <vt:lpstr>Diffusion</vt:lpstr>
      <vt:lpstr>Diffusion</vt:lpstr>
      <vt:lpstr>Diffusion Across Membranes</vt:lpstr>
      <vt:lpstr>Concentration gradient</vt:lpstr>
      <vt:lpstr>PowerPoint Presentation</vt:lpstr>
      <vt:lpstr>Simple Diffusion - The movement of molecules along a concentration gradient without the assistance of membrane proteins. </vt:lpstr>
      <vt:lpstr>Osmosis</vt:lpstr>
      <vt:lpstr>Osmosis</vt:lpstr>
      <vt:lpstr>Osmosis</vt:lpstr>
      <vt:lpstr>Keeping the Water Balance</vt:lpstr>
      <vt:lpstr>Osmosis in animal cells</vt:lpstr>
      <vt:lpstr>Osmosis in plants</vt:lpstr>
      <vt:lpstr>Osmosis</vt:lpstr>
      <vt:lpstr>Osmosis question</vt:lpstr>
      <vt:lpstr>Facilitated Diffusion</vt:lpstr>
      <vt:lpstr>Simple vs. facilitated diffusion</vt:lpstr>
      <vt:lpstr>Facilitated diffusion – carrier protein</vt:lpstr>
      <vt:lpstr>Facilitated diffusion – channel protein</vt:lpstr>
      <vt:lpstr>Active Transport</vt:lpstr>
      <vt:lpstr>Active Transport</vt:lpstr>
      <vt:lpstr>Sodium-Potassium Pumps</vt:lpstr>
      <vt:lpstr>Proton Pumps</vt:lpstr>
      <vt:lpstr>Co-Transport</vt:lpstr>
      <vt:lpstr>Cytosis</vt:lpstr>
      <vt:lpstr>Endocytosis</vt:lpstr>
      <vt:lpstr>Endocytosis</vt:lpstr>
      <vt:lpstr>Phagocytosis</vt:lpstr>
      <vt:lpstr>Pinocytosis</vt:lpstr>
      <vt:lpstr>Exocytosis</vt:lpstr>
      <vt:lpstr>Exocytosis</vt:lpstr>
      <vt:lpstr>Transport videos</vt:lpstr>
      <vt:lpstr>Transport summary</vt:lpstr>
      <vt:lpstr>Success Criteria</vt:lpstr>
      <vt:lpstr>Exam review question</vt:lpstr>
      <vt:lpstr>Moodle &amp; Textbook Work</vt:lpstr>
      <vt:lpstr>Student Feedback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Cell Membrane and transport</dc:title>
  <dc:creator>HARDINGHAM Gillian</dc:creator>
  <cp:lastModifiedBy>HARTLAND Robbert [SIDE - Sch of Isol &amp; Dist Edu]</cp:lastModifiedBy>
  <cp:revision>59</cp:revision>
  <dcterms:created xsi:type="dcterms:W3CDTF">2015-07-28T11:19:50Z</dcterms:created>
  <dcterms:modified xsi:type="dcterms:W3CDTF">2023-07-24T01:14:08Z</dcterms:modified>
</cp:coreProperties>
</file>