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7" r:id="rId1"/>
  </p:sldMasterIdLst>
  <p:notesMasterIdLst>
    <p:notesMasterId r:id="rId47"/>
  </p:notesMasterIdLst>
  <p:sldIdLst>
    <p:sldId id="258" r:id="rId2"/>
    <p:sldId id="378" r:id="rId3"/>
    <p:sldId id="379" r:id="rId4"/>
    <p:sldId id="385" r:id="rId5"/>
    <p:sldId id="386" r:id="rId6"/>
    <p:sldId id="390" r:id="rId7"/>
    <p:sldId id="389" r:id="rId8"/>
    <p:sldId id="384" r:id="rId9"/>
    <p:sldId id="391" r:id="rId10"/>
    <p:sldId id="393" r:id="rId11"/>
    <p:sldId id="317" r:id="rId12"/>
    <p:sldId id="339" r:id="rId13"/>
    <p:sldId id="318" r:id="rId14"/>
    <p:sldId id="319" r:id="rId15"/>
    <p:sldId id="340" r:id="rId16"/>
    <p:sldId id="342" r:id="rId17"/>
    <p:sldId id="324" r:id="rId18"/>
    <p:sldId id="345" r:id="rId19"/>
    <p:sldId id="325" r:id="rId20"/>
    <p:sldId id="392" r:id="rId21"/>
    <p:sldId id="400" r:id="rId22"/>
    <p:sldId id="350" r:id="rId23"/>
    <p:sldId id="346" r:id="rId24"/>
    <p:sldId id="327" r:id="rId25"/>
    <p:sldId id="347" r:id="rId26"/>
    <p:sldId id="348" r:id="rId27"/>
    <p:sldId id="349" r:id="rId28"/>
    <p:sldId id="329" r:id="rId29"/>
    <p:sldId id="358" r:id="rId30"/>
    <p:sldId id="382" r:id="rId31"/>
    <p:sldId id="330" r:id="rId32"/>
    <p:sldId id="334" r:id="rId33"/>
    <p:sldId id="352" r:id="rId34"/>
    <p:sldId id="335" r:id="rId35"/>
    <p:sldId id="354" r:id="rId36"/>
    <p:sldId id="356" r:id="rId37"/>
    <p:sldId id="395" r:id="rId38"/>
    <p:sldId id="355" r:id="rId39"/>
    <p:sldId id="337" r:id="rId40"/>
    <p:sldId id="357" r:id="rId41"/>
    <p:sldId id="338" r:id="rId42"/>
    <p:sldId id="396" r:id="rId43"/>
    <p:sldId id="376" r:id="rId44"/>
    <p:sldId id="383" r:id="rId45"/>
    <p:sldId id="380" r:id="rId46"/>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575" autoAdjust="0"/>
  </p:normalViewPr>
  <p:slideViewPr>
    <p:cSldViewPr>
      <p:cViewPr varScale="1">
        <p:scale>
          <a:sx n="101" d="100"/>
          <a:sy n="101" d="100"/>
        </p:scale>
        <p:origin x="110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C4949082-3C60-4671-AC9F-2D5C69920E91}" type="datetimeFigureOut">
              <a:rPr lang="en-AU" smtClean="0"/>
              <a:t>8/09/2023</a:t>
            </a:fld>
            <a:endParaRPr lang="en-AU"/>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28A4B2C2-1C69-48D8-B297-54FD912F9EDC}" type="slidenum">
              <a:rPr lang="en-AU" smtClean="0"/>
              <a:t>‹#›</a:t>
            </a:fld>
            <a:endParaRPr lang="en-AU"/>
          </a:p>
        </p:txBody>
      </p:sp>
    </p:spTree>
    <p:extLst>
      <p:ext uri="{BB962C8B-B14F-4D97-AF65-F5344CB8AC3E}">
        <p14:creationId xmlns:p14="http://schemas.microsoft.com/office/powerpoint/2010/main" val="2549073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All the needs of the organism (e.g. nutrients, energy and water) and functions (e.g. intake of nutrients and energy, processing of nutrients to release energy, and expulsion of waste products) take place within the boundary of the cell.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Oxygen, nutrients and carbon dioxide can diffuse directly across the plasma membrane in amounts sufficient to meet the needs of the entire cell.</a:t>
            </a:r>
            <a:endParaRPr lang="en-US" dirty="0"/>
          </a:p>
          <a:p>
            <a:endParaRPr lang="en-AU" dirty="0"/>
          </a:p>
        </p:txBody>
      </p:sp>
      <p:sp>
        <p:nvSpPr>
          <p:cNvPr id="4" name="Slide Number Placeholder 3"/>
          <p:cNvSpPr>
            <a:spLocks noGrp="1"/>
          </p:cNvSpPr>
          <p:nvPr>
            <p:ph type="sldNum" sz="quarter" idx="10"/>
          </p:nvPr>
        </p:nvSpPr>
        <p:spPr/>
        <p:txBody>
          <a:bodyPr/>
          <a:lstStyle/>
          <a:p>
            <a:fld id="{28A4B2C2-1C69-48D8-B297-54FD912F9EDC}" type="slidenum">
              <a:rPr lang="en-AU" smtClean="0"/>
              <a:t>4</a:t>
            </a:fld>
            <a:endParaRPr lang="en-AU"/>
          </a:p>
        </p:txBody>
      </p:sp>
    </p:spTree>
    <p:extLst>
      <p:ext uri="{BB962C8B-B14F-4D97-AF65-F5344CB8AC3E}">
        <p14:creationId xmlns:p14="http://schemas.microsoft.com/office/powerpoint/2010/main" val="1611594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Meristematic cells undergo</a:t>
            </a:r>
            <a:r>
              <a:rPr lang="en-AU" baseline="0" dirty="0"/>
              <a:t> mitosis allowing the plant to grow and are the only places in plants where cells divide. They are found at the tips of roots and shoots and in a ring around the inside of stems and branches.  </a:t>
            </a:r>
            <a:endParaRPr lang="en-AU" dirty="0"/>
          </a:p>
        </p:txBody>
      </p:sp>
      <p:sp>
        <p:nvSpPr>
          <p:cNvPr id="4" name="Slide Number Placeholder 3"/>
          <p:cNvSpPr>
            <a:spLocks noGrp="1"/>
          </p:cNvSpPr>
          <p:nvPr>
            <p:ph type="sldNum" sz="quarter" idx="10"/>
          </p:nvPr>
        </p:nvSpPr>
        <p:spPr/>
        <p:txBody>
          <a:bodyPr/>
          <a:lstStyle/>
          <a:p>
            <a:fld id="{28A4B2C2-1C69-48D8-B297-54FD912F9EDC}" type="slidenum">
              <a:rPr lang="en-AU" smtClean="0"/>
              <a:t>6</a:t>
            </a:fld>
            <a:endParaRPr lang="en-AU"/>
          </a:p>
        </p:txBody>
      </p:sp>
    </p:spTree>
    <p:extLst>
      <p:ext uri="{BB962C8B-B14F-4D97-AF65-F5344CB8AC3E}">
        <p14:creationId xmlns:p14="http://schemas.microsoft.com/office/powerpoint/2010/main" val="726333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00"/>
                </a:solidFill>
                <a:latin typeface="Lucida Grande CE" pitchFamily="1" charset="-18"/>
                <a:ea typeface="ヒラギノ角ゴ ProN W3" pitchFamily="1" charset="-128"/>
              </a:defRPr>
            </a:lvl1pPr>
            <a:lvl2pPr marL="37931725" indent="-37474525" eaLnBrk="0" hangingPunct="0">
              <a:defRPr sz="2400">
                <a:solidFill>
                  <a:srgbClr val="000000"/>
                </a:solidFill>
                <a:latin typeface="Lucida Grande CE" pitchFamily="1" charset="-18"/>
                <a:ea typeface="ヒラギノ角ゴ ProN W3" pitchFamily="1" charset="-128"/>
              </a:defRPr>
            </a:lvl2pPr>
            <a:lvl3pPr eaLnBrk="0" hangingPunct="0">
              <a:defRPr sz="2400">
                <a:solidFill>
                  <a:srgbClr val="000000"/>
                </a:solidFill>
                <a:latin typeface="Lucida Grande CE" pitchFamily="1" charset="-18"/>
                <a:ea typeface="ヒラギノ角ゴ ProN W3" pitchFamily="1" charset="-128"/>
              </a:defRPr>
            </a:lvl3pPr>
            <a:lvl4pPr eaLnBrk="0" hangingPunct="0">
              <a:defRPr sz="2400">
                <a:solidFill>
                  <a:srgbClr val="000000"/>
                </a:solidFill>
                <a:latin typeface="Lucida Grande CE" pitchFamily="1" charset="-18"/>
                <a:ea typeface="ヒラギノ角ゴ ProN W3" pitchFamily="1" charset="-128"/>
              </a:defRPr>
            </a:lvl4pPr>
            <a:lvl5pPr eaLnBrk="0" hangingPunct="0">
              <a:defRPr sz="2400">
                <a:solidFill>
                  <a:srgbClr val="000000"/>
                </a:solidFill>
                <a:latin typeface="Lucida Grande CE" pitchFamily="1" charset="-18"/>
                <a:ea typeface="ヒラギノ角ゴ ProN W3" pitchFamily="1" charset="-128"/>
              </a:defRPr>
            </a:lvl5pPr>
            <a:lvl6pPr marL="4572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6pPr>
            <a:lvl7pPr marL="9144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7pPr>
            <a:lvl8pPr marL="13716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8pPr>
            <a:lvl9pPr marL="18288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9pPr>
          </a:lstStyle>
          <a:p>
            <a:pPr eaLnBrk="1" hangingPunct="1"/>
            <a:fld id="{8BF76606-18B7-4623-BEF4-BF11C5EB6911}" type="slidenum">
              <a:rPr lang="en-US" sz="1200">
                <a:solidFill>
                  <a:srgbClr val="382F28"/>
                </a:solidFill>
                <a:latin typeface="Hoefler Text" pitchFamily="1" charset="0"/>
                <a:ea typeface="ヒラギノ角ゴ ProN W6" pitchFamily="1" charset="-128"/>
              </a:rPr>
              <a:pPr eaLnBrk="1" hangingPunct="1"/>
              <a:t>7</a:t>
            </a:fld>
            <a:endParaRPr lang="en-US" sz="1200">
              <a:solidFill>
                <a:srgbClr val="382F28"/>
              </a:solidFill>
              <a:latin typeface="Hoefler Text" pitchFamily="1" charset="0"/>
              <a:ea typeface="ヒラギノ角ゴ ProN W6" pitchFamily="1" charset="-128"/>
            </a:endParaRPr>
          </a:p>
        </p:txBody>
      </p:sp>
      <p:sp>
        <p:nvSpPr>
          <p:cNvPr id="241667" name="Rectangle 2"/>
          <p:cNvSpPr>
            <a:spLocks noGrp="1" noRot="1" noChangeAspect="1" noChangeArrowheads="1" noTextEdit="1"/>
          </p:cNvSpPr>
          <p:nvPr>
            <p:ph type="sldImg"/>
          </p:nvPr>
        </p:nvSpPr>
        <p:spPr>
          <a:ln/>
        </p:spPr>
      </p:sp>
      <p:sp>
        <p:nvSpPr>
          <p:cNvPr id="226307" name="Rectangle 3"/>
          <p:cNvSpPr>
            <a:spLocks noGrp="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80589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Parenchyma: </a:t>
            </a:r>
            <a:r>
              <a:rPr lang="en-AU" dirty="0"/>
              <a:t>long and thin-walled cells that make up the cortex</a:t>
            </a:r>
            <a:r>
              <a:rPr lang="en-AU" baseline="0" dirty="0"/>
              <a:t> of the plant.</a:t>
            </a:r>
          </a:p>
          <a:p>
            <a:r>
              <a:rPr lang="en-AU" b="1" dirty="0"/>
              <a:t>Collenchyma:</a:t>
            </a:r>
            <a:r>
              <a:rPr lang="en-AU" b="1" baseline="0" dirty="0"/>
              <a:t> </a:t>
            </a:r>
            <a:r>
              <a:rPr lang="en-AU" b="0" dirty="0"/>
              <a:t>elongated cells with irregularly thick cell walls that provide support and structure. Their thick cell walls are composed of the compounds cellulose and pectin. Often found under the epidermis, or the outer layer of cells in young stems and in leaf veins.</a:t>
            </a:r>
          </a:p>
          <a:p>
            <a:r>
              <a:rPr lang="en-AU" b="1" dirty="0"/>
              <a:t>Sclerenchyma</a:t>
            </a:r>
            <a:r>
              <a:rPr lang="en-AU" b="0" dirty="0"/>
              <a:t>:</a:t>
            </a:r>
            <a:r>
              <a:rPr lang="en-AU" b="0" baseline="0" dirty="0"/>
              <a:t> </a:t>
            </a:r>
            <a:r>
              <a:rPr lang="en-AU" u="none" dirty="0">
                <a:solidFill>
                  <a:schemeClr val="tx1"/>
                </a:solidFill>
              </a:rPr>
              <a:t>support tissue</a:t>
            </a:r>
            <a:r>
              <a:rPr lang="en-AU" u="none" baseline="0" dirty="0">
                <a:solidFill>
                  <a:schemeClr val="tx1"/>
                </a:solidFill>
              </a:rPr>
              <a:t> </a:t>
            </a:r>
            <a:r>
              <a:rPr lang="en-AU" u="none" dirty="0">
                <a:solidFill>
                  <a:schemeClr val="tx1"/>
                </a:solidFill>
              </a:rPr>
              <a:t>composed of various kinds of hard woody cells. Mature sclerenchyma cells are dead cells that have heavily thickened secondary walls - are rigid and non-stretchable and are usually found in non-growing regions of plant bodies, such as the bark or mature stems. </a:t>
            </a:r>
          </a:p>
        </p:txBody>
      </p:sp>
      <p:sp>
        <p:nvSpPr>
          <p:cNvPr id="4" name="Slide Number Placeholder 3"/>
          <p:cNvSpPr>
            <a:spLocks noGrp="1"/>
          </p:cNvSpPr>
          <p:nvPr>
            <p:ph type="sldNum" sz="quarter" idx="10"/>
          </p:nvPr>
        </p:nvSpPr>
        <p:spPr/>
        <p:txBody>
          <a:bodyPr/>
          <a:lstStyle/>
          <a:p>
            <a:fld id="{28A4B2C2-1C69-48D8-B297-54FD912F9EDC}" type="slidenum">
              <a:rPr lang="en-AU" smtClean="0"/>
              <a:t>9</a:t>
            </a:fld>
            <a:endParaRPr lang="en-AU"/>
          </a:p>
        </p:txBody>
      </p:sp>
    </p:spTree>
    <p:extLst>
      <p:ext uri="{BB962C8B-B14F-4D97-AF65-F5344CB8AC3E}">
        <p14:creationId xmlns:p14="http://schemas.microsoft.com/office/powerpoint/2010/main" val="2332247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11</a:t>
            </a:fld>
            <a:endParaRPr lang="en-US"/>
          </a:p>
        </p:txBody>
      </p:sp>
    </p:spTree>
    <p:extLst>
      <p:ext uri="{BB962C8B-B14F-4D97-AF65-F5344CB8AC3E}">
        <p14:creationId xmlns:p14="http://schemas.microsoft.com/office/powerpoint/2010/main" val="1726124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13</a:t>
            </a:fld>
            <a:endParaRPr lang="en-US"/>
          </a:p>
        </p:txBody>
      </p:sp>
    </p:spTree>
    <p:extLst>
      <p:ext uri="{BB962C8B-B14F-4D97-AF65-F5344CB8AC3E}">
        <p14:creationId xmlns:p14="http://schemas.microsoft.com/office/powerpoint/2010/main" val="792348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14</a:t>
            </a:fld>
            <a:endParaRPr lang="en-US"/>
          </a:p>
        </p:txBody>
      </p:sp>
    </p:spTree>
    <p:extLst>
      <p:ext uri="{BB962C8B-B14F-4D97-AF65-F5344CB8AC3E}">
        <p14:creationId xmlns:p14="http://schemas.microsoft.com/office/powerpoint/2010/main" val="3440499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When they die they leave behind hollow cells that are supported by the remaining cell walls.</a:t>
            </a:r>
          </a:p>
          <a:p>
            <a:r>
              <a:rPr lang="en-AU" dirty="0"/>
              <a:t>Forms</a:t>
            </a:r>
            <a:r>
              <a:rPr lang="en-AU" baseline="0" dirty="0"/>
              <a:t> the woody part of many plant stems. </a:t>
            </a:r>
            <a:endParaRPr lang="en-AU" dirty="0"/>
          </a:p>
        </p:txBody>
      </p:sp>
      <p:sp>
        <p:nvSpPr>
          <p:cNvPr id="4" name="Slide Number Placeholder 3"/>
          <p:cNvSpPr>
            <a:spLocks noGrp="1"/>
          </p:cNvSpPr>
          <p:nvPr>
            <p:ph type="sldNum" sz="quarter" idx="10"/>
          </p:nvPr>
        </p:nvSpPr>
        <p:spPr/>
        <p:txBody>
          <a:bodyPr/>
          <a:lstStyle/>
          <a:p>
            <a:fld id="{28A4B2C2-1C69-48D8-B297-54FD912F9EDC}" type="slidenum">
              <a:rPr lang="en-AU" smtClean="0"/>
              <a:t>16</a:t>
            </a:fld>
            <a:endParaRPr lang="en-AU"/>
          </a:p>
        </p:txBody>
      </p:sp>
    </p:spTree>
    <p:extLst>
      <p:ext uri="{BB962C8B-B14F-4D97-AF65-F5344CB8AC3E}">
        <p14:creationId xmlns:p14="http://schemas.microsoft.com/office/powerpoint/2010/main" val="4188427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17</a:t>
            </a:fld>
            <a:endParaRPr lang="en-US"/>
          </a:p>
        </p:txBody>
      </p:sp>
    </p:spTree>
    <p:extLst>
      <p:ext uri="{BB962C8B-B14F-4D97-AF65-F5344CB8AC3E}">
        <p14:creationId xmlns:p14="http://schemas.microsoft.com/office/powerpoint/2010/main" val="3065572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19</a:t>
            </a:fld>
            <a:endParaRPr lang="en-US"/>
          </a:p>
        </p:txBody>
      </p:sp>
    </p:spTree>
    <p:extLst>
      <p:ext uri="{BB962C8B-B14F-4D97-AF65-F5344CB8AC3E}">
        <p14:creationId xmlns:p14="http://schemas.microsoft.com/office/powerpoint/2010/main" val="10129510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 structure of the specialised tissues and their arrangement in the stem makes it possible for water and mineral ions to move upwards, sometimes to great heights. </a:t>
            </a:r>
          </a:p>
          <a:p>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20</a:t>
            </a:fld>
            <a:endParaRPr lang="en-US"/>
          </a:p>
        </p:txBody>
      </p:sp>
    </p:spTree>
    <p:extLst>
      <p:ext uri="{BB962C8B-B14F-4D97-AF65-F5344CB8AC3E}">
        <p14:creationId xmlns:p14="http://schemas.microsoft.com/office/powerpoint/2010/main" val="4107344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xylem tracheary elements consist of cells known as tracheids and vessel members:</a:t>
            </a:r>
          </a:p>
          <a:p>
            <a:pPr marL="171450" indent="-171450">
              <a:buFontTx/>
              <a:buChar char="-"/>
            </a:pPr>
            <a:r>
              <a:rPr lang="en-AU" dirty="0"/>
              <a:t>both are typically narrow, hollow, and elongated. </a:t>
            </a:r>
          </a:p>
          <a:p>
            <a:pPr marL="0" indent="0">
              <a:buFontTx/>
              <a:buNone/>
            </a:pPr>
            <a:r>
              <a:rPr lang="en-AU" dirty="0"/>
              <a:t>Tracheids are less specialized than the vessel members and are the only type of water-conducting cells in some plants. </a:t>
            </a:r>
          </a:p>
          <a:p>
            <a:pPr marL="0" indent="0">
              <a:buFontTx/>
              <a:buNone/>
            </a:pPr>
            <a:r>
              <a:rPr lang="en-AU" dirty="0"/>
              <a:t>Water moving between</a:t>
            </a:r>
            <a:r>
              <a:rPr lang="en-AU" baseline="0" dirty="0"/>
              <a:t> tracheids </a:t>
            </a:r>
            <a:r>
              <a:rPr lang="en-AU" dirty="0"/>
              <a:t>must pass through a thin modified cell wall</a:t>
            </a:r>
            <a:r>
              <a:rPr lang="en-AU" baseline="0" dirty="0"/>
              <a:t> </a:t>
            </a:r>
            <a:r>
              <a:rPr lang="en-AU" dirty="0"/>
              <a:t>known as the pit membrane</a:t>
            </a:r>
          </a:p>
          <a:p>
            <a:pPr marL="171450" indent="-171450">
              <a:buFontTx/>
              <a:buChar char="-"/>
            </a:pPr>
            <a:r>
              <a:rPr lang="en-AU" dirty="0"/>
              <a:t>serves to prevent the passage of damaging air bubbles</a:t>
            </a:r>
          </a:p>
          <a:p>
            <a:pPr marL="0" indent="0">
              <a:buFontTx/>
              <a:buNone/>
            </a:pPr>
            <a:r>
              <a:rPr lang="en-AU" dirty="0"/>
              <a:t>Vessel members are the principal water-conducting cells in angiosperms , the largest and most diverse group of</a:t>
            </a:r>
            <a:r>
              <a:rPr lang="en-AU" baseline="0" dirty="0"/>
              <a:t> plants</a:t>
            </a:r>
          </a:p>
          <a:p>
            <a:pPr marL="171450" indent="-171450">
              <a:buFontTx/>
              <a:buChar char="-"/>
            </a:pPr>
            <a:r>
              <a:rPr lang="en-AU" dirty="0"/>
              <a:t>characterized by areas that lack cell walls, known as perforations. Water flows relatively unimpeded from vessel to vessel through these perforations, though fractures and disruptions from air bubbles are also more likely. </a:t>
            </a:r>
          </a:p>
          <a:p>
            <a:pPr marL="0" indent="0">
              <a:buFontTx/>
              <a:buNone/>
            </a:pPr>
            <a:r>
              <a:rPr lang="en-AU" dirty="0"/>
              <a:t>In addition to the tracheary elements, xylem tissue also features fibre cells for support and parenchyma (thin-walled, unspecialized cells) for the storage of various substances.</a:t>
            </a:r>
          </a:p>
        </p:txBody>
      </p:sp>
      <p:sp>
        <p:nvSpPr>
          <p:cNvPr id="4" name="Slide Number Placeholder 3"/>
          <p:cNvSpPr>
            <a:spLocks noGrp="1"/>
          </p:cNvSpPr>
          <p:nvPr>
            <p:ph type="sldNum" sz="quarter" idx="10"/>
          </p:nvPr>
        </p:nvSpPr>
        <p:spPr/>
        <p:txBody>
          <a:bodyPr/>
          <a:lstStyle/>
          <a:p>
            <a:fld id="{28A4B2C2-1C69-48D8-B297-54FD912F9EDC}" type="slidenum">
              <a:rPr lang="en-AU" smtClean="0"/>
              <a:t>22</a:t>
            </a:fld>
            <a:endParaRPr lang="en-AU"/>
          </a:p>
        </p:txBody>
      </p:sp>
    </p:spTree>
    <p:extLst>
      <p:ext uri="{BB962C8B-B14F-4D97-AF65-F5344CB8AC3E}">
        <p14:creationId xmlns:p14="http://schemas.microsoft.com/office/powerpoint/2010/main" val="1880094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This pressure alone has been shown to be responsible for forcing water 6.4 m up a vine.</a:t>
            </a:r>
          </a:p>
          <a:p>
            <a:endParaRPr lang="en-AU" dirty="0"/>
          </a:p>
        </p:txBody>
      </p:sp>
      <p:sp>
        <p:nvSpPr>
          <p:cNvPr id="4" name="Slide Number Placeholder 3"/>
          <p:cNvSpPr>
            <a:spLocks noGrp="1"/>
          </p:cNvSpPr>
          <p:nvPr>
            <p:ph type="sldNum" sz="quarter" idx="10"/>
          </p:nvPr>
        </p:nvSpPr>
        <p:spPr/>
        <p:txBody>
          <a:bodyPr/>
          <a:lstStyle/>
          <a:p>
            <a:fld id="{28A4B2C2-1C69-48D8-B297-54FD912F9EDC}" type="slidenum">
              <a:rPr lang="en-AU" smtClean="0"/>
              <a:t>23</a:t>
            </a:fld>
            <a:endParaRPr lang="en-AU"/>
          </a:p>
        </p:txBody>
      </p:sp>
    </p:spTree>
    <p:extLst>
      <p:ext uri="{BB962C8B-B14F-4D97-AF65-F5344CB8AC3E}">
        <p14:creationId xmlns:p14="http://schemas.microsoft.com/office/powerpoint/2010/main" val="35999166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24</a:t>
            </a:fld>
            <a:endParaRPr lang="en-US"/>
          </a:p>
        </p:txBody>
      </p:sp>
    </p:spTree>
    <p:extLst>
      <p:ext uri="{BB962C8B-B14F-4D97-AF65-F5344CB8AC3E}">
        <p14:creationId xmlns:p14="http://schemas.microsoft.com/office/powerpoint/2010/main" val="2539426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8A4B2C2-1C69-48D8-B297-54FD912F9EDC}" type="slidenum">
              <a:rPr lang="en-AU" smtClean="0"/>
              <a:t>26</a:t>
            </a:fld>
            <a:endParaRPr lang="en-AU"/>
          </a:p>
        </p:txBody>
      </p:sp>
    </p:spTree>
    <p:extLst>
      <p:ext uri="{BB962C8B-B14F-4D97-AF65-F5344CB8AC3E}">
        <p14:creationId xmlns:p14="http://schemas.microsoft.com/office/powerpoint/2010/main" val="14855922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28</a:t>
            </a:fld>
            <a:endParaRPr lang="en-US"/>
          </a:p>
        </p:txBody>
      </p:sp>
    </p:spTree>
    <p:extLst>
      <p:ext uri="{BB962C8B-B14F-4D97-AF65-F5344CB8AC3E}">
        <p14:creationId xmlns:p14="http://schemas.microsoft.com/office/powerpoint/2010/main" val="928933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31</a:t>
            </a:fld>
            <a:endParaRPr lang="en-US"/>
          </a:p>
        </p:txBody>
      </p:sp>
    </p:spTree>
    <p:extLst>
      <p:ext uri="{BB962C8B-B14F-4D97-AF65-F5344CB8AC3E}">
        <p14:creationId xmlns:p14="http://schemas.microsoft.com/office/powerpoint/2010/main" val="2954208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32</a:t>
            </a:fld>
            <a:endParaRPr lang="en-US"/>
          </a:p>
        </p:txBody>
      </p:sp>
    </p:spTree>
    <p:extLst>
      <p:ext uri="{BB962C8B-B14F-4D97-AF65-F5344CB8AC3E}">
        <p14:creationId xmlns:p14="http://schemas.microsoft.com/office/powerpoint/2010/main" val="19673729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marL="0" indent="0">
              <a:buFont typeface="Arial" panose="020B0604020202020204" pitchFamily="34" charset="0"/>
              <a:buNone/>
            </a:pP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34</a:t>
            </a:fld>
            <a:endParaRPr lang="en-US"/>
          </a:p>
        </p:txBody>
      </p:sp>
    </p:spTree>
    <p:extLst>
      <p:ext uri="{BB962C8B-B14F-4D97-AF65-F5344CB8AC3E}">
        <p14:creationId xmlns:p14="http://schemas.microsoft.com/office/powerpoint/2010/main" val="20008608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Sieve elements:</a:t>
            </a:r>
          </a:p>
          <a:p>
            <a:r>
              <a:rPr lang="en-AU" b="1" baseline="0" dirty="0"/>
              <a:t> - </a:t>
            </a:r>
            <a:r>
              <a:rPr lang="en-AU" dirty="0"/>
              <a:t>elongated, narrow cells, which are connected together to form the sieve tube structure of the phloem.</a:t>
            </a:r>
          </a:p>
          <a:p>
            <a:pPr marL="171450" indent="-171450">
              <a:buFontTx/>
              <a:buChar char="-"/>
            </a:pPr>
            <a:r>
              <a:rPr lang="en-AU" dirty="0"/>
              <a:t>highly specialized </a:t>
            </a:r>
          </a:p>
          <a:p>
            <a:pPr marL="171450" indent="-171450">
              <a:buFontTx/>
              <a:buChar char="-"/>
            </a:pPr>
            <a:r>
              <a:rPr lang="en-AU" dirty="0"/>
              <a:t>unique in that they do not contain a </a:t>
            </a:r>
            <a:r>
              <a:rPr lang="en-AU" i="0" dirty="0"/>
              <a:t>nucleus</a:t>
            </a:r>
            <a:r>
              <a:rPr lang="en-AU" dirty="0"/>
              <a:t> at maturity and are also lacking </a:t>
            </a:r>
            <a:r>
              <a:rPr lang="en-AU" i="0" dirty="0"/>
              <a:t>in organelles =</a:t>
            </a:r>
            <a:r>
              <a:rPr lang="en-AU" i="0" baseline="0" dirty="0"/>
              <a:t> </a:t>
            </a:r>
            <a:r>
              <a:rPr lang="en-AU" dirty="0"/>
              <a:t>maximizing available space for the translocation of materials.</a:t>
            </a:r>
          </a:p>
          <a:p>
            <a:endParaRPr lang="en-AU" b="1" dirty="0"/>
          </a:p>
          <a:p>
            <a:r>
              <a:rPr lang="en-AU" b="1" dirty="0"/>
              <a:t>Sieve Plates</a:t>
            </a:r>
          </a:p>
          <a:p>
            <a:r>
              <a:rPr lang="en-AU" dirty="0"/>
              <a:t>At the connections between sieve member cells are </a:t>
            </a:r>
            <a:r>
              <a:rPr lang="en-AU" i="0" dirty="0"/>
              <a:t>sieve plates</a:t>
            </a:r>
          </a:p>
          <a:p>
            <a:pPr marL="171450" indent="-171450">
              <a:buFontTx/>
              <a:buChar char="-"/>
            </a:pPr>
            <a:r>
              <a:rPr lang="en-AU" dirty="0"/>
              <a:t>relatively large, thin areas of pores that facilitate the exchange of materials between the element cells.</a:t>
            </a:r>
          </a:p>
          <a:p>
            <a:pPr marL="171450" indent="-171450">
              <a:buFontTx/>
              <a:buChar char="-"/>
            </a:pPr>
            <a:r>
              <a:rPr lang="en-AU" dirty="0"/>
              <a:t>also act as a barrier to prevent the loss of sap when the phloem is cut or damaged.</a:t>
            </a:r>
          </a:p>
          <a:p>
            <a:endParaRPr lang="en-AU" b="1" dirty="0"/>
          </a:p>
          <a:p>
            <a:r>
              <a:rPr lang="en-AU" b="1" dirty="0"/>
              <a:t>Companion Cells</a:t>
            </a:r>
          </a:p>
          <a:p>
            <a:r>
              <a:rPr lang="en-AU" dirty="0"/>
              <a:t>Each sieve element cell is usually closely associated with a companion cell</a:t>
            </a:r>
          </a:p>
          <a:p>
            <a:pPr marL="171450" indent="-171450">
              <a:buFontTx/>
              <a:buChar char="-"/>
            </a:pPr>
            <a:r>
              <a:rPr lang="en-AU" dirty="0"/>
              <a:t>have a nucleus, are packed with dense </a:t>
            </a:r>
            <a:r>
              <a:rPr lang="en-AU" i="0" dirty="0"/>
              <a:t>cytoplasm</a:t>
            </a:r>
            <a:r>
              <a:rPr lang="en-AU" dirty="0"/>
              <a:t> contain many </a:t>
            </a:r>
            <a:r>
              <a:rPr lang="en-AU" i="0" dirty="0"/>
              <a:t>ribosomes and many mitochondria</a:t>
            </a:r>
          </a:p>
          <a:p>
            <a:pPr marL="171450" indent="-171450">
              <a:buFontTx/>
              <a:buChar char="-"/>
            </a:pPr>
            <a:r>
              <a:rPr lang="en-AU" dirty="0"/>
              <a:t>companion cells are able to undertake the </a:t>
            </a:r>
            <a:r>
              <a:rPr lang="en-AU" i="0" dirty="0"/>
              <a:t>metabolic reactions </a:t>
            </a:r>
            <a:r>
              <a:rPr lang="en-AU" dirty="0"/>
              <a:t>and other cellular functions, which the sieve element cannot perform as it lacks the appropriate organelles. The sieve elements are therefore dependent upon the companion cells for their functioning and survival.</a:t>
            </a:r>
          </a:p>
          <a:p>
            <a:endParaRPr lang="en-AU" dirty="0"/>
          </a:p>
          <a:p>
            <a:r>
              <a:rPr lang="en-AU" dirty="0"/>
              <a:t>The sieve tube and companion cells are connected via a plasmodesmata, a microscopic channel connecting </a:t>
            </a:r>
            <a:r>
              <a:rPr lang="en-AU" i="0" dirty="0"/>
              <a:t>the cytoplasm </a:t>
            </a:r>
            <a:r>
              <a:rPr lang="en-AU" dirty="0"/>
              <a:t>of the cells, which allows the transfer of the sucrose, proteins and other molecules to the sieve elements. The companion cells are thus responsible for fuelling the transport of materials around the plant </a:t>
            </a:r>
          </a:p>
          <a:p>
            <a:endParaRPr lang="en-AU" b="1" dirty="0"/>
          </a:p>
          <a:p>
            <a:r>
              <a:rPr lang="en-AU" b="1" dirty="0"/>
              <a:t>Parenchyma</a:t>
            </a:r>
          </a:p>
          <a:p>
            <a:r>
              <a:rPr lang="en-AU" dirty="0"/>
              <a:t>Is a collection of cells, which makes up the ‘filler’ of plant tissues. They have thin but flexible walls made of </a:t>
            </a:r>
            <a:r>
              <a:rPr lang="en-AU" i="1" dirty="0"/>
              <a:t>cellulose</a:t>
            </a:r>
            <a:r>
              <a:rPr lang="en-AU" dirty="0"/>
              <a:t>. Within the phloem, the parenchyma’s main function is the storage of starch, fats and proteins.</a:t>
            </a:r>
          </a:p>
        </p:txBody>
      </p:sp>
      <p:sp>
        <p:nvSpPr>
          <p:cNvPr id="4" name="Slide Number Placeholder 3"/>
          <p:cNvSpPr>
            <a:spLocks noGrp="1"/>
          </p:cNvSpPr>
          <p:nvPr>
            <p:ph type="sldNum" sz="quarter" idx="10"/>
          </p:nvPr>
        </p:nvSpPr>
        <p:spPr/>
        <p:txBody>
          <a:bodyPr/>
          <a:lstStyle/>
          <a:p>
            <a:fld id="{28A4B2C2-1C69-48D8-B297-54FD912F9EDC}" type="slidenum">
              <a:rPr lang="en-AU" smtClean="0"/>
              <a:t>38</a:t>
            </a:fld>
            <a:endParaRPr lang="en-AU"/>
          </a:p>
        </p:txBody>
      </p:sp>
    </p:spTree>
    <p:extLst>
      <p:ext uri="{BB962C8B-B14F-4D97-AF65-F5344CB8AC3E}">
        <p14:creationId xmlns:p14="http://schemas.microsoft.com/office/powerpoint/2010/main" val="3133642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AU"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39</a:t>
            </a:fld>
            <a:endParaRPr lang="en-US"/>
          </a:p>
        </p:txBody>
      </p:sp>
    </p:spTree>
    <p:extLst>
      <p:ext uri="{BB962C8B-B14F-4D97-AF65-F5344CB8AC3E}">
        <p14:creationId xmlns:p14="http://schemas.microsoft.com/office/powerpoint/2010/main" val="30599431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8A4B2C2-1C69-48D8-B297-54FD912F9EDC}" type="slidenum">
              <a:rPr lang="en-AU" smtClean="0"/>
              <a:t>40</a:t>
            </a:fld>
            <a:endParaRPr lang="en-AU"/>
          </a:p>
        </p:txBody>
      </p:sp>
    </p:spTree>
    <p:extLst>
      <p:ext uri="{BB962C8B-B14F-4D97-AF65-F5344CB8AC3E}">
        <p14:creationId xmlns:p14="http://schemas.microsoft.com/office/powerpoint/2010/main" val="18869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41</a:t>
            </a:fld>
            <a:endParaRPr lang="en-US"/>
          </a:p>
        </p:txBody>
      </p:sp>
    </p:spTree>
    <p:extLst>
      <p:ext uri="{BB962C8B-B14F-4D97-AF65-F5344CB8AC3E}">
        <p14:creationId xmlns:p14="http://schemas.microsoft.com/office/powerpoint/2010/main" val="21363180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 C D</a:t>
            </a:r>
          </a:p>
        </p:txBody>
      </p:sp>
      <p:sp>
        <p:nvSpPr>
          <p:cNvPr id="4" name="Slide Number Placeholder 3"/>
          <p:cNvSpPr>
            <a:spLocks noGrp="1"/>
          </p:cNvSpPr>
          <p:nvPr>
            <p:ph type="sldNum" sz="quarter" idx="10"/>
          </p:nvPr>
        </p:nvSpPr>
        <p:spPr/>
        <p:txBody>
          <a:bodyPr/>
          <a:lstStyle/>
          <a:p>
            <a:fld id="{28A4B2C2-1C69-48D8-B297-54FD912F9EDC}" type="slidenum">
              <a:rPr lang="en-AU" smtClean="0"/>
              <a:t>43</a:t>
            </a:fld>
            <a:endParaRPr lang="en-AU"/>
          </a:p>
        </p:txBody>
      </p:sp>
    </p:spTree>
    <p:extLst>
      <p:ext uri="{BB962C8B-B14F-4D97-AF65-F5344CB8AC3E}">
        <p14:creationId xmlns:p14="http://schemas.microsoft.com/office/powerpoint/2010/main" val="665228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D926BC-8E78-4CCF-A7B2-8DF8460C404D}" type="datetime1">
              <a:rPr lang="en-US" smtClean="0"/>
              <a:pPr/>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spTree>
    <p:extLst>
      <p:ext uri="{BB962C8B-B14F-4D97-AF65-F5344CB8AC3E}">
        <p14:creationId xmlns:p14="http://schemas.microsoft.com/office/powerpoint/2010/main" val="1725331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3250A7-F2AC-4A3A-BAC6-4433188AF404}" type="datetime1">
              <a:rPr lang="en-US" smtClean="0"/>
              <a:pPr/>
              <a:t>9/8/2023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a:p>
        </p:txBody>
      </p:sp>
    </p:spTree>
    <p:extLst>
      <p:ext uri="{BB962C8B-B14F-4D97-AF65-F5344CB8AC3E}">
        <p14:creationId xmlns:p14="http://schemas.microsoft.com/office/powerpoint/2010/main" val="2848571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48785BE-30D6-45E9-9828-9A90A2D6DF6D}" type="datetime1">
              <a:rPr lang="en-US" smtClean="0"/>
              <a:pPr/>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spTree>
    <p:extLst>
      <p:ext uri="{BB962C8B-B14F-4D97-AF65-F5344CB8AC3E}">
        <p14:creationId xmlns:p14="http://schemas.microsoft.com/office/powerpoint/2010/main" val="1848471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F603B8-852C-4305-A8B5-259A7A1815FE}" type="datetime1">
              <a:rPr lang="en-US" smtClean="0"/>
              <a:pPr/>
              <a:t>9/8/2023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4A37A-AFC2-4A01-80A1-FC20F2C0D5BB}" type="slidenum">
              <a:rPr lang="en-US" smtClean="0"/>
              <a:pPr/>
              <a:t>‹#›</a:t>
            </a:fld>
            <a:endParaRPr lang="en-US"/>
          </a:p>
        </p:txBody>
      </p:sp>
    </p:spTree>
    <p:extLst>
      <p:ext uri="{BB962C8B-B14F-4D97-AF65-F5344CB8AC3E}">
        <p14:creationId xmlns:p14="http://schemas.microsoft.com/office/powerpoint/2010/main" val="2401900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3025EA-66B7-4B75-BC7E-E841861BC2EE}" type="datetime1">
              <a:rPr lang="en-US" smtClean="0"/>
              <a:pPr/>
              <a:t>9/8/2023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84A37A-AFC2-4A01-80A1-FC20F2C0D5BB}" type="slidenum">
              <a:rPr lang="en-US" smtClean="0"/>
              <a:pPr/>
              <a:t>‹#›</a:t>
            </a:fld>
            <a:endParaRPr lang="en-US"/>
          </a:p>
        </p:txBody>
      </p:sp>
    </p:spTree>
    <p:extLst>
      <p:ext uri="{BB962C8B-B14F-4D97-AF65-F5344CB8AC3E}">
        <p14:creationId xmlns:p14="http://schemas.microsoft.com/office/powerpoint/2010/main" val="1936337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0C081B-7565-4E7A-9F9F-F1076E2DDB85}" type="datetime1">
              <a:rPr lang="en-US" smtClean="0"/>
              <a:pPr/>
              <a:t>9/8/2023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84A37A-AFC2-4A01-80A1-FC20F2C0D5BB}" type="slidenum">
              <a:rPr lang="en-US" smtClean="0"/>
              <a:pPr/>
              <a:t>‹#›</a:t>
            </a:fld>
            <a:endParaRPr lang="en-US"/>
          </a:p>
        </p:txBody>
      </p:sp>
    </p:spTree>
    <p:extLst>
      <p:ext uri="{BB962C8B-B14F-4D97-AF65-F5344CB8AC3E}">
        <p14:creationId xmlns:p14="http://schemas.microsoft.com/office/powerpoint/2010/main" val="3609854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00E28A-3A4F-4E6B-B567-EC8C4C5EF7EB}" type="datetime1">
              <a:rPr lang="en-US" smtClean="0"/>
              <a:pPr/>
              <a:t>9/8/2023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84A37A-AFC2-4A01-80A1-FC20F2C0D5BB}" type="slidenum">
              <a:rPr lang="en-US" smtClean="0"/>
              <a:pPr/>
              <a:t>‹#›</a:t>
            </a:fld>
            <a:endParaRPr lang="en-US"/>
          </a:p>
        </p:txBody>
      </p:sp>
    </p:spTree>
    <p:extLst>
      <p:ext uri="{BB962C8B-B14F-4D97-AF65-F5344CB8AC3E}">
        <p14:creationId xmlns:p14="http://schemas.microsoft.com/office/powerpoint/2010/main" val="1375386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FC6F08A9-3E88-45E3-A460-6C4313B1A85D}" type="datetime1">
              <a:rPr lang="en-US" smtClean="0"/>
              <a:pPr/>
              <a:t>9/8/2023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4A37A-AFC2-4A01-80A1-FC20F2C0D5BB}" type="slidenum">
              <a:rPr lang="en-US" smtClean="0"/>
              <a:pPr/>
              <a:t>‹#›</a:t>
            </a:fld>
            <a:endParaRPr lang="en-US"/>
          </a:p>
        </p:txBody>
      </p:sp>
    </p:spTree>
    <p:extLst>
      <p:ext uri="{BB962C8B-B14F-4D97-AF65-F5344CB8AC3E}">
        <p14:creationId xmlns:p14="http://schemas.microsoft.com/office/powerpoint/2010/main" val="984443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121CF1C-1A92-4FD7-820B-88967322F7A9}" type="datetime1">
              <a:rPr lang="en-US" smtClean="0"/>
              <a:pPr/>
              <a:t>9/8/2023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4A37A-AFC2-4A01-80A1-FC20F2C0D5BB}" type="slidenum">
              <a:rPr lang="en-US" smtClean="0"/>
              <a:pPr/>
              <a:t>‹#›</a:t>
            </a:fld>
            <a:endParaRPr lang="en-US"/>
          </a:p>
        </p:txBody>
      </p:sp>
    </p:spTree>
    <p:extLst>
      <p:ext uri="{BB962C8B-B14F-4D97-AF65-F5344CB8AC3E}">
        <p14:creationId xmlns:p14="http://schemas.microsoft.com/office/powerpoint/2010/main" val="258827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48785BE-30D6-45E9-9828-9A90A2D6DF6D}" type="datetime1">
              <a:rPr lang="en-US" smtClean="0"/>
              <a:pPr/>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spTree>
    <p:extLst>
      <p:ext uri="{BB962C8B-B14F-4D97-AF65-F5344CB8AC3E}">
        <p14:creationId xmlns:p14="http://schemas.microsoft.com/office/powerpoint/2010/main" val="101774401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48785BE-30D6-45E9-9828-9A90A2D6DF6D}" type="datetime1">
              <a:rPr lang="en-US" smtClean="0"/>
              <a:pPr/>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2366112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48785BE-30D6-45E9-9828-9A90A2D6DF6D}" type="datetime1">
              <a:rPr lang="en-US" smtClean="0"/>
              <a:pPr/>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spTree>
    <p:extLst>
      <p:ext uri="{BB962C8B-B14F-4D97-AF65-F5344CB8AC3E}">
        <p14:creationId xmlns:p14="http://schemas.microsoft.com/office/powerpoint/2010/main" val="99212407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48785BE-30D6-45E9-9828-9A90A2D6DF6D}" type="datetime1">
              <a:rPr lang="en-US" smtClean="0"/>
              <a:pPr/>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0247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48785BE-30D6-45E9-9828-9A90A2D6DF6D}" type="datetime1">
              <a:rPr lang="en-US" smtClean="0"/>
              <a:pPr/>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spTree>
    <p:extLst>
      <p:ext uri="{BB962C8B-B14F-4D97-AF65-F5344CB8AC3E}">
        <p14:creationId xmlns:p14="http://schemas.microsoft.com/office/powerpoint/2010/main" val="89659719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372853-67FE-4B33-8352-7E4108629A36}" type="datetime1">
              <a:rPr lang="en-US" smtClean="0"/>
              <a:pPr/>
              <a:t>9/8/2023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a:p>
        </p:txBody>
      </p:sp>
    </p:spTree>
    <p:extLst>
      <p:ext uri="{BB962C8B-B14F-4D97-AF65-F5344CB8AC3E}">
        <p14:creationId xmlns:p14="http://schemas.microsoft.com/office/powerpoint/2010/main" val="3156856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8F43FD-ABDB-43CF-A014-C9419E2A3211}" type="datetime1">
              <a:rPr lang="en-US" smtClean="0"/>
              <a:pPr/>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spTree>
    <p:extLst>
      <p:ext uri="{BB962C8B-B14F-4D97-AF65-F5344CB8AC3E}">
        <p14:creationId xmlns:p14="http://schemas.microsoft.com/office/powerpoint/2010/main" val="1491829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48785BE-30D6-45E9-9828-9A90A2D6DF6D}" type="datetime1">
              <a:rPr lang="en-US" smtClean="0"/>
              <a:pPr/>
              <a:t>9/8/2023</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FA84A37A-AFC2-4A01-80A1-FC20F2C0D5BB}" type="slidenum">
              <a:rPr lang="en-US" smtClean="0"/>
              <a:pPr/>
              <a:t>‹#›</a:t>
            </a:fld>
            <a:endParaRPr lang="en-US" dirty="0"/>
          </a:p>
        </p:txBody>
      </p:sp>
    </p:spTree>
    <p:extLst>
      <p:ext uri="{BB962C8B-B14F-4D97-AF65-F5344CB8AC3E}">
        <p14:creationId xmlns:p14="http://schemas.microsoft.com/office/powerpoint/2010/main" val="1624211298"/>
      </p:ext>
    </p:extLst>
  </p:cSld>
  <p:clrMap bg1="lt1" tx1="dk1" bg2="lt2" tx2="dk2" accent1="accent1" accent2="accent2" accent3="accent3" accent4="accent4" accent5="accent5" accent6="accent6" hlink="hlink" folHlink="folHlink"/>
  <p:sldLayoutIdLst>
    <p:sldLayoutId id="2147483978" r:id="rId1"/>
    <p:sldLayoutId id="2147483979" r:id="rId2"/>
    <p:sldLayoutId id="2147483980" r:id="rId3"/>
    <p:sldLayoutId id="2147483981" r:id="rId4"/>
    <p:sldLayoutId id="2147483982" r:id="rId5"/>
    <p:sldLayoutId id="2147483983" r:id="rId6"/>
    <p:sldLayoutId id="2147483984" r:id="rId7"/>
    <p:sldLayoutId id="2147483985" r:id="rId8"/>
    <p:sldLayoutId id="2147483986" r:id="rId9"/>
    <p:sldLayoutId id="2147483987" r:id="rId10"/>
    <p:sldLayoutId id="2147483988" r:id="rId11"/>
    <p:sldLayoutId id="2147483989" r:id="rId12"/>
    <p:sldLayoutId id="2147483990" r:id="rId13"/>
    <p:sldLayoutId id="2147483991" r:id="rId14"/>
    <p:sldLayoutId id="2147483992" r:id="rId15"/>
    <p:sldLayoutId id="2147483993"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5.jpe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watch?v=Kv_0udatlh8" TargetMode="External"/><Relationship Id="rId2" Type="http://schemas.openxmlformats.org/officeDocument/2006/relationships/hyperlink" Target="https://www.youtube.com/watch?v=jtuX7H05tmQ" TargetMode="Externa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9.jpg"/></Relationships>
</file>

<file path=ppt/slides/_rels/slide3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youtube.com/watch?v=QXdujo4PZ7c"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1.jpe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56.jpeg"/><Relationship Id="rId4" Type="http://schemas.openxmlformats.org/officeDocument/2006/relationships/image" Target="../media/image55.jpeg"/></Relationships>
</file>

<file path=ppt/slides/_rels/slide44.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764704"/>
            <a:ext cx="5287167" cy="2150358"/>
          </a:xfrm>
        </p:spPr>
        <p:txBody>
          <a:bodyPr/>
          <a:lstStyle/>
          <a:p>
            <a:pPr algn="ctr"/>
            <a:r>
              <a:rPr lang="en-US" sz="4800" dirty="0"/>
              <a:t>11ATAR Biology</a:t>
            </a:r>
            <a:br>
              <a:rPr lang="en-US" dirty="0"/>
            </a:br>
            <a:br>
              <a:rPr lang="en-US" dirty="0"/>
            </a:br>
            <a:r>
              <a:rPr lang="en-US" sz="3600" dirty="0"/>
              <a:t>Week 28 </a:t>
            </a:r>
            <a:br>
              <a:rPr lang="en-US" sz="3600" dirty="0"/>
            </a:br>
            <a:r>
              <a:rPr lang="en-US" sz="3600" dirty="0"/>
              <a:t>Plant Transportation</a:t>
            </a:r>
          </a:p>
        </p:txBody>
      </p:sp>
      <p:pic>
        <p:nvPicPr>
          <p:cNvPr id="4" name="Picture 3"/>
          <p:cNvPicPr>
            <a:picLocks noChangeAspect="1"/>
          </p:cNvPicPr>
          <p:nvPr/>
        </p:nvPicPr>
        <p:blipFill>
          <a:blip r:embed="rId2" cstate="print"/>
          <a:stretch>
            <a:fillRect/>
          </a:stretch>
        </p:blipFill>
        <p:spPr>
          <a:xfrm>
            <a:off x="5076056" y="3400756"/>
            <a:ext cx="2798493" cy="288032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5" name="Picture 4">
            <a:extLst>
              <a:ext uri="{FF2B5EF4-FFF2-40B4-BE49-F238E27FC236}">
                <a16:creationId xmlns:a16="http://schemas.microsoft.com/office/drawing/2014/main" id="{0EB74973-D167-DFDA-784A-89D8B2C678CF}"/>
              </a:ext>
            </a:extLst>
          </p:cNvPr>
          <p:cNvPicPr>
            <a:picLocks noChangeAspect="1"/>
          </p:cNvPicPr>
          <p:nvPr/>
        </p:nvPicPr>
        <p:blipFill>
          <a:blip r:embed="rId3"/>
          <a:stretch>
            <a:fillRect/>
          </a:stretch>
        </p:blipFill>
        <p:spPr>
          <a:xfrm>
            <a:off x="395536" y="3717032"/>
            <a:ext cx="4283373" cy="2912981"/>
          </a:xfrm>
          <a:prstGeom prst="rect">
            <a:avLst/>
          </a:prstGeom>
        </p:spPr>
      </p:pic>
    </p:spTree>
    <p:extLst>
      <p:ext uri="{BB962C8B-B14F-4D97-AF65-F5344CB8AC3E}">
        <p14:creationId xmlns:p14="http://schemas.microsoft.com/office/powerpoint/2010/main" val="674443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612" y="595559"/>
            <a:ext cx="7024744" cy="1143000"/>
          </a:xfrm>
        </p:spPr>
        <p:txBody>
          <a:bodyPr>
            <a:normAutofit/>
          </a:bodyPr>
          <a:lstStyle/>
          <a:p>
            <a:r>
              <a:rPr lang="en-AU" dirty="0"/>
              <a:t>Year 11 Biology Work Schedule</a:t>
            </a:r>
          </a:p>
        </p:txBody>
      </p:sp>
      <p:sp>
        <p:nvSpPr>
          <p:cNvPr id="3" name="Content Placeholder 2"/>
          <p:cNvSpPr>
            <a:spLocks noGrp="1"/>
          </p:cNvSpPr>
          <p:nvPr>
            <p:ph idx="1"/>
          </p:nvPr>
        </p:nvSpPr>
        <p:spPr>
          <a:xfrm>
            <a:off x="611560" y="1412776"/>
            <a:ext cx="6777317" cy="2508539"/>
          </a:xfrm>
        </p:spPr>
        <p:txBody>
          <a:bodyPr>
            <a:normAutofit/>
          </a:bodyPr>
          <a:lstStyle/>
          <a:p>
            <a:r>
              <a:rPr lang="en-AU" altLang="en-US" dirty="0"/>
              <a:t>It is important to remain on schedule during this Semester.</a:t>
            </a:r>
          </a:p>
          <a:p>
            <a:pPr marL="68580" indent="0">
              <a:buNone/>
            </a:pPr>
            <a:r>
              <a:rPr lang="en-AU" altLang="en-US" dirty="0"/>
              <a:t>Moodle</a:t>
            </a:r>
          </a:p>
          <a:p>
            <a:r>
              <a:rPr lang="en-AU" altLang="en-US" dirty="0"/>
              <a:t>Have you visited Moodle this week?     Yes / No</a:t>
            </a:r>
          </a:p>
          <a:p>
            <a:pPr marL="68580" indent="0">
              <a:buNone/>
            </a:pPr>
            <a:r>
              <a:rPr lang="en-AU" altLang="en-US" dirty="0"/>
              <a:t>Tasks</a:t>
            </a:r>
          </a:p>
          <a:p>
            <a:r>
              <a:rPr lang="en-AU" altLang="en-US" dirty="0"/>
              <a:t>Are you on schedule?     	        	Yes / No</a:t>
            </a:r>
          </a:p>
          <a:p>
            <a:r>
              <a:rPr lang="en-AU" altLang="en-US" dirty="0"/>
              <a:t>When is your next task due?</a:t>
            </a:r>
          </a:p>
          <a:p>
            <a:endParaRPr lang="en-AU" dirty="0"/>
          </a:p>
        </p:txBody>
      </p:sp>
      <p:pic>
        <p:nvPicPr>
          <p:cNvPr id="5" name="Picture 4"/>
          <p:cNvPicPr>
            <a:picLocks noChangeAspect="1"/>
          </p:cNvPicPr>
          <p:nvPr/>
        </p:nvPicPr>
        <p:blipFill>
          <a:blip r:embed="rId2"/>
          <a:stretch>
            <a:fillRect/>
          </a:stretch>
        </p:blipFill>
        <p:spPr>
          <a:xfrm>
            <a:off x="150226" y="4149080"/>
            <a:ext cx="8777750" cy="2448272"/>
          </a:xfrm>
          <a:prstGeom prst="rect">
            <a:avLst/>
          </a:prstGeom>
        </p:spPr>
      </p:pic>
      <p:sp>
        <p:nvSpPr>
          <p:cNvPr id="4" name="Arrow: Right 3">
            <a:extLst>
              <a:ext uri="{FF2B5EF4-FFF2-40B4-BE49-F238E27FC236}">
                <a16:creationId xmlns:a16="http://schemas.microsoft.com/office/drawing/2014/main" id="{C5772B14-3F88-4C69-9454-05DADDD66329}"/>
              </a:ext>
            </a:extLst>
          </p:cNvPr>
          <p:cNvSpPr/>
          <p:nvPr/>
        </p:nvSpPr>
        <p:spPr>
          <a:xfrm rot="16200000">
            <a:off x="5400092" y="5961553"/>
            <a:ext cx="360040" cy="432048"/>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Arrow Connector 6">
            <a:extLst>
              <a:ext uri="{FF2B5EF4-FFF2-40B4-BE49-F238E27FC236}">
                <a16:creationId xmlns:a16="http://schemas.microsoft.com/office/drawing/2014/main" id="{AB38F0D8-8FF1-4F03-9814-1152B76E34D8}"/>
              </a:ext>
            </a:extLst>
          </p:cNvPr>
          <p:cNvCxnSpPr>
            <a:cxnSpLocks/>
          </p:cNvCxnSpPr>
          <p:nvPr/>
        </p:nvCxnSpPr>
        <p:spPr>
          <a:xfrm flipH="1">
            <a:off x="6372200" y="4147901"/>
            <a:ext cx="504056" cy="1153307"/>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349DE4B-A7F0-424E-B1C4-836416A113C9}"/>
              </a:ext>
            </a:extLst>
          </p:cNvPr>
          <p:cNvSpPr txBox="1"/>
          <p:nvPr/>
        </p:nvSpPr>
        <p:spPr>
          <a:xfrm>
            <a:off x="6156176" y="3501570"/>
            <a:ext cx="1728192" cy="646331"/>
          </a:xfrm>
          <a:prstGeom prst="rect">
            <a:avLst/>
          </a:prstGeom>
          <a:noFill/>
          <a:ln>
            <a:solidFill>
              <a:srgbClr val="0070C0"/>
            </a:solidFill>
          </a:ln>
        </p:spPr>
        <p:txBody>
          <a:bodyPr wrap="square" rtlCol="0">
            <a:spAutoFit/>
          </a:bodyPr>
          <a:lstStyle/>
          <a:p>
            <a:r>
              <a:rPr lang="en-AU" sz="1200" dirty="0">
                <a:solidFill>
                  <a:srgbClr val="0070C0"/>
                </a:solidFill>
              </a:rPr>
              <a:t>Answer 2 out of 3 questions (Topics 2-4)</a:t>
            </a:r>
          </a:p>
          <a:p>
            <a:r>
              <a:rPr lang="en-AU" sz="1200" dirty="0">
                <a:solidFill>
                  <a:srgbClr val="0070C0"/>
                </a:solidFill>
              </a:rPr>
              <a:t>60 min (40 marks)</a:t>
            </a:r>
          </a:p>
        </p:txBody>
      </p:sp>
    </p:spTree>
    <p:extLst>
      <p:ext uri="{BB962C8B-B14F-4D97-AF65-F5344CB8AC3E}">
        <p14:creationId xmlns:p14="http://schemas.microsoft.com/office/powerpoint/2010/main" val="686763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Learning Intentions</a:t>
            </a:r>
          </a:p>
        </p:txBody>
      </p:sp>
      <p:sp>
        <p:nvSpPr>
          <p:cNvPr id="3" name="Content Placeholder 2"/>
          <p:cNvSpPr>
            <a:spLocks noGrp="1"/>
          </p:cNvSpPr>
          <p:nvPr>
            <p:ph idx="1"/>
          </p:nvPr>
        </p:nvSpPr>
        <p:spPr>
          <a:xfrm>
            <a:off x="615172" y="1484785"/>
            <a:ext cx="6477107" cy="1656184"/>
          </a:xfrm>
        </p:spPr>
        <p:txBody>
          <a:bodyPr>
            <a:normAutofit/>
          </a:bodyPr>
          <a:lstStyle/>
          <a:p>
            <a:r>
              <a:rPr lang="en-AU" dirty="0"/>
              <a:t>Understand the hierarchical structural organisation of cells, tissues, organs and systems in multicellular organisms.</a:t>
            </a:r>
          </a:p>
          <a:p>
            <a:pPr lvl="0"/>
            <a:r>
              <a:rPr lang="en-AU" dirty="0"/>
              <a:t>Understand the structures and processes involved in the movement of water and nutrients in vascular plants.</a:t>
            </a:r>
          </a:p>
          <a:p>
            <a:pPr marL="0" lvl="0" indent="0">
              <a:buNone/>
            </a:pPr>
            <a:endParaRPr lang="en-AU" dirty="0"/>
          </a:p>
          <a:p>
            <a:endParaRPr lang="en-AU" dirty="0"/>
          </a:p>
        </p:txBody>
      </p:sp>
      <p:sp>
        <p:nvSpPr>
          <p:cNvPr id="4" name="Content Placeholder 2"/>
          <p:cNvSpPr txBox="1">
            <a:spLocks/>
          </p:cNvSpPr>
          <p:nvPr/>
        </p:nvSpPr>
        <p:spPr>
          <a:xfrm>
            <a:off x="587012" y="4016154"/>
            <a:ext cx="7081331" cy="26532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AU" dirty="0"/>
              <a:t>Students will be able to:</a:t>
            </a:r>
          </a:p>
          <a:p>
            <a:r>
              <a:rPr lang="en-AU" dirty="0"/>
              <a:t>Differentiate between cells, tissues, organs &amp; systems.</a:t>
            </a:r>
          </a:p>
          <a:p>
            <a:r>
              <a:rPr lang="en-AU" dirty="0"/>
              <a:t>Describe the transport of water and mineral nutrients from the roots occurs via xylem through root pressure, capillary action (adhesion and cohesion of water molecules), transpiration.</a:t>
            </a:r>
          </a:p>
          <a:p>
            <a:r>
              <a:rPr lang="en-AU" dirty="0"/>
              <a:t>Describe the transport of the products of photosynthesis and some mineral nutrients by translocation in the phloem.</a:t>
            </a:r>
          </a:p>
          <a:p>
            <a:endParaRPr lang="en-AU" dirty="0"/>
          </a:p>
          <a:p>
            <a:endParaRPr lang="en-AU" dirty="0"/>
          </a:p>
        </p:txBody>
      </p:sp>
      <p:sp>
        <p:nvSpPr>
          <p:cNvPr id="5" name="Title 1"/>
          <p:cNvSpPr txBox="1">
            <a:spLocks/>
          </p:cNvSpPr>
          <p:nvPr/>
        </p:nvSpPr>
        <p:spPr>
          <a:xfrm>
            <a:off x="616419" y="3272655"/>
            <a:ext cx="6347713" cy="103276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Success Criteria</a:t>
            </a:r>
          </a:p>
        </p:txBody>
      </p:sp>
    </p:spTree>
    <p:extLst>
      <p:ext uri="{BB962C8B-B14F-4D97-AF65-F5344CB8AC3E}">
        <p14:creationId xmlns:p14="http://schemas.microsoft.com/office/powerpoint/2010/main" val="1610934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6347713" cy="1320800"/>
          </a:xfrm>
        </p:spPr>
        <p:txBody>
          <a:bodyPr/>
          <a:lstStyle/>
          <a:p>
            <a:r>
              <a:rPr lang="en-AU" dirty="0" err="1"/>
              <a:t>Unicellularity</a:t>
            </a:r>
            <a:endParaRPr lang="en-AU" dirty="0"/>
          </a:p>
        </p:txBody>
      </p:sp>
      <p:sp>
        <p:nvSpPr>
          <p:cNvPr id="3" name="Content Placeholder 2"/>
          <p:cNvSpPr>
            <a:spLocks noGrp="1"/>
          </p:cNvSpPr>
          <p:nvPr>
            <p:ph sz="quarter" idx="1"/>
          </p:nvPr>
        </p:nvSpPr>
        <p:spPr>
          <a:xfrm>
            <a:off x="251520" y="3789040"/>
            <a:ext cx="7416824" cy="2808312"/>
          </a:xfrm>
        </p:spPr>
        <p:txBody>
          <a:bodyPr>
            <a:normAutofit/>
          </a:bodyPr>
          <a:lstStyle/>
          <a:p>
            <a:r>
              <a:rPr lang="en-AU" dirty="0"/>
              <a:t>Unicellular organisms such as protozoans are complete functioning organisms. The microscopic size of the cell allows these processes to occur efficiently.</a:t>
            </a:r>
          </a:p>
          <a:p>
            <a:r>
              <a:rPr lang="en-AU" dirty="0"/>
              <a:t>A single cell has a high surface area to volume ratio. This means that the size of the plasma membrane (its surface area) is sufficient to service the total volume of the cytoplasm. </a:t>
            </a:r>
          </a:p>
        </p:txBody>
      </p:sp>
      <p:pic>
        <p:nvPicPr>
          <p:cNvPr id="4" name="Picture 3"/>
          <p:cNvPicPr>
            <a:picLocks noChangeAspect="1"/>
          </p:cNvPicPr>
          <p:nvPr/>
        </p:nvPicPr>
        <p:blipFill rotWithShape="1">
          <a:blip r:embed="rId3"/>
          <a:srcRect l="2395" t="5884"/>
          <a:stretch/>
        </p:blipFill>
        <p:spPr>
          <a:xfrm>
            <a:off x="1475656" y="1484784"/>
            <a:ext cx="5312180" cy="2085570"/>
          </a:xfrm>
          <a:prstGeom prst="rect">
            <a:avLst/>
          </a:prstGeom>
        </p:spPr>
      </p:pic>
    </p:spTree>
    <p:extLst>
      <p:ext uri="{BB962C8B-B14F-4D97-AF65-F5344CB8AC3E}">
        <p14:creationId xmlns:p14="http://schemas.microsoft.com/office/powerpoint/2010/main" val="465627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3444849" y="1720447"/>
            <a:ext cx="5653188" cy="4855841"/>
          </a:xfrm>
          <a:prstGeom prst="rect">
            <a:avLst/>
          </a:prstGeom>
        </p:spPr>
      </p:pic>
      <p:sp>
        <p:nvSpPr>
          <p:cNvPr id="2" name="Title 1"/>
          <p:cNvSpPr>
            <a:spLocks noGrp="1"/>
          </p:cNvSpPr>
          <p:nvPr>
            <p:ph type="title"/>
          </p:nvPr>
        </p:nvSpPr>
        <p:spPr>
          <a:xfrm>
            <a:off x="606055" y="287609"/>
            <a:ext cx="6347713" cy="1320800"/>
          </a:xfrm>
        </p:spPr>
        <p:txBody>
          <a:bodyPr/>
          <a:lstStyle/>
          <a:p>
            <a:r>
              <a:rPr lang="en-AU" dirty="0"/>
              <a:t>Multicellularity</a:t>
            </a:r>
          </a:p>
        </p:txBody>
      </p:sp>
      <p:sp>
        <p:nvSpPr>
          <p:cNvPr id="3" name="Content Placeholder 2"/>
          <p:cNvSpPr>
            <a:spLocks noGrp="1"/>
          </p:cNvSpPr>
          <p:nvPr>
            <p:ph sz="quarter" idx="1"/>
          </p:nvPr>
        </p:nvSpPr>
        <p:spPr>
          <a:xfrm>
            <a:off x="260526" y="1484784"/>
            <a:ext cx="5328592" cy="4495800"/>
          </a:xfrm>
        </p:spPr>
        <p:txBody>
          <a:bodyPr>
            <a:normAutofit/>
          </a:bodyPr>
          <a:lstStyle/>
          <a:p>
            <a:r>
              <a:rPr lang="en-US" sz="2000" dirty="0"/>
              <a:t>The evolution from unicellular organisms to multicellular organisms required three </a:t>
            </a:r>
            <a:r>
              <a:rPr lang="en-US" sz="2000" dirty="0" err="1"/>
              <a:t>organising</a:t>
            </a:r>
            <a:r>
              <a:rPr lang="en-US" sz="2000" dirty="0"/>
              <a:t> principles:  </a:t>
            </a:r>
          </a:p>
          <a:p>
            <a:pPr marL="0" indent="0">
              <a:buNone/>
            </a:pPr>
            <a:r>
              <a:rPr lang="en-US" dirty="0"/>
              <a:t>                                                                            </a:t>
            </a:r>
          </a:p>
          <a:p>
            <a:pPr lvl="1"/>
            <a:r>
              <a:rPr lang="en-US" sz="2000" dirty="0"/>
              <a:t>Cell division - so that                                                                                many cells are created.</a:t>
            </a:r>
          </a:p>
          <a:p>
            <a:pPr lvl="1"/>
            <a:r>
              <a:rPr lang="en-US" sz="2000" dirty="0" err="1"/>
              <a:t>Specialisation</a:t>
            </a:r>
            <a:r>
              <a:rPr lang="en-US" sz="2000" dirty="0"/>
              <a:t> – (of function)                of cells.</a:t>
            </a:r>
          </a:p>
          <a:p>
            <a:pPr lvl="1"/>
            <a:r>
              <a:rPr lang="en-US" sz="2000" dirty="0"/>
              <a:t>Communication with                                                                               other cells.</a:t>
            </a:r>
          </a:p>
          <a:p>
            <a:endParaRPr lang="en-AU" dirty="0"/>
          </a:p>
        </p:txBody>
      </p:sp>
    </p:spTree>
    <p:extLst>
      <p:ext uri="{BB962C8B-B14F-4D97-AF65-F5344CB8AC3E}">
        <p14:creationId xmlns:p14="http://schemas.microsoft.com/office/powerpoint/2010/main" val="4282659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AF7729D-D5D1-4DE1-AABF-E56163D05158}"/>
              </a:ext>
            </a:extLst>
          </p:cNvPr>
          <p:cNvPicPr>
            <a:picLocks noChangeAspect="1"/>
          </p:cNvPicPr>
          <p:nvPr/>
        </p:nvPicPr>
        <p:blipFill>
          <a:blip r:embed="rId3"/>
          <a:stretch>
            <a:fillRect/>
          </a:stretch>
        </p:blipFill>
        <p:spPr>
          <a:xfrm>
            <a:off x="5933848" y="1858246"/>
            <a:ext cx="3106580" cy="3586978"/>
          </a:xfrm>
          <a:prstGeom prst="rect">
            <a:avLst/>
          </a:prstGeom>
        </p:spPr>
      </p:pic>
      <p:sp>
        <p:nvSpPr>
          <p:cNvPr id="2" name="Title 1"/>
          <p:cNvSpPr>
            <a:spLocks noGrp="1"/>
          </p:cNvSpPr>
          <p:nvPr>
            <p:ph type="title"/>
          </p:nvPr>
        </p:nvSpPr>
        <p:spPr>
          <a:xfrm>
            <a:off x="611560" y="323455"/>
            <a:ext cx="6347713" cy="1320800"/>
          </a:xfrm>
        </p:spPr>
        <p:txBody>
          <a:bodyPr/>
          <a:lstStyle/>
          <a:p>
            <a:r>
              <a:rPr lang="en-AU" dirty="0"/>
              <a:t>How do Plant Cells Specialise?</a:t>
            </a:r>
          </a:p>
        </p:txBody>
      </p:sp>
      <p:sp>
        <p:nvSpPr>
          <p:cNvPr id="3" name="Content Placeholder 2"/>
          <p:cNvSpPr>
            <a:spLocks noGrp="1"/>
          </p:cNvSpPr>
          <p:nvPr>
            <p:ph idx="1"/>
          </p:nvPr>
        </p:nvSpPr>
        <p:spPr>
          <a:xfrm>
            <a:off x="700267" y="1299668"/>
            <a:ext cx="6347714" cy="5297683"/>
          </a:xfrm>
        </p:spPr>
        <p:txBody>
          <a:bodyPr>
            <a:normAutofit fontScale="92500" lnSpcReduction="10000"/>
          </a:bodyPr>
          <a:lstStyle/>
          <a:p>
            <a:r>
              <a:rPr lang="en-AU" dirty="0"/>
              <a:t>Unlike animals, many plant cells retain the ability to differentiate and specialise throughout their life. These cells are found in tissues called </a:t>
            </a:r>
            <a:r>
              <a:rPr lang="en-AU" b="1" dirty="0"/>
              <a:t>meristems</a:t>
            </a:r>
            <a:r>
              <a:rPr lang="en-AU" dirty="0"/>
              <a:t>.</a:t>
            </a:r>
          </a:p>
          <a:p>
            <a:endParaRPr lang="en-AU" dirty="0"/>
          </a:p>
          <a:p>
            <a:endParaRPr lang="en-AU" dirty="0"/>
          </a:p>
          <a:p>
            <a:endParaRPr lang="en-AU" dirty="0"/>
          </a:p>
          <a:p>
            <a:endParaRPr lang="en-AU" dirty="0"/>
          </a:p>
          <a:p>
            <a:endParaRPr lang="en-AU" dirty="0"/>
          </a:p>
          <a:p>
            <a:endParaRPr lang="en-AU" dirty="0"/>
          </a:p>
          <a:p>
            <a:endParaRPr lang="en-AU" dirty="0"/>
          </a:p>
          <a:p>
            <a:endParaRPr lang="en-AU" dirty="0"/>
          </a:p>
          <a:p>
            <a:endParaRPr lang="en-AU" dirty="0"/>
          </a:p>
          <a:p>
            <a:r>
              <a:rPr lang="en-AU" dirty="0"/>
              <a:t>Meristematic cells undergo</a:t>
            </a:r>
            <a:r>
              <a:rPr lang="en-AU" baseline="0" dirty="0"/>
              <a:t> mitosis allowing the plant to grow and are the only places in plants where cells divide.</a:t>
            </a:r>
          </a:p>
          <a:p>
            <a:r>
              <a:rPr lang="en-AU" baseline="0" dirty="0"/>
              <a:t>They are found at the tips of roots and shoots and in a ring around the inside of stems and branches.  </a:t>
            </a:r>
            <a:endParaRPr lang="en-AU" dirty="0"/>
          </a:p>
        </p:txBody>
      </p:sp>
      <p:pic>
        <p:nvPicPr>
          <p:cNvPr id="4" name="Picture 3"/>
          <p:cNvPicPr>
            <a:picLocks noChangeAspect="1"/>
          </p:cNvPicPr>
          <p:nvPr/>
        </p:nvPicPr>
        <p:blipFill>
          <a:blip r:embed="rId4"/>
          <a:stretch>
            <a:fillRect/>
          </a:stretch>
        </p:blipFill>
        <p:spPr>
          <a:xfrm>
            <a:off x="467544" y="2269336"/>
            <a:ext cx="5112568" cy="2674373"/>
          </a:xfrm>
          <a:prstGeom prst="rect">
            <a:avLst/>
          </a:prstGeom>
        </p:spPr>
      </p:pic>
    </p:spTree>
    <p:extLst>
      <p:ext uri="{BB962C8B-B14F-4D97-AF65-F5344CB8AC3E}">
        <p14:creationId xmlns:p14="http://schemas.microsoft.com/office/powerpoint/2010/main" val="3393606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3" name="Rectangle 5"/>
          <p:cNvSpPr>
            <a:spLocks noGrp="1" noChangeArrowheads="1"/>
          </p:cNvSpPr>
          <p:nvPr>
            <p:ph type="title"/>
          </p:nvPr>
        </p:nvSpPr>
        <p:spPr>
          <a:xfrm>
            <a:off x="539552" y="252489"/>
            <a:ext cx="6347713" cy="728239"/>
          </a:xfrm>
        </p:spPr>
        <p:txBody>
          <a:bodyPr/>
          <a:lstStyle/>
          <a:p>
            <a:r>
              <a:rPr lang="en-US" dirty="0"/>
              <a:t>Levels of Organisation</a:t>
            </a:r>
          </a:p>
        </p:txBody>
      </p:sp>
      <p:sp>
        <p:nvSpPr>
          <p:cNvPr id="8" name="Content Placeholder 7"/>
          <p:cNvSpPr>
            <a:spLocks noGrp="1"/>
          </p:cNvSpPr>
          <p:nvPr>
            <p:ph sz="quarter" idx="1"/>
          </p:nvPr>
        </p:nvSpPr>
        <p:spPr>
          <a:xfrm>
            <a:off x="179512" y="1428428"/>
            <a:ext cx="2897904" cy="4495800"/>
          </a:xfrm>
        </p:spPr>
        <p:txBody>
          <a:bodyPr/>
          <a:lstStyle/>
          <a:p>
            <a:r>
              <a:rPr lang="en-US" dirty="0" err="1"/>
              <a:t>Organisation</a:t>
            </a:r>
            <a:r>
              <a:rPr lang="en-US" dirty="0"/>
              <a:t> is a defining feature of living things.</a:t>
            </a:r>
          </a:p>
          <a:p>
            <a:r>
              <a:rPr lang="en-US" dirty="0"/>
              <a:t>Organisms are organised according to a hierarchy of structural levels.</a:t>
            </a:r>
          </a:p>
          <a:p>
            <a:r>
              <a:rPr lang="en-AU" dirty="0"/>
              <a:t>The cells together form tissues and tissues together form organs, which make up all the different part of the multicellular organism.</a:t>
            </a:r>
          </a:p>
          <a:p>
            <a:endParaRPr lang="en-AU" dirty="0"/>
          </a:p>
        </p:txBody>
      </p:sp>
      <p:pic>
        <p:nvPicPr>
          <p:cNvPr id="5122" name="Picture 2" descr="http://anatomyandphysiologyi.com/wp-content/uploads/2013/05/levels-of-structural-organiz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640" y="1124744"/>
            <a:ext cx="5651363" cy="5416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6988295"/>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11560" y="632310"/>
            <a:ext cx="7056784" cy="6072697"/>
          </a:xfrm>
        </p:spPr>
      </p:pic>
      <p:sp>
        <p:nvSpPr>
          <p:cNvPr id="3" name="Rectangle 5">
            <a:extLst>
              <a:ext uri="{FF2B5EF4-FFF2-40B4-BE49-F238E27FC236}">
                <a16:creationId xmlns:a16="http://schemas.microsoft.com/office/drawing/2014/main" id="{628181B9-44B2-43EF-9073-87B1D6646ED0}"/>
              </a:ext>
            </a:extLst>
          </p:cNvPr>
          <p:cNvSpPr>
            <a:spLocks noGrp="1" noChangeArrowheads="1"/>
          </p:cNvSpPr>
          <p:nvPr>
            <p:ph type="title"/>
          </p:nvPr>
        </p:nvSpPr>
        <p:spPr>
          <a:xfrm>
            <a:off x="1691680" y="-95929"/>
            <a:ext cx="6347713" cy="728239"/>
          </a:xfrm>
        </p:spPr>
        <p:txBody>
          <a:bodyPr/>
          <a:lstStyle/>
          <a:p>
            <a:r>
              <a:rPr lang="en-US" dirty="0"/>
              <a:t>Levels of Organisation</a:t>
            </a:r>
          </a:p>
        </p:txBody>
      </p:sp>
    </p:spTree>
    <p:extLst>
      <p:ext uri="{BB962C8B-B14F-4D97-AF65-F5344CB8AC3E}">
        <p14:creationId xmlns:p14="http://schemas.microsoft.com/office/powerpoint/2010/main" val="2474579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56119"/>
            <a:ext cx="6347713" cy="1320800"/>
          </a:xfrm>
        </p:spPr>
        <p:txBody>
          <a:bodyPr/>
          <a:lstStyle/>
          <a:p>
            <a:r>
              <a:rPr lang="en-AU" dirty="0"/>
              <a:t>Types of Plant Cells</a:t>
            </a:r>
          </a:p>
        </p:txBody>
      </p:sp>
      <p:sp>
        <p:nvSpPr>
          <p:cNvPr id="3" name="Content Placeholder 2"/>
          <p:cNvSpPr>
            <a:spLocks noGrp="1"/>
          </p:cNvSpPr>
          <p:nvPr>
            <p:ph idx="1"/>
          </p:nvPr>
        </p:nvSpPr>
        <p:spPr>
          <a:xfrm>
            <a:off x="320724" y="1592725"/>
            <a:ext cx="3746378" cy="4500571"/>
          </a:xfrm>
        </p:spPr>
        <p:txBody>
          <a:bodyPr>
            <a:normAutofit fontScale="92500" lnSpcReduction="10000"/>
          </a:bodyPr>
          <a:lstStyle/>
          <a:p>
            <a:r>
              <a:rPr lang="en-AU" b="1" dirty="0"/>
              <a:t>Parenchyma cells </a:t>
            </a:r>
            <a:r>
              <a:rPr lang="en-AU" dirty="0"/>
              <a:t>– majority of plant cells.  They carry out photosynthesis and cellular respiration, store starch and proteins and play a role in repair.</a:t>
            </a:r>
          </a:p>
          <a:p>
            <a:r>
              <a:rPr lang="en-AU" b="1" dirty="0"/>
              <a:t>Collenchyma cells </a:t>
            </a:r>
            <a:r>
              <a:rPr lang="en-AU" dirty="0"/>
              <a:t>– provide support and structure to growing plants.</a:t>
            </a:r>
          </a:p>
          <a:p>
            <a:r>
              <a:rPr lang="en-AU" b="1" dirty="0"/>
              <a:t>Sclerenchyma cells </a:t>
            </a:r>
            <a:r>
              <a:rPr lang="en-AU" dirty="0"/>
              <a:t>– hard (dead) cells with thick secondary walls that support areas of the plants no longer growing.</a:t>
            </a:r>
          </a:p>
          <a:p>
            <a:r>
              <a:rPr lang="en-AU" b="1" dirty="0"/>
              <a:t>Xylem cells </a:t>
            </a:r>
            <a:r>
              <a:rPr lang="en-AU" dirty="0"/>
              <a:t>– transport water.</a:t>
            </a:r>
          </a:p>
          <a:p>
            <a:r>
              <a:rPr lang="en-AU" b="1" dirty="0"/>
              <a:t>Phloem cells </a:t>
            </a:r>
            <a:r>
              <a:rPr lang="en-AU" dirty="0"/>
              <a:t>– transport nutrients.</a:t>
            </a:r>
          </a:p>
        </p:txBody>
      </p:sp>
      <p:pic>
        <p:nvPicPr>
          <p:cNvPr id="4" name="Picture 3"/>
          <p:cNvPicPr>
            <a:picLocks noChangeAspect="1"/>
          </p:cNvPicPr>
          <p:nvPr/>
        </p:nvPicPr>
        <p:blipFill>
          <a:blip r:embed="rId3"/>
          <a:stretch>
            <a:fillRect/>
          </a:stretch>
        </p:blipFill>
        <p:spPr>
          <a:xfrm>
            <a:off x="4017634" y="1124744"/>
            <a:ext cx="5145831" cy="4816737"/>
          </a:xfrm>
          <a:prstGeom prst="rect">
            <a:avLst/>
          </a:prstGeom>
        </p:spPr>
      </p:pic>
    </p:spTree>
    <p:extLst>
      <p:ext uri="{BB962C8B-B14F-4D97-AF65-F5344CB8AC3E}">
        <p14:creationId xmlns:p14="http://schemas.microsoft.com/office/powerpoint/2010/main" val="4045051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476672"/>
            <a:ext cx="6347713" cy="1320800"/>
          </a:xfrm>
        </p:spPr>
        <p:txBody>
          <a:bodyPr/>
          <a:lstStyle/>
          <a:p>
            <a:r>
              <a:rPr lang="en-AU" dirty="0"/>
              <a:t>Plant Tissues</a:t>
            </a:r>
          </a:p>
        </p:txBody>
      </p:sp>
      <p:sp>
        <p:nvSpPr>
          <p:cNvPr id="3" name="Content Placeholder 2"/>
          <p:cNvSpPr>
            <a:spLocks noGrp="1"/>
          </p:cNvSpPr>
          <p:nvPr>
            <p:ph idx="1"/>
          </p:nvPr>
        </p:nvSpPr>
        <p:spPr>
          <a:xfrm>
            <a:off x="609598" y="1412776"/>
            <a:ext cx="6347714" cy="3880773"/>
          </a:xfrm>
        </p:spPr>
        <p:txBody>
          <a:bodyPr/>
          <a:lstStyle/>
          <a:p>
            <a:pPr marL="0" indent="0">
              <a:buNone/>
            </a:pPr>
            <a:r>
              <a:rPr lang="en-AU" dirty="0"/>
              <a:t>Three main layers of tissue –</a:t>
            </a:r>
          </a:p>
          <a:p>
            <a:r>
              <a:rPr lang="en-AU" b="1" dirty="0"/>
              <a:t>Epidermis or Dermal Tissue </a:t>
            </a:r>
            <a:r>
              <a:rPr lang="en-AU" dirty="0"/>
              <a:t>– the “skin” of the plant.  Thin layer of tightly packed cells that line and protect the plant.</a:t>
            </a:r>
          </a:p>
          <a:p>
            <a:r>
              <a:rPr lang="en-AU" b="1" dirty="0"/>
              <a:t>Ground Tissue </a:t>
            </a:r>
            <a:r>
              <a:rPr lang="en-AU" dirty="0"/>
              <a:t>– the bulk of the plant tissue, contains the photosynthetic cells and storage.</a:t>
            </a:r>
          </a:p>
          <a:p>
            <a:r>
              <a:rPr lang="en-AU" b="1" dirty="0"/>
              <a:t>Vascular Tissue </a:t>
            </a:r>
            <a:r>
              <a:rPr lang="en-AU" dirty="0"/>
              <a:t>– the transport system made up of the xylem and phloem cells.</a:t>
            </a:r>
          </a:p>
        </p:txBody>
      </p:sp>
      <p:pic>
        <p:nvPicPr>
          <p:cNvPr id="1026" name="Picture 2" descr="http://www.sciencepartners.info/wp-content/uploads/2012/08/plantcrossection.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4130175"/>
            <a:ext cx="4052301" cy="255808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4D99D23-37C8-EF22-CAB8-C37472D42703}"/>
              </a:ext>
            </a:extLst>
          </p:cNvPr>
          <p:cNvSpPr txBox="1"/>
          <p:nvPr/>
        </p:nvSpPr>
        <p:spPr>
          <a:xfrm>
            <a:off x="7308304" y="5517232"/>
            <a:ext cx="772235" cy="276999"/>
          </a:xfrm>
          <a:prstGeom prst="rect">
            <a:avLst/>
          </a:prstGeom>
          <a:noFill/>
        </p:spPr>
        <p:txBody>
          <a:bodyPr wrap="square" rtlCol="0">
            <a:spAutoFit/>
          </a:bodyPr>
          <a:lstStyle/>
          <a:p>
            <a:r>
              <a:rPr lang="en-GB" sz="1200" dirty="0"/>
              <a:t>(Cortex)</a:t>
            </a:r>
            <a:endParaRPr lang="en-AU" sz="1200" dirty="0"/>
          </a:p>
        </p:txBody>
      </p:sp>
    </p:spTree>
    <p:extLst>
      <p:ext uri="{BB962C8B-B14F-4D97-AF65-F5344CB8AC3E}">
        <p14:creationId xmlns:p14="http://schemas.microsoft.com/office/powerpoint/2010/main" val="2695049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899592" y="548680"/>
            <a:ext cx="6347713" cy="1320800"/>
          </a:xfrm>
        </p:spPr>
        <p:txBody>
          <a:bodyPr/>
          <a:lstStyle/>
          <a:p>
            <a:r>
              <a:rPr lang="en-US" dirty="0"/>
              <a:t>Plant Systems</a:t>
            </a:r>
            <a:endParaRPr lang="en-AU" dirty="0"/>
          </a:p>
        </p:txBody>
      </p:sp>
      <p:sp>
        <p:nvSpPr>
          <p:cNvPr id="3" name="Content Placeholder 2"/>
          <p:cNvSpPr>
            <a:spLocks noGrp="1"/>
          </p:cNvSpPr>
          <p:nvPr>
            <p:ph idx="1"/>
          </p:nvPr>
        </p:nvSpPr>
        <p:spPr>
          <a:xfrm>
            <a:off x="609599" y="1556792"/>
            <a:ext cx="4689569" cy="4248472"/>
          </a:xfrm>
        </p:spPr>
        <p:txBody>
          <a:bodyPr>
            <a:normAutofit/>
          </a:bodyPr>
          <a:lstStyle/>
          <a:p>
            <a:r>
              <a:rPr lang="en-US" dirty="0"/>
              <a:t>Individual cells are organised into tissues (such as photosynthetic tissue), which form the organs (such as the leaf) of the plant body. Each of these tissues is specialised to perform important functions.</a:t>
            </a:r>
          </a:p>
          <a:p>
            <a:r>
              <a:rPr lang="en-US" dirty="0"/>
              <a:t>These include obtaining energy, producing organic compounds, distributing materials, removing wastes and exchanging gases.</a:t>
            </a:r>
          </a:p>
          <a:p>
            <a:r>
              <a:rPr lang="en-US" dirty="0"/>
              <a:t>The structure of a vascular plant ensures that each organ – the leaves, stem, roots, flowers and seeds – receives what it needs.</a:t>
            </a:r>
          </a:p>
          <a:p>
            <a:endParaRPr lang="en-AU" dirty="0"/>
          </a:p>
        </p:txBody>
      </p:sp>
      <p:pic>
        <p:nvPicPr>
          <p:cNvPr id="1026" name="Picture 2" descr="http://www.anselm.edu/homepage/bpenney/teaching/bi102/Elements/31_06PlantTissueSystems_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6" y="3579565"/>
            <a:ext cx="3136370" cy="32784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images.tutorvista.com/cms/images/123/plant-morphology.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0178" y="79772"/>
            <a:ext cx="2952328" cy="3413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87070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65423"/>
            <a:ext cx="6347713" cy="1320800"/>
          </a:xfrm>
        </p:spPr>
        <p:txBody>
          <a:bodyPr/>
          <a:lstStyle/>
          <a:p>
            <a:r>
              <a:rPr lang="en-AU" dirty="0"/>
              <a:t>Plant Systems</a:t>
            </a:r>
          </a:p>
        </p:txBody>
      </p:sp>
      <p:sp>
        <p:nvSpPr>
          <p:cNvPr id="3" name="Content Placeholder 2"/>
          <p:cNvSpPr>
            <a:spLocks noGrp="1"/>
          </p:cNvSpPr>
          <p:nvPr>
            <p:ph idx="1"/>
          </p:nvPr>
        </p:nvSpPr>
        <p:spPr>
          <a:xfrm>
            <a:off x="3999120" y="1556792"/>
            <a:ext cx="3672408" cy="4525963"/>
          </a:xfrm>
        </p:spPr>
        <p:txBody>
          <a:bodyPr/>
          <a:lstStyle/>
          <a:p>
            <a:r>
              <a:rPr lang="en-US" dirty="0"/>
              <a:t>The </a:t>
            </a:r>
            <a:r>
              <a:rPr lang="en-US" b="1" dirty="0"/>
              <a:t>shoot system </a:t>
            </a:r>
            <a:r>
              <a:rPr lang="en-US" dirty="0"/>
              <a:t>is comprised of all parts of the plant found above ground. It is responsible for the transportation of resources, the absorption of oxygen and carbon dioxide, reproduction and carrying out photosynthesis in leaves.</a:t>
            </a:r>
          </a:p>
          <a:p>
            <a:endParaRPr lang="en-US" dirty="0"/>
          </a:p>
          <a:p>
            <a:r>
              <a:rPr lang="en-US" dirty="0"/>
              <a:t>The </a:t>
            </a:r>
            <a:r>
              <a:rPr lang="en-US" b="1" dirty="0"/>
              <a:t>root system </a:t>
            </a:r>
            <a:r>
              <a:rPr lang="en-US" dirty="0"/>
              <a:t>is below ground and is responsible for absorbing water and nutrients from the soil.</a:t>
            </a:r>
          </a:p>
          <a:p>
            <a:endParaRPr lang="en-AU" dirty="0"/>
          </a:p>
        </p:txBody>
      </p:sp>
      <p:pic>
        <p:nvPicPr>
          <p:cNvPr id="19458" name="Picture 2" descr="http://eima86.tripod.com/sitebuildercontent/sitebuilderpictures/20-08.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08" y="1340768"/>
            <a:ext cx="3922500" cy="4525962"/>
          </a:xfrm>
          <a:prstGeom prst="rect">
            <a:avLst/>
          </a:prstGeom>
          <a:noFill/>
          <a:extLst>
            <a:ext uri="{909E8E84-426E-40DD-AFC4-6F175D3DCCD1}">
              <a14:hiddenFill xmlns:a14="http://schemas.microsoft.com/office/drawing/2010/main">
                <a:solidFill>
                  <a:srgbClr val="FFFFFF"/>
                </a:solidFill>
              </a14:hiddenFill>
            </a:ext>
          </a:extLst>
        </p:spPr>
      </p:pic>
      <p:sp>
        <p:nvSpPr>
          <p:cNvPr id="4" name="Arrow: Down 3">
            <a:extLst>
              <a:ext uri="{FF2B5EF4-FFF2-40B4-BE49-F238E27FC236}">
                <a16:creationId xmlns:a16="http://schemas.microsoft.com/office/drawing/2014/main" id="{DDA56154-F694-7E33-DB38-D711A520924E}"/>
              </a:ext>
            </a:extLst>
          </p:cNvPr>
          <p:cNvSpPr/>
          <p:nvPr/>
        </p:nvSpPr>
        <p:spPr>
          <a:xfrm>
            <a:off x="3275856" y="4725144"/>
            <a:ext cx="144016" cy="2160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Arrow: Down 4">
            <a:extLst>
              <a:ext uri="{FF2B5EF4-FFF2-40B4-BE49-F238E27FC236}">
                <a16:creationId xmlns:a16="http://schemas.microsoft.com/office/drawing/2014/main" id="{73145031-E82E-4B56-3AE9-FAF2A57DD323}"/>
              </a:ext>
            </a:extLst>
          </p:cNvPr>
          <p:cNvSpPr/>
          <p:nvPr/>
        </p:nvSpPr>
        <p:spPr>
          <a:xfrm rot="10800000">
            <a:off x="3283453" y="4080560"/>
            <a:ext cx="144016" cy="2160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85100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title"/>
          </p:nvPr>
        </p:nvSpPr>
        <p:spPr>
          <a:xfrm>
            <a:off x="314206" y="95250"/>
            <a:ext cx="6447500" cy="1320800"/>
          </a:xfrm>
        </p:spPr>
        <p:txBody>
          <a:bodyPr>
            <a:normAutofit/>
          </a:bodyPr>
          <a:lstStyle/>
          <a:p>
            <a:r>
              <a:rPr lang="en-US" dirty="0"/>
              <a:t>Non-vascular Plants</a:t>
            </a:r>
            <a:endParaRPr lang="en-AU" dirty="0"/>
          </a:p>
        </p:txBody>
      </p:sp>
      <p:pic>
        <p:nvPicPr>
          <p:cNvPr id="5" name="Picture 4">
            <a:extLst>
              <a:ext uri="{FF2B5EF4-FFF2-40B4-BE49-F238E27FC236}">
                <a16:creationId xmlns:a16="http://schemas.microsoft.com/office/drawing/2014/main" id="{C69EDB69-480A-3AA1-DE8E-A89AA48A3121}"/>
              </a:ext>
            </a:extLst>
          </p:cNvPr>
          <p:cNvPicPr>
            <a:picLocks noChangeAspect="1"/>
          </p:cNvPicPr>
          <p:nvPr/>
        </p:nvPicPr>
        <p:blipFill rotWithShape="1">
          <a:blip r:embed="rId3"/>
          <a:srcRect l="2474" r="4" b="4"/>
          <a:stretch/>
        </p:blipFill>
        <p:spPr>
          <a:xfrm>
            <a:off x="2784150" y="1874549"/>
            <a:ext cx="1415820" cy="2778587"/>
          </a:xfrm>
          <a:prstGeom prst="rect">
            <a:avLst/>
          </a:prstGeom>
        </p:spPr>
      </p:pic>
      <p:pic>
        <p:nvPicPr>
          <p:cNvPr id="20484" name="Picture 4" descr="https://sites.google.com/site/christinaymccann/moss4.jpg"/>
          <p:cNvPicPr>
            <a:picLocks noChangeAspect="1" noChangeArrowheads="1"/>
          </p:cNvPicPr>
          <p:nvPr/>
        </p:nvPicPr>
        <p:blipFill rotWithShape="1">
          <a:blip r:embed="rId4">
            <a:extLst>
              <a:ext uri="{28A0092B-C50C-407E-A947-70E740481C1C}">
                <a14:useLocalDpi xmlns:a14="http://schemas.microsoft.com/office/drawing/2010/main" val="0"/>
              </a:ext>
            </a:extLst>
          </a:blip>
          <a:srcRect l="20966" r="8386" b="-5"/>
          <a:stretch/>
        </p:blipFill>
        <p:spPr bwMode="auto">
          <a:xfrm>
            <a:off x="214212" y="946644"/>
            <a:ext cx="2514910" cy="2376263"/>
          </a:xfrm>
          <a:prstGeom prst="rect">
            <a:avLst/>
          </a:prstGeom>
          <a:noFill/>
          <a:extLst>
            <a:ext uri="{909E8E84-426E-40DD-AFC4-6F175D3DCCD1}">
              <a14:hiddenFill xmlns:a14="http://schemas.microsoft.com/office/drawing/2010/main">
                <a:solidFill>
                  <a:srgbClr val="FFFFFF"/>
                </a:solidFill>
              </a14:hiddenFill>
            </a:ext>
          </a:extLst>
        </p:spPr>
      </p:pic>
      <p:sp>
        <p:nvSpPr>
          <p:cNvPr id="20491" name="Isosceles Triangle 8">
            <a:extLst>
              <a:ext uri="{FF2B5EF4-FFF2-40B4-BE49-F238E27FC236}">
                <a16:creationId xmlns:a16="http://schemas.microsoft.com/office/drawing/2014/main" id="{EDEA1E2F-218D-4172-856B-74C87C895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357491"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20486" name="Picture 6" descr="http://cdn.archinect.net/images/1200x/wv/wv977g7j6rrw2l89.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2760" r="8177" b="-1"/>
          <a:stretch/>
        </p:blipFill>
        <p:spPr bwMode="auto">
          <a:xfrm>
            <a:off x="214212" y="3507688"/>
            <a:ext cx="2504993" cy="2376264"/>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p:cNvSpPr>
          <p:nvPr>
            <p:ph idx="1"/>
          </p:nvPr>
        </p:nvSpPr>
        <p:spPr>
          <a:xfrm>
            <a:off x="4186727" y="1268760"/>
            <a:ext cx="3271229" cy="5017536"/>
          </a:xfrm>
        </p:spPr>
        <p:txBody>
          <a:bodyPr>
            <a:normAutofit lnSpcReduction="10000"/>
          </a:bodyPr>
          <a:lstStyle/>
          <a:p>
            <a:pPr>
              <a:lnSpc>
                <a:spcPct val="90000"/>
              </a:lnSpc>
            </a:pPr>
            <a:r>
              <a:rPr lang="en-US" dirty="0"/>
              <a:t>Non-vascular plants do not have vascular tissue. No xylem or phloem. </a:t>
            </a:r>
          </a:p>
          <a:p>
            <a:pPr>
              <a:lnSpc>
                <a:spcPct val="90000"/>
              </a:lnSpc>
            </a:pPr>
            <a:r>
              <a:rPr lang="en-US" dirty="0"/>
              <a:t>They do have root-like, stem-like and leaf-like structures. </a:t>
            </a:r>
          </a:p>
          <a:p>
            <a:pPr>
              <a:lnSpc>
                <a:spcPct val="90000"/>
              </a:lnSpc>
            </a:pPr>
            <a:r>
              <a:rPr lang="en-US" dirty="0"/>
              <a:t>Root-like structures called rhizoids are elongated cells that attach the plant to the soil.</a:t>
            </a:r>
          </a:p>
          <a:p>
            <a:pPr>
              <a:lnSpc>
                <a:spcPct val="90000"/>
              </a:lnSpc>
            </a:pPr>
            <a:r>
              <a:rPr lang="en-US" dirty="0"/>
              <a:t>They are normally found in moist environments, where they absorb water and nutrients from.  They have a cuticle to prevent water loss.</a:t>
            </a:r>
          </a:p>
          <a:p>
            <a:pPr>
              <a:lnSpc>
                <a:spcPct val="90000"/>
              </a:lnSpc>
            </a:pPr>
            <a:r>
              <a:rPr lang="en-US" dirty="0"/>
              <a:t>Best example of non-vascular plants are mosses.</a:t>
            </a:r>
          </a:p>
          <a:p>
            <a:pPr>
              <a:lnSpc>
                <a:spcPct val="90000"/>
              </a:lnSpc>
            </a:pPr>
            <a:endParaRPr lang="en-AU" sz="1100" dirty="0"/>
          </a:p>
        </p:txBody>
      </p:sp>
      <p:sp>
        <p:nvSpPr>
          <p:cNvPr id="2" name="AutoShape 2" descr="data:image/jpeg;base64,/9j/4AAQSkZJRgABAQAAAQABAAD/2wCEAAkGBxQTEhUUExQWFhUWGBwZGRgYGBkdGhkeHxocHSAfIB4bICggHSAnHRsdIjEhJSkrLi4uGh83ODMtNygtLisBCgoKDg0OGxAQGywkICQsLCwsLCwsLCwsLCwsLCwsLCwsLCwsLCwsLCwsLCwsLCwsLCwsLCwsLCwsLCwsLCwsLP/AABEIALcBEwMBIgACEQEDEQH/xAAbAAACAgMBAAAAAAAAAAAAAAAEBQMGAAECB//EADsQAAECBAQEBAQFBAIBBQAAAAECEQADITEEEkFRBSJhcRMygZEGQqGxFFLB0fAjYuHxM3IVBxaCkqL/xAAZAQADAQEBAAAAAAAAAAAAAAABAgMABAX/xAAkEQACAgIDAAEEAwAAAAAAAAAAAQIRAyESMUFRBBMiYTJxgf/aAAwDAQACEQMRAD8AX8QkD/kFVhNWFcuqrNTMQrZwYXYpJXVBJc6UKR5RQbj7mlodYCacxLqyJrRQp1DOKNf0beoTp+WfMTM5ueh8uVWYsbABnLhgOkcsoc0T42hrLxSJLggKUWuAQAQDuH1Hd+kTyseJmVLMSfMer0016RVOILMuYSCC5FmbfTvB2DxZBcC4c1IN6+jfeITw1uzOPFllTJyFTJuXUczhizFuheoNXsWhpwaUlJzk0qTq4O40Ox6i+iGdPymjB7fe4p94YYbFslJAsX6Navr/AC0c2SD7RpRvYnx/EpiJ0xK1sy1jU1ClMz2d/rGsLjSSSksGtduvb6jrDH4wwUogT2ZalJExQDc1g7UqAak7jQQkwuIYhwhh8wOlXdr+nXcQzgmrSIuHpZ04dGMQJU/VJUVDzoL3SSGYE1a7qFoBm/CISgo/EFSCAE50MzEMDlJzAdRrca6wuIZPKBVi5DVbTszv0hngsWVEAqZ1UDuCWcC7DbS8Sjnnj0gcmtCKb8ETlsUKkKG+Yh60smh7hmjrA8InyEZSgLUkmxJIZyKg7AgCj01u7VxBlEMcwPMHZ2+x/wAQeOKhRCnD0BoAp7370/d4pL6tyVSQPu+FXI5asbUYB6tRq0caEVidagg+Ylzu4OVTVPanXKKUaLSqehZaakKL3KQS1hcZS4Dd9jCriHCCB4mHJJSXyKLVL20IBIDGtqkmoU4yByTBcNJLuBmoQaFqOXBd6E+whlw7iDp5jyqzBYd8ySGu4ZxR+phHgMU0zLlykEgpU4IA5TZL+l70ieUopcVKWUO4e1qMHG3LoxMK009BTaZTuJYZeAmeFMzFBBMtYfmQ7MbMQzEAUc3d4svw3xdpZy3aoKqLsE1rlqGqGEPMbgJWKkiVMcJPMFByULHKFhyHBBAI+YMdHFc/8MvDr8CZlIU2WYPItBKSCNQyk1B/UE9kckZxv1FeVosnDcV4agQQAFAEDNyglJqCAQHdOzHYvA/x5g3w8ublyqkzFS3a6VkgHYspH/76wvwM4f1Ep5lB1s3nDjUaGo9Ic4afKxEudJmLDKc0qynooVAIdlXrma8bJUZJgbKbwVUvN/WYpPfKCVC+XoPrGYqTLM8okl0WqXc3LGj1LfWA58haVzJbg+GSg1bylqPeoJHaCuDSnIrcFTsCwBZjXUjY+UXh262FB+J4hNweHlrSR4k1axmIJKQFVINnzE19dBFImJOVmtbenW9Nov8A8ZIbDypSGKkozqoKgqbT/oa9d4oIIok6136fzpFcCSjfyWj/ABJ5Ew/NrRVm0Y/rHUmis0vlJegNhr1jkpTqwcMQSQDtXv7MY0pBDM9C7KZ9Rr3Iio1aIMXhVFSixOp6vUmNCbMSwNiMrEafv1hph1kEcwbQsCPpbSlImxKZqwoqSk5QSSBsOka/BuOhdMSQhCyxar6kbvG0KzAlBqPlOoarb60gCdN5ch0PtA6FsYahbG8uaZakzQL6VZQNFWqHDg6xudiyzAvLKnANSmjCtywMAysYrykkpd22J1iYWyjV9dP59oFAaJsYg2FduogOYX3ppE8hJCuY6AivpGYjDuM6dP5/O8FBB/w6TWsbjaFhr/WMggPVMOJYILNMUol6sQAKflMVz4p4aBiAJZOSZzZDQJUSQUgWIF6fm92k2bWva7bkEfeG0jhyJ6QJqGUk5kkKqAADVmLu/SOdSUULFq9nmWMwigFOoBSSKAuTY0IGgOuxgjh3EkOAtwQG/wC38aLHxr4bWk5pfOlRAZxmqaVcBqiv+4qXF+CTZITMXLIQosC4KX2cOxvQ1pFHFSQZJMs0sAVSoZWetv8APb6UiZE8yxnehbKGJDh2oLgt13inYackEhSyxS4ALpzaBQ/msWP4fnSiKkkUcBmzMX3a3Wh0uOWeLhsSuJcOGzZanRMZSZicpSpNDrXdz7UhTj+DihCqKuVMGqfu4++sFcNmpKkgEgAvYEORsbh+unWJuKyl+EtKEqdDEZXUVbtQE8oZ7AVakcbk7pCN30KDg1pYhWdLAAAkAGm9X6d2d4OPJKdQIYuCCdHevZywawdzCzDYsFdCMtCAKBhoRZv3h3jDmkLS3KpICTqDQnTYfx4lJPlTJtbK8jFqKicvKDdw7OW2dnIhzgZ4UlgHpXp2cv8AqIriMqDcu2haHMjEpADFgGLJ1JJB6701jZV8EmhqogkB2LZWcggu+pa7W2hikmWkE1SAzny9lBzc7VcO0KUrExAIYqqQrcDdgHA9e1THeHxKpdGTYMxuHszjfaJfsUZ4zBichEwUmglIWwtZlEC1mVX0eKpMUUTSHZYJz8rEEPmIDh7H1B7xcE4rw0qIajOlxc9Bbf2bYi8ewiJkr8SggKGUTEs+YOlLgGxFB+lXjoxyT0yqYDgJxrlACgHyuxcKfZjtRrw4mYcT0CRNYKSykq/KWIAsXANDdw2rMjlSGSFipSKi4pdnr7aM2oibDYoFQs1KJNdW5fej+7mCtbQUVvGT04bHrQpDctCXd/MFJswJOnQ3eLNhpcucnOg5DmJ5DQkuLbvX+5juYl+LOFficPnQkrn4ZIVLZytgoZ0s3MCnmAL1eztFf+H+IAPoSmvUguAH96uanYR6EZRyY1opVoF+IyuXOXMmpSAtfKUpUU5i7BVgFMKg0IJIfQrhyklMxSgyUpqtyyRYUFyxAHvWLLxOahctOZIKTyKA8qswdNi3ykAsWLXvFFPEhgUTJK1CauqMqQWuMzk6MHo9VDYwsoX0FDDDKOKnzFLKUy/DfKonypPkfQsKHcvCb4m4XIltMkzFEFKeUsanzBwzAMWJrp1gPGY10JEtRZye7gUIerZe1YNlBU7DmXyioUd+WjjfzaaA9X6IRaRRJoSzUOhIrrpWp/eBcRi3ATU5aen+4apdOZCjUABxoKH6EfSFeMlkzedk5iHUA40dVL7w67K1qzvCzGHKoh7h6GD18RUSHNWNbUbXQ694ZD4K/poWjEJWF1dKVZW9WL9CA1tI4xPwpiHTLRkUTYuQD0rAtXRP7sVqyqgEXjRMWOV8JzSnm5V1dLFx+/pHc7gMsIABV4gFToT20hrNyRW294nlTXABooWMFo4DiCFFKHCdXFewiNXC5oGbIovoA/0H2jWhiKbiCAAdH+sZIxTi1fuI4xgI5VJKTqCCGbvWBhSMjWT4rEHOrLZ41GxJer3jIID1Kckug60IYJIFdH2e0HJxJcPUUB8rjM9NjpTppAiMKpiagDzME2uSD+l3ESJWqYiYpSQR+V38oLk2IoKDrEuKEQZIzJHKrN/Y+ncuA4031eyP4tXkQtJDBZCstLPfK9K0djAXA8YtSpkySEFKTmUkukAf/H+AwD8XSZiMShWRQWoHOpxuGBowIFTuFCCh12K8fwYICVBQKVuwJZmYt65tYCwgVL5kWB5gDQ03HSsOF4ab4SguUpKCSQkkM133BdmpvEUqUUpWUpIGUILFxTelKgl/8wW9DNDvBcQTlDKu4UW5SAH+rCl6ekNhxpQFVVblGtvQM8UCYFI6gl2t7f4gnB8SNHApuHYelT0Nw0cWT6ZPZGUPg9HBGNl5M5QstzAXYvlKfmoSdKvarouOJmS0iSogLQty1QQ1CCTatCXJ3vAXDsRlJKFEpyLJHM2XoDqSQK6ttDfic8zkJmBsyUkL1LXsKFgq4Jjnri6ZOq7Kni0LzkqA1to3aj3r/uO8IVJY2pd+nrDHl1caMWa4uxcO2nSIETAxdQZ+X9P4+sM5NqqA+hhh1lJBDpN2c1Bp6ns1mg5OJroa6Gw1vWp1G8LZKVNmSQoNQVdPW9qtGBVHsRrq2ve31jncSDQ2x0wTFpUCpLC93vo/6xYOEYwZCWBSXSoVZ2O9ehfcelQRLmJKWTmcEjv/ADRobcGxJYuoup7G53Y0FQ3t6LVbMiwLlIUnw5ksZVKIcoIZJLAhSa521dy5rAOK+HZaQ8lSs6GLZXIYFyCkcwAq2rHeA8RPAPM4VkJdB5bVBoQl7AJoL6iGeDmpLLcOSllKSGDAnzButdu1H5Nllsi4JiVIJSHZN83yM1L+W7ADb0p2NwyJeMmoQAyJqgUMQwcqS5NGy1B2NWenp06UiYFFfKpgFNflIdx8yQyTZx6tFH+PcOZU9C9ZoBUUtz5AE065SPpTfpwPi2hlrsJ4fMSrNIWAp9X8pdGUtcAZsw3YxSvifCifi5ihTPlyvYJASjMSBYkEkblqxaMCpE0yyRknBLObKZmJZrgXY2rR4XfEkxUmeQlBADKKSCxz1Wkhi4C8ydqUtF4T4uxovYgxPAZkmXmJQtIcqKDmyVAcuBSo94lCjKGZEsqSzKIIp071izBapEsuQUpBd+Z0lQc/3glI6FlWaKzNCJeJWmUsqSGIcMSCBQgUJALHcAxfHNyjsrjdvZzicSFLCSlipNyKmpu52dMQy8MFqEoHMmtQl1Abs4ts+kEcYwIDkElQHKNg9YFVxJPLlzBQDWFdGd6gdt4P9HRGktnqnBeH4UYRCZUzMhIFQ4UVfNmTcF6t3hlPHhyimSAFAODuepNTT7x5v8H8cZX9Xnsk5QAs/lqbi4J6CLpieMYYsCt5jANUa26/4iir/Tiy4mnaWgrCSvxFJtQzLU5bNuk3BgTiWDIKk+GhAHlX5lED81H/AGhrhsMoqQSWliuUBraGCMfiUoUkrTzByBs9BTtDcdEEV3BYbLJUucAjpv2a4gbh/BCZ8qbXwU89Q1RUD3aLUjEonJJUlkJYJcCp6CBPxpUMqgaliGiaxpMpLJfR5X8f4NpviqmBUxZJKBUAEk0PT9e8VNQj2X4h4DJxUkSwDKWg5wttSGAO4OusePgaQ5XFK1RFSMjshO8bjFT2iVhQeigLCE2OwyirKlQylPMmoL9Qehv0iGZxxap6TLGRJU2ZTsp6kWbXV/vBcgBc2YQlkpZybKLAlKRqbUiMmaEa2xQj4bUmchSCAhRCJgNkZqgEfMk7btvFtGD8R/FZakqPMBY/9ex+3RhfxUwcuUgF8zXVV2BepajCAFzVhJWkl0LSScpSoc4DbkMWa/eMv2AI43hpUkiWsIzBikuyVAfLQF1BzSBZnDg6ZgWM4oXZLgioVnyuzFwoMa1pXXEscijZVc4cGmlw7sfT61gFMsKFHCjTKUuynYC2t6fSBNS42hJN+HPFvhNKUKZJykggZw8u+ZKSSQWYkByCCNYUTsAqWsNLVlcALCMwqWY0IBej9t4t82YsyyOUgJAABALNzAF6kDmDflPqtxMtaVg5gAAGKl5dKit+1+kcv321sDlqzrhgaSEqYpExKQoJGxU29SE0NIbYNakqYJoBRjdwdA4b5X/eAVI8aSMpo6iQTRkpBYC4Ae0DYcZQEkNUgsQGqGIemhDihbWOST5bRFysl49whx40lGYZXVLJDux8uhvbp2ircIWZpOYeY8rmjDuRYPHoODnhCquQaBR0c9r1d+pFawl4thfBnkaKzLQpurqDuPmUrrUdIviyXFp9jRloW/h1JZIIVW9HGjVtVh1tBAwrAh1PQpo2oqaOKkhm02jJZuUhw5ego1btS+uw0aOF4wuxIcflatN9Retr7l0aZOSGuAmZHq5elKHe3+ukPpKUz0GgEwjlXboAd9exMVOTO+ZhtppQtY2+8OfhyfmVUsXpp76RzcWnZNaZrErZXMFBUsjMKaFtquTfXWlQeiYXDCiSU1U+cWc0ue40u7wHxDFPPVQZScpBdsqQynNqiutBBT+HLSoqNSHp9w7Vfs5rFVHwrFMsIXRagSGyrDPQ6ilxV7elaTcTwcvGSFSSwUXyqIcoUBQ9KEJIFWfeEeE4kMgTylID8xYNShJtc26xNhccCkLQXAQqoZ6C9Ddm139KLTso0UnALmS1plrSy5RKMhu7FqgWqKm4h78QYTxMPLnMErQyFKCg5HNlBDbqB2PqId4jh0nGJSsFpqRkcWPlYbEhwAaajaNYbA1XJmVykKDjzMo9XJKT0P6U5eoRdlJ8XDrwpObKtEwiUEk8wzUca8tR2hBxaXlmnL5uUl62srqHb2hphZPhrSVKZUw8oS3lU4uCGVca9Yi+IsG8xKhygpSlLbvUVN3IV2VHVinviWg9m+IETZQUAzVY6PQj+bRW58oBP8bv76Q1mIOZyoAu5AfKTd+g19xtAyFg8uWud7mxbpWtXi3TOmIrwuKyG7bECH2Hx4nKlqKhRYzP6VO9hZ6Qm4rhDnoAAAD29o5wqddHqzwddmtr8T2zC8YHgBYUwWoqcvUgpcB9L+0c47GJJBbNnF/lSf3MVFXFpH4REpKlLUmlSGGpZm7Vhhwn4wklSZP4ZgAypmcUAF6jU9YopO6OGWOXJ60WqRhxKlmZNmUBzAMADtpvCmXj6FSgwKnvXe2mlYJ4hh5cxKiuYSEh8pIFrUFf5aBcGgKmjKUqcUd2Daq9LJgskST5nilpaTm216KO4jyX4l4NNwk7w52UqIzugkipO4DWNI9lmY1Moqs7gU3O/X6CKr8ZeHNlMtTE5piVUulLAermM1opCXFnmHhRkbJ6RqEOyj19EhMsKIKVFVUBgmgSmgN7jXfrCFc9MsEJC1OXJINjU5h9aDQRapi05SlJS7DlDBh2FgH6RXcZhs5oscvKQpRSHUWap22PZ4mkK5EmD4iVsqWClFiakqG/T0rEkziswr8wBJU5IckCia/Xfe1auSM7rIlpSxSQopchw6SCz09mrB/jKRzpWSArLlIOwqDrV94LQCfHklSgU3YknQuQQQbMX6MYmGJQFf1cuagBFQWZnFtDXakCTsZm5VUyflCedRrmNjUabR2lIKTQCjhLAqBFhm/Kb30iOWdR7FkNcJLqDKcqotNKBixDAnMKbQXxXh4XIUQkul1hjYgGm/lYN0HqplS2YKIUCCWP9rBuvN7ttDBOOYgJJG1SAXr6jvHntvslYs4Ko+BmFWUvtUyde0F4wsaIA2L1oC5t0F2ozXMO8LIE1ASkBKgc5AAZWrbAnWKxh8YZ5UpCVOuYvlUTmDEsCLgsA4OsGEbuQIxq2FIXTK4AL0YEpctZqGv0hwvBfiJZllRBFUKrRQG92IoaV9A4WF4MAypqsocgAFLj1qOl9R6GYYhF0qAYWzFmdqlIDPrpW1InfF2L0ypAKlKXKmoKVg6nzM7WBzXb00eOMQglY5Adx3Acgex1t6xbviHhAxCElLeKkOhYqSK2qQeod6uK3qZmKQQcquWtDUVDv6FtLax1JqW0NR1LXewDv9O4alxb2hvweYE1PKA5JFG03r3G40iORw5CgquVgpy+moZPTRzQ72gTMJVykhFkp3YuHcEen+Ik69BQTw3EBU5SgFOpZWWHmBL0F3rvXR4mxGIK1rAAKjlJ8xPlTStgxHS40iHDhlJfKCKFgGsW9GcRJxJSkqKtEpCspPKCCzPr7aga01pvQSbAFRQtZzUUkpsTQmrGlKuewaOOGY7KrNXK5pdOUqCTTbuA7swcQLKxajICWAMylzYKCnu2wUSWZQeNYXMpZUwYNmAuQ9EmrVLXMbi0Gi28LSJc+lUKdSHyihDqHcVqb6+aCcXNEwonBQJQAlYLMxfKoObZiUu+urGEuEx7ozqJCpaiwe4UGIGr8oUNxTszwa0KyrGqCkoDgLNyA1QXF97WjL4M+qEnxVhAa5MrgqABdiA5qz6k1taKVj8crIlC0DlJLGhOYg30sGbWPQvibDibLUJaC9KAspIWKEvRXlS4ocpJ70kYYK/pzFNNSQwINHrZw4vchqdY68TjFWxouuwRagsPmqLO7GtDXWt/4Fy8MEqSqoAv+sFTAqXOKUpPJS/KToR0MaKgpcxBSQCmhq6H6bPpuDHT2dKZItaVJUaFTEg1J1fW2rdIUy0qQoKT/j/X7wSiQpNmdBILVY7hrgiOsguBe+1e1t26iMtFHsgxGIzFllgo06de0N/h0BUwpGqaqIoz2pY2btFflyAtQAu7NWL1guJypH9PIV5QVJZk1F2Yaj6iG9o5ssqVD+bg5SUoIKioKBqSHO5giXMWvKEhCVqVmykgJ1ckjp9YqUvjKJk0Nh7kOVzJiursS0P8Nj0KSpY5EI8yqEEC4AIeKKjkaoJ4i8uSVy0pWlAKjMWQQkkl6XUt6e0Vb4tw65+FROLlSVgMaHKR+XvrE3GePpmJaXlEuWR4aS4ruer/AGio8ZxZISBMz5qqLm+zQG0ymONsFMtOhjIX1jIB1HsmBXLIUFTDqEhbV3FK626igitcaly1rI5nSmqXc35bnq5oNIfTcAHKUpUy053U1FAty1oWYN0ircZkqM7mBLFIPldgKMwfR6wqFSNiSiUiXMS5zUUjN1vYU/WGM2csICeQJYtlUl1JsSHc/a9doiGElpZKVJU9FOXZqjlJbVrNXeOMZwwyjKMtQyrBUOpdi40LdoScqRno5wU0SiVAJuxuXelOtbwfIkgtmUC5qkCgs4Bcub6N7QqDJWAryZmJS5YMzvu+mphxImfMRrRIGwAHUOwdo4WnQjWjUuV5yokkUY7CmY000b6xCElKQKnckd/WgMHYokBzSppuGDD0AEDokKXagd70216sOrxzu/CTD+EzyhT/ADUd3I1B+va8NV8Kk+LMnSaTJxSVCwKhcjYl9rvvCHDSMsw5+W/mLDleh6U+0bweNXezK39Dcvaov7Qtyj0a6CMZiFy1ZFjLpYauXGrZmqNheIMPjEg3dLvRiKXBeovtWHqpiJ6FJmGqS6SQNS99XSw9ekJlyBKooAEWznM/VwwILCrRkrFDeH4oJUj5kuzak7ja4HpHXHuBpWoTkcpU9QoM7nN9z7m1HW8NzBaahZ1qaaMAx+3Wtof4WaFZ2qWolR/LUdDqxNXgxbgzLRWTKUGlqIQli9kk1YvuKAv1HaO04dAQQBmOprSg9RUiuvaGPxDw3KgTAzpLVuQsvTQm4hdh1FTVsNaswchtqPTUdoaTbGuzhc5KVDOvKDcUzk3GruQd+toYY0iaUlR3drPR8va3rsXiTBr8RIQBUpyuUijWqRoSz/WkcIlBSiFBgCwtQ2NSzXobcpvBkkuhqSFc7BMFmSGykh8xAZ6A1FiCNbNSBlYoKUVJChlAChm1agGapCTqIe4aWGVNG2YuCwNHateYdXPalQ+Ksd4MyWUt4nMSB5cpykWZ+bN1pFMVzfEK2WKQsGVMB5SMpBeublDNuAo+/YxZpYQZctScoDnK4uQCTrZi1K1NmMULhWLBlzCCzpAcjdadq312BppF2Mt0SFZQQEKBBuKhyLA0SR3ZuomuLoV6OE4rJMSSDmMoZk0ZkqUkFjzeUMA93tC3i+HVMyrUHmSk+ZgPFRlcKAFi5zeihswHEcRmn4YFRyTkGWSwHzEFjSwmgsQA7w+wE1gpBLpQAWrmRVz5uUApbUkA31DP8V/YvRQPihCk4lRoRMSkMUgCiMoFy1A7PAMmZ4Skn5WZTVIvrcF+sMPiGdnmz0L86JqgTWoQQkkAWs4aFi5bEoapFiXBG4P1jvhpI6o9BuOCM5XJLhQZQ10qO94ETLUM5BBSCD0q40NoGTOKU1DFNDe/poYZ4HGJHKlF0uovQ0/37QaH5aoN+D0STNmmZlzJlkoSdSwrarDT10iZeFQrKtzLmoWQQoEp6ORZxqREEjCllqBCcoFrkKpR71LEdYgx09IZivyhyTVRDh2NGGgjOtM58sG3yQRgsKtiAgqWSQCNA/TpDmcJ8rDy5MtDLmrJXRwEpolJ7kk+kV/EcYkqSAsTnAZ3F/RoZ/DuPCJ7ecDDllKd7EgNYF4oiXF+kZ4ZLXyoQcxSlWZz4aiasdU7awp4/wAPsPD8NaRzD1p3veJJs9f9Npa8jABypk+x+8Gr4gFoHiHOp2BSedCHYlzfsf1gUrDG70UrLG4dY+XIExQQpRSDQuz+hEahqOjl+j0z4ixMtMvICVLqRkUyaaFXUU9oq3D1fiApSlJUp2LKV4ku7kU5gGZn94u+M4cgJSyQliOUCid3GgvpHlk2VMlz8QkLyFKllRBAcHmp6GJRexqpBGOxyJboClZkFqqCidj1o16jrBOExRUUlc3xFKq1KgUIzC1NH9oraE5ySASLZmLfWsN+DYNQJ8TlSkM1SFO/WlxpCzVoDWh9MxCPLZIckjdtXZ7fQQVJmDloRQBNn/xf7wIESyAEhwWAalqAbi712EEVAyizEOC9DT3aOFkWTCgAU+Uu1AVamnoX0eCJM0AAOGDgufy1B7uBoIiwCOVIKSoBJbKa1skkguas/aOkYRT1dv7jofqfrEHQDnFYckPcu7GppsbaisDCSxTmLE1GagKqt0Zm9oc4GWPKrelaNpVjs4iabg1q8rBwaMlyQWo9NekCLQKsgwuIVR6saUoC4b7Aj7Vjn40xZThkFHnMwNQWAJV2Bf6QvnYWfLoDnYmuv1PSkCfEapivACg6CFZr0VRrbOP48VglejLQFwniJMwBaEPcEE3BqVd212G8W7heLHjVZNxe5a4AcAt1ZhFOxUvIcoGl96AvvDTAoUopqrMSAk6AE120ce0abTA3Zc+KCWrDjMQE86S5ACXAIPQjQaZoqvCQcgJDqQmz2J5e9Emo6aNE3HMUVNJQeVJINzmUN20DG/roy+Ugpl5RZQ3sXJYai4BapBNmjdoNjjAoCSCioBJ1cFk1LUPkt39euMcNWBmllAWCoFJJBWlRpatjXq8C4dXhpJNCtmYOwJD1tQADoVDeJuIcRORLXzAEAOWIYZavQn/NjGregoEwy1AKzy8oAUBYCzjzVfzDS4ir/HUh/CmCzFBYChzFQ62epqwvF5wU11S0qqF5pZJJIANnYMcwzBzoBvFYxWGBlTBMByICspILggliDodx1IMUwOpcgrTsV8CyGWTnyZOZdSAlgztQE1+pi9ysambIT4YJCk5RQsMqU7HqHbUvHnmMwKUrSzETG7sTs/S/WLvwSWhEtGaqcpsHFSlLEvS/evvTOl/IM1qweeiWFBKkIJlAEFWrkObi/LQ2yaNVtiATkMssEggAhswI0yuRlSoA027gXifDpq0ZpYSpSuVQdL+YZToDo7s/TXjBhfgIAdIAWKghRPykmwN0uac3oAlGUV8EuxH8e8OKMR+ISpxOZaSLhQSkTAoNV70/PFeWkqSkBmYZbuk0d94vHxLgVT8EPCClqkzUEsa5SnKrlAZ85HXV4p3C8Oua6UaArIoGALPU9W1vHThlyiXhLQrWpicwbe/v9oa8IwTpTMWmZ4AzJVMQHILOzGmo6VED4rDHupJKRv2Oj/7g/g8yamTMloRmSu68pOUaDZJJoD0DXh30NJ6OJ+KVLlrRkzBXkzMFJQFO7fmoxbUmAZuIJSlYSFJDO/ym3pX9I5xcpa1UBEwFRCd3qR36R1h8QnM8uXkSQBMl5yXoyiM1amraP0gpDx0jsqRNUAWBu5d6aUjo49KCyEizO6nszVifhPDzNXMTKVzIGbKo5Sah2JDO1Y3xLAoRlTOSUrYOU1qd27aQb2F409sW4IKSx5qPYmJcVnUHch6vVj+haJJ/CigEqJCdwX7WvAinIAzM1je/7xhVGgcyV9frGQX4c3VvUxkGw0z1rETVKzO6XScxUWY1BABAs+seTfE2GPjTFu/M6tWtX9It3H+KmRm8UssgAIdVXYkj6Ev+0VjGTlzUomkhw45KulehrpZoSC3ZnrQnwSCVABRYm1RF4kyspebYubgkguBmI0ZjS7RXuHYDKtJYbsSNqWfXTpFlI6ghhcU039veNk6AblYouAGqE1AZqH3Jp6AQZOlhGVknmoWP6dX3hbKmklKkm5dx0cfwDeG4PKQC5rUn+UaOGbJSOVLZJy3OoobaNS9IjlzlKNQxNjmD+m0QzFOogU7ksX220iaWGIemo6UNtwY5JkxrK4hkyuQQr8wBY3LltSIYyuIpIqlHIxo7sQ2ot6QhYFQVVTAZiGalmFekT4LIPPme9jyh/rv6UhOVATocskllBlVAKaPagB1tQxxi8MmajIo3ceIGdChT2Jem0RCek38mYNQuCxoDdjoemsFSJAZgoVoSwdJFn32p1gqTT0E88x2BnSZhQtyQ2ubZiDQkMxfvDKdxYypQUikwZQjUP8yikhqD6hrRdONcGOIloslSCW1CgRUOelqgxSf/AASgtbpKfNlzVJbRw4oHpW4aOxOL2w/sWI4hOSwmJGVVUlIuXufeBZPHdVqCUoGUJUkuTckU+r0aHa0HJlyMXezsLkdDpX9YSfEOABUVJ8xSFEbmv1aK43GToaKTZPieOS5iyVNLKTyiquVtABo73D94Z/8AlgplJfKk8vWoYDQVctanWEGA4chcnMtQCgHSmxVzAU6MXpYQF+PMpRSXKKpDgHKCXLHvV4d4ovoLivD0bhQyhkpIp2U7pPdgEvV6UrCjifDBOmESpiQMxJKvmUogtmswsDYgPrHHw9xyWoZQQScw5kb3Zw1q6V7RLLkELKhRJOl9CNdyz9ogk4C9C+dglzFjwwCwBUkskgpDEV7WFXhukiUZUsgigNTUOwJDdQzbuIY8SkATVzZTh1ZVgVdyoOAxswfZgd4Gn8QST4c0BBGswUJzOdxlqA7tCznyVAm7Q8wZ5nI5GZy9LpPStqbjYRk7C+SYLOaAMMqW0PUexNyxjMMp0BTk/KbaBTjrqQdn6PFhJ5ExOVJyKOYgl8rghQLUBIvQXF3EQhLgyKdBPD5TySkAEZVACpBIuk1Jb2OzWjzHiuGXg8UtCS4SXSp1JzyyykgkMXsCQbg7R6bKzSVrKlGhzIJL5gOYqo7g2eldaRT/AP1FkpR4K6LK0KDlw6EqGWl8wzfVQ0Ed2FpTaXpaD2V/D8XHhsrIorXmJObMg3tZlamthDXDY9UhJ8LlM1LHmBGYEMxTVJH1+1Pm4Z6otfLqIlTiVEAPYaeuh12jpasq4jjjEzxQrEJLTUnOtIpzXzgC1XelawRwrhxxiVTJakGazrQWSTeqTZ7BqDrCWTOAZxzP5tCLENu2sHz88kylSiRcoUAA41YhwRoxsXBrSAUWtAmNlzZC6hctQsS7EbF9IeYP4xl5EJnSkzVguC1iTUV7A7dIUHHFZHjqUpKiSVJHMH2ehrC/EYSriGpPs1tMveO4vIxEjxEygTLScwAAWP7qM4AfTrpFaTLSQyfTML+2h0aFvC8UqRMExFSAXSoOlYsQd6xc8EMLi0D8Plw88K/4Fnlc+bKfymlNG0cwKoPYiQFsGzt0tGRxi0TJS1S1jKpJYpUCCP59Y1Bpj2ixf+qCJZkyTlHilXqAxcdnApFU4BiE5fDUQCFUBA5htDr43wyyoTVFwot0BZ7b6xXESMi0qWnl1cs4NKbmukOiIfPnplTQtJcCjJIBtS4IcKL20jpOOUrLY5rhz7Es/wDuJZ2BSJSmQo+3K7AHo9HgPhCFS1Gpppep2B1aEl1ZmWaTh2lkBNQaBt9yf5aDHZJIVS1qwKmYcicp0pX3rrBEqcVAUAAJLM/rHmzk7IsxCDUk0szB7Gt+0TIYhgwuxrQ2f6tSBQtiColtCBTX+NE4Fze1QbfWjt9ekQkhTvC4UjmBZ79bbQ1w6kKoQEsSBYmlTQV3vAHD54IYA3ZnofUffrEiVEFVCN6mpJ0caUibRkMVlKbrCczPmAGltA1qiGMsnMCgZiRQJHKwsa2u1ekJFpcDlBIJAdq0BD9KlokwU5NElCkKL3Ba7VqAajrAQaLDhMcFJ5MpdgQQX9mNdPSDFLQUqUpiCGSkjXcPUPX2AhLJxwzKIzB6pppsGFHuQerQVh1KUCc7EPo4IOhSe1w0UjIDRDxHgoWoLQkhQYqRqzh2ahZiWPoatFPxMpKlli6gVS0gcxASMrFyCGACW72o/owTmOYPTTUOdCatZoW8d4AnFBKj/TnAsFO1XrmDMaCirxeDV7MmefycIiiZiE5ghKWFCxFwXudjV3Ec4n4blsCgOEsShTcyaaipNNN4uH/tA5lKnqcqJZmBtRzuCKN1pUM3HAJaQxlgg0FWLAuCasNC/wDqHnNqVxehm34eTnhQ5jJCksA6bpUSTbWuz26Q1nyymWSTmAIBZwmy/KVJofmYhxzDZrgn4VkpXmTMUFBQWEqZt6FwrsQQQwjsYCUFlKsOkqLlQaeAVAO4ZZCRWwtWlIeWRS9C9+lWk8SKmukvnUNNA1RZhfXNDDwU4hCkgc4DoUbFxQCtAXapcNq8McXwWTMCjKaUQal1zEu1R8pcOXDk00sesPwVclLDmBNCLioZgHDEjU0c0vCKCbuxXFgnAMUpIIUk+YApLAudHsQE1pvHWPwplkzJRVkA5aukC5TU39jTW574lJmpYCSps4NGBsXWDvRI65TuYR4f4imBakB0hIACCeYFRqWDjdOgqGaLRwKTsHGyxS+LS5yfDHnQebOSCXNSHLkAkjKX0qxiLi3Bhi5KpQDzEuqWNcwZ0BqDMKNux+UwFhMGtM4KlpWJjJzJUSoKSCpTgXUN0lwxraJsRMVnCklOVJckuFJvQkFiC9AoBtiwbo+wkNxSdnmqcIqUrnllJcjItJCqULFnN9HYtGsZwxSAFoHIoZmuwKilntdJj0riXCk42UnOo0LpmIUCoMG1oxADghL8vQlPj+FTJeX8PJM4okiWZjpITlJIaWqilHOSAcztRLhy7RRv4KvJ4UqWkTFA5SxSkUzkMXBUKDqxJ03B3ApucKw6yAVgqSFCmcJJzJIF6Moah2qBEnwsJmJXOlqCimYglcwqdAX8iiXop+XlLkE0pDn4X4OPxJImZfDl5lEpzc+QBgXGVlkkktRJiMp1aZm9OynSUlYBLXBOUpBI/Tu0XDgvweicnxFrIdBYCZLWU7FWUAnt94q2NSkLUAhklSlJPMCzlg23poI74YTISvEAFJbLKAJ5lqHmPRAdVdSiHd0U5V2glOARPxK5ZXLlLBSMpBCFlufKa5eYGhPrA2P4EETiia6QlQcuKpvQsxLQjxSlKqokq1MNOH47ODJxKiLZJhKuQ1YEAGlqwzTRky1YL4+mS0CWqWZpQ6c7tmALA16ARkUedgVpJDTKflS49CKGMgUhuTLr8cyAwUFJCXKgABzuz16V9z60xGPZctxmAIAbWjCveL9xjhDhckrSpXykhLoc0cCwYO4ih4/BLlkJUMqgaj9qRoO1QrVMYrngJSFE58tb+Z2cA0jiRMUsqmBRGiQH3/nvC9OJKC5IpEnCElSSBQGgD1LbeogyWhZMsnC8SlUoJUku2UUDAigO+8HSpjuljn1vUC7fzUwr4PiQVJahDAJZ7PbrDTGy6JWHfrRTBn6UjgyrZNohUQAEgWetLl/TW8TSlFKDzEJoC292Hpr3jlKwsEuK6aimo/lo5Q6UtsxbYAhj1eINeC0FypYzMFEBOm27a1Mal4ghQUp6nSlGO/b7QIlJUSpubd7dO9XidMpQoWKdSflNCwhXswShWYVa4BBFTYmnbWJV4l6guwIvUVH6RGrFBw2t9DqfW145RiAWAADg2F7VrrCNGGmHxIJSbCju4vrTuYMwKypSiGAAZqu4HbasI5c1RPM4fp7HpaHUic4zfMW1DPv3NBAXYo0k4ogglWUrJFWo3f8Aj+kGqWmYkJLheqTQg7uKnv8ASK+cWHZhko7EXe42Y09IaoWfDCqnL10zNXtFFLdGDUYogCXUlyKF2a75qmAAnwEolpSVUysFnmBtV3c3c+msdzZmcFcsOQearGnSofV+8DrnS1TOcZVJaxd9KDcbs8aT0azmbighVWKS+Wjnf6WOpDRCrijUIQCdnDUPLQ/Zo1xAIKylwgkOSSakFwQw1epPTtCxc1lKzsSKE3YhV3Bdv3HrNyfQbQ4xPEsyeaULpzVIKqu4KTan0jWHxIJISSKBg4o7WaotYj9YW4VZTUOQoAnlZtjV9DW8cS8QKXQv8xFC5rXvC8mGy0ScTMSQWKn6fRtC1eu8L8Vw7DzHyrUhT7qKXzBnd2t2rAkniRCilZ+UMoWIINvX1g8YpCiQcrgBlp8xF6vcO8Vx5mumDTK/xCWqSQibLUkAck7lCAbAJUBTMdbDWFAC8yiqiWLqIBBFHJIUxodCQeXq3oUiQFf0lqzJX5DShFQbl+320ruKw8qXmQsLKnBUEFkkZRzMXozOKN6Ex6WL6pcdjXXYhwHFluEyGQCCFMlTKNmegcuCwdh7RYPDASFUKw6qOWP91HBcO4vW9oFTwJLMj/iVlKXJqq2UsqinNCB72gdMiZLVMWopUsJBJSDUgkFyWrXSLrImrGuyTHYNI5kqUiWlYUtCEhKXzOVFIDknmTWzgjaF/HwZKV+Akpkz1lS5yQSZiy5MtRLGUAaBBYmpqCRB8viNHJSgLdQUojKMru7NT/EGyylaRlW+GVlKwQUFbkNeqUg5HdnqbODPIknyM16yrYUImrKCkCXLBmFQHOhIvUVJVQMXYmkJ8bi1TZi3BCVFkpFAkab1Yn1JixfEeGVh5YkpA8KaorVMSCAsOyQCXoEhKikfM9A0VziWFcsSzAENV6D/ACHjQ27GTvYMrBJLBKSk6/MD2N9D7xIcFLQUusO7hiCR01rSIJslZAAJpsfSJ+GqLspTpAKqk0YV9aBnItFHZm2Pp2HUVE/iCl6sJZIHqI1EmchsqpmVhoTpWrbxqIW/ghbLvxjgwGVK8udQopN0jYu+unWKL8U4MCWXcqRUKDAAuXemu3eLbLxqJqP6hYgsOlHZXc9YA40yUk5QoMpywOlm9RfeHenaOm7PMAktRLwZgCRVJYpL00ro36QulzcqhYWt9+sMcOkJN2/WkWYrGGDOVcskEc7iujVpeLLOQ6SVXGUEMRlHf6+piscPkEkEFwlVQdyCPtFhAYjV8oAJ7GpNNRHF9QtiMGLkU7inRh7MI6UrOmwAAo99mr/KwT4JKHF3JDaufs5eAkpUhRKiHACgN3LftHKlYKJ5DiYC1ku3U2+7+kcrJUSwsHvd6V/gieVIJ5rk8vV9fQCOZklSQgWzaj9P5rGoNHUuU4qwYAAdSGNfU1iSXKygZi5uNGH7OWjgoIBB8otrVmf7AesdT8QlLF87pDGpNN/a3aFaZhlOwjhRJYjmG1q6/wArHPDpnMUHylLDajkN3b2jJU13XcNpuCfUa+8cJWEgkguTysCA2w9YlLQjDcShlClMoUQ9AQ9f1bvBHDZxdSVvlIKSDUFwWNdawkM53JOmoJ7OQWrX3jtGNWAQok5tAN6j0gbWxB1LmmSVDIVD8yauALu307wwlTpc2WE6pbKqgUD7G8IsNjcqhmco8qklrb16EQwkoCFIWl0pLPsa+x/3BTCtnONkjlUHzNlBLCj1Da00e0A8QlVKyU5srWu1vV9OkWTEYMTEBgy9juC49P3MKZeISoLSAQpzUXFSKX2qOogyjuzUKcDi0lYGoGuau9g9n/gjtKUrJBAZKRTdq7db/eJVSkpUoUsMpF33G1zfUD1DVhyhQIU4Y5SH5tffMwbsYWhkMFSMyHQkEuxSSGYP/wDYNoas99YJeIBcJVuASHLgDZiNQfTUARNKxTLQQp0qcswop9Wu1IC4ngR4hqWXzBmo5BI/gt7Q3HVgLnwHEZgxoCAoPcEHc9fuYrv4GZ+IWVzAlKSQpSk5WTmUzaqOja3rrv4VxSvFUVH1y7dNtXjj8Z4pmqmJIaarw84LmuoLasAOhvaKQk6/YyHMpAU4QpYHzJUm4NgRTrVnL94Kmlswyggl8wSSFORmHJawpfpFcGJUr8pJ+UivsKb6QXhZ6kFQ0cAsaKoCl2HaritIn91ph0a458PfiP8AiCUqLihBA/uYEEa2DUsWgeXw9ct0qGUpdnqMpFHzAgimt2D7m1Yeekq5iczXSPzAkjcep0G0FHCJUksUu+YFNCDUH1qXHXWOvHnlVdgbEKpHi4cgoFOUpKSySDQ5RzCpDMSQGqxr59jZKUlaDLyrCvMVggF6pAyhLF76x6klCUkpyEZXBQzgi9NwUuwoL7MKnxqTXLMeYfFKUMAklBSpSSSQ1tdyXrFMM/yo0XsoglrUcocElhsSbN3Nm3gJEpaVEeYK3qncijsa3/eH6uFqQVZV5gp8oOYLSdCCHBHVkxxxAOzpy5lEgpPzWIezZgfSOnnfRZx/G0VuZxLEoJSlakJBLJBJYPGRY08PUa+GC9QWRUaGpeMh9/Av4lh4gpQl1atAB0At9LxgR40rKAGWrIBYFwA5rSpEZGQriroK0ed8f4UqQoBSszpoej9e0Zw9QWsCwSKm5Ov2jcZFDPoshl5sqJSQE5QrrVWWpOpLR2JeVSM1WcF3penUM0bjI5MsVTJk3jqQ6FHMkl1VNNQO1qdBBM+WCOblUEgve/8AhoyMjmaCwTCqCAxDuWF7UL9zaOOJTZqFVIVKax2f3jUZCY5N9jRJk4halOWcEEHYi30AgheJDkKSKEMa9aNGRkNIDJsJM5gmgdNbnd794nnTnSGFAS+7C23eMjI58miTYNiJBBrbLmv7fr2jrBhGYpLs7lu5EZGQ16NQSJJTMbMVAhu+Y6vpDXBYvKpQFQlIJS27g66UNGjIyB0wo7wuKXLmZFVfmSp3AHqAdPrrGcYw7E4hNMxSFJ0dwke9AR0eMjIevAMXYqQqZKCk82Vypy3L+9NtYGwijMR4YUywHTru/QP9wIyMhKF6C0yxNQnmKT8pGjG3vX0judhzNkqQWStILECzG17UA9toyMh490UQFw+YUKfNyl0JOoUQw0qAd4YY2UJSUkvyuAbkGxv/AIvq0ZGQl9m8sGUFFwAxI5icrsSFDfQhiKgkxOoqIzBNw4s+h6O+xs+pjIyJ1bDQVh1nMEZleIrlApU9TsQ+0NsLMIFDzauzBzSjUrtZo1GRXBBSmkwxQzm4tlpzhIpoHe7OfTYwB8T8NQqSozaAcySAKEBwLOKO7UYneMjI7pRUevk0kkrPNcRiE8qnOVs1q0VlZ7t+pgzE8PzJKQDzcwr5VsXD6hSQkHqB1jIyKTdVQYtqQnMw6pc7lVT7CNxkZHUoobij/9k="/>
          <p:cNvSpPr>
            <a:spLocks noChangeAspect="1" noChangeArrowheads="1"/>
          </p:cNvSpPr>
          <p:nvPr/>
        </p:nvSpPr>
        <p:spPr bwMode="auto">
          <a:xfrm>
            <a:off x="155575" y="-2286000"/>
            <a:ext cx="7143750" cy="476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Tree>
    <p:extLst>
      <p:ext uri="{BB962C8B-B14F-4D97-AF65-F5344CB8AC3E}">
        <p14:creationId xmlns:p14="http://schemas.microsoft.com/office/powerpoint/2010/main" val="314874170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25091" y="476672"/>
            <a:ext cx="6347713" cy="1320800"/>
          </a:xfrm>
        </p:spPr>
        <p:txBody>
          <a:bodyPr/>
          <a:lstStyle/>
          <a:p>
            <a:r>
              <a:rPr lang="en-US" dirty="0"/>
              <a:t>Vascular Plants</a:t>
            </a:r>
            <a:endParaRPr lang="en-AU" dirty="0"/>
          </a:p>
        </p:txBody>
      </p:sp>
      <p:sp>
        <p:nvSpPr>
          <p:cNvPr id="3" name="Content Placeholder 2"/>
          <p:cNvSpPr>
            <a:spLocks noGrp="1"/>
          </p:cNvSpPr>
          <p:nvPr>
            <p:ph idx="1"/>
          </p:nvPr>
        </p:nvSpPr>
        <p:spPr>
          <a:xfrm>
            <a:off x="539553" y="1556792"/>
            <a:ext cx="6408712" cy="4484571"/>
          </a:xfrm>
        </p:spPr>
        <p:txBody>
          <a:bodyPr>
            <a:normAutofit/>
          </a:bodyPr>
          <a:lstStyle/>
          <a:p>
            <a:r>
              <a:rPr lang="en-US" dirty="0"/>
              <a:t>Land-based plants had to evolve systems for transporting resources from one part of the plant to another. </a:t>
            </a:r>
          </a:p>
          <a:p>
            <a:r>
              <a:rPr lang="en-US" dirty="0"/>
              <a:t>All plants need to be able to get water to their leaves. Water is absorbed initially by the roots and moves against the pull of gravity through the stem to the leaves. When we look at how that occurs, we find the plant is best serviced by a one-way water movement system – the xylem.</a:t>
            </a:r>
          </a:p>
          <a:p>
            <a:r>
              <a:rPr lang="en-US" b="1" dirty="0"/>
              <a:t>Xylem</a:t>
            </a:r>
            <a:r>
              <a:rPr lang="en-US" dirty="0"/>
              <a:t> carries water and dissolved nutrients from the roots to the rest of the plant.</a:t>
            </a:r>
          </a:p>
          <a:p>
            <a:r>
              <a:rPr lang="en-US" b="1" dirty="0"/>
              <a:t>Phloem</a:t>
            </a:r>
            <a:r>
              <a:rPr lang="en-US" dirty="0"/>
              <a:t> transports sugars and other plant products from where they are produced, often in the leaves, to the rest of the plant.</a:t>
            </a:r>
          </a:p>
          <a:p>
            <a:endParaRPr lang="en-AU" dirty="0"/>
          </a:p>
        </p:txBody>
      </p:sp>
      <p:pic>
        <p:nvPicPr>
          <p:cNvPr id="4" name="Picture 3">
            <a:extLst>
              <a:ext uri="{FF2B5EF4-FFF2-40B4-BE49-F238E27FC236}">
                <a16:creationId xmlns:a16="http://schemas.microsoft.com/office/drawing/2014/main" id="{CE17B024-4A46-41F9-B667-9E2200BBBA94}"/>
              </a:ext>
            </a:extLst>
          </p:cNvPr>
          <p:cNvPicPr>
            <a:picLocks noChangeAspect="1"/>
          </p:cNvPicPr>
          <p:nvPr/>
        </p:nvPicPr>
        <p:blipFill>
          <a:blip r:embed="rId3"/>
          <a:stretch>
            <a:fillRect/>
          </a:stretch>
        </p:blipFill>
        <p:spPr>
          <a:xfrm>
            <a:off x="7020272" y="2060848"/>
            <a:ext cx="2001761" cy="3107211"/>
          </a:xfrm>
          <a:prstGeom prst="rect">
            <a:avLst/>
          </a:prstGeom>
        </p:spPr>
      </p:pic>
    </p:spTree>
    <p:extLst>
      <p:ext uri="{BB962C8B-B14F-4D97-AF65-F5344CB8AC3E}">
        <p14:creationId xmlns:p14="http://schemas.microsoft.com/office/powerpoint/2010/main" val="87665964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99330" y="102516"/>
            <a:ext cx="7115945" cy="1320800"/>
          </a:xfrm>
        </p:spPr>
        <p:txBody>
          <a:bodyPr/>
          <a:lstStyle/>
          <a:p>
            <a:pPr fontAlgn="auto">
              <a:spcAft>
                <a:spcPts val="0"/>
              </a:spcAft>
              <a:defRPr/>
            </a:pPr>
            <a:r>
              <a:rPr lang="en-US" dirty="0"/>
              <a:t>Vascular </a:t>
            </a:r>
            <a:r>
              <a:rPr lang="en-US" dirty="0" err="1"/>
              <a:t>vs</a:t>
            </a:r>
            <a:r>
              <a:rPr lang="en-US" dirty="0"/>
              <a:t> Non-vascular Plants</a:t>
            </a:r>
          </a:p>
        </p:txBody>
      </p:sp>
      <p:sp>
        <p:nvSpPr>
          <p:cNvPr id="5" name="Text Placeholder 4"/>
          <p:cNvSpPr>
            <a:spLocks noGrp="1"/>
          </p:cNvSpPr>
          <p:nvPr>
            <p:ph type="body" idx="1"/>
          </p:nvPr>
        </p:nvSpPr>
        <p:spPr>
          <a:xfrm>
            <a:off x="516204" y="1038163"/>
            <a:ext cx="3090672" cy="576262"/>
          </a:xfrm>
        </p:spPr>
        <p:txBody>
          <a:bodyPr rtlCol="0"/>
          <a:lstStyle/>
          <a:p>
            <a:pPr fontAlgn="auto">
              <a:spcAft>
                <a:spcPts val="0"/>
              </a:spcAft>
              <a:defRPr/>
            </a:pPr>
            <a:r>
              <a:rPr lang="en-US" sz="2600" dirty="0"/>
              <a:t>Vascular Plants</a:t>
            </a:r>
          </a:p>
        </p:txBody>
      </p:sp>
      <p:sp>
        <p:nvSpPr>
          <p:cNvPr id="20485" name="Content Placeholder 6"/>
          <p:cNvSpPr>
            <a:spLocks noGrp="1"/>
          </p:cNvSpPr>
          <p:nvPr>
            <p:ph sz="half" idx="2"/>
          </p:nvPr>
        </p:nvSpPr>
        <p:spPr>
          <a:xfrm>
            <a:off x="372188" y="1659764"/>
            <a:ext cx="3657600" cy="3200400"/>
          </a:xfrm>
          <a:prstGeom prst="rect">
            <a:avLst/>
          </a:prstGeom>
        </p:spPr>
        <p:txBody>
          <a:bodyPr>
            <a:normAutofit/>
          </a:bodyPr>
          <a:lstStyle/>
          <a:p>
            <a:r>
              <a:rPr lang="en-US" dirty="0"/>
              <a:t>Has roots stems and leaves</a:t>
            </a:r>
          </a:p>
          <a:p>
            <a:r>
              <a:rPr lang="en-US" dirty="0"/>
              <a:t>Has vascular bundles</a:t>
            </a:r>
          </a:p>
          <a:p>
            <a:pPr lvl="1"/>
            <a:r>
              <a:rPr lang="en-US" dirty="0"/>
              <a:t>Can transport water</a:t>
            </a:r>
          </a:p>
          <a:p>
            <a:r>
              <a:rPr lang="en-US" dirty="0"/>
              <a:t>Larger in size</a:t>
            </a:r>
          </a:p>
          <a:p>
            <a:r>
              <a:rPr lang="en-US" dirty="0"/>
              <a:t>Is better able to store water in cells</a:t>
            </a:r>
          </a:p>
        </p:txBody>
      </p:sp>
      <p:sp>
        <p:nvSpPr>
          <p:cNvPr id="6" name="Text Placeholder 5"/>
          <p:cNvSpPr>
            <a:spLocks noGrp="1"/>
          </p:cNvSpPr>
          <p:nvPr>
            <p:ph type="body" sz="quarter" idx="3"/>
          </p:nvPr>
        </p:nvSpPr>
        <p:spPr>
          <a:xfrm>
            <a:off x="4057302" y="1038163"/>
            <a:ext cx="3090672" cy="576262"/>
          </a:xfrm>
        </p:spPr>
        <p:txBody>
          <a:bodyPr rtlCol="0"/>
          <a:lstStyle/>
          <a:p>
            <a:pPr fontAlgn="auto">
              <a:spcAft>
                <a:spcPts val="0"/>
              </a:spcAft>
              <a:defRPr/>
            </a:pPr>
            <a:r>
              <a:rPr lang="en-US" sz="2600" dirty="0"/>
              <a:t>Non-vascular Plants</a:t>
            </a:r>
          </a:p>
        </p:txBody>
      </p:sp>
      <p:sp>
        <p:nvSpPr>
          <p:cNvPr id="20486" name="Content Placeholder 7"/>
          <p:cNvSpPr>
            <a:spLocks noGrp="1"/>
          </p:cNvSpPr>
          <p:nvPr>
            <p:ph sz="quarter" idx="4"/>
          </p:nvPr>
        </p:nvSpPr>
        <p:spPr>
          <a:xfrm>
            <a:off x="4029788" y="1659764"/>
            <a:ext cx="3657600" cy="3200400"/>
          </a:xfrm>
          <a:prstGeom prst="rect">
            <a:avLst/>
          </a:prstGeom>
        </p:spPr>
        <p:txBody>
          <a:bodyPr>
            <a:noAutofit/>
          </a:bodyPr>
          <a:lstStyle/>
          <a:p>
            <a:r>
              <a:rPr lang="en-US" dirty="0"/>
              <a:t>Only has root-like, stem-like and leaf-like structures</a:t>
            </a:r>
          </a:p>
          <a:p>
            <a:r>
              <a:rPr lang="en-US" dirty="0"/>
              <a:t>No vascular bundles</a:t>
            </a:r>
          </a:p>
          <a:p>
            <a:pPr lvl="1"/>
            <a:r>
              <a:rPr lang="en-US" dirty="0"/>
              <a:t>Are unable to transport water</a:t>
            </a:r>
          </a:p>
          <a:p>
            <a:r>
              <a:rPr lang="en-US" dirty="0"/>
              <a:t>Smaller in size </a:t>
            </a:r>
          </a:p>
          <a:p>
            <a:r>
              <a:rPr lang="en-US" dirty="0"/>
              <a:t>Must live in damp conditions</a:t>
            </a:r>
          </a:p>
        </p:txBody>
      </p:sp>
      <p:pic>
        <p:nvPicPr>
          <p:cNvPr id="3" name="Picture 2">
            <a:extLst>
              <a:ext uri="{FF2B5EF4-FFF2-40B4-BE49-F238E27FC236}">
                <a16:creationId xmlns:a16="http://schemas.microsoft.com/office/drawing/2014/main" id="{DE7404B5-80CA-42B4-8E11-1BE538755EF8}"/>
              </a:ext>
            </a:extLst>
          </p:cNvPr>
          <p:cNvPicPr>
            <a:picLocks noChangeAspect="1"/>
          </p:cNvPicPr>
          <p:nvPr/>
        </p:nvPicPr>
        <p:blipFill>
          <a:blip r:embed="rId2"/>
          <a:stretch>
            <a:fillRect/>
          </a:stretch>
        </p:blipFill>
        <p:spPr>
          <a:xfrm>
            <a:off x="971600" y="4235204"/>
            <a:ext cx="5820647" cy="2520280"/>
          </a:xfrm>
          <a:prstGeom prst="rect">
            <a:avLst/>
          </a:prstGeom>
        </p:spPr>
      </p:pic>
    </p:spTree>
    <p:extLst>
      <p:ext uri="{BB962C8B-B14F-4D97-AF65-F5344CB8AC3E}">
        <p14:creationId xmlns:p14="http://schemas.microsoft.com/office/powerpoint/2010/main" val="3440688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51429"/>
            <a:ext cx="6347713" cy="1320800"/>
          </a:xfrm>
        </p:spPr>
        <p:txBody>
          <a:bodyPr/>
          <a:lstStyle/>
          <a:p>
            <a:r>
              <a:rPr lang="en-AU" dirty="0"/>
              <a:t> Water Movement: Xylem</a:t>
            </a:r>
          </a:p>
        </p:txBody>
      </p:sp>
      <p:sp>
        <p:nvSpPr>
          <p:cNvPr id="3" name="Content Placeholder 2"/>
          <p:cNvSpPr>
            <a:spLocks noGrp="1"/>
          </p:cNvSpPr>
          <p:nvPr>
            <p:ph idx="1"/>
          </p:nvPr>
        </p:nvSpPr>
        <p:spPr>
          <a:xfrm>
            <a:off x="611560" y="1340768"/>
            <a:ext cx="6347714" cy="3880773"/>
          </a:xfrm>
        </p:spPr>
        <p:txBody>
          <a:bodyPr/>
          <a:lstStyle/>
          <a:p>
            <a:r>
              <a:rPr lang="en-AU" dirty="0"/>
              <a:t>Water and mineral transport from roots to other parts of the plant.</a:t>
            </a:r>
          </a:p>
          <a:p>
            <a:r>
              <a:rPr lang="en-AU" b="1" dirty="0"/>
              <a:t>Unidirectional</a:t>
            </a:r>
            <a:r>
              <a:rPr lang="en-AU" dirty="0"/>
              <a:t> - Moves up the plant's stem.</a:t>
            </a:r>
          </a:p>
          <a:p>
            <a:r>
              <a:rPr lang="en-AU" dirty="0"/>
              <a:t>Found in the roots, stems and leaves and occupy the centre of the vascular bundle.</a:t>
            </a:r>
          </a:p>
          <a:p>
            <a:r>
              <a:rPr lang="en-AU" dirty="0"/>
              <a:t>Mature xylem are                                                               made of dead cells.</a:t>
            </a:r>
          </a:p>
          <a:p>
            <a:endParaRPr lang="en-AU" dirty="0"/>
          </a:p>
        </p:txBody>
      </p:sp>
      <p:pic>
        <p:nvPicPr>
          <p:cNvPr id="21508" name="Picture 4" descr="http://static.diffen.com/uploadz/6/6e/Xylem-and-Phloe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888" y="3238815"/>
            <a:ext cx="5076346" cy="3208464"/>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9"/>
          <p:cNvPicPr>
            <a:picLocks noChangeAspect="1"/>
          </p:cNvPicPr>
          <p:nvPr/>
        </p:nvPicPr>
        <p:blipFill>
          <a:blip r:embed="rId4">
            <a:extLst>
              <a:ext uri="{28A0092B-C50C-407E-A947-70E740481C1C}">
                <a14:useLocalDpi xmlns:a14="http://schemas.microsoft.com/office/drawing/2010/main" val="0"/>
              </a:ext>
            </a:extLst>
          </a:blip>
          <a:srcRect t="2716" b="2716"/>
          <a:stretch>
            <a:fillRect/>
          </a:stretch>
        </p:blipFill>
        <p:spPr>
          <a:xfrm>
            <a:off x="1018831" y="3995802"/>
            <a:ext cx="1728193" cy="2451477"/>
          </a:xfrm>
          <a:prstGeom prst="rect">
            <a:avLst/>
          </a:prstGeom>
        </p:spPr>
      </p:pic>
    </p:spTree>
    <p:extLst>
      <p:ext uri="{BB962C8B-B14F-4D97-AF65-F5344CB8AC3E}">
        <p14:creationId xmlns:p14="http://schemas.microsoft.com/office/powerpoint/2010/main" val="2463423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39552" y="456903"/>
            <a:ext cx="6347713" cy="1320800"/>
          </a:xfrm>
        </p:spPr>
        <p:txBody>
          <a:bodyPr/>
          <a:lstStyle/>
          <a:p>
            <a:r>
              <a:rPr lang="en-AU" dirty="0"/>
              <a:t>Transporting Water - The Root System</a:t>
            </a:r>
          </a:p>
        </p:txBody>
      </p:sp>
      <p:sp>
        <p:nvSpPr>
          <p:cNvPr id="4" name="Content Placeholder 3"/>
          <p:cNvSpPr>
            <a:spLocks noGrp="1"/>
          </p:cNvSpPr>
          <p:nvPr>
            <p:ph idx="1"/>
          </p:nvPr>
        </p:nvSpPr>
        <p:spPr>
          <a:xfrm>
            <a:off x="457200" y="1930400"/>
            <a:ext cx="5266928" cy="4522936"/>
          </a:xfrm>
        </p:spPr>
        <p:txBody>
          <a:bodyPr>
            <a:normAutofit fontScale="92500" lnSpcReduction="20000"/>
          </a:bodyPr>
          <a:lstStyle/>
          <a:p>
            <a:pPr marL="514350" indent="-514350"/>
            <a:r>
              <a:rPr lang="en-AU" dirty="0"/>
              <a:t>As well as anchoring the plant, the roots provide the surface through which water is taken up. </a:t>
            </a:r>
          </a:p>
          <a:p>
            <a:pPr marL="514350" indent="-514350"/>
            <a:r>
              <a:rPr lang="en-AU" dirty="0"/>
              <a:t>This surface area is greatly increased by the presence of thousands of </a:t>
            </a:r>
            <a:r>
              <a:rPr lang="en-AU" b="1" dirty="0"/>
              <a:t>root hairs </a:t>
            </a:r>
            <a:r>
              <a:rPr lang="en-AU" dirty="0"/>
              <a:t>projecting from the epidermis. A plant’s root hairs present an enormous surface area across which water is absorbed. This can be up to 130 times greater than the surface area of its shoot system.</a:t>
            </a:r>
            <a:endParaRPr lang="en-US" dirty="0"/>
          </a:p>
          <a:p>
            <a:pPr marL="0" indent="0">
              <a:buNone/>
            </a:pPr>
            <a:endParaRPr lang="en-US" dirty="0"/>
          </a:p>
          <a:p>
            <a:pPr marL="0" indent="0">
              <a:buNone/>
            </a:pPr>
            <a:r>
              <a:rPr lang="en-US" dirty="0"/>
              <a:t>FUNCTIONS OF ROOTS</a:t>
            </a:r>
          </a:p>
          <a:p>
            <a:pPr marL="514350" indent="-514350"/>
            <a:r>
              <a:rPr lang="en-US" dirty="0"/>
              <a:t>Roots absorb water and minerals</a:t>
            </a:r>
          </a:p>
          <a:p>
            <a:pPr marL="514350" indent="-514350"/>
            <a:r>
              <a:rPr lang="en-US" dirty="0"/>
              <a:t>Supports and anchors the plant</a:t>
            </a:r>
          </a:p>
          <a:p>
            <a:pPr marL="514350" indent="-514350"/>
            <a:r>
              <a:rPr lang="en-US" dirty="0"/>
              <a:t>Storage tissue</a:t>
            </a:r>
          </a:p>
          <a:p>
            <a:pPr marL="514350" indent="-514350"/>
            <a:r>
              <a:rPr lang="en-US" dirty="0"/>
              <a:t>Tap roots and fibrous roots </a:t>
            </a:r>
          </a:p>
          <a:p>
            <a:endParaRPr lang="en-AU" dirty="0"/>
          </a:p>
        </p:txBody>
      </p:sp>
      <p:pic>
        <p:nvPicPr>
          <p:cNvPr id="2050" name="Picture 2" descr="https://encrypted-tbn3.gstatic.com/images?q=tbn:ANd9GcT-X3EFexDuzDmB1cqOa-Y7s0AETmXC4tzslewENSI5AuL6Jn8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168" y="1930400"/>
            <a:ext cx="2924175" cy="3905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13501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34802"/>
            <a:ext cx="6347713" cy="1320800"/>
          </a:xfrm>
        </p:spPr>
        <p:txBody>
          <a:bodyPr/>
          <a:lstStyle/>
          <a:p>
            <a:r>
              <a:rPr lang="en-AU" dirty="0"/>
              <a:t>Transporting Water - The Root System</a:t>
            </a:r>
          </a:p>
        </p:txBody>
      </p:sp>
      <p:sp>
        <p:nvSpPr>
          <p:cNvPr id="3" name="Content Placeholder 2"/>
          <p:cNvSpPr>
            <a:spLocks noGrp="1"/>
          </p:cNvSpPr>
          <p:nvPr>
            <p:ph idx="1"/>
          </p:nvPr>
        </p:nvSpPr>
        <p:spPr>
          <a:xfrm>
            <a:off x="457200" y="1930400"/>
            <a:ext cx="5338936" cy="4522936"/>
          </a:xfrm>
        </p:spPr>
        <p:txBody>
          <a:bodyPr>
            <a:normAutofit/>
          </a:bodyPr>
          <a:lstStyle/>
          <a:p>
            <a:r>
              <a:rPr lang="en-AU" dirty="0"/>
              <a:t>Plants can have all different types of root systems.  There are two main types of roots –</a:t>
            </a:r>
          </a:p>
          <a:p>
            <a:r>
              <a:rPr lang="en-AU" b="1" dirty="0"/>
              <a:t>Tap root system </a:t>
            </a:r>
            <a:r>
              <a:rPr lang="en-AU" dirty="0"/>
              <a:t>– large, tapering main root, with some short side branches.  Tap roots push vertically down into the soil to reach the water.  Found in eucalypts and daises.</a:t>
            </a:r>
          </a:p>
          <a:p>
            <a:r>
              <a:rPr lang="en-AU" b="1" dirty="0"/>
              <a:t>Fibrous roots </a:t>
            </a:r>
            <a:r>
              <a:rPr lang="en-AU" dirty="0"/>
              <a:t>– small roots of equal size growing from the bottom of the plant.  They do not grow deeply but do help to hold the top layers of the soil together and prevent erosion.  Found in coastal plain plants and grasses.</a:t>
            </a:r>
          </a:p>
        </p:txBody>
      </p:sp>
      <p:pic>
        <p:nvPicPr>
          <p:cNvPr id="4" name="Picture 3"/>
          <p:cNvPicPr>
            <a:picLocks noChangeAspect="1"/>
          </p:cNvPicPr>
          <p:nvPr/>
        </p:nvPicPr>
        <p:blipFill rotWithShape="1">
          <a:blip r:embed="rId2"/>
          <a:srcRect l="8714" b="15152"/>
          <a:stretch/>
        </p:blipFill>
        <p:spPr>
          <a:xfrm>
            <a:off x="5985855" y="1910583"/>
            <a:ext cx="2834617" cy="3678657"/>
          </a:xfrm>
          <a:prstGeom prst="rect">
            <a:avLst/>
          </a:prstGeom>
        </p:spPr>
      </p:pic>
    </p:spTree>
    <p:extLst>
      <p:ext uri="{BB962C8B-B14F-4D97-AF65-F5344CB8AC3E}">
        <p14:creationId xmlns:p14="http://schemas.microsoft.com/office/powerpoint/2010/main" val="3162899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346646"/>
            <a:ext cx="7643192" cy="1066130"/>
          </a:xfrm>
        </p:spPr>
        <p:txBody>
          <a:bodyPr>
            <a:normAutofit fontScale="90000"/>
          </a:bodyPr>
          <a:lstStyle/>
          <a:p>
            <a:r>
              <a:rPr lang="en-AU" dirty="0"/>
              <a:t>Transporting Water - The Root </a:t>
            </a:r>
            <a:br>
              <a:rPr lang="en-AU" dirty="0"/>
            </a:br>
            <a:r>
              <a:rPr lang="en-AU" dirty="0"/>
              <a:t>System</a:t>
            </a:r>
          </a:p>
        </p:txBody>
      </p:sp>
      <p:sp>
        <p:nvSpPr>
          <p:cNvPr id="5" name="Content Placeholder 4"/>
          <p:cNvSpPr>
            <a:spLocks noGrp="1"/>
          </p:cNvSpPr>
          <p:nvPr>
            <p:ph idx="1"/>
          </p:nvPr>
        </p:nvSpPr>
        <p:spPr>
          <a:xfrm>
            <a:off x="395536" y="1772816"/>
            <a:ext cx="5022830" cy="3744416"/>
          </a:xfrm>
        </p:spPr>
        <p:txBody>
          <a:bodyPr>
            <a:normAutofit/>
          </a:bodyPr>
          <a:lstStyle/>
          <a:p>
            <a:r>
              <a:rPr lang="en-US" dirty="0"/>
              <a:t>Water must reach the xylem by first passing through the epidermis and the ground tissue.</a:t>
            </a:r>
          </a:p>
          <a:p>
            <a:r>
              <a:rPr lang="en-US" dirty="0"/>
              <a:t>The main cells which make up the root are the cells of the ground tissue called </a:t>
            </a:r>
            <a:r>
              <a:rPr lang="en-US" b="1" dirty="0"/>
              <a:t>parenchyma</a:t>
            </a:r>
            <a:r>
              <a:rPr lang="en-US" dirty="0"/>
              <a:t> cells.  At the center of these cells is a xylem and phloem network of tubules.</a:t>
            </a:r>
          </a:p>
        </p:txBody>
      </p:sp>
      <p:pic>
        <p:nvPicPr>
          <p:cNvPr id="6" name="Picture 5"/>
          <p:cNvPicPr>
            <a:picLocks noChangeAspect="1"/>
          </p:cNvPicPr>
          <p:nvPr/>
        </p:nvPicPr>
        <p:blipFill rotWithShape="1">
          <a:blip r:embed="rId3"/>
          <a:srcRect l="3388" t="9169"/>
          <a:stretch/>
        </p:blipFill>
        <p:spPr>
          <a:xfrm>
            <a:off x="5585334" y="4005064"/>
            <a:ext cx="3079913" cy="2852936"/>
          </a:xfrm>
          <a:prstGeom prst="rect">
            <a:avLst/>
          </a:prstGeom>
        </p:spPr>
      </p:pic>
      <p:pic>
        <p:nvPicPr>
          <p:cNvPr id="7" name="Content Placeholder 5" descr="IMG_2305.jpg"/>
          <p:cNvPicPr>
            <a:picLocks noChangeAspect="1"/>
          </p:cNvPicPr>
          <p:nvPr/>
        </p:nvPicPr>
        <p:blipFill>
          <a:blip r:embed="rId4" cstate="print">
            <a:extLst>
              <a:ext uri="{28A0092B-C50C-407E-A947-70E740481C1C}">
                <a14:useLocalDpi xmlns:a14="http://schemas.microsoft.com/office/drawing/2010/main" val="0"/>
              </a:ext>
            </a:extLst>
          </a:blip>
          <a:srcRect l="-14101" t="7153" r="-13141" b="40619"/>
          <a:stretch>
            <a:fillRect/>
          </a:stretch>
        </p:blipFill>
        <p:spPr>
          <a:xfrm>
            <a:off x="683568" y="4640476"/>
            <a:ext cx="3404419" cy="1870878"/>
          </a:xfrm>
          <a:prstGeom prst="rect">
            <a:avLst/>
          </a:prstGeom>
        </p:spPr>
      </p:pic>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80030" y="917066"/>
            <a:ext cx="3206770" cy="2943982"/>
          </a:xfrm>
          <a:prstGeom prst="rect">
            <a:avLst/>
          </a:prstGeom>
        </p:spPr>
      </p:pic>
    </p:spTree>
    <p:extLst>
      <p:ext uri="{BB962C8B-B14F-4D97-AF65-F5344CB8AC3E}">
        <p14:creationId xmlns:p14="http://schemas.microsoft.com/office/powerpoint/2010/main" val="2978124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323528" y="310964"/>
            <a:ext cx="8229600" cy="864096"/>
          </a:xfrm>
        </p:spPr>
        <p:txBody>
          <a:bodyPr/>
          <a:lstStyle/>
          <a:p>
            <a:r>
              <a:rPr lang="en-AU" dirty="0"/>
              <a:t>Transport Water - The Shoot System</a:t>
            </a:r>
          </a:p>
        </p:txBody>
      </p:sp>
      <p:sp>
        <p:nvSpPr>
          <p:cNvPr id="5" name="Content Placeholder 4"/>
          <p:cNvSpPr>
            <a:spLocks noGrp="1"/>
          </p:cNvSpPr>
          <p:nvPr>
            <p:ph idx="1"/>
          </p:nvPr>
        </p:nvSpPr>
        <p:spPr>
          <a:xfrm>
            <a:off x="467544" y="1346751"/>
            <a:ext cx="6779096" cy="3024337"/>
          </a:xfrm>
        </p:spPr>
        <p:txBody>
          <a:bodyPr>
            <a:normAutofit/>
          </a:bodyPr>
          <a:lstStyle/>
          <a:p>
            <a:r>
              <a:rPr lang="en-AU" dirty="0"/>
              <a:t>These tissues, along with phloem tissue, are grouped into a series of </a:t>
            </a:r>
            <a:r>
              <a:rPr lang="en-AU" b="1" dirty="0"/>
              <a:t>vascular bundles</a:t>
            </a:r>
            <a:r>
              <a:rPr lang="en-AU" dirty="0"/>
              <a:t>, each rather like an electric cable in the stem. </a:t>
            </a:r>
          </a:p>
          <a:p>
            <a:r>
              <a:rPr lang="en-AU" dirty="0"/>
              <a:t>In the </a:t>
            </a:r>
            <a:r>
              <a:rPr lang="en-AU" b="1" dirty="0"/>
              <a:t>dicotyledon </a:t>
            </a:r>
            <a:r>
              <a:rPr lang="en-AU" dirty="0"/>
              <a:t>eucalypt, for example, the vascular bundles are arranged in a ring towards the outside of the trunk. In </a:t>
            </a:r>
            <a:r>
              <a:rPr lang="en-AU" b="1" dirty="0"/>
              <a:t>monocotyledon </a:t>
            </a:r>
            <a:r>
              <a:rPr lang="en-AU" dirty="0"/>
              <a:t>plants such as lilies and grasses, they are scattered randomly throughout the stem. </a:t>
            </a:r>
          </a:p>
          <a:p>
            <a:r>
              <a:rPr lang="en-AU" dirty="0"/>
              <a:t>The veins that are visible in a leaf are in fact vascular bundles.</a:t>
            </a:r>
          </a:p>
          <a:p>
            <a:endParaRPr lang="en-US" dirty="0"/>
          </a:p>
          <a:p>
            <a:endParaRPr lang="en-AU" dirty="0"/>
          </a:p>
        </p:txBody>
      </p:sp>
      <p:pic>
        <p:nvPicPr>
          <p:cNvPr id="2" name="Picture 1"/>
          <p:cNvPicPr>
            <a:picLocks noChangeAspect="1"/>
          </p:cNvPicPr>
          <p:nvPr/>
        </p:nvPicPr>
        <p:blipFill>
          <a:blip r:embed="rId3"/>
          <a:stretch>
            <a:fillRect/>
          </a:stretch>
        </p:blipFill>
        <p:spPr>
          <a:xfrm>
            <a:off x="467544" y="4542780"/>
            <a:ext cx="5443093" cy="1973908"/>
          </a:xfrm>
          <a:prstGeom prst="rect">
            <a:avLst/>
          </a:prstGeom>
        </p:spPr>
      </p:pic>
      <p:sp>
        <p:nvSpPr>
          <p:cNvPr id="3" name="AutoShape 2" descr="data:image/jpeg;base64,/9j/4AAQSkZJRgABAQAAAQABAAD/2wCEAAkGBxQTEhQTExQVFRUXFxoaGRgYGBocHRggHBoYGhsdGhwZHyggGBwlGxoaITEiJSkrLi4uGB8zODMsNygtLiwBCgoKDg0OGhAQGy8kICQsLCwsLSwsLCwsMCwsLCwsLCwsLCwsLCw0LCwsLCwsLCwsLCwsLCwsLCwsLCwsLCwsLP/AABEIALcBEwMBIgACEQEDEQH/xAAbAAACAwEBAQAAAAAAAAAAAAAEBQACAwYBB//EAEIQAAECBAQDBQYEBQIGAgMAAAECEQADITEEEkFRBWFxIoGRofATMkKxwdEGUuHxFCNicoIkwhUzQ5Ki4rLSNFNz/8QAGgEAAwEBAQEAAAAAAAAAAAAAAQIDBAAFBv/EADIRAAICAQMCBAQGAQUBAAAAAAABAhEDEiExQVETImHRBHGB8DKRobHB4VIjM0JD8RT/2gAMAwEAAhEDEQA/APmEgB4bSOIzEJWZa1IoB2SQ5UeVLA1hXgVvc/rBARYDUkvUW7I5XzRimk3uRCEcRxGauInVP/7F/eKcYxk5aEJXNWtIWaEku4TU7m99499mRVn3fl0bQx5OOZNastLNRswU/X3RCpq0zrZrgAovZm6uNiNBvG8uSxNGBFHqQ92bmCHhxwXh6Sg2zMSA556XI7xAXEQaIDO4ykhmc+6eRPgepjP4mqbihC2GOUghiE1fQke6O9ZSOhgvCSSwN9+f7wBgUH3aKzNmItSrA8jqNeV2cqaUEsCWo3rSJ5OyAbDC1zIUULFQRudOceTMPJxeWXPSUT6gTEi7fLoadI3k40NU11B8nHSPJ5BBDdqYBX8qXBbqq/IAfmiC1X2fcrGRz+J/DOIw5KiPaykjNmT8QGhFw9jGPDeIO5J7RJJO5NTD3D4udJognK/umoPrkY9ncPws8BSj/DzlOze6S+tG+UX8Z1WTf1X8r2OaUuD3CcSbVoNVjfaKCQBZgLZufQEX3A5xzmL4RiJB7aSUCudNQ37R7w7GghyQ7ehyEI8UX5o7knFo7OUHSxSzDc1qX1hXxRQYgpXoCyxoGNCk69YFw3FmSXcHR41xGMC0KYi7/a8QWOUZbnIrw1SF4fEykpIYKuXJdOrAbRwPCJUyYRKlJK1mrD5nbvj6B+CGVNmIV8RAP/lA34uxycJ/pMElMunbmD3qvR9+ej6RpxZHDJLHFW3T9ON2zVpuKbFa8NJwf/5BTOnkOJQqEHTN+vhCfH4ybi1JKveSDlQPdI/peyvm1LNFJeAJVmUXOpd+8+MNsNw5JQWtvGq4w8zdvv7IRy7CfDSwCQQQbVFX1oW9COjw+EllKVIQzb33f6NbvrAak5inM+ZIYL/pHupUGsA9b1AY0jZM9aCAQwqxcEHoRQ+MLkblwKxlNwyJgKVKINKalwPAQKvgKZaWS5epblekVE21S4Lmnu8iSb36P1hxhmUkBT7HMr7C16cjGeTlDrscIJ2AT2WUCQ70qgOGB0LHNa2YCHXCgmUXJJGn6d8TF5U2fMOXi/L7wEgNlUHAU4P9KvyjYEVBuzjQxzbyR3OHCpwUpyGPoVr84HxEwEjNVJBSsUqk/UUI5gQHiZgajc4cYDh6UITPxRZHwy/imfYeusGlDcKtvYBw/wCHpiApeJX7PDp+MXmi4yDn9YGx/E14jLJQBKkJPZRvzWdSfLzg38UzlzZsuaSThqJQkUEtTe6oaE3B1FrECYaSjKG1ejjSn384dSdKcuf0X9nOlsjPDSklFg40++0BzMyU5U5VoLqVLUApNaUexb4kkHnDZUgmx5CwBGyiwdt/HRh5mEYAuz7j5HaBGdO7OEkzh0tdZSxJKQVGXNJymrOmY3MABfiXjTCYKe4ypllvyzpR8gt4I/g6L3dI8XP0fugn/htbAPGiWZVudYRLwU8AAypltA48XiR6rhr1tybQUHlEjPrgdaPmslFGT2SxO4IFSeRA8YPwygsueykUG7ByH/MT8zACuynQmYP+1IP+4jwHONsIqjcxa/qkexJWgMYTSkimbqwLvycNbcxkpA9mDnBdbCh+EFyX/vFn1jKUSgZVa66HoReLY2YAZSaMEZi2hWolz/jkiaXQB1HD1KyBRWGsGCr0ozbaxEIBmIci7j3g5AJA7QAuAIvwXEhUq9KMebXYVs9b2jPFrSSQfHQ8+YjB/wA2iYsweI9nRiDYvRjzhshaVGpe7UPffWBJuDM0UA9oAMrkD2jUy1utmY6s12jzAJf3nSEqAW9C40D/AB3HLWjxWSUlYaGUhfZzqTmSCwQ/vENQbACpbRhrGuDWXOaqiSX31fl00tG+FwSpigQAAzJSLJDuw3qSSS7kkwdM4YU3sGNrd2os/QbVyTyR/CNTBMQhShav600jI8NzE1oKBth9y574OnIJKmq1rgA7202/aNpCiEpYBwBb9InraWxwBIxU6Q6UstH5FVHQbfKKLw+CxBAIOFmk3Huk/L/4wxU3xChv159YWTZHaCwHqclPeVvtlTfqw1MGO7vh9190OpPgD4n+FsVKcsJqBcpu3NJr4PC/B4/KGCiHvUw+9nOkspC1DMQ4LkEnkaPzie3w+I7OJk5VG01ND3n7uIrHLKvNuu65/L2Bpi+Nin4NmNOV1SQf+6FH4rwqlYqYpQIQSO1pYUfflHZcM/C/8K8wTPaIWU5SQxAD301uI4XieIm/8RmhCjlJUFJNUkAJooGhD1rHYJKeeUoPbT7FpJrGkxdIw6gTsG9dI6HBFxlArbmeu9aP848xGCQxy9hWiVF0nVgo1T/lt70C4QTJbgggl201NQbEc40zlrVkBlIkJVdkk1rbx074wGGIV2HDukEOA6gQDzLkdLxZC6F1dm7so82tp9IuvMUulanB7JAZiLaxJXF8hsV4XDgHPmJb4Xo/PeDlYtRrsBb1tAipCkkq7IQS2UEkpKnIegGVrdOUEyU0J3ik+73Ay/tnalen1g/BzTMaSqomEBgHIPwqDB3HyeM+H4NU1eVCH/MfhSNydI0m8SRIzS8J2phoucatyR94zyduo8/sNFdWEjBysIoCYROxN0oDlKDoVbn1zjKShU5XtJqipRtyrYDSkD8J4c+aYs1uST4uYfcPlgqzEOC1efTneI5Jab3t9/Y6744PJODWMxYFJDKSQ6VjZQ8wbg1cQBOwRSTMldqVr+aS10q3TUMsX1Y0jrp6OyyTeh6Aba0EALwxSQsdlQFG0G3Pnu5iGP4juM4nPpnG9SCdq/oI9xc1+ykHMfhGp6awfMwSSpyPZKYl0h0FgSXTdH+JanuxhNwKm7BzAjtqarbFJqlO5F9TYRdabsXcFl4apAIawZilRo6tlOdem0O8Dw4sxsRXWgq1a97wFhlgOBbypbrBOHxalEgaXLgCtOgPLwESySnLg6NDMyEj4gO9X2iRWSiWQM6llWuUFu5xtEiGj1Knxz8YcAn4SaorQ8olkLTVLaCnunlCPDYqvWO94Rj5suVlCnGqFdpJ3cH6QDiOAYTFOZSv4Sa7MqspfQ/B6pH0GP4jStOVcdV/K9rJqnwL5QTMCU0ZRAI60fkW1EKUzM8xR/MotyGg7g0F4jh+IwZmCdLUlkKCViqTm7AKVWN33pCvBrp0jRBJpuLtdBdNHUYHHGXQC90//XcP39YMmAKToVHRvcABcF/iLijFmu9uak4ogk/kAJ7my+KmEO+E4vKgamla3EZ8mPT5kTaoMkSEpqS/Wpi2OWpRlLuw9majQuknuLf4R4hCldlQOY6XPLrT5wRNwq/ZqAlqdOVYodCxv/So+EQvfc6I64bigkAg2BcfUN8obDHiYllWq/OhPmBeOQlTasVM+gZR76sO+vKHWDkElgARYVU5ubgivdGPLhjyxk3wOZ01KUuL1JA5xgialj4FriMTgVWIAvuX8TGsuWnNVixJIa7OdIgox7h3K5Ae0aoLsC/bOgbYb6dYujBmir00sANgLDlBuEwmcOalvDZtAIIWghDUiby9ENQsxEpJd60au/7P5Qv4hhEZfP7Q+XgAUu4ZvE6NtCnHSMoYVfc3hsc99mdQf+H8UVYT2ZL5FN9vnHC4qQBjJ5/r+1o6f8PlSRMzDKDbm0c/xiWoYmYRlZRFSoBnAd3MacG2Wa7r2Hyu8cRtgpKVprsQR8j62jGbg2SpCQcpYs9HBcFu5u+K8LxxS6SKm29GAA3HSGqpnZG5IIqN/XhHNyjIhEVIloAJv6sOUUTMo+juRtBMlIyA0cio+fe8A4yRlNC72vXl1h1u6YbLEMlRUOyqirb3GxBDj9Yvw7gazmXOUJckfH+cX7I++7QTIwKZSRNxRNaolaq/u2HKMOJz5k+YCSRLbsIFmtbfSO1t7R47+w9JLzBK+Kkp9lIRkksQR8S3oa6dYW4XhZlrAYqQqqVNcc9iNQfMMS7wXDCTqHGvWGC8GgDKpyC2bK3cof1A28LExJZow8q6nO5cguBwjnKGYbWHLmYey8Iw2LX36wtkJMsPRSX94C22YfCetDoTBi12LltSBU/27ny3jLk1NnLYuiZkIABu2YdK6000hiuS6XEBYdOYZedrjS435kQbMQEpNb9RttEJ8lIiWdLHaGtB4uTrsCI9myRlCgCGN3+WoMZz8QwLByFF7vUBi1TofRjJGINSxA1el9d21jRplSEsrMmpUSmYgOaBdQQdDMIPaDs+ra6GuHmUIUDmSSGNMp1DC1domLSlmdjA89LpEwqyk9khqqKQGVyBS17kGKLzRANhiY9hKlVLnxH2iQngoOs4VBIAcuCGvq37Qxw+VQCaW7u/aE80EEh7Cg126EfaCsAcxorKlAdai4CRzb3uQ1Me3ONqyLTHuG4mEImS8SBNwpZORTElVwEbEX5NuzoOIfgwTHm8PXnDOZC6TE/2v749VjPGYz284ZezKRRAN21UpviUQ57hpDrsjtgstPukFi5pSxs57oklLC7i6b5XT6r+R1OtmcBi5kxBCJiVIILlKgQXtrXeDsLjcouK+TdY7rF4uXPQE42UcQhuzMSwmo7x73fHPY38DZwVYGemeGJ9ko5JqeqTfrSNMPioSVZFp/b8+n1oelLg3wXEHACicpZkvtp392sOMKtKkzEgVVLmj/wV9Y+fmdNknLNllJB+JJFqEVoRbwEdLwbiQXkAIJsxag1hM+ClqRNwaYZwZlJSdmdtY63CYwABqlrNz8TSPnvAsUcgALFhHVYBSS5VTYc+/wCsZfise7sHDHmL4io1HeK6b8hFfbhTEUelPPyYf5QDNytr9vC0EJClMkN2KF2v8Rdq9qn+IjIoRSDZ0uDmhKb+Go1jXFKCgbDpCky1ADwcinlyjVKmukMQqoKho7EPXSga8Y/DV3Y99DdOJVlZmexPpz0EL8SFOSks3xWP+P5et+loYS0MkqfMW0FhsGt0gTFMymBF4eMknsEUYearMoKJNBcn6wgxozYmYWc9k16CHEo9tfMfWEfGppTii2qUn/xjfhXnddvYM98aGsvDDL7xAIoBZ3BsekNcPlSwqS1/lyhXge0jNb1zvHmETNmTAiWKBi9gBq59GFmru3wRRMckmYlklSlUyi7/AK0PjDLET5eDAVMaZiSOyi4RzPP1zinEeMJkK9lIGeaQyphFE8uvL9oT4mWVPNJqpva7vYEbJNBs/UQIxc0tWy/V/wBfuU2j8zaWlc9ftJlSfLkNhDuXIDWccvh+/OBZJAAFN9tPKHOCmBSR9xEss304BE0w0xgA3foeYOsaol2JEXk4Yk0FKGn217/KDFTAkVu1/WsZJS7DpC2enJVJIO4p3c48ViDRWZHaSGH5WdJYJDAOCe+MsdNLlknuEDhTFIb/AKaXpYl1a/3RWMbjuLYajEEflPl/8gI2m4lSktlPg48uXOFqsWA1D3pP0tF5anJJHru9XhXBc0FMyxALzFNRk0cO2ZNx3DRo8wspCTmdVLBywfYeuUUmzWUFM4chT0BBcEcqQMSELVLK3ax0ILFJY7gg7RZJuIAqfOq1ddelH16G0AGpUigCwwOywTlJ2F0l9FExlxDEsk1DioIfrqafrGfCsNMxQOVLIHvTFFkpHM7xWEdK1PgHLB5eLDVVlIoRlNG0iR0GJRgSolUmZMVTMsHKFkAAqZxc1iQfFj2f6DeH6o4VGGzPSguWoOvp4Dxy6JSkMlNa0Kz+ZXMC2w5u79OEzEJqlIsCfdrctcneM8dwqlbCsbY5Upbk+DnhLeoH6R5InkKDmjkVPSGeGwTKKQKMN3qAaRjxDh2V2IIpTTbx84v4kW6Z1BmHxQVQW74x4oQEBSD21KZJAqkBitTioeif8lbQvkSyFGoSkVUVFsocB/6g5FBWwaKTcRmWSxyCiBrlFrampPMmFWPzWhUq3GuDx89QyqPtE6pmgK8zXzgmRhcKlYUvDGWoAuqWo5bGrfvCSRjFJPL1r0hknGZxlFqE/QfU920LPG1xsvTYoptcgE/gM2QPaSD7eTumqk7gjVuXgItwviSVXLVZj9tIc4SSpNZailXKx6jURpP4Zh8S3tGkYg3WkMDtm0qN/GA83Se/qufqv5X5BqMuC2Gxod37KBmbfQDvUw6PDHAzilIL9fr3/eOa41wGfg0JKj7SWS6loBZLUSFDShJe1eUZYLi1gS9om8Uckbg7Qji4n0ZGO0Pp790YjFELYgtSvwh783oIQyeIdihDsz6wZhcQSoOpmPaY30boH+cYfB02dY//AIsAEA6374WYrG0oQwufGNSX1L9TT0YBnFTliUhWzDfYVhIQQbBJCwVqbY/OOf8AxCv/AFIr8CfXzh7Lnq9oUqL0oTfT7xrO/DSZq0YqYtpSUVTqopJLH+lr66axrhkjjncuxbTqxpIE/DuDXPQFE+zkp95Z1a4S/wA9I9x3GM38nCdiWCxWDVXMG/f8ozxHFlYkmSUhOHZgE0IaxGlPy2PnC/D4UySHOZJcoUkXY6g+6a26aMS6hbcp/Re/qSbUV5RhgsCUnRy1T8/GHmJ4eQkZaHfRtX3GjaxTBSysUoo0BI+g++kOJeEBGVSq77dAYy5czuwJCpGDCS4HYIDi+Xr+Yc9Hbqxw6UpHZNNto2xcjKkBOmvqkByle6wykhzqAQSOwGpZ6vfSJOWtWGqHSMY4eoANTvyHMxuuWCk1alK29bwFLIXXMVU3ekYLnZTpt9qGm/hGbT0Q9mUz4iDUEgmo7+cAz54PsyVF3VLNL5cqgXJ2WB/jGuLFzvT72hRi5rS1AAPKWlQbULBSon/IS42YY2JY0XMDWfZ1U6dloAm4zK/yrrq+znr84XDiCtbE2Py9PA2Mx2awBO13fTvi0cDvcWxvNxQahdx58oXmROmhCpaVrWFGWQkOfzIJ2uof4CC+F8AUQF4g+xlafnVsEj6w+l8UKJZk4VCpNak++vk+iv1AIjtag6jv+w6j/kAS/wAOJkpCsaslTj+Qggmp+NQt3Q4xy/by0SZYEnKXTLS4Sv8ApLD3tRvUXaAZWUjMb3L3f7xpMWFJADgevOM8pycrf9DaklSF6MSgBioOKWP1aJDCcQpRUuTLWo3Uc4KuZykAnctU1iQbiLQswqkFh9Yy4nXZi9z4lrkdOceLQ3u10HlvFlrUUqJDnQ7NvFFs7OYn9k1bGwegLmzvQuTenSBEZnUkvR3CjB+INBm7u+0YDLkJKQpSVJSgnYhRZQ+IBqbPtSNkXsIBTsOSydSylUOzoHgcx6jaBcRw8gZmoX7/AF6vHUycCpZCy7lXaUBvctY9zQwn8NCUUTU7a9Rpu8K/ilFpA3Pmc4kdNt+W/wCkaYXEqSSd6w5xvDu0CzkE0Y1tYtUvoO54W4iWHIKSkjQ08t/vG6M4yQw4wnEQWFNz0ZyfAGDMItK3Ubqqdh+1vCOXCmBa6mH+NX8Sw/xMM8LMyM3p9IjkxKthXsdAnFTZKTlOZNOwaivLSgNozm8GwmKDo/0s7l7qj/bbwY8ozwuIK+483f8ASzdYJn8NzMqz0/feMj8r5p91/K6jxn0YlxPCsThy0xGZAqVoLpIF63BPNrxngccxJNSpyW8TD6Rjp8v3SFIb3VC4t1ii5ODnqdSVYZf5ke73i3kIp4rrzq/Ve3sc4p8HuF4q4IVQB+R5P1MGIxgyWFunzhXxD8Nz5YeWsT0nVF2vbXueF6eIqS6FODsQxvq9oTw4T3g7FaceRthw880bsnwo3lDj8STinAyQPiU3W/2jn+EzMyyRok69IL/FGJ/kYYPQKPl+8TlC8sV98M0Rf+kwLCSGOrXO8PJ+E/lsQ/S76KB3H6Qlk4igZ3cWPI/YeEdRhw8t2qd9X/R/COzSlFpmdAPCSpIDlBSC2Z2B5MagkaHYwzK1FmId2+JmLNVn8misrApTsxbx35N8ngyXMSHKrikZck03aQyRmoKUA58r76wIsBBQXKhVJcAEF1Ktsyh5wZ7d2ADA6wunrAJQSyVkAlxQ/CquxvyKo7HbdHBEzHNRL28P1gHFzlCpLks7HbYQpXxJhloCksXFmNRehfcGMBi1TFezlpK1nRLk95+pjRHA0C7Gn8YCO0Q+vraF6VrnTFyZIcrlqBAD27aa6dpIHfB8r8PhKCrFrIKa5JZdQGxPrrBMvEHLkwyRJl6ke8eqrwVOMb0b/sOoV+IBwn4XnHL/ABU2XJTzUCrwBbzg7ETpODmBMiU6lBxiFsQRrk05HbaK4eQCsFTk2JNXP7ERuvCpCVJUkrkkuUEsQW95B+BXPXV4Vz1S8727LZffzOtL8JnLPtFBSl5juT4jlDMqllJCb6+t45/EYZchJUlWeSTRYFUPZMxPwHS7HQmPMPizTXSn6UgTw3umLqfUeTVA6dvW7rpf+4atd970kzUlIKSIFClEWIZiCW9O8aFBOr9Q58b+ekTaXU4KRPS1SAYkaYXCBSAQpKeXs0qtS6ql798SJtR7jUzlRjXoDQHvMGpklSKUpHPYPiGFmkZVKwq9pjqQTyWKpHUQzm4XEJS4SFo/Og5k+KY9CcKdcfP7o6gNa27JANDfrprHimCJTfFnWQ/MIHd2D5wNjJ9GGl/RjWWWmDM/ZQlLdRmV/wCSjFktrFo6zgmKcABLevKGeLBU1RSw3en1jncDNIqKMRaD5WLzEmxrbWxc67CPNyY/NaOKcawoKdv0f7RyOKwTFKaKzEAObOWobp+W4MdVjEEG5L+TwrmyypebKDkBWdGyh0v/AJN5Rq+Gk4rkD5OfElKiSjMEuwsqgoPytSvfG8rDl9y1HDAHmDc8rU1gjDywAnLBqiD7oc7079n08I1SyMWzDCJUjXXQd/d0hgjEEpIJO1ru760p9ISTlqzEgnnp9x4wwwyxmANSm/8Acbj5Duic49WAeYdDpANdNaxTFYRKQXA8ImDxgSapILsAdmGzwYtTsbqFhVknQndQ2t8oxO1L0HQlzzJYyylEKuvroGtQX59IuviBUCnFSkTEtdq9x07mhzgsMkIIy+UL5+HUQoEN3j18oZTjJ7r69RraC8FwCRLkKxEhSiFBsqi+Xpr4xzf4gmpMuUhRIqoggAtbQs/jD7gs0+wnI5v4gfaOV/EV5XRXzEUwJvL5nf8A4WlXh7EwqQwZZUcwOVspoDUMSDU2d46bBTitIDkAm9AaGwfw745fhUrOz7/tHWylgKGZ8xSBvYN9Ae+KfE0ZhxhykJA8tf1gXGTAmpcMxG7a94pXYGBVYpug+X6QDjeLp96lLftGKGJuQ1jMY4BxcDaEHEsTmIQkFSiaJFT0aLYXBzZrqf2Ug6qcltgNesH4bFy5Dpw6e1YzFVJ9eEWUVB7bv75Co2tzDEfhwdmdi5pllQ7UtLZlkavoSGel3tBOHxrJyYaWJKNx7yup38+cZ4mV7RvarL/CtXwlrK/oPkwO4OuBlEOlQKSDUE2MdJtxuTv06ffzG1JcGuDwhLsS+5q51d798UKRmA90EtSwOo6aj6sYPlpVo1T+sYmSQVavcF2N/PY/rElPd2IzREkX209eqRFAqOjXb1z+RgeWQ4bWozVJ+lDSx84PkpcO/J39U5aQkvKcATJxQcyWdiki4UDQpUD7wO0BpwADTJIzpU4MtwVoIZwkGq01oQ50NQ8F4mSCouoEbNa9y/p4yVKDigbKLWq6vrFoSpHfMG/jDWmXLcEM2jEM9bNzgqXNZF6ty/eLT5xIyL/mJcUU5bor3ktyLVgZUqW4YzquCnMgMzfFlrQ/lhqiwGv8S1HI79DUeUSMlGWKezUW1Mz/ANI8jtETjm5+CRbKORD1+xgrBJVg3MtR9qoVQHyywdVixWdBpc3Eaoxoln+Sn2iqOtQIA/8A5p32WquwF4Ewyd3JJqSXJNy+51jY22qfB10HHjM8P7QSpg2XLT9BF8bj8PO7cyStCi3blKfTVJgfFBJF606+ceJkjMqzZjTZ4nphylXy2DrfUJw/Ds9ZGIlrP5FuhQ7jePJ+HnyVEzEKYWUzjmxG8ATJAKidILwGMnSgVpmryJplJcKUfhY2AFS3LeOal3v5+69gpxZph+Lh3JBO7et4visSlUsqBHbUEDoO2f8AZ4xiviSVD+fhkTH+JLoV4i8WXJwkxKUy5i5CkkkCaHDqb4raDWF0pO2mv1/bf9DtN8MplCQQb+MYZ8r15Dn6Ma4zAz0JcoTMSBRUs5uhpXnaF3tUMKAEb3EVgk1adiOLXJMUXBY1jWQllG3ZZJvUpASTfcRjJWM2b8oKm3ygqHiQB3xbAOz6RV7RB0H8nEMWdrOwD663ENcItIDFg1axzmSmZ+dD18KQbhMY2UuK2L8212PzjFkx2tjkzo0TUhNxlu4P1e1IXY/FkFgxfQOT3AdY1l4oK/qN2BYd5Zz0G0CYqQpYJtT3UsH6uXoNzGeEEn5hzPhRIRNJBDsK0jlvxGvtSzyV8xHQYKaUpmI0YGOZ/ECqy/8AL5iN3w8f9W/vgs/9tBvA11flXutDbFYtsqtHUKdEQgws7ILXA5ctOkNOHcOViM3woDH2hD1D0A1oTD5YpPVLgzpNukVVPWtYRLzLUbAD19obDhcnDALxKs6zUStAee/y6xlL4oiR/JwiXUfeWak9+vS0B4TCZppXMUVHdXrSIO2uy/V+xSlH1YTxrHLmlK0kiX7pSPhNdtCBTodoMwOFOVgK+v3ghMsJIcdhXZU2g0I/qBAI6EawVKX7O/af3VAUULONu+oasRlOoJRQHbdsovBuA9PrFly3KXUxDJSrQgaK2AsDpY0sTLnBQqR42+kVEkX8jpyiKk1ycBAqc3cFq0auwsWpr0i6pho5LHmB9ImJB91wCxZRsQB7qu6x5MdIEUFm2VVLJUgkmtg7kxRRsARNRlBNGJry0cNXwu1YxkY7KMqr2NvEHUc4qrEpAIJbkzHvgOfPBKUVqWDaE0BT36WPmGjG9mA0mYkKUSSaByRc1Zu8kBzZ9YKE56tlLAACzAMAQTdgA7wtXlBKUdoP2iQO2x8UjYCvONJAazjkS9NWN6bV6xRxVHBc1wHqej+H6QEZrJvTPpzT/wCsGYvFpCRQE2v6Y1hVKnq7IzKGYlbOeiXH+JPfAxxbRwajEuPeESK3qUSyd8pHyIHlEjqRwmOHUKgMOsUIUlywIo4OrbNYwecV2Qk9nd+mwc35QuxKmL1VuAk+TkRri2+TqDZc8WIqDu1DrrVmpGE1RFE2f13RXDlBSlysKYj3XcaGhpt3RpLkAuyxQEsXCgAKsDQlhoYFJMDRWXYklki5FXOgFbn9YtImZiNALJFh36nc/tFJkwLajJAZIDU3PU6mNRJyVBNdq+UFgDkjdgQ7d0CzsMlR5CqvW5NP2jFWLIdiX1r9TQQRhpuYgEuLvuf0t+8T0uO4yZ4iTNQy5alJP9JoNmB0iTOKBdMVKRMFsyRlX46+IgqY4Fx0jIYQKLqv6eFtPeX9jqRieDSJqFDCzmmKb+XNoWBdgW3A5UvAK/aSf5c1Blqej2PfYiNcfIGYBKVEnbRteUEjHTpf8qaBOSLpXW+gPL5xVOVc2vXn8/f8wtJ+gHMWbBV6X15QRgFgqOodu79a+Me/8HlzgVYZZQtv+Us2PInTnWFSiuSvItKkL2PzG/dDLTNNLnt1JuDR2WExKQlmCWDBvrtHn8Yk5ul456TxB2D9e6pPhHkvFFQ+IX1/SsQ/+fewWMZUwe0Vtl+sc/x8MqUdO18xDPh6u2sguMo/WOk4DgJKpJnTUhRlqOV7J1J5s0F5FhepmlK8dHO8O4OkS0zsSShFwg0KuuoB2vG838QGZmQlGWSzFIoW5bGFn4ixMyZO7ZpdOxBsRu8EcNwZZ94dxTWvJ9F0X33Jaq2Rjg8IZczKTQ1Sq2ZOh9WIIjsMNISGdtHYawuGBSlASsFSXcEXQTcp+qbHkWMNsNJQksDmUQCFEkAg1GUE+iLRmz5NasCQVOyFkgemMYKQMpFcpZw/gRzEUGHVntUF3e/nF59ABpz0+4jMtqpnNmcnE5CAWINiLEbj7aQYialQLN4s0KJwSjs3BckPcsWIJsefdakeS15R7zDULSR5pcHrSKPGnugWbzVAKUXJLVBD0JAJBF9NLExjMlpmEW8OsABcwrqBZQbOmrpIADKcnM0UlcQar+JivhutuQWFqTM1Jy1bMkL2tmenKMJExCJyCtCXf3u0MpsFMCzAl7aGM5GMJIeoqA3V6eJjLHTHBBFT0A7oolK6ZxlJJSohQYgkKDmhFDd9ouvFurZvICseY9jkXmqtAPZ/Ml0KcncpfvhfiZ4ts3rr94qo6gDVU/MCSqvJg79PVYFnGktWZyUkE7EKUBU8mgHD4gE+vV4OwWGmzUfypa5mVZ90E0UAfIp847To5DTZ6JpFIkGDgU741SEK1SqYkEdREhNePug6JdhaJQC1aMpQPjBZUhhzFT63tAc4n2iw47KlCgHwlgX3ghCgRfu+4h5IJqmWnLRgfW8YywErSpXuuytSQaKHgTEBJsBQcxToD8ovhVdpGYBitIID7jVzAQGYlBSShSkgpJSwOY0LWH1jTDyCpTEE9aDyL+YgdH/MWantKJpq5fWC5M4g6uWp9Bz9VgyvodRpO4RlJJIZ7fl6nfnrA+UOwpfWlALQVKxDvmdtnvpAuIepq3WnnQwsXLhitAiZpBLHUNyd7c6Qw/iGAbatbwOrDpZFHUoZ6KZgR2HDGrOaNRQ3ghMg6Cz8z3UanR4adACpa1CrsaMCzjm2w0O5EHYbBdO/7mEyZCksSoN0+cNuG4sOQr103jPkTryjxkCTuHprcEWIdxeo2gQcUzIMvFp9pLBZKvjfk2w284dYybmcos1T9tzyhZiMNnIplADAcvudYMJWvP8A2iikKOI8BUEGbh1+2lEU/ON3GrcoWYbG6GG61rkEqlXNTt3ixg1eEw2NSDSRiDR/hUf9w53jUsrivPuu/X6r+QaU+Bfw2ZVXNMPk4vLw+eNy3jT6wjwHCp8hcxE9GUhNDcKDiqTqI1xU/wD0q0vdafmInlipyVbq0VjtADws0HszASnQ3KOaeW416w3wyFJYKIZ3DVzDceqGFfDEhTk2h3IpQ+63/bzHP5w2V9DMHpKmYjy3jSS6AyiW+E3Mvp+YbjwaJJndoAsqlxZQ0gpcoLBDgeqxgcqe4wJM4j7PsqFbgioI3G4jDGcRKwNN+Y+v6CPMSlimWSCh60qlqlQ2bWztC+bLWUkywF1+AV6lJAUOrRaGOL3Qrs2XMLso3FDuHv4hvGGTpMrtKD2ar6/TnCJE1ixYhPZqAXqSS97k+UWlrGpKQWHLbWwbnDzx2cjXiSXcDc176QtWsF1n38+VQ+EFnCm1Ku1SwKTuACsZNAS1lCh09bQtkKcmWf8AqU/yBdDnr2eijFsS2OGCZoAflTnyblWMcRxEH3Wbuheie4L9ltLH9484bgpmIWUSk5jqrRP9xh/DircugUgnEzyqUMjqKJmgNlingpJ/7o2wP4bnze3MKZEv800t4Juo+EO8FikYRJl4dpkxX/Mmt2XGiN2geUStTrUVHc1iXjSV6VS79fyHpLk1ThcJI7CUHErZxMmURXZALkdYOlY2eWAXkAqEoASkNowuOsBjD2S1XdJ+aa76c+sESpzsAGMZ5778/MGplZnBpCiVe1Mt65CknKda6h7cmiRoup08FGJAU59wbHLT5madOUKD2itOZj2ZODCvU8o1VxHAKK1ZMQi6mBFXIDecZJ4hgmP8ueQRqU08427/AOLC4+p5LxQSCCaxvh+IBJS7ge0QS9qG/KA5uNwICWTPOpAKY34fjMAJqFkz0hKgplBxQuLB4LW16X+QFEFweKfMoVBUog7uTBc3EhgbPYanc/T9oPx34fw6FMMUEPXKpIoL7j5QLM4OFH+XiJSwwFaWA2hfExy3/hhcGXTiUsAKH14xBOFSs9hNSDc1AAHMkgd8DTPw7igTlCFVbsrH+5orxLBT5MlImSlDOp1FnACfdBIoHJJ7kxyWNtJSQNL6hkjE5iVKPaJc0uT9IYiY6covuLxyeFxaQXbTw6bQdhse719eMdkwsVh85KkkvbQjTqNe4x4lSgpiXINxQPWj3fwiSMWC5p2TQ7k26tU90bS5agM3Zy6F3J6iEe3IKCETHqTX5PsNIMKwQ9YWZyoANX1+7xfCksWL7n7fcxKUOoU6MscHNug359PnC7E4P4nZVO7o1odICRUufvC/iIo48IrjlvSGOlGMM/AOqqkUeOMxQJkqAIHaFyB84e8BV/pZo3P2jm8eXQRusfWBghpnJLuaJO8dnmFC0JBKTl/MGUPEOIdcImve1jCbh/ZNCUmoJSa+UPZCLEFlnwU++yuer+Ns3YyjOSg2FUOCQPmDobwRJZOZ2BFmG9XBuQeusLsLxPK4NDbpfSKzpjsCSBorblzT8rxicJN0w2HTZQckH3np4EX5iFmNmMxTQhiCLjaM0rIVdqOCGbqPvFMTODmopSmkUjBpgB8eQ4mg0U2cflW1e5TFQ7xpGX8Y9NPXnHipoCiFVlq7K22/MP6kllDmGsTCudNKCUKHaBamuoI3BBcbvGyMLQa6h0ycVGuwBPSgPePPrHgQVOhAzKOgveJhsCQyp5MtBFEj31dBp1MNJOKUBkkASUb0Kieaj9IWUq/D/Q2nuYYzhCEzM09ZKlMoykXzEVc/CHcwyw3EpiUmXLQiXKY/ywPeGoUq5fekBysIS6/id1jr8XQnwPUQywuFYO/qsZ8ktvNv99g6n0FS8CJf8yWVGUVZSDUyibJVyOimYtoXAKWCGMGyQUrJDFwxSoOlSfyqGoN+4Gl4vPwaVJUqSpgA60KPaljcH/qI5io13Ic7FaPJJcdqNJqiS79rnZXfu3jFQEBshBcDe7XuwMaLSCmpFBR9axBvc4zzHduRvEgoA/mNtzEhdR1HzmYOyrckA9Kn5gR7LlpZtYkSPa6AJJwAPrQQWmSiW61dpKACRuSQEjvJHdEiQjk3KgJ7gspZU6luVFyX5848Wga2iRIbqE1ROUFqKVKBc1BI1hhh/wAS4lHZz5hsoP8AYxIkLKEZbSVhUmgqXxXDzezOkAEls6KF+5j84tjfwqCT7CbUUyrGvJQ+0SJGTM3hacH9OUUj5nuJcciZhlolzBatCC5N/IAd0MJHEgbvWJEjRFLJjjJ8slJUwmViEsbkkgd1z9PODVkAUF/lEiRDJGmhQP8AictdLfWMsVOJGw9bd8SJDKK2YUEcJmhMmYkVq/iBCHHq7J/uH1iRIfEvOzT/ANZvwk1hysC0SJC5fxGZmkpZzCpLAi50r8j5QSvLlUdR5+iYkSISW6OF02eCkIFz7p5vVPQ07+phccQ5Ppo9iRqjFUExSlS1ezQxJ35w6nT5chKUJQlc9Kcuci1zrdnpEiQk1qmovirKR2Vi3EkqPttXCZg2LEgjkoA00IPKN8PiLHLe3oRIkM0qr74EYww885wUlncd2oO4MFLUGcEsSRl2IYmuzW1+ceRIzSW5x6gKPeXv5RrKSPaJWk5ctd7aVuDar3rHsSJWciJlS1qZI9itRokkqlmtkkdpHQhQ5iN18JxCSoGWxt76e/XkI9iQJypIdJM8HDMVolv8k/ePYkSF1eg2lH//2Q=="/>
          <p:cNvSpPr>
            <a:spLocks noChangeAspect="1" noChangeArrowheads="1"/>
          </p:cNvSpPr>
          <p:nvPr/>
        </p:nvSpPr>
        <p:spPr bwMode="auto">
          <a:xfrm>
            <a:off x="155575" y="-1455738"/>
            <a:ext cx="4552950" cy="30384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1028" name="Picture 4" descr="http://freeimagescollection.com/images/leaves-closeup/leaf-veins-in-detail-f4.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28184" y="4675733"/>
            <a:ext cx="2559325" cy="1708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6208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770BF-BD47-3597-21C3-CD5008698A5F}"/>
              </a:ext>
            </a:extLst>
          </p:cNvPr>
          <p:cNvSpPr>
            <a:spLocks noGrp="1"/>
          </p:cNvSpPr>
          <p:nvPr>
            <p:ph type="title"/>
          </p:nvPr>
        </p:nvSpPr>
        <p:spPr/>
        <p:txBody>
          <a:bodyPr/>
          <a:lstStyle/>
          <a:p>
            <a:r>
              <a:rPr lang="en-GB" dirty="0">
                <a:solidFill>
                  <a:srgbClr val="00B050"/>
                </a:solidFill>
              </a:rPr>
              <a:t>Lesson 2…</a:t>
            </a:r>
            <a:endParaRPr lang="en-AU" dirty="0">
              <a:solidFill>
                <a:srgbClr val="00B050"/>
              </a:solidFill>
            </a:endParaRPr>
          </a:p>
        </p:txBody>
      </p:sp>
      <p:sp>
        <p:nvSpPr>
          <p:cNvPr id="3" name="Content Placeholder 2">
            <a:extLst>
              <a:ext uri="{FF2B5EF4-FFF2-40B4-BE49-F238E27FC236}">
                <a16:creationId xmlns:a16="http://schemas.microsoft.com/office/drawing/2014/main" id="{A6883EBF-A1F1-9506-2053-101C32D9859B}"/>
              </a:ext>
            </a:extLst>
          </p:cNvPr>
          <p:cNvSpPr>
            <a:spLocks noGrp="1"/>
          </p:cNvSpPr>
          <p:nvPr>
            <p:ph idx="1"/>
          </p:nvPr>
        </p:nvSpPr>
        <p:spPr/>
        <p:txBody>
          <a:bodyPr>
            <a:normAutofit/>
          </a:bodyPr>
          <a:lstStyle/>
          <a:p>
            <a:pPr marL="0" indent="0">
              <a:buNone/>
            </a:pPr>
            <a:endParaRPr lang="en-AU" sz="2200" dirty="0">
              <a:solidFill>
                <a:srgbClr val="00B050"/>
              </a:solidFill>
            </a:endParaRPr>
          </a:p>
        </p:txBody>
      </p:sp>
    </p:spTree>
    <p:extLst>
      <p:ext uri="{BB962C8B-B14F-4D97-AF65-F5344CB8AC3E}">
        <p14:creationId xmlns:p14="http://schemas.microsoft.com/office/powerpoint/2010/main" val="542665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009691" cy="1143000"/>
          </a:xfrm>
        </p:spPr>
        <p:txBody>
          <a:bodyPr>
            <a:normAutofit fontScale="90000"/>
          </a:bodyPr>
          <a:lstStyle/>
          <a:p>
            <a:r>
              <a:rPr lang="en-AU" dirty="0"/>
              <a:t>Transporting Water - The Root System</a:t>
            </a:r>
          </a:p>
        </p:txBody>
      </p:sp>
      <p:sp>
        <p:nvSpPr>
          <p:cNvPr id="3" name="Content Placeholder 2"/>
          <p:cNvSpPr>
            <a:spLocks noGrp="1"/>
          </p:cNvSpPr>
          <p:nvPr>
            <p:ph idx="1"/>
          </p:nvPr>
        </p:nvSpPr>
        <p:spPr>
          <a:xfrm>
            <a:off x="457200" y="1600200"/>
            <a:ext cx="4186808" cy="4525963"/>
          </a:xfrm>
        </p:spPr>
        <p:txBody>
          <a:bodyPr/>
          <a:lstStyle/>
          <a:p>
            <a:pPr marL="0" indent="0">
              <a:buNone/>
            </a:pPr>
            <a:r>
              <a:rPr lang="en-AU" dirty="0"/>
              <a:t>Structure of the xylem</a:t>
            </a:r>
          </a:p>
          <a:p>
            <a:r>
              <a:rPr lang="en-AU" dirty="0"/>
              <a:t>There are two types of transport tubes – vessels and tracheids.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016" y="268784"/>
            <a:ext cx="4098517" cy="6351850"/>
          </a:xfrm>
          <a:prstGeom prst="rect">
            <a:avLst/>
          </a:prstGeom>
        </p:spPr>
      </p:pic>
      <p:pic>
        <p:nvPicPr>
          <p:cNvPr id="2050" name="Picture 2" descr="http://bio1152.nicerweb.com/Locked/media/ch35/35_09PlantCellDiversity-xylem.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2780928"/>
            <a:ext cx="2808312" cy="3272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9313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Transporting Water - The Root System</a:t>
            </a:r>
          </a:p>
        </p:txBody>
      </p:sp>
      <p:sp>
        <p:nvSpPr>
          <p:cNvPr id="3" name="Content Placeholder 2"/>
          <p:cNvSpPr>
            <a:spLocks noGrp="1"/>
          </p:cNvSpPr>
          <p:nvPr>
            <p:ph idx="1"/>
          </p:nvPr>
        </p:nvSpPr>
        <p:spPr>
          <a:xfrm>
            <a:off x="323528" y="2132856"/>
            <a:ext cx="4680519" cy="4853136"/>
          </a:xfrm>
        </p:spPr>
        <p:txBody>
          <a:bodyPr>
            <a:normAutofit/>
          </a:bodyPr>
          <a:lstStyle/>
          <a:p>
            <a:r>
              <a:rPr lang="en-US" dirty="0"/>
              <a:t>Water and dissolved minerals enter the root from the soil by the process of osmosis in the case of water molecules, and diffusion and active transport in the case of dissolved ions.</a:t>
            </a:r>
            <a:endParaRPr lang="en-AU" dirty="0"/>
          </a:p>
          <a:p>
            <a:r>
              <a:rPr lang="en-AU" dirty="0"/>
              <a:t>The force of water entering the root and pushing its way into the cells creates pressure. This force is known as </a:t>
            </a:r>
            <a:r>
              <a:rPr lang="en-AU" b="1" dirty="0"/>
              <a:t>root pressure</a:t>
            </a:r>
            <a:r>
              <a:rPr lang="en-AU" dirty="0"/>
              <a:t>.</a:t>
            </a:r>
          </a:p>
          <a:p>
            <a:r>
              <a:rPr lang="en-AU" dirty="0"/>
              <a:t>This pressure is what forces water up through the roots to the shoot system of the plant.  </a:t>
            </a:r>
          </a:p>
        </p:txBody>
      </p:sp>
      <p:pic>
        <p:nvPicPr>
          <p:cNvPr id="4" name="Picture 3"/>
          <p:cNvPicPr>
            <a:picLocks noChangeAspect="1"/>
          </p:cNvPicPr>
          <p:nvPr/>
        </p:nvPicPr>
        <p:blipFill rotWithShape="1">
          <a:blip r:embed="rId3"/>
          <a:srcRect r="588" b="6317"/>
          <a:stretch/>
        </p:blipFill>
        <p:spPr>
          <a:xfrm>
            <a:off x="5148063" y="2276872"/>
            <a:ext cx="3885588" cy="3096344"/>
          </a:xfrm>
          <a:prstGeom prst="rect">
            <a:avLst/>
          </a:prstGeom>
        </p:spPr>
      </p:pic>
    </p:spTree>
    <p:extLst>
      <p:ext uri="{BB962C8B-B14F-4D97-AF65-F5344CB8AC3E}">
        <p14:creationId xmlns:p14="http://schemas.microsoft.com/office/powerpoint/2010/main" val="941987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AU" dirty="0"/>
              <a:t>Transport Water - The Shoot System</a:t>
            </a:r>
          </a:p>
        </p:txBody>
      </p:sp>
      <p:sp>
        <p:nvSpPr>
          <p:cNvPr id="5" name="Content Placeholder 4"/>
          <p:cNvSpPr>
            <a:spLocks noGrp="1"/>
          </p:cNvSpPr>
          <p:nvPr>
            <p:ph idx="1"/>
          </p:nvPr>
        </p:nvSpPr>
        <p:spPr>
          <a:xfrm>
            <a:off x="457200" y="1988840"/>
            <a:ext cx="5428343" cy="4137323"/>
          </a:xfrm>
        </p:spPr>
        <p:txBody>
          <a:bodyPr>
            <a:normAutofit fontScale="92500"/>
          </a:bodyPr>
          <a:lstStyle/>
          <a:p>
            <a:r>
              <a:rPr lang="en-AU" dirty="0"/>
              <a:t>Root pressure forces water into the shoot system.  From here other forces act to push water through to the whole plant.</a:t>
            </a:r>
          </a:p>
          <a:p>
            <a:r>
              <a:rPr lang="en-AU" b="1" dirty="0"/>
              <a:t>Adhesion forces </a:t>
            </a:r>
            <a:r>
              <a:rPr lang="en-AU" dirty="0"/>
              <a:t>push water up the stem and into the leaves.</a:t>
            </a:r>
          </a:p>
          <a:p>
            <a:r>
              <a:rPr lang="en-AU" dirty="0"/>
              <a:t>The </a:t>
            </a:r>
            <a:r>
              <a:rPr lang="en-AU" b="1" dirty="0"/>
              <a:t>force</a:t>
            </a:r>
            <a:r>
              <a:rPr lang="en-AU" dirty="0"/>
              <a:t> of </a:t>
            </a:r>
            <a:r>
              <a:rPr lang="en-AU" b="1" dirty="0"/>
              <a:t>adhesion</a:t>
            </a:r>
            <a:r>
              <a:rPr lang="en-AU" dirty="0"/>
              <a:t> is defined as the force of attraction between different substances, such as glass and water.  </a:t>
            </a:r>
          </a:p>
          <a:p>
            <a:r>
              <a:rPr lang="en-AU" dirty="0"/>
              <a:t>If you observe water in a glass cylinder the sides of the water push up against the side. The narrower the cylinder the higher water pushes up.  </a:t>
            </a:r>
          </a:p>
          <a:p>
            <a:r>
              <a:rPr lang="en-AU" dirty="0"/>
              <a:t>Xylem tubes are extremely narrow so water can climb a considerable distance up the tubes.</a:t>
            </a:r>
          </a:p>
        </p:txBody>
      </p:sp>
      <p:sp>
        <p:nvSpPr>
          <p:cNvPr id="3" name="AutoShape 2" descr="data:image/png;base64,iVBORw0KGgoAAAANSUhEUgAAALsAAADoCAMAAACAVGUBAAABAlBMVEX///8A//8AAABQS0sAS0sAXV0AoKA9NjYAmJiMjIwAUlJJREQ2NjZdXV0ANjagoKDAwMAAzc0Afn4A9vYAqqoAuLjHx8ezs7MA5+cA19cAICAwMDDW1tYAuroAZGTi4uLt7e0AjIwAcHAAKysA7u729vYAFhYAsLAA3NwAhYUAx8fQ0NB+fn6Xl5cA0tIAQ0Orq6t0dHRQ//+8//8ALy+M//9kZGQfHx8eDg7t//8YGBhXV1cAFBQyMjJn09Pc//8cAABVQUFWNzcTAACOgYEmGxsqFhYVEBCr//9IKSmlxcVBAACRublg2NhgUlLH//+7ra0nAAA0AABdsrJ58fF7tLT4zYOFAAAM6UlEQVR4nO2dCXejRhLH6ZLk0RUZowthI0BC1n144rHjsb0z2UniZHezSfb4/l9lq6oBYevwSJYEyvJ/bx4IkPnRVFdX9aFRlESJjk83wd7sURk+Wsuusc/Vg/FsoHu48nfHoNRgOXuxdjiir5ZVHKUYd1i/OCV2u1635WfeWnXadlS7RvSdOl6LR6LjDesUOkAoQ6jPCsR+Ux8VOgru8NZ6HNdHRdsGtVDEq2y89qqgwixqbNIFqEod7WSIW2VE7LS9xc813qpgY9kjs9qBU0U5v1JGj1j8tB+56k8W87Od+/bO25pl4bMMn8CyOlzekFPoX6pgWzbtR60OjNS6ekWsFy/Yr0aj3AhtJ3cFow7byr1Nb+f+4wjPxMDtjO5VrHlq8ZSZT+fsbCuecmARuw21e7T5Yio63GeCEW++uVVGT2g7c3bl6gn9/ZNSu7XpGLErs3N6ILb123G03KSUZBjdUMUc1722Cdso/HxePLcJuPhYU2z8pwzZ1SgdPHG15m8mSpQo0Z9S6ANRH/fxp29hN1p5gxWx+y5UPB/n3q77r2DHmP2CYnV7WB9yuN6hs15cvx37N1t/NaTT19mt2/EpUNx7A8g+AzV1QydVjuu30wHYz4vFW6vzhIHCjGIYiuVnGMN0IIjnt9Shyp3jLo6/KNAdy+tVL57fUodnp1wwYPfi+e10OHY1xJ6j60+fxfNb6ADsF7xFE+/AWJY/RrxXeADj+Y8cz2+pvbMH/Uqz83PML+xHmdgVOY734/nttHf2PSphT9g3VcKesG+qaNg7lmW//a5RsNfVG4Cto5i5Ds5u5cacaO2gz/fQ7KmilyQeWblb9shPbwupHYwTHI7dUn3wp/Fo6zwvrEOx53IpH/10V6N7h2GvB+BwY+/ihqz9s3esC5/7tmDv4m6+dspu19WFISPy5VJXux5P2iV7BzGfd1jUcoFnuVd3Uj/D2g37TJY7Ij6GDxfOAzPfRQzwUjthr8n+SGI894/NfTnswpcv007Yh8zOVdIbqhvOfPDi9v0vr2mH7DdBf/AoFxiLerGDv79Cu2OvPwH3NSq5wtyX763/moTsnc5bOpJJQ573QNY+DHw5PBZ3Q7hayF5T1W3erFUP3PUQLpQcB7ZB+5nL7dFYPBULF4iu1jd2vnaKjJkGDkbM/mwUZHSQWQ3Fusra+Is02HMrq+SNBdZ9iJzmlxxCRbSYIbJvej8LTCFCuB8DZ364iSTEbqtq7Qt8sxE8tIQQTY9XA0uOud3nDjkVg9gR/YfuoPXPTb73HbE3JPqgARbvbPb4b1ZxWKvV1NqvVIqFDb7H7ANHJ4kzuLBtdDTn93v3i2EVAVsSHQZIom3SUSHZTwTrjMYHTj0DGtv7Yn2p4o0y2oad7f0M2d2KK9nHQcWt79+1s7ZlV42GyDbD7JZa9+EPNAGp+JT6A9knm7H//i4F7TxA2GYU6sSQ7ereIsfnKj5MG2i40HCzP1mkV79xd4e0zjTfRt8o9Gfs/AdTqdSBHOW7Jt+9j6V1+pmD1tfo38uyFn/JIXu++pL9gHqXoZtPSoTdNVFQWAv/wUcXPyt1o9eCyNm7YGHeVpYcw3XXe+C/4b9PCnRbRrTs2LqcYPzE7GWua2uaRyTV9ffv72LB3uxKvzYjmxmg78hnobjSbD6hrfz+GUk/IDvaTDNadtc0B2cUVWVlcNJDr7Oy/+o92TncXtAL+C+2T42HqqhkJxHa+zRvQKYsdCx6dnom3K4wGyzuEzSvj6mUEHkyMuRvGo3I2JuALvke+gjitTWiuszkbcuyKWbTLEX9xfc2aGRwHRV7syqHT64wLgjYK0vYbU7/6azz6e43n51i+GwDDhm2B/LY1dwozN6rfiD9HEZPQXXQAofPk5P/8G/H6buiXK1iXY1kjNKzme9g6pYxh+uJsN6HLjyHKptI1j9Zpddw6cUEUbELUUqn82XZRjU8atYH/6oO1s8Kn2jDv37VXdz5necj5bhBi5KdxOU5uYaBWUWc3/DUp98+3X3Los5pz54MmCl/NKkRkyt6PjdjwO4ZOhmCKz7cKezLveDlP+T+Kx77KedMAXsrNuyC809q79mX+yrrPTB0aTMv2KMtdxdxyx6kK9HFt2ltXl15B0u+p+tpyok4V9Whblv295ko62qzPEWsvofO+6ECZ0/De2Q2fc2BG+XiS4vrBpmXjP71fDTspYyDAc3UZfQS7Zd+mFdfsp1vpdlUTRM35l+wFZPEE5OrNakSzRwU4Fy1xewNNpSykZ/SsT41oj56oMZfbx/K4oVOoin3Fr97iWPKhgeTqLOXdGxAKCrj5sKZiNgzwsS2XebM0Cp77A4/iv8EA7mh6zFP/cWcxIZ9rizQJxMGGlfeB+jzwziZZ+zvoP0SPmL26y7Dp9NpigsyBH9Z7vWE3taNVpj9hEysFyt2GWRpkJ8yV5MKvkVuHCN0j13c3ZG9W4r1uRpLdv6gm56JC8zpzICdRYHxDJ67mhixu2msrbKilvBf+/pMZPtexdX/plCfb7zYT+bsbXabDa4A/PEEYzAZi5V5UXWsyt3VG3+v6LoDaCHQoOcAg9hbkj1b5sehDpxLzLLssREfe8cY6/t/GAAlnce/0EZEk92jx84DMuMv1ChhbloHP0WJAzv1L530TLMnsgW19iMx9rhtZXYjr0EXY94fqc6WW3htqxwbdh267kCWpXGDqaks3zl7S+D7mCk/SX+TB/dlQBMhO5Vxj8c+xPVydjacqYPcebFEkbIPwuzvlrG7/T7FYcFYR1zYiVOOOYmHG0X90ur1s/Jzo01FXnIcp8pVOjvIpvVYsYvsdb4kUyf98/1HMEpsIKQS+XgWxgoTjPUbsBBFRss+AEh3JQbadZpZpW1kcI9NXMd0kOpzD6rxYhdm38cguw6xC8j7p0zZz1GBhbQp6pggpGxag+rJlO3amc7N2+TniTe70UR/LtsmcRk+fwTl3p77yCaEjpc5jz0a9tYL9knCfhD2JTbTjT+7Kf34Ql09g1izXxI7eniCf+4jKzzPKs7s5uWZDASoqYW0K49OHGxhdbSi7OI34sNOuWsbnDJI27mWMQFAz8S6upAzxYydk7yq33eQnfqxWA9MHYze4hdixO7mpbFDpUfTUgSGwA6HapVg7Ca27ATPtpPhN9A3/eMYTE6XhO+xYvf6aWh+ga67MA97Xd1ddnms2LPoCLEp8grccJZeFFN2YZQG6aAfsrd8LCGu7CYZ+pGyy749z2YenPXocWMntbGuUvmnl6SocWd3HZ57+Fqpx5JdNKb+fJ/jY6+A13WdsCfsCXvCnrD/KdjNaX6B3Zyufsw4sSNz5gX7xJ/IeQTsPDQTYs+uCw7ixK5jsk2J6ZzdgSCLijm7oAHgdjnEbqyts7Fi5ymFvYC9nAFvbucxsHPJ97oe+6p+mZiy08zglinZXc/8j4WdaqfBaROIa/SPaxuouLELDcJahx4/9moY3TkudtlH8zXoMWSfr+Hvr7kopuz6pURvrbkmruyiIR1N9xjZuYVaNnHjGNjL6+OYWLOLzMK85eNhF9or3ddxZv8qJewJe8KesK/UFQTsDpQetDnOsukadHjps0bCPgpYsiVdlKfzgHHpvF+8bGmAEAm79aO/SIzLuQuuaGgaz5upVHkrJvKzq/E2a0745dDcCEfTvBH6/a3nu0qt1P3TZTo9RZomL3ou60KHCk+bBTB71JukQ5e3l47ewIASWhVvmgQamSunHeTT17D6Fqytf4epAPn0CuUfPPZ2UP4nck459WnQeHawlfZ/2eK5exlDLmPheXzEvuoGUu2t30th6Xx7qZLHbITZaY5esG1Vq1ncNsGhdXzI3rxk5hPoVs0peDaz+g5vqw9r2b26OngYsG2Xl7B3q1X6HQITjDNibzyYE8Nk9q5pemzr2bN7ZZd+BetqYDM++7w/TMdjyC5A64K39Cko10jZXajoJvTmdfXEX4/Q1elnC0DT6TjI+YcU0zug69NpHNjJN3Ks7vlIDW1I13rsI+m45yN53lhfrndFH+k1ZlGzv0UJe8KesCfsG7IDlEolY8karGNgXx67HxU7tkcO3bna0DApqWoavQpsqxbyjxiyg+bSqIHxQL87ZtKwXyOI52PLbpRK7YrgfneM29vEOqE5+9WJoA7thXmqcWKX5c75CK2Rp2eYyPWTZYrnnZdrKY+HneP5mLP7NmPI34NCm+lKm1lQnNi9vhmvrj5wPjivq3p3cY1/bNg179c4fB8pi3ruI7XF33CJDfvGStgT9oQ9YU/YV+u1/sg9sV9nHWfdNLavkONkImE3eA3Q29hfX8+yH/bDKGFP2BP2hD1hT9gT9oQ9YU/YE/aEPWFP2BP2hD1hT9gT9oQ9YU/YE/aE/c/C/oa5+6+saNi/tl8zsWatyqF00P8zPNH/l/4Hxptbfjdr/JIAAAAASUVORK5CYII="/>
          <p:cNvSpPr>
            <a:spLocks noChangeAspect="1" noChangeArrowheads="1"/>
          </p:cNvSpPr>
          <p:nvPr/>
        </p:nvSpPr>
        <p:spPr bwMode="auto">
          <a:xfrm>
            <a:off x="155575" y="-1325563"/>
            <a:ext cx="2228850" cy="27622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3076" name="Picture 4" descr="http://www.swac.umn.edu/classes/soil2125/img/wacaptb2.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4726" y="1844824"/>
            <a:ext cx="3020938" cy="3743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832930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Transport Water - The Shoot System</a:t>
            </a:r>
            <a:endParaRPr lang="en-AU" dirty="0"/>
          </a:p>
        </p:txBody>
      </p:sp>
      <p:sp>
        <p:nvSpPr>
          <p:cNvPr id="3" name="Content Placeholder 2"/>
          <p:cNvSpPr>
            <a:spLocks noGrp="1"/>
          </p:cNvSpPr>
          <p:nvPr>
            <p:ph idx="1"/>
          </p:nvPr>
        </p:nvSpPr>
        <p:spPr/>
        <p:txBody>
          <a:bodyPr>
            <a:normAutofit fontScale="92500" lnSpcReduction="10000"/>
          </a:bodyPr>
          <a:lstStyle/>
          <a:p>
            <a:r>
              <a:rPr lang="en-AU" dirty="0"/>
              <a:t>The other force required is                                                                    a </a:t>
            </a:r>
            <a:r>
              <a:rPr lang="en-AU" b="1" dirty="0"/>
              <a:t>cohesion force</a:t>
            </a:r>
            <a:r>
              <a:rPr lang="en-AU" dirty="0"/>
              <a:t>.</a:t>
            </a:r>
          </a:p>
          <a:p>
            <a:r>
              <a:rPr lang="en-AU" dirty="0"/>
              <a:t>The force of cohesion is                                                                     defined as the force of                                                             </a:t>
            </a:r>
            <a:r>
              <a:rPr lang="en-AU" b="1" dirty="0"/>
              <a:t>attraction</a:t>
            </a:r>
            <a:r>
              <a:rPr lang="en-AU" dirty="0"/>
              <a:t> between                                                                    molecules of the same                                                              substance.</a:t>
            </a:r>
          </a:p>
          <a:p>
            <a:r>
              <a:rPr lang="en-AU" dirty="0"/>
              <a:t>This force pulls the water                                                                   molecules together helping                                                                 to maintain the column of water moving up the shoot system.</a:t>
            </a:r>
          </a:p>
          <a:p>
            <a:r>
              <a:rPr lang="en-AU" dirty="0"/>
              <a:t>The force and pressure created by the two forces of adhesion and cohesion are very strong.  The xylem is very tough and made of thick walls to help stand this force.</a:t>
            </a:r>
          </a:p>
          <a:p>
            <a:endParaRPr lang="en-AU" dirty="0"/>
          </a:p>
        </p:txBody>
      </p:sp>
      <p:pic>
        <p:nvPicPr>
          <p:cNvPr id="4100" name="Picture 4" descr="http://image.slidesharecdn.com/06vasculartissue-131024082920-phpapp01/95/06-vascular-tissue-17-638.jpg?cb=13826034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1196752"/>
            <a:ext cx="4320480" cy="3244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5788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Transport Water - The Shoot System</a:t>
            </a:r>
          </a:p>
        </p:txBody>
      </p:sp>
      <p:sp>
        <p:nvSpPr>
          <p:cNvPr id="3" name="Content Placeholder 2"/>
          <p:cNvSpPr>
            <a:spLocks noGrp="1"/>
          </p:cNvSpPr>
          <p:nvPr>
            <p:ph idx="1"/>
          </p:nvPr>
        </p:nvSpPr>
        <p:spPr>
          <a:xfrm>
            <a:off x="457200" y="2276872"/>
            <a:ext cx="3970784" cy="3849291"/>
          </a:xfrm>
        </p:spPr>
        <p:txBody>
          <a:bodyPr>
            <a:normAutofit/>
          </a:bodyPr>
          <a:lstStyle/>
          <a:p>
            <a:r>
              <a:rPr lang="en-AU" dirty="0"/>
              <a:t>Therefore, following the reduction of root pressure, the combined forces of adhesion and cohesion ensure the continuous column of water movement through the xylem tissue in the stem of the plant.</a:t>
            </a:r>
          </a:p>
          <a:p>
            <a:r>
              <a:rPr lang="en-AU" dirty="0"/>
              <a:t>The continuous column of water through the plant is known as the </a:t>
            </a:r>
            <a:r>
              <a:rPr lang="en-AU" b="1" dirty="0"/>
              <a:t>transpiration stream</a:t>
            </a:r>
            <a:r>
              <a:rPr lang="en-AU" dirty="0"/>
              <a:t>.</a:t>
            </a:r>
            <a:endParaRPr lang="en-US" sz="2800" dirty="0"/>
          </a:p>
          <a:p>
            <a:endParaRPr lang="en-AU" dirty="0"/>
          </a:p>
        </p:txBody>
      </p:sp>
      <p:pic>
        <p:nvPicPr>
          <p:cNvPr id="4" name="Picture 2" descr="http://figures.boundless.com/19409/full/figure-30-05-0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1607156"/>
            <a:ext cx="4246190" cy="4630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0371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516368"/>
            <a:ext cx="8229600" cy="850106"/>
          </a:xfrm>
        </p:spPr>
        <p:txBody>
          <a:bodyPr/>
          <a:lstStyle/>
          <a:p>
            <a:r>
              <a:rPr lang="en-AU" dirty="0"/>
              <a:t>Transport Water - The Shoot System</a:t>
            </a:r>
          </a:p>
        </p:txBody>
      </p:sp>
      <p:sp>
        <p:nvSpPr>
          <p:cNvPr id="3" name="Content Placeholder 2"/>
          <p:cNvSpPr>
            <a:spLocks noGrp="1"/>
          </p:cNvSpPr>
          <p:nvPr>
            <p:ph idx="1"/>
          </p:nvPr>
        </p:nvSpPr>
        <p:spPr>
          <a:xfrm>
            <a:off x="2758759" y="1366474"/>
            <a:ext cx="4693561" cy="5184576"/>
          </a:xfrm>
        </p:spPr>
        <p:txBody>
          <a:bodyPr>
            <a:normAutofit/>
          </a:bodyPr>
          <a:lstStyle/>
          <a:p>
            <a:r>
              <a:rPr lang="en-AU" b="1" dirty="0"/>
              <a:t>Transpiration</a:t>
            </a:r>
            <a:r>
              <a:rPr lang="en-AU" dirty="0"/>
              <a:t> is the process by which moisture is carried through plants from roots to small pores on the underside of leaves, where it changes to vapour and is released to the atmosphere.</a:t>
            </a:r>
          </a:p>
          <a:p>
            <a:r>
              <a:rPr lang="en-AU" dirty="0"/>
              <a:t>Leaf surfaces are dotted with pores called stomata, and in most plants they are more numerous on the undersides of the foliage. The stomata are bordered by guard cells that open and close the pore</a:t>
            </a:r>
          </a:p>
          <a:p>
            <a:r>
              <a:rPr lang="en-AU" b="1" dirty="0"/>
              <a:t>Transpiration</a:t>
            </a:r>
            <a:r>
              <a:rPr lang="en-AU" dirty="0"/>
              <a:t> is essentially evaporation of water from plant.</a:t>
            </a:r>
          </a:p>
          <a:p>
            <a:r>
              <a:rPr lang="en-AU" dirty="0"/>
              <a:t>This constant loss of water from the leaves creates a </a:t>
            </a:r>
            <a:r>
              <a:rPr lang="en-AU" b="1" dirty="0"/>
              <a:t>transpirational pull </a:t>
            </a:r>
            <a:r>
              <a:rPr lang="en-AU" dirty="0"/>
              <a:t>of water from the roots through to the leaves.</a:t>
            </a:r>
          </a:p>
        </p:txBody>
      </p:sp>
      <p:pic>
        <p:nvPicPr>
          <p:cNvPr id="6146" name="Picture 2" descr="http://www.apm-realty.com/7as-artesian/images/Transpira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359939"/>
            <a:ext cx="2291215" cy="229121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courseware.e-education.psu.edu/simsphere/workbook/figures/7.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844" y="3888023"/>
            <a:ext cx="2475349" cy="2349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0893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620688"/>
            <a:ext cx="8229600" cy="994122"/>
          </a:xfrm>
        </p:spPr>
        <p:txBody>
          <a:bodyPr/>
          <a:lstStyle/>
          <a:p>
            <a:r>
              <a:rPr lang="en-AU" dirty="0"/>
              <a:t>Transport Water - The Shoot System</a:t>
            </a:r>
          </a:p>
        </p:txBody>
      </p:sp>
      <p:sp>
        <p:nvSpPr>
          <p:cNvPr id="5" name="Content Placeholder 4"/>
          <p:cNvSpPr>
            <a:spLocks noGrp="1"/>
          </p:cNvSpPr>
          <p:nvPr>
            <p:ph idx="1"/>
          </p:nvPr>
        </p:nvSpPr>
        <p:spPr>
          <a:xfrm>
            <a:off x="457200" y="1772816"/>
            <a:ext cx="5122912" cy="4608512"/>
          </a:xfrm>
        </p:spPr>
        <p:txBody>
          <a:bodyPr>
            <a:normAutofit/>
          </a:bodyPr>
          <a:lstStyle/>
          <a:p>
            <a:r>
              <a:rPr lang="en-US" dirty="0"/>
              <a:t>Water and minerals are moved through xylem due to a combination of </a:t>
            </a:r>
            <a:r>
              <a:rPr lang="en-US" b="1" dirty="0"/>
              <a:t>root pressure and transpirational pull</a:t>
            </a:r>
            <a:r>
              <a:rPr lang="en-US" dirty="0"/>
              <a:t>. Adhesion and cohesion assist with this journey.</a:t>
            </a:r>
          </a:p>
          <a:p>
            <a:r>
              <a:rPr lang="en-AU" dirty="0"/>
              <a:t>The constant upwards movement is driven by the evaporation of water (transpiration) from the leaves. </a:t>
            </a:r>
          </a:p>
          <a:p>
            <a:r>
              <a:rPr lang="en-AU" dirty="0"/>
              <a:t>The sun is also essential to this process as it creates the evaporation of water from the leaf to the atmosphere, and therefore promote the forces that act on the water in the stem. </a:t>
            </a:r>
          </a:p>
          <a:p>
            <a:endParaRPr lang="en-US" dirty="0"/>
          </a:p>
          <a:p>
            <a:endParaRPr lang="en-AU" dirty="0"/>
          </a:p>
        </p:txBody>
      </p:sp>
      <p:pic>
        <p:nvPicPr>
          <p:cNvPr id="7170" name="Picture 2" descr="http://media-2.web.britannica.com/eb-media/78/101178-004-FE05A05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128" y="1772816"/>
            <a:ext cx="3267075" cy="3905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859078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Transpiration Summary</a:t>
            </a:r>
            <a:endParaRPr lang="en-AU" dirty="0"/>
          </a:p>
        </p:txBody>
      </p:sp>
      <p:sp>
        <p:nvSpPr>
          <p:cNvPr id="5" name="Content Placeholder 4"/>
          <p:cNvSpPr>
            <a:spLocks noGrp="1"/>
          </p:cNvSpPr>
          <p:nvPr>
            <p:ph idx="1"/>
          </p:nvPr>
        </p:nvSpPr>
        <p:spPr>
          <a:xfrm>
            <a:off x="457200" y="1600200"/>
            <a:ext cx="2962672" cy="4525963"/>
          </a:xfrm>
        </p:spPr>
        <p:txBody>
          <a:bodyPr/>
          <a:lstStyle/>
          <a:p>
            <a:r>
              <a:rPr lang="en-AU" dirty="0"/>
              <a:t>Water transport summary videos.</a:t>
            </a:r>
          </a:p>
          <a:p>
            <a:r>
              <a:rPr lang="en-AU" dirty="0">
                <a:hlinkClick r:id="rId2"/>
              </a:rPr>
              <a:t>https://www.youtube.com/watch?v=jtuX7H05tmQ</a:t>
            </a:r>
            <a:endParaRPr lang="en-AU" dirty="0"/>
          </a:p>
          <a:p>
            <a:r>
              <a:rPr lang="en-AU" dirty="0">
                <a:hlinkClick r:id="rId3"/>
              </a:rPr>
              <a:t>https://www.youtube.com/watch?v=Kv_0udatlh8</a:t>
            </a:r>
            <a:endParaRPr lang="en-AU" dirty="0"/>
          </a:p>
          <a:p>
            <a:endParaRPr lang="en-AU" dirty="0"/>
          </a:p>
        </p:txBody>
      </p:sp>
      <p:pic>
        <p:nvPicPr>
          <p:cNvPr id="4" name="Content Placeholder 3"/>
          <p:cNvPicPr>
            <a:picLocks noChangeAspect="1"/>
          </p:cNvPicPr>
          <p:nvPr/>
        </p:nvPicPr>
        <p:blipFill>
          <a:blip r:embed="rId4">
            <a:extLst>
              <a:ext uri="{28A0092B-C50C-407E-A947-70E740481C1C}">
                <a14:useLocalDpi xmlns:a14="http://schemas.microsoft.com/office/drawing/2010/main" val="0"/>
              </a:ext>
            </a:extLst>
          </a:blip>
          <a:srcRect l="-45508" r="-45508"/>
          <a:stretch>
            <a:fillRect/>
          </a:stretch>
        </p:blipFill>
        <p:spPr>
          <a:xfrm>
            <a:off x="1547664" y="1315057"/>
            <a:ext cx="9276056" cy="5096247"/>
          </a:xfrm>
          <a:prstGeom prst="rect">
            <a:avLst/>
          </a:prstGeom>
        </p:spPr>
      </p:pic>
    </p:spTree>
    <p:extLst>
      <p:ext uri="{BB962C8B-B14F-4D97-AF65-F5344CB8AC3E}">
        <p14:creationId xmlns:p14="http://schemas.microsoft.com/office/powerpoint/2010/main" val="20691125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Factors that Effect Transpiration</a:t>
            </a:r>
          </a:p>
        </p:txBody>
      </p:sp>
      <p:pic>
        <p:nvPicPr>
          <p:cNvPr id="4" name="Picture 3"/>
          <p:cNvPicPr>
            <a:picLocks noChangeAspect="1"/>
          </p:cNvPicPr>
          <p:nvPr/>
        </p:nvPicPr>
        <p:blipFill>
          <a:blip r:embed="rId2"/>
          <a:stretch>
            <a:fillRect/>
          </a:stretch>
        </p:blipFill>
        <p:spPr>
          <a:xfrm>
            <a:off x="251520" y="2060848"/>
            <a:ext cx="8712968" cy="2368140"/>
          </a:xfrm>
          <a:prstGeom prst="rect">
            <a:avLst/>
          </a:prstGeom>
        </p:spPr>
      </p:pic>
      <p:sp>
        <p:nvSpPr>
          <p:cNvPr id="3" name="TextBox 2"/>
          <p:cNvSpPr txBox="1"/>
          <p:nvPr/>
        </p:nvSpPr>
        <p:spPr>
          <a:xfrm>
            <a:off x="5868144" y="2451962"/>
            <a:ext cx="1368152" cy="307777"/>
          </a:xfrm>
          <a:prstGeom prst="rect">
            <a:avLst/>
          </a:prstGeom>
          <a:solidFill>
            <a:schemeClr val="bg1"/>
          </a:solidFill>
        </p:spPr>
        <p:txBody>
          <a:bodyPr wrap="square" rtlCol="0">
            <a:spAutoFit/>
          </a:bodyPr>
          <a:lstStyle/>
          <a:p>
            <a:r>
              <a:rPr lang="en-AU" sz="1400" dirty="0">
                <a:latin typeface="Arial" panose="020B0604020202020204" pitchFamily="34" charset="0"/>
                <a:cs typeface="Arial" panose="020B0604020202020204" pitchFamily="34" charset="0"/>
              </a:rPr>
              <a:t>Decrease</a:t>
            </a:r>
          </a:p>
        </p:txBody>
      </p:sp>
      <p:pic>
        <p:nvPicPr>
          <p:cNvPr id="6" name="Picture 5">
            <a:extLst>
              <a:ext uri="{FF2B5EF4-FFF2-40B4-BE49-F238E27FC236}">
                <a16:creationId xmlns:a16="http://schemas.microsoft.com/office/drawing/2014/main" id="{3D4F8EB8-2688-588C-C14F-2D2F38BBC700}"/>
              </a:ext>
            </a:extLst>
          </p:cNvPr>
          <p:cNvPicPr>
            <a:picLocks noChangeAspect="1"/>
          </p:cNvPicPr>
          <p:nvPr/>
        </p:nvPicPr>
        <p:blipFill>
          <a:blip r:embed="rId3"/>
          <a:stretch>
            <a:fillRect/>
          </a:stretch>
        </p:blipFill>
        <p:spPr>
          <a:xfrm>
            <a:off x="7235105" y="3501008"/>
            <a:ext cx="1843775" cy="3203054"/>
          </a:xfrm>
          <a:prstGeom prst="rect">
            <a:avLst/>
          </a:prstGeom>
        </p:spPr>
      </p:pic>
    </p:spTree>
    <p:extLst>
      <p:ext uri="{BB962C8B-B14F-4D97-AF65-F5344CB8AC3E}">
        <p14:creationId xmlns:p14="http://schemas.microsoft.com/office/powerpoint/2010/main" val="4204031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AU" dirty="0"/>
              <a:t>Transport Water - Conserving Water</a:t>
            </a:r>
          </a:p>
        </p:txBody>
      </p:sp>
      <p:sp>
        <p:nvSpPr>
          <p:cNvPr id="3" name="Content Placeholder 2"/>
          <p:cNvSpPr>
            <a:spLocks noGrp="1"/>
          </p:cNvSpPr>
          <p:nvPr>
            <p:ph idx="1"/>
          </p:nvPr>
        </p:nvSpPr>
        <p:spPr/>
        <p:txBody>
          <a:bodyPr>
            <a:normAutofit fontScale="85000" lnSpcReduction="20000"/>
          </a:bodyPr>
          <a:lstStyle/>
          <a:p>
            <a:pPr marL="514350" indent="-514350"/>
            <a:r>
              <a:rPr lang="en-US" sz="2800" dirty="0"/>
              <a:t>If water loss via transpiration exceeds supply through the roots, the plant wilts.</a:t>
            </a:r>
          </a:p>
          <a:p>
            <a:pPr marL="514350" indent="-514350"/>
            <a:r>
              <a:rPr lang="en-US" sz="2800" dirty="0"/>
              <a:t>The loss of water from the leaves causes the water column tension in xylem to rise and the water potential gradient between soil and xylem to increase, which allows roots to access more water. </a:t>
            </a:r>
          </a:p>
          <a:p>
            <a:pPr marL="514350" indent="-514350"/>
            <a:r>
              <a:rPr lang="en-US" sz="2800" dirty="0"/>
              <a:t>When water flow to the roots slows, leaf stomata close rapidly to minimize water loss through transpiration.</a:t>
            </a:r>
          </a:p>
          <a:p>
            <a:endParaRPr lang="en-AU" dirty="0"/>
          </a:p>
        </p:txBody>
      </p:sp>
    </p:spTree>
    <p:extLst>
      <p:ext uri="{BB962C8B-B14F-4D97-AF65-F5344CB8AC3E}">
        <p14:creationId xmlns:p14="http://schemas.microsoft.com/office/powerpoint/2010/main" val="266466288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991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endParaRPr kumimoji="0" lang="en-US" sz="2800" b="1" i="0" u="none" strike="noStrike" kern="0" cap="none" spc="0" normalizeH="0" baseline="0" noProof="0" dirty="0">
              <a:ln>
                <a:noFill/>
              </a:ln>
              <a:solidFill>
                <a:schemeClr val="bg1"/>
              </a:solidFill>
              <a:effectLst/>
              <a:uLnTx/>
              <a:uFillTx/>
              <a:latin typeface="+mj-lt"/>
              <a:ea typeface="+mj-ea"/>
            </a:endParaRPr>
          </a:p>
        </p:txBody>
      </p:sp>
      <p:sp>
        <p:nvSpPr>
          <p:cNvPr id="2" name="Title 1"/>
          <p:cNvSpPr>
            <a:spLocks noGrp="1"/>
          </p:cNvSpPr>
          <p:nvPr>
            <p:ph type="title"/>
          </p:nvPr>
        </p:nvSpPr>
        <p:spPr/>
        <p:txBody>
          <a:bodyPr>
            <a:normAutofit/>
          </a:bodyPr>
          <a:lstStyle/>
          <a:p>
            <a:r>
              <a:rPr lang="en-US" dirty="0"/>
              <a:t>Obtaining and Transporting Nutrients</a:t>
            </a:r>
            <a:endParaRPr lang="en-AU" dirty="0"/>
          </a:p>
        </p:txBody>
      </p:sp>
      <p:sp>
        <p:nvSpPr>
          <p:cNvPr id="5" name="Content Placeholder 4"/>
          <p:cNvSpPr>
            <a:spLocks noGrp="1"/>
          </p:cNvSpPr>
          <p:nvPr>
            <p:ph idx="1"/>
          </p:nvPr>
        </p:nvSpPr>
        <p:spPr>
          <a:xfrm>
            <a:off x="457200" y="1930400"/>
            <a:ext cx="6995120" cy="2362695"/>
          </a:xfrm>
        </p:spPr>
        <p:txBody>
          <a:bodyPr>
            <a:normAutofit fontScale="92500" lnSpcReduction="20000"/>
          </a:bodyPr>
          <a:lstStyle/>
          <a:p>
            <a:r>
              <a:rPr lang="en-US" dirty="0"/>
              <a:t>Nutrients refer to substances such as minerals and vitamins.  Plant nutrients are soluble minerals and salts such as sodium, potassium and phosphorus.  These are required for the complex chemistry that runs every cell.</a:t>
            </a:r>
          </a:p>
          <a:p>
            <a:r>
              <a:rPr lang="en-AU" dirty="0"/>
              <a:t>Minerals are actively transported, or pumped, into the root hairs and other surface cells in the young or growing parts of the root. </a:t>
            </a:r>
          </a:p>
          <a:p>
            <a:r>
              <a:rPr lang="en-AU" dirty="0"/>
              <a:t>The nutrients then move between cells through the </a:t>
            </a:r>
            <a:r>
              <a:rPr lang="en-AU" b="1" dirty="0"/>
              <a:t>plasmodesmata</a:t>
            </a:r>
            <a:r>
              <a:rPr lang="en-AU" dirty="0"/>
              <a:t> (the microscopic channels which traverse the cell walls and connect the gaps between cells). </a:t>
            </a:r>
          </a:p>
        </p:txBody>
      </p:sp>
      <p:pic>
        <p:nvPicPr>
          <p:cNvPr id="1026" name="Picture 2" descr="http://bio1152.nicerweb.com/Locked/media/ch06/06_30Plasmodesmata_L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4442908"/>
            <a:ext cx="4953416" cy="19442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mhhe.com/biosci/genbio/enger/student/olc/art_quizzes/genbiomedia/011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4167" y="4422559"/>
            <a:ext cx="2665819" cy="1999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077502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1410"/>
            <a:ext cx="6635080" cy="778098"/>
          </a:xfrm>
        </p:spPr>
        <p:txBody>
          <a:bodyPr>
            <a:normAutofit fontScale="90000"/>
          </a:bodyPr>
          <a:lstStyle/>
          <a:p>
            <a:r>
              <a:rPr lang="en-US" dirty="0"/>
              <a:t>Obtaining and Transporting Nutrients</a:t>
            </a:r>
            <a:endParaRPr lang="en-AU" dirty="0"/>
          </a:p>
        </p:txBody>
      </p:sp>
      <p:sp>
        <p:nvSpPr>
          <p:cNvPr id="3" name="Content Placeholder 2"/>
          <p:cNvSpPr>
            <a:spLocks noGrp="1"/>
          </p:cNvSpPr>
          <p:nvPr>
            <p:ph idx="1"/>
          </p:nvPr>
        </p:nvSpPr>
        <p:spPr>
          <a:xfrm>
            <a:off x="457200" y="1412776"/>
            <a:ext cx="6779096" cy="4713387"/>
          </a:xfrm>
        </p:spPr>
        <p:txBody>
          <a:bodyPr/>
          <a:lstStyle/>
          <a:p>
            <a:r>
              <a:rPr lang="en-AU" dirty="0"/>
              <a:t>Once nutrients are inside the vessels and tracheids, they are carried up the stem along with the water in the transpiration stream.  Once again the xylem is involved.</a:t>
            </a:r>
          </a:p>
          <a:p>
            <a:r>
              <a:rPr lang="en-AU" dirty="0"/>
              <a:t>Once the mineral ions reach the leaf they are used to produce more chlorophyll, proteins, carbohydrates and other materials.</a:t>
            </a:r>
          </a:p>
          <a:p>
            <a:r>
              <a:rPr lang="en-AU" dirty="0"/>
              <a:t>The transpiration stream does not use or require any energy to operate.</a:t>
            </a:r>
            <a:endParaRPr lang="en-US" dirty="0"/>
          </a:p>
          <a:p>
            <a:endParaRPr lang="en-AU" dirty="0"/>
          </a:p>
          <a:p>
            <a:endParaRPr lang="en-AU" dirty="0"/>
          </a:p>
        </p:txBody>
      </p:sp>
      <p:pic>
        <p:nvPicPr>
          <p:cNvPr id="2050" name="Picture 2" descr="https://s3-ap-southeast-1.amazonaws.com/learnhive/lcards/Transport-of-Nutrients-in-Plants-52d922743b40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739733"/>
            <a:ext cx="4104456" cy="273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25351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39552" y="274638"/>
            <a:ext cx="8229600" cy="922114"/>
          </a:xfrm>
        </p:spPr>
        <p:txBody>
          <a:bodyPr/>
          <a:lstStyle/>
          <a:p>
            <a:r>
              <a:rPr lang="en-US" dirty="0"/>
              <a:t>Leaf Structure and Function</a:t>
            </a:r>
            <a:endParaRPr lang="en-AU" dirty="0"/>
          </a:p>
        </p:txBody>
      </p:sp>
      <p:sp>
        <p:nvSpPr>
          <p:cNvPr id="4" name="Content Placeholder 3"/>
          <p:cNvSpPr>
            <a:spLocks noGrp="1"/>
          </p:cNvSpPr>
          <p:nvPr>
            <p:ph idx="1"/>
          </p:nvPr>
        </p:nvSpPr>
        <p:spPr>
          <a:xfrm>
            <a:off x="179512" y="1052736"/>
            <a:ext cx="7704856" cy="4824536"/>
          </a:xfrm>
        </p:spPr>
        <p:txBody>
          <a:bodyPr>
            <a:normAutofit/>
          </a:bodyPr>
          <a:lstStyle/>
          <a:p>
            <a:pPr marL="232943" indent="-232943"/>
            <a:r>
              <a:rPr lang="en-US" dirty="0"/>
              <a:t>They are generally thin and flat and collectively present a large                                                    surface area to the light.</a:t>
            </a:r>
          </a:p>
          <a:p>
            <a:pPr marL="232943" indent="-232943"/>
            <a:r>
              <a:rPr lang="en-US" dirty="0"/>
              <a:t>Leaf shape is maintained by the </a:t>
            </a:r>
            <a:r>
              <a:rPr lang="en-US" b="1" dirty="0"/>
              <a:t>turgor</a:t>
            </a:r>
            <a:r>
              <a:rPr lang="en-US" dirty="0"/>
              <a:t> (</a:t>
            </a:r>
            <a:r>
              <a:rPr lang="en-AU" dirty="0"/>
              <a:t>rigidity) </a:t>
            </a:r>
            <a:r>
              <a:rPr lang="en-US" dirty="0"/>
              <a:t>of the living cells                                                        inside them, the midrib and veins that                                                        are well supplied with strengthening tissue. </a:t>
            </a:r>
          </a:p>
          <a:p>
            <a:pPr marL="232943" indent="-232943"/>
            <a:r>
              <a:rPr lang="en-US" dirty="0"/>
              <a:t>The midrib and veins consist of vascular tissue, the xylem and the phloem.</a:t>
            </a:r>
          </a:p>
          <a:p>
            <a:pPr marL="232943" indent="-232943"/>
            <a:r>
              <a:rPr lang="en-US" dirty="0"/>
              <a:t>The large surface area of leaves, allows maximum photosynthesis, but increases evaporative water loss.</a:t>
            </a:r>
          </a:p>
          <a:p>
            <a:pPr marL="232943" indent="-232943"/>
            <a:r>
              <a:rPr lang="en-US" dirty="0"/>
              <a:t>This is overcome by the presence of an impermeable waxy cuticle on the leaf surface.</a:t>
            </a:r>
            <a:endParaRPr lang="en-AU" dirty="0"/>
          </a:p>
        </p:txBody>
      </p:sp>
      <p:pic>
        <p:nvPicPr>
          <p:cNvPr id="3074" name="Picture 2" descr="http://intranet.tdmu.edu.ua/data/kafedra/internal/pharma_1/classes_stud/en/pharm/prov_pharm/ptn/Pharmaceutical%20botany/2-d%20course/Theme_7-Anatomical%20structure%20of%20dicot%20stem%20and%20leaf.files/image01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848" y="4510711"/>
            <a:ext cx="3384376" cy="2144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454512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AU" dirty="0"/>
              <a:t>Leaf Structure and Function</a:t>
            </a:r>
          </a:p>
        </p:txBody>
      </p:sp>
      <p:sp>
        <p:nvSpPr>
          <p:cNvPr id="3" name="Content Placeholder 2"/>
          <p:cNvSpPr>
            <a:spLocks noGrp="1"/>
          </p:cNvSpPr>
          <p:nvPr>
            <p:ph idx="1"/>
          </p:nvPr>
        </p:nvSpPr>
        <p:spPr>
          <a:xfrm>
            <a:off x="457200" y="1196752"/>
            <a:ext cx="8229600" cy="5472608"/>
          </a:xfrm>
        </p:spPr>
        <p:txBody>
          <a:bodyPr>
            <a:normAutofit/>
          </a:bodyPr>
          <a:lstStyle/>
          <a:p>
            <a:r>
              <a:rPr lang="en-AU" b="1" dirty="0"/>
              <a:t>Stomata</a:t>
            </a:r>
            <a:r>
              <a:rPr lang="en-AU" dirty="0"/>
              <a:t> are minute aperture structures on plants found typically on the outer leaf skin layer (epidermis).  </a:t>
            </a:r>
          </a:p>
          <a:p>
            <a:r>
              <a:rPr lang="en-AU" dirty="0"/>
              <a:t>Stomata consist of two specialized cells, called guard cells that surround a tiny pore called a stoma.</a:t>
            </a:r>
          </a:p>
          <a:p>
            <a:r>
              <a:rPr lang="en-AU" b="1" dirty="0"/>
              <a:t>Guard cells</a:t>
            </a:r>
            <a:r>
              <a:rPr lang="en-AU" dirty="0"/>
              <a:t> are cells surrounding each stoma. They help to regulate the rate of transpiration by opening and closing the stomata</a:t>
            </a:r>
          </a:p>
          <a:p>
            <a:pPr marL="232943" indent="-232943"/>
            <a:r>
              <a:rPr lang="en-US" dirty="0"/>
              <a:t>Stomata allow diffusion of                                                                  carbon dioxide and oxygen into and out of                                                                                  the plant cells.</a:t>
            </a:r>
          </a:p>
          <a:p>
            <a:pPr marL="232943" indent="-232943"/>
            <a:r>
              <a:rPr lang="en-US" dirty="0"/>
              <a:t>The vascular tissues carry                                                                        water, minerals and organic                                                                       compounds throughout the                                                                                  plant. </a:t>
            </a:r>
          </a:p>
          <a:p>
            <a:pPr marL="232943" indent="-232943"/>
            <a:r>
              <a:rPr lang="en-US" dirty="0"/>
              <a:t>Every leaf cell is close                                                                         enough to the vascular                                                                             tissues to supply water via                                                                                     osmosis.</a:t>
            </a:r>
          </a:p>
          <a:p>
            <a:endParaRPr lang="en-AU" dirty="0"/>
          </a:p>
        </p:txBody>
      </p:sp>
      <p:pic>
        <p:nvPicPr>
          <p:cNvPr id="6146" name="Picture 2" descr="http://thumbs.dreamstime.com/z/stomata-opening-closing-4672723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51920" y="3977363"/>
            <a:ext cx="4608512" cy="2795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502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Transporting from the Leaves</a:t>
            </a:r>
          </a:p>
        </p:txBody>
      </p:sp>
      <p:sp>
        <p:nvSpPr>
          <p:cNvPr id="3" name="Content Placeholder 2"/>
          <p:cNvSpPr>
            <a:spLocks noGrp="1"/>
          </p:cNvSpPr>
          <p:nvPr>
            <p:ph idx="1"/>
          </p:nvPr>
        </p:nvSpPr>
        <p:spPr>
          <a:xfrm>
            <a:off x="457200" y="1600200"/>
            <a:ext cx="4762872" cy="4525963"/>
          </a:xfrm>
        </p:spPr>
        <p:txBody>
          <a:bodyPr>
            <a:normAutofit/>
          </a:bodyPr>
          <a:lstStyle/>
          <a:p>
            <a:r>
              <a:rPr lang="en-AU" dirty="0"/>
              <a:t>The xylem delivers the nutrients and water to all parts of the plant and especially to the leaves for photosynthesis.</a:t>
            </a:r>
          </a:p>
          <a:p>
            <a:r>
              <a:rPr lang="en-AU" dirty="0"/>
              <a:t>Photosynthesis only occurs in the leaves.  So the sugar (sucrose) produced by photosynthesis must then be transported from the leaves to the rest of the plant, especially back to the roots</a:t>
            </a:r>
          </a:p>
          <a:p>
            <a:r>
              <a:rPr lang="en-AU" dirty="0"/>
              <a:t>This is the job of the second transport system in plants called the phloem.</a:t>
            </a:r>
          </a:p>
          <a:p>
            <a:r>
              <a:rPr lang="en-AU" dirty="0"/>
              <a:t>This transport of sugar is called </a:t>
            </a:r>
            <a:r>
              <a:rPr lang="en-AU" b="1" dirty="0"/>
              <a:t>translocation</a:t>
            </a:r>
            <a:r>
              <a:rPr lang="en-AU" dirty="0"/>
              <a:t>.</a:t>
            </a:r>
          </a:p>
        </p:txBody>
      </p:sp>
      <p:pic>
        <p:nvPicPr>
          <p:cNvPr id="9220" name="Picture 4" descr="https://semmeca.limsi.fr/image_boh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1761" y="1600200"/>
            <a:ext cx="3816424" cy="4183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5935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330" y="476672"/>
            <a:ext cx="8229600" cy="1143000"/>
          </a:xfrm>
        </p:spPr>
        <p:txBody>
          <a:bodyPr/>
          <a:lstStyle/>
          <a:p>
            <a:r>
              <a:rPr lang="en-AU" dirty="0"/>
              <a:t>Phloem</a:t>
            </a:r>
          </a:p>
        </p:txBody>
      </p:sp>
      <p:sp>
        <p:nvSpPr>
          <p:cNvPr id="3" name="Content Placeholder 2"/>
          <p:cNvSpPr>
            <a:spLocks noGrp="1"/>
          </p:cNvSpPr>
          <p:nvPr>
            <p:ph idx="1"/>
          </p:nvPr>
        </p:nvSpPr>
        <p:spPr>
          <a:xfrm>
            <a:off x="457200" y="1340769"/>
            <a:ext cx="8229600" cy="3096344"/>
          </a:xfrm>
        </p:spPr>
        <p:txBody>
          <a:bodyPr>
            <a:normAutofit/>
          </a:bodyPr>
          <a:lstStyle/>
          <a:p>
            <a:r>
              <a:rPr lang="en-AU" dirty="0"/>
              <a:t>Transportation of food and nutrients such as sugar and amino acids from leaves to storage organs and growing parts of plant. </a:t>
            </a:r>
          </a:p>
          <a:p>
            <a:r>
              <a:rPr lang="en-AU" b="1" dirty="0"/>
              <a:t>Bidirectional</a:t>
            </a:r>
            <a:r>
              <a:rPr lang="en-AU" dirty="0"/>
              <a:t> - Moves up or down the plant's stem.</a:t>
            </a:r>
          </a:p>
          <a:p>
            <a:r>
              <a:rPr lang="en-AU" dirty="0"/>
              <a:t>Roots, stems and leaves transport sucrose to growth (roots and shoots) and storage regions of the plant (seeds fruit and swollen roots)</a:t>
            </a:r>
          </a:p>
          <a:p>
            <a:r>
              <a:rPr lang="en-AU" dirty="0"/>
              <a:t>Phloem occur on outer side of the vascular bundle.</a:t>
            </a:r>
          </a:p>
          <a:p>
            <a:r>
              <a:rPr lang="en-AU" dirty="0"/>
              <a:t>Made of living cells.</a:t>
            </a:r>
          </a:p>
        </p:txBody>
      </p:sp>
      <p:pic>
        <p:nvPicPr>
          <p:cNvPr id="22530" name="Picture 2" descr="http://biology-igcse.weebly.com/uploads/1/5/0/7/15070316/9664352_ori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4262539"/>
            <a:ext cx="5112568" cy="2077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13355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Phloem Structure</a:t>
            </a:r>
          </a:p>
        </p:txBody>
      </p:sp>
      <p:sp>
        <p:nvSpPr>
          <p:cNvPr id="3" name="Content Placeholder 2"/>
          <p:cNvSpPr>
            <a:spLocks noGrp="1"/>
          </p:cNvSpPr>
          <p:nvPr>
            <p:ph idx="1"/>
          </p:nvPr>
        </p:nvSpPr>
        <p:spPr>
          <a:xfrm>
            <a:off x="457200" y="1600200"/>
            <a:ext cx="4438669" cy="4525963"/>
          </a:xfrm>
        </p:spPr>
        <p:txBody>
          <a:bodyPr/>
          <a:lstStyle/>
          <a:p>
            <a:r>
              <a:rPr lang="en-AU" dirty="0"/>
              <a:t>The phloem consist of conducting cells (sieve cells), parenchyma cells and supportive cells.</a:t>
            </a:r>
          </a:p>
        </p:txBody>
      </p:sp>
      <p:pic>
        <p:nvPicPr>
          <p:cNvPr id="4" name="Picture 3"/>
          <p:cNvPicPr>
            <a:picLocks noChangeAspect="1"/>
          </p:cNvPicPr>
          <p:nvPr/>
        </p:nvPicPr>
        <p:blipFill rotWithShape="1">
          <a:blip r:embed="rId3"/>
          <a:srcRect l="25183" t="5248"/>
          <a:stretch/>
        </p:blipFill>
        <p:spPr>
          <a:xfrm>
            <a:off x="1150640" y="3052274"/>
            <a:ext cx="3384376" cy="2742449"/>
          </a:xfrm>
          <a:prstGeom prst="rect">
            <a:avLst/>
          </a:prstGeom>
        </p:spPr>
      </p:pic>
      <p:pic>
        <p:nvPicPr>
          <p:cNvPr id="5" name="Content Placeholder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6056" y="692696"/>
            <a:ext cx="3782065" cy="5102027"/>
          </a:xfrm>
          <a:prstGeom prst="rect">
            <a:avLst/>
          </a:prstGeom>
        </p:spPr>
      </p:pic>
    </p:spTree>
    <p:extLst>
      <p:ext uri="{BB962C8B-B14F-4D97-AF65-F5344CB8AC3E}">
        <p14:creationId xmlns:p14="http://schemas.microsoft.com/office/powerpoint/2010/main" val="13486323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51284" y="2664614"/>
            <a:ext cx="8763000" cy="954107"/>
          </a:xfrm>
          <a:prstGeom prst="rect">
            <a:avLst/>
          </a:prstGeom>
        </p:spPr>
        <p:txBody>
          <a:bodyPr wrap="square">
            <a:spAutoFit/>
          </a:bodyPr>
          <a:lstStyle/>
          <a:p>
            <a:endParaRPr lang="en-US" sz="2800" dirty="0"/>
          </a:p>
          <a:p>
            <a:endParaRPr lang="en-US" sz="2800" dirty="0"/>
          </a:p>
        </p:txBody>
      </p:sp>
      <p:sp>
        <p:nvSpPr>
          <p:cNvPr id="10" name="Title 1"/>
          <p:cNvSpPr>
            <a:spLocks noGrp="1"/>
          </p:cNvSpPr>
          <p:nvPr>
            <p:ph type="title"/>
          </p:nvPr>
        </p:nvSpPr>
        <p:spPr/>
        <p:txBody>
          <a:bodyPr/>
          <a:lstStyle/>
          <a:p>
            <a:r>
              <a:rPr lang="en-US"/>
              <a:t>Phloem and Translocation</a:t>
            </a:r>
            <a:endParaRPr lang="en-AU" dirty="0"/>
          </a:p>
        </p:txBody>
      </p:sp>
      <p:sp>
        <p:nvSpPr>
          <p:cNvPr id="3" name="Content Placeholder 2"/>
          <p:cNvSpPr>
            <a:spLocks noGrp="1"/>
          </p:cNvSpPr>
          <p:nvPr>
            <p:ph idx="1"/>
          </p:nvPr>
        </p:nvSpPr>
        <p:spPr>
          <a:xfrm>
            <a:off x="609599" y="1556792"/>
            <a:ext cx="6914729" cy="4968552"/>
          </a:xfrm>
        </p:spPr>
        <p:txBody>
          <a:bodyPr>
            <a:normAutofit lnSpcReduction="10000"/>
          </a:bodyPr>
          <a:lstStyle/>
          <a:p>
            <a:r>
              <a:rPr lang="en-US" b="1" dirty="0"/>
              <a:t>Translocation</a:t>
            </a:r>
            <a:r>
              <a:rPr lang="en-US" dirty="0"/>
              <a:t> is the movement of                                                  sugars in solution through the                                                       plant. </a:t>
            </a:r>
          </a:p>
          <a:p>
            <a:r>
              <a:rPr lang="en-US" dirty="0"/>
              <a:t>Sucrose is actively transported                                                          against a concentration gradient                                                            into the sieve cells of the phloem.</a:t>
            </a:r>
          </a:p>
          <a:p>
            <a:r>
              <a:rPr lang="en-US" dirty="0"/>
              <a:t>Energy is required for this process.                                                     The energy for this is produced by                                            cellular respiration in mitochondria of the phloem companion cells.</a:t>
            </a:r>
          </a:p>
          <a:p>
            <a:r>
              <a:rPr lang="en-US" dirty="0"/>
              <a:t>As sugar is actively transported in, the concentration of sugar in the phloem increases.  This forms a concentration gradient that causes water to move from xylem to sieve cells by osmosis. </a:t>
            </a:r>
          </a:p>
          <a:p>
            <a:r>
              <a:rPr lang="en-US" dirty="0"/>
              <a:t>This causes a large increase in the volume of liquid in sieve cells causing syrup to move down to the roots or up the plant further to the new growth areas or fruits.</a:t>
            </a:r>
          </a:p>
        </p:txBody>
      </p:sp>
      <p:pic>
        <p:nvPicPr>
          <p:cNvPr id="7170" name="Picture 2" descr="http://www.uic.edu/classes/bios/bios100/lectf03am/translocation.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4048" y="1268760"/>
            <a:ext cx="3312368" cy="2487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7154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Phloem and Translocation</a:t>
            </a:r>
          </a:p>
        </p:txBody>
      </p:sp>
      <p:sp>
        <p:nvSpPr>
          <p:cNvPr id="3" name="Content Placeholder 2"/>
          <p:cNvSpPr>
            <a:spLocks noGrp="1"/>
          </p:cNvSpPr>
          <p:nvPr>
            <p:ph idx="1"/>
          </p:nvPr>
        </p:nvSpPr>
        <p:spPr>
          <a:xfrm>
            <a:off x="251520" y="1389374"/>
            <a:ext cx="5266928" cy="4925144"/>
          </a:xfrm>
        </p:spPr>
        <p:txBody>
          <a:bodyPr>
            <a:normAutofit lnSpcReduction="10000"/>
          </a:bodyPr>
          <a:lstStyle/>
          <a:p>
            <a:r>
              <a:rPr lang="en-AU" dirty="0"/>
              <a:t>Once moved to the new location, the sugar leaves the sieve cells to be used by the plant.  Sugar moves into the </a:t>
            </a:r>
            <a:r>
              <a:rPr lang="en-AU" b="1" dirty="0"/>
              <a:t>sink cells </a:t>
            </a:r>
            <a:r>
              <a:rPr lang="en-AU" dirty="0"/>
              <a:t>(cells with low sugar concentration)  </a:t>
            </a:r>
          </a:p>
          <a:p>
            <a:r>
              <a:rPr lang="en-AU" dirty="0"/>
              <a:t>Water moves back to the xylem via osmosis.</a:t>
            </a:r>
          </a:p>
          <a:p>
            <a:r>
              <a:rPr lang="en-AU" dirty="0"/>
              <a:t>Unused or stored nutrients can also be translocated out of leaves of deciduous plants before they are dropped in autumn.</a:t>
            </a:r>
          </a:p>
          <a:p>
            <a:r>
              <a:rPr lang="en-AU" dirty="0"/>
              <a:t>Phloem sap is mostly a sugar solution.</a:t>
            </a:r>
          </a:p>
          <a:p>
            <a:r>
              <a:rPr lang="en-AU" dirty="0"/>
              <a:t>Phloem sap may contain up to 30% sucrose by weight, giving it a very syrupy consistency. It is also highly nutritious, which is very attractive to a range of sucking insects that feed on it.</a:t>
            </a:r>
          </a:p>
          <a:p>
            <a:r>
              <a:rPr lang="en-AU" dirty="0"/>
              <a:t>Summary video </a:t>
            </a:r>
            <a:r>
              <a:rPr lang="en-AU" dirty="0">
                <a:hlinkClick r:id="rId3"/>
              </a:rPr>
              <a:t>https://www.youtube.com/watch?v=QXdujo4PZ7c</a:t>
            </a:r>
            <a:endParaRPr lang="en-AU" dirty="0"/>
          </a:p>
          <a:p>
            <a:pPr marL="0" indent="0">
              <a:buNone/>
            </a:pPr>
            <a:endParaRPr lang="en-AU" dirty="0"/>
          </a:p>
          <a:p>
            <a:pPr marL="0" indent="0">
              <a:buNone/>
            </a:pPr>
            <a:endParaRPr lang="en-US" dirty="0"/>
          </a:p>
          <a:p>
            <a:endParaRPr lang="en-AU" dirty="0"/>
          </a:p>
        </p:txBody>
      </p:sp>
      <p:pic>
        <p:nvPicPr>
          <p:cNvPr id="8194" name="Picture 2" descr="https://figures.boundless.com/19412/large/figure-30-05-07.jp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1844824"/>
            <a:ext cx="2886075" cy="3905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35702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39552" y="260648"/>
            <a:ext cx="6347713" cy="936104"/>
          </a:xfrm>
        </p:spPr>
        <p:txBody>
          <a:bodyPr/>
          <a:lstStyle/>
          <a:p>
            <a:r>
              <a:rPr lang="en-US" dirty="0"/>
              <a:t>Waste Removal in plants</a:t>
            </a:r>
            <a:endParaRPr lang="en-AU" dirty="0"/>
          </a:p>
        </p:txBody>
      </p:sp>
      <p:sp>
        <p:nvSpPr>
          <p:cNvPr id="10" name="Content Placeholder 9"/>
          <p:cNvSpPr>
            <a:spLocks noGrp="1"/>
          </p:cNvSpPr>
          <p:nvPr>
            <p:ph idx="1"/>
          </p:nvPr>
        </p:nvSpPr>
        <p:spPr>
          <a:xfrm>
            <a:off x="563247" y="1412776"/>
            <a:ext cx="5672609" cy="4536504"/>
          </a:xfrm>
        </p:spPr>
        <p:txBody>
          <a:bodyPr/>
          <a:lstStyle/>
          <a:p>
            <a:pPr marL="342900" indent="-342900"/>
            <a:r>
              <a:rPr lang="en-US" dirty="0"/>
              <a:t>Deciduous plants store wastes in leaves which drop off in autumn.</a:t>
            </a:r>
          </a:p>
          <a:p>
            <a:pPr marL="342900" indent="-342900"/>
            <a:r>
              <a:rPr lang="en-US" dirty="0"/>
              <a:t>Non-deciduous trees remove salt also by leaf fall.</a:t>
            </a:r>
          </a:p>
          <a:p>
            <a:pPr marL="342900" indent="-342900"/>
            <a:r>
              <a:rPr lang="en-US" dirty="0"/>
              <a:t>Plants with bark can transfer unwanted material via the phloem to the bark before shedding. </a:t>
            </a:r>
          </a:p>
          <a:p>
            <a:pPr marL="342900" indent="-342900"/>
            <a:r>
              <a:rPr lang="en-US" dirty="0"/>
              <a:t>Other wastes may be stored as insoluble crystals.</a:t>
            </a:r>
          </a:p>
          <a:p>
            <a:pPr marL="342900" indent="-342900"/>
            <a:r>
              <a:rPr lang="en-US" dirty="0"/>
              <a:t>Woody plants store wastes in non-living tissue.</a:t>
            </a:r>
          </a:p>
          <a:p>
            <a:pPr marL="342900" indent="-342900"/>
            <a:r>
              <a:rPr lang="en-US" dirty="0"/>
              <a:t>Cell walls are used as a depository for toxins (lignin). </a:t>
            </a:r>
          </a:p>
          <a:p>
            <a:pPr marL="342900" indent="-342900"/>
            <a:r>
              <a:rPr lang="en-US" dirty="0"/>
              <a:t>Waste removal as resins, fats, waxes and complex organic chemicals, like latex from rubber trees.</a:t>
            </a:r>
          </a:p>
          <a:p>
            <a:endParaRPr lang="en-AU" dirty="0"/>
          </a:p>
        </p:txBody>
      </p:sp>
      <p:pic>
        <p:nvPicPr>
          <p:cNvPr id="5" name="Picture 4">
            <a:extLst>
              <a:ext uri="{FF2B5EF4-FFF2-40B4-BE49-F238E27FC236}">
                <a16:creationId xmlns:a16="http://schemas.microsoft.com/office/drawing/2014/main" id="{3BA55974-2607-4C61-23C9-79F89A951E70}"/>
              </a:ext>
            </a:extLst>
          </p:cNvPr>
          <p:cNvPicPr>
            <a:picLocks noChangeAspect="1"/>
          </p:cNvPicPr>
          <p:nvPr/>
        </p:nvPicPr>
        <p:blipFill>
          <a:blip r:embed="rId3"/>
          <a:stretch>
            <a:fillRect/>
          </a:stretch>
        </p:blipFill>
        <p:spPr>
          <a:xfrm>
            <a:off x="6732240" y="136083"/>
            <a:ext cx="2057400" cy="3381038"/>
          </a:xfrm>
          <a:prstGeom prst="rect">
            <a:avLst/>
          </a:prstGeom>
        </p:spPr>
      </p:pic>
      <p:pic>
        <p:nvPicPr>
          <p:cNvPr id="7" name="Picture 6">
            <a:extLst>
              <a:ext uri="{FF2B5EF4-FFF2-40B4-BE49-F238E27FC236}">
                <a16:creationId xmlns:a16="http://schemas.microsoft.com/office/drawing/2014/main" id="{124ADEB4-CC1D-8FB2-3221-030B1AFF6F19}"/>
              </a:ext>
            </a:extLst>
          </p:cNvPr>
          <p:cNvPicPr>
            <a:picLocks noChangeAspect="1"/>
          </p:cNvPicPr>
          <p:nvPr/>
        </p:nvPicPr>
        <p:blipFill>
          <a:blip r:embed="rId4"/>
          <a:stretch>
            <a:fillRect/>
          </a:stretch>
        </p:blipFill>
        <p:spPr>
          <a:xfrm>
            <a:off x="6732240" y="3517120"/>
            <a:ext cx="2057400" cy="3296255"/>
          </a:xfrm>
          <a:prstGeom prst="rect">
            <a:avLst/>
          </a:prstGeom>
        </p:spPr>
      </p:pic>
    </p:spTree>
    <p:extLst>
      <p:ext uri="{BB962C8B-B14F-4D97-AF65-F5344CB8AC3E}">
        <p14:creationId xmlns:p14="http://schemas.microsoft.com/office/powerpoint/2010/main" val="801575145"/>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740692" y="1916832"/>
            <a:ext cx="7081331" cy="26532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AU" dirty="0"/>
              <a:t>Students will be able to:</a:t>
            </a:r>
          </a:p>
          <a:p>
            <a:r>
              <a:rPr lang="en-AU" dirty="0"/>
              <a:t>Differentiate between cells, tissues, organs &amp; systems.</a:t>
            </a:r>
          </a:p>
          <a:p>
            <a:r>
              <a:rPr lang="en-AU" dirty="0"/>
              <a:t>Describe the transport of water and mineral nutrients from the roots occurs via xylem through root pressure, capillary action (adhesion and cohesion of water molecules), transpiration.</a:t>
            </a:r>
          </a:p>
          <a:p>
            <a:r>
              <a:rPr lang="en-AU" dirty="0"/>
              <a:t>Describe the transport of the products of photosynthesis and some mineral nutrients by translocation in the phloem.</a:t>
            </a:r>
          </a:p>
          <a:p>
            <a:endParaRPr lang="en-AU" dirty="0"/>
          </a:p>
          <a:p>
            <a:endParaRPr lang="en-AU" dirty="0"/>
          </a:p>
        </p:txBody>
      </p:sp>
      <p:sp>
        <p:nvSpPr>
          <p:cNvPr id="5" name="Title 1"/>
          <p:cNvSpPr txBox="1">
            <a:spLocks/>
          </p:cNvSpPr>
          <p:nvPr/>
        </p:nvSpPr>
        <p:spPr>
          <a:xfrm>
            <a:off x="755576" y="764704"/>
            <a:ext cx="6347713" cy="103276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Success Criteria</a:t>
            </a:r>
          </a:p>
        </p:txBody>
      </p:sp>
    </p:spTree>
    <p:extLst>
      <p:ext uri="{BB962C8B-B14F-4D97-AF65-F5344CB8AC3E}">
        <p14:creationId xmlns:p14="http://schemas.microsoft.com/office/powerpoint/2010/main" val="28421437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Exam Review Questions</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61303" y="4176292"/>
            <a:ext cx="5207083" cy="1700980"/>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92741" y="1930400"/>
            <a:ext cx="3989952" cy="1700980"/>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2974" y="1957989"/>
            <a:ext cx="4908080" cy="1700980"/>
          </a:xfrm>
          <a:prstGeom prst="rect">
            <a:avLst/>
          </a:prstGeom>
        </p:spPr>
      </p:pic>
    </p:spTree>
    <p:extLst>
      <p:ext uri="{BB962C8B-B14F-4D97-AF65-F5344CB8AC3E}">
        <p14:creationId xmlns:p14="http://schemas.microsoft.com/office/powerpoint/2010/main" val="39611263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Moodle &amp; Textbook Work</a:t>
            </a:r>
          </a:p>
        </p:txBody>
      </p:sp>
      <p:sp>
        <p:nvSpPr>
          <p:cNvPr id="5" name="Content Placeholder 2"/>
          <p:cNvSpPr txBox="1">
            <a:spLocks/>
          </p:cNvSpPr>
          <p:nvPr/>
        </p:nvSpPr>
        <p:spPr>
          <a:xfrm>
            <a:off x="3131840" y="1988840"/>
            <a:ext cx="3960440" cy="273630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AU" dirty="0"/>
              <a:t>Read selected pages from Chapters 11 &amp; 13.</a:t>
            </a:r>
          </a:p>
          <a:p>
            <a:r>
              <a:rPr lang="en-AU" dirty="0"/>
              <a:t>Chapter 5.1 &amp; 5.5 in Study Guide.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1965786"/>
            <a:ext cx="2376264" cy="3115816"/>
          </a:xfrm>
          <a:prstGeom prst="rect">
            <a:avLst/>
          </a:prstGeom>
        </p:spPr>
      </p:pic>
    </p:spTree>
    <p:extLst>
      <p:ext uri="{BB962C8B-B14F-4D97-AF65-F5344CB8AC3E}">
        <p14:creationId xmlns:p14="http://schemas.microsoft.com/office/powerpoint/2010/main" val="26911160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Student Feedback</a:t>
            </a:r>
            <a:endParaRPr lang="en-AU" dirty="0"/>
          </a:p>
        </p:txBody>
      </p:sp>
      <p:sp>
        <p:nvSpPr>
          <p:cNvPr id="3" name="Content Placeholder 2"/>
          <p:cNvSpPr>
            <a:spLocks noGrp="1"/>
          </p:cNvSpPr>
          <p:nvPr>
            <p:ph sz="quarter" idx="1"/>
          </p:nvPr>
        </p:nvSpPr>
        <p:spPr>
          <a:xfrm>
            <a:off x="395536" y="1772816"/>
            <a:ext cx="6559153" cy="4392487"/>
          </a:xfrm>
        </p:spPr>
        <p:txBody>
          <a:bodyPr>
            <a:normAutofit/>
          </a:bodyPr>
          <a:lstStyle/>
          <a:p>
            <a:r>
              <a:rPr lang="en-AU" dirty="0"/>
              <a:t>What I learnt today…..</a:t>
            </a:r>
          </a:p>
          <a:p>
            <a:endParaRPr lang="en-AU" dirty="0"/>
          </a:p>
          <a:p>
            <a:endParaRPr lang="en-AU" dirty="0"/>
          </a:p>
          <a:p>
            <a:endParaRPr lang="en-AU"/>
          </a:p>
          <a:p>
            <a:endParaRPr lang="en-AU" dirty="0"/>
          </a:p>
          <a:p>
            <a:r>
              <a:rPr lang="en-AU" dirty="0"/>
              <a:t>What I need to revise….</a:t>
            </a:r>
          </a:p>
          <a:p>
            <a:endParaRPr lang="en-AU" dirty="0"/>
          </a:p>
          <a:p>
            <a:endParaRPr lang="en-AU" dirty="0"/>
          </a:p>
          <a:p>
            <a:endParaRPr lang="en-AU" dirty="0"/>
          </a:p>
          <a:p>
            <a:pPr marL="0" indent="0">
              <a:buNone/>
            </a:pPr>
            <a:endParaRPr lang="en-AU" dirty="0"/>
          </a:p>
        </p:txBody>
      </p:sp>
    </p:spTree>
    <p:extLst>
      <p:ext uri="{BB962C8B-B14F-4D97-AF65-F5344CB8AC3E}">
        <p14:creationId xmlns:p14="http://schemas.microsoft.com/office/powerpoint/2010/main" val="407593729"/>
      </p:ext>
    </p:extLst>
  </p:cSld>
  <p:clrMapOvr>
    <a:masterClrMapping/>
  </p:clrMapOvr>
</p:sld>
</file>

<file path=ppt/theme/theme1.xml><?xml version="1.0" encoding="utf-8"?>
<a:theme xmlns:a="http://schemas.openxmlformats.org/drawingml/2006/main" name="Facet">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1504</TotalTime>
  <Words>3741</Words>
  <Application>Microsoft Office PowerPoint</Application>
  <PresentationFormat>On-screen Show (4:3)</PresentationFormat>
  <Paragraphs>291</Paragraphs>
  <Slides>45</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Calibri</vt:lpstr>
      <vt:lpstr>Hoefler Text</vt:lpstr>
      <vt:lpstr>Trebuchet MS</vt:lpstr>
      <vt:lpstr>Wingdings 3</vt:lpstr>
      <vt:lpstr>Facet</vt:lpstr>
      <vt:lpstr>11ATAR Biology  Week 28  Plant Transportation</vt:lpstr>
      <vt:lpstr>Year 11 Biology Work Schedule</vt:lpstr>
      <vt:lpstr>Learning Intentions</vt:lpstr>
      <vt:lpstr>Unicellularity</vt:lpstr>
      <vt:lpstr>Multicellularity</vt:lpstr>
      <vt:lpstr>How do Plant Cells Specialise?</vt:lpstr>
      <vt:lpstr>Levels of Organisation</vt:lpstr>
      <vt:lpstr>Levels of Organisation</vt:lpstr>
      <vt:lpstr>Types of Plant Cells</vt:lpstr>
      <vt:lpstr>Plant Tissues</vt:lpstr>
      <vt:lpstr>Plant Systems</vt:lpstr>
      <vt:lpstr>Plant Systems</vt:lpstr>
      <vt:lpstr>Non-vascular Plants</vt:lpstr>
      <vt:lpstr>Vascular Plants</vt:lpstr>
      <vt:lpstr>Vascular vs Non-vascular Plants</vt:lpstr>
      <vt:lpstr> Water Movement: Xylem</vt:lpstr>
      <vt:lpstr>Transporting Water - The Root System</vt:lpstr>
      <vt:lpstr>Transporting Water - The Root System</vt:lpstr>
      <vt:lpstr>Transporting Water - The Root  System</vt:lpstr>
      <vt:lpstr>Transport Water - The Shoot System</vt:lpstr>
      <vt:lpstr>Lesson 2…</vt:lpstr>
      <vt:lpstr>Transporting Water - The Root System</vt:lpstr>
      <vt:lpstr>Transporting Water - The Root System</vt:lpstr>
      <vt:lpstr>Transport Water - The Shoot System</vt:lpstr>
      <vt:lpstr>Transport Water - The Shoot System</vt:lpstr>
      <vt:lpstr>Transport Water - The Shoot System</vt:lpstr>
      <vt:lpstr>Transport Water - The Shoot System</vt:lpstr>
      <vt:lpstr>Transport Water - The Shoot System</vt:lpstr>
      <vt:lpstr>Transpiration Summary</vt:lpstr>
      <vt:lpstr>Factors that Effect Transpiration</vt:lpstr>
      <vt:lpstr>Transport Water - Conserving Water</vt:lpstr>
      <vt:lpstr>Obtaining and Transporting Nutrients</vt:lpstr>
      <vt:lpstr>Obtaining and Transporting Nutrients</vt:lpstr>
      <vt:lpstr>Leaf Structure and Function</vt:lpstr>
      <vt:lpstr>Leaf Structure and Function</vt:lpstr>
      <vt:lpstr>Transporting from the Leaves</vt:lpstr>
      <vt:lpstr>Phloem</vt:lpstr>
      <vt:lpstr>Phloem Structure</vt:lpstr>
      <vt:lpstr>Phloem and Translocation</vt:lpstr>
      <vt:lpstr>Phloem and Translocation</vt:lpstr>
      <vt:lpstr>Waste Removal in plants</vt:lpstr>
      <vt:lpstr>PowerPoint Presentation</vt:lpstr>
      <vt:lpstr>Exam Review Questions</vt:lpstr>
      <vt:lpstr>Moodle &amp; Textbook Work</vt:lpstr>
      <vt:lpstr>Student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Transportation</dc:title>
  <dc:creator>HARDINGHAM Gillian</dc:creator>
  <cp:lastModifiedBy>HARTLAND Robbert [SIDE - Sch of Isol &amp; Dist Edu]</cp:lastModifiedBy>
  <cp:revision>94</cp:revision>
  <dcterms:created xsi:type="dcterms:W3CDTF">2015-09-16T03:14:01Z</dcterms:created>
  <dcterms:modified xsi:type="dcterms:W3CDTF">2023-09-08T00:46:01Z</dcterms:modified>
</cp:coreProperties>
</file>