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56" r:id="rId2"/>
    <p:sldId id="319" r:id="rId3"/>
    <p:sldId id="320" r:id="rId4"/>
    <p:sldId id="325" r:id="rId5"/>
    <p:sldId id="326" r:id="rId6"/>
    <p:sldId id="327" r:id="rId7"/>
    <p:sldId id="328" r:id="rId8"/>
    <p:sldId id="329" r:id="rId9"/>
    <p:sldId id="330" r:id="rId10"/>
    <p:sldId id="331" r:id="rId11"/>
    <p:sldId id="332" r:id="rId12"/>
    <p:sldId id="333" r:id="rId13"/>
    <p:sldId id="323" r:id="rId14"/>
    <p:sldId id="324" r:id="rId15"/>
    <p:sldId id="259" r:id="rId16"/>
    <p:sldId id="260" r:id="rId17"/>
    <p:sldId id="262" r:id="rId18"/>
    <p:sldId id="264" r:id="rId19"/>
    <p:sldId id="263" r:id="rId20"/>
    <p:sldId id="318" r:id="rId21"/>
    <p:sldId id="290" r:id="rId22"/>
    <p:sldId id="266" r:id="rId23"/>
    <p:sldId id="335" r:id="rId24"/>
    <p:sldId id="291" r:id="rId25"/>
    <p:sldId id="317" r:id="rId26"/>
    <p:sldId id="269" r:id="rId27"/>
    <p:sldId id="272" r:id="rId28"/>
    <p:sldId id="292" r:id="rId29"/>
    <p:sldId id="293" r:id="rId30"/>
    <p:sldId id="294" r:id="rId31"/>
    <p:sldId id="273" r:id="rId32"/>
    <p:sldId id="295" r:id="rId33"/>
    <p:sldId id="279" r:id="rId34"/>
    <p:sldId id="297" r:id="rId35"/>
    <p:sldId id="285" r:id="rId36"/>
    <p:sldId id="286" r:id="rId37"/>
    <p:sldId id="287" r:id="rId38"/>
    <p:sldId id="298" r:id="rId39"/>
    <p:sldId id="299" r:id="rId40"/>
    <p:sldId id="300" r:id="rId41"/>
    <p:sldId id="308" r:id="rId42"/>
    <p:sldId id="309" r:id="rId43"/>
    <p:sldId id="307" r:id="rId44"/>
    <p:sldId id="316" r:id="rId45"/>
    <p:sldId id="334" r:id="rId46"/>
    <p:sldId id="310" r:id="rId47"/>
    <p:sldId id="322" r:id="rId48"/>
    <p:sldId id="321"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26" autoAdjust="0"/>
  </p:normalViewPr>
  <p:slideViewPr>
    <p:cSldViewPr>
      <p:cViewPr varScale="1">
        <p:scale>
          <a:sx n="111" d="100"/>
          <a:sy n="111" d="100"/>
        </p:scale>
        <p:origin x="96" y="10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44E319-52C2-40B8-8CA0-496DD5724F4F}" type="datetimeFigureOut">
              <a:rPr lang="en-AU" smtClean="0"/>
              <a:t>20/09/2023</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75C081-5051-4407-B163-A70E6E988381}" type="slidenum">
              <a:rPr lang="en-AU" smtClean="0"/>
              <a:t>‹#›</a:t>
            </a:fld>
            <a:endParaRPr lang="en-AU"/>
          </a:p>
        </p:txBody>
      </p:sp>
    </p:spTree>
    <p:extLst>
      <p:ext uri="{BB962C8B-B14F-4D97-AF65-F5344CB8AC3E}">
        <p14:creationId xmlns:p14="http://schemas.microsoft.com/office/powerpoint/2010/main" val="3471652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wisegeek.com/what-are-nutrients.htm" TargetMode="External"/><Relationship Id="rId2" Type="http://schemas.openxmlformats.org/officeDocument/2006/relationships/slide" Target="../slides/slide16.xml"/><Relationship Id="rId1" Type="http://schemas.openxmlformats.org/officeDocument/2006/relationships/notesMaster" Target="../notesMasters/notesMaster1.xml"/><Relationship Id="rId5" Type="http://schemas.openxmlformats.org/officeDocument/2006/relationships/hyperlink" Target="https://www.wisegeek.com/what-are-aphids.htm" TargetMode="External"/><Relationship Id="rId4" Type="http://schemas.openxmlformats.org/officeDocument/2006/relationships/hyperlink" Target="https://www.wisegeek.com/what-are-hummingbirds.ht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youtube.com/watch?v=rJS-Kh5wCQU"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F75C081-5051-4407-B163-A70E6E988381}" type="slidenum">
              <a:rPr lang="en-AU" smtClean="0"/>
              <a:t>1</a:t>
            </a:fld>
            <a:endParaRPr lang="en-AU"/>
          </a:p>
        </p:txBody>
      </p:sp>
    </p:spTree>
    <p:extLst>
      <p:ext uri="{BB962C8B-B14F-4D97-AF65-F5344CB8AC3E}">
        <p14:creationId xmlns:p14="http://schemas.microsoft.com/office/powerpoint/2010/main" val="1190200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Unicellular organisms such as protozoans are complete functioning organisms. All the needs of the organism (e.g. nutrients, energy and water) and functions (e.g. intake of nutrients and energy, processing of nutrients to release energy, and expulsion of waste products) take place within the boundary of the cell. </a:t>
            </a:r>
          </a:p>
          <a:p>
            <a:r>
              <a:rPr lang="en-AU" dirty="0"/>
              <a:t>The microscopic size of the cell allows these processes to occur efficiently.</a:t>
            </a:r>
          </a:p>
          <a:p>
            <a:r>
              <a:rPr lang="en-AU" dirty="0"/>
              <a:t>A single cell has a high surface area to volume ratio. This means that the size of the plasma membrane (its surface area) is sufficient to service the total volume of the cytoplasm. Oxygen, nutrients and carbon dioxide can diffuse directly across the plasma membrane in amounts sufficient to meet the needs of the entire cell.</a:t>
            </a:r>
            <a:endParaRPr lang="en-US" dirty="0"/>
          </a:p>
          <a:p>
            <a:endParaRPr lang="en-AU" dirty="0"/>
          </a:p>
        </p:txBody>
      </p:sp>
      <p:sp>
        <p:nvSpPr>
          <p:cNvPr id="4" name="Slide Number Placeholder 3"/>
          <p:cNvSpPr>
            <a:spLocks noGrp="1"/>
          </p:cNvSpPr>
          <p:nvPr>
            <p:ph type="sldNum" sz="quarter" idx="10"/>
          </p:nvPr>
        </p:nvSpPr>
        <p:spPr/>
        <p:txBody>
          <a:bodyPr/>
          <a:lstStyle/>
          <a:p>
            <a:fld id="{ABDCC9D2-D658-478B-A04A-E0AF743F41F3}" type="slidenum">
              <a:rPr lang="en-AU" smtClean="0"/>
              <a:t>4</a:t>
            </a:fld>
            <a:endParaRPr lang="en-AU"/>
          </a:p>
        </p:txBody>
      </p:sp>
    </p:spTree>
    <p:extLst>
      <p:ext uri="{BB962C8B-B14F-4D97-AF65-F5344CB8AC3E}">
        <p14:creationId xmlns:p14="http://schemas.microsoft.com/office/powerpoint/2010/main" val="1343055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8BF76606-18B7-4623-BEF4-BF11C5EB6911}" type="slidenum">
              <a:rPr lang="en-US" sz="1200">
                <a:solidFill>
                  <a:srgbClr val="382F28"/>
                </a:solidFill>
                <a:latin typeface="Hoefler Text" pitchFamily="1" charset="0"/>
                <a:ea typeface="ヒラギノ角ゴ ProN W6" pitchFamily="1" charset="-128"/>
              </a:rPr>
              <a:pPr eaLnBrk="1" hangingPunct="1"/>
              <a:t>7</a:t>
            </a:fld>
            <a:endParaRPr lang="en-US" sz="1200">
              <a:solidFill>
                <a:srgbClr val="382F28"/>
              </a:solidFill>
              <a:latin typeface="Hoefler Text" pitchFamily="1" charset="0"/>
              <a:ea typeface="ヒラギノ角ゴ ProN W6" pitchFamily="1" charset="-128"/>
            </a:endParaRPr>
          </a:p>
        </p:txBody>
      </p:sp>
      <p:sp>
        <p:nvSpPr>
          <p:cNvPr id="241667" name="Rectangle 2"/>
          <p:cNvSpPr>
            <a:spLocks noGrp="1" noRot="1" noChangeAspect="1" noChangeArrowheads="1" noTextEdit="1"/>
          </p:cNvSpPr>
          <p:nvPr>
            <p:ph type="sldImg"/>
          </p:nvPr>
        </p:nvSpPr>
        <p:spPr>
          <a:ln/>
        </p:spPr>
      </p:sp>
      <p:sp>
        <p:nvSpPr>
          <p:cNvPr id="226307" name="Rectangle 3"/>
          <p:cNvSpPr>
            <a:spLocks noGrp="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3864339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D899F931-3527-4B28-A2EE-0487125EC445}" type="slidenum">
              <a:rPr lang="en-US" sz="1200">
                <a:solidFill>
                  <a:srgbClr val="382F28"/>
                </a:solidFill>
                <a:latin typeface="Hoefler Text" pitchFamily="1" charset="0"/>
                <a:ea typeface="ヒラギノ角ゴ ProN W6" pitchFamily="1" charset="-128"/>
              </a:rPr>
              <a:pPr eaLnBrk="1" hangingPunct="1"/>
              <a:t>9</a:t>
            </a:fld>
            <a:endParaRPr lang="en-US" sz="1200">
              <a:solidFill>
                <a:srgbClr val="382F28"/>
              </a:solidFill>
              <a:latin typeface="Hoefler Text" pitchFamily="1" charset="0"/>
              <a:ea typeface="ヒラギノ角ゴ ProN W6" pitchFamily="1" charset="-128"/>
            </a:endParaRPr>
          </a:p>
        </p:txBody>
      </p:sp>
      <p:sp>
        <p:nvSpPr>
          <p:cNvPr id="245763" name="Rectangle 2"/>
          <p:cNvSpPr>
            <a:spLocks noGrp="1" noRot="1" noChangeAspect="1" noChangeArrowheads="1" noTextEdit="1"/>
          </p:cNvSpPr>
          <p:nvPr>
            <p:ph type="sldImg"/>
          </p:nvPr>
        </p:nvSpPr>
        <p:spPr>
          <a:ln/>
        </p:spPr>
      </p:sp>
      <p:sp>
        <p:nvSpPr>
          <p:cNvPr id="228355" name="Rectangle 3"/>
          <p:cNvSpPr>
            <a:spLocks noGrp="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351607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967306DA-6F04-4260-A26C-B7EB72D84928}" type="slidenum">
              <a:rPr lang="en-US" sz="1200">
                <a:solidFill>
                  <a:srgbClr val="382F28"/>
                </a:solidFill>
                <a:latin typeface="Hoefler Text" pitchFamily="1" charset="0"/>
                <a:ea typeface="ヒラギノ角ゴ ProN W6" pitchFamily="1" charset="-128"/>
              </a:rPr>
              <a:pPr eaLnBrk="1" hangingPunct="1"/>
              <a:t>10</a:t>
            </a:fld>
            <a:endParaRPr lang="en-US" sz="1200">
              <a:solidFill>
                <a:srgbClr val="382F28"/>
              </a:solidFill>
              <a:latin typeface="Hoefler Text" pitchFamily="1" charset="0"/>
              <a:ea typeface="ヒラギノ角ゴ ProN W6" pitchFamily="1" charset="-128"/>
            </a:endParaRPr>
          </a:p>
        </p:txBody>
      </p:sp>
      <p:sp>
        <p:nvSpPr>
          <p:cNvPr id="247811" name="Rectangle 2"/>
          <p:cNvSpPr>
            <a:spLocks noGrp="1" noRot="1" noChangeAspect="1" noChangeArrowheads="1" noTextEdit="1"/>
          </p:cNvSpPr>
          <p:nvPr>
            <p:ph type="sldImg"/>
          </p:nvPr>
        </p:nvSpPr>
        <p:spPr>
          <a:ln/>
        </p:spPr>
      </p:sp>
      <p:sp>
        <p:nvSpPr>
          <p:cNvPr id="229379" name="Rectangle 3"/>
          <p:cNvSpPr>
            <a:spLocks noGrp="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219635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575F0AC0-F557-4362-B669-059BCA936415}" type="slidenum">
              <a:rPr lang="en-US" sz="1200">
                <a:solidFill>
                  <a:srgbClr val="382F28"/>
                </a:solidFill>
                <a:latin typeface="Hoefler Text" pitchFamily="1" charset="0"/>
                <a:ea typeface="ヒラギノ角ゴ ProN W6" pitchFamily="1" charset="-128"/>
              </a:rPr>
              <a:pPr eaLnBrk="1" hangingPunct="1"/>
              <a:t>11</a:t>
            </a:fld>
            <a:endParaRPr lang="en-US" sz="1200">
              <a:solidFill>
                <a:srgbClr val="382F28"/>
              </a:solidFill>
              <a:latin typeface="Hoefler Text" pitchFamily="1" charset="0"/>
              <a:ea typeface="ヒラギノ角ゴ ProN W6" pitchFamily="1" charset="-128"/>
            </a:endParaRPr>
          </a:p>
        </p:txBody>
      </p:sp>
      <p:sp>
        <p:nvSpPr>
          <p:cNvPr id="249859" name="Rectangle 2"/>
          <p:cNvSpPr>
            <a:spLocks noGrp="1" noRot="1" noChangeAspect="1" noChangeArrowheads="1" noTextEdit="1"/>
          </p:cNvSpPr>
          <p:nvPr>
            <p:ph type="sldImg"/>
          </p:nvPr>
        </p:nvSpPr>
        <p:spPr>
          <a:ln/>
        </p:spPr>
      </p:sp>
      <p:sp>
        <p:nvSpPr>
          <p:cNvPr id="230403" name="Rectangle 3"/>
          <p:cNvSpPr>
            <a:spLocks noGrp="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677243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rgbClr val="000000"/>
                </a:solidFill>
                <a:latin typeface="Lucida Grande CE" pitchFamily="1" charset="-18"/>
                <a:ea typeface="ヒラギノ角ゴ ProN W3" pitchFamily="1" charset="-128"/>
              </a:defRPr>
            </a:lvl1pPr>
            <a:lvl2pPr marL="37931725" indent="-37474525" eaLnBrk="0" hangingPunct="0">
              <a:defRPr sz="2400">
                <a:solidFill>
                  <a:srgbClr val="000000"/>
                </a:solidFill>
                <a:latin typeface="Lucida Grande CE" pitchFamily="1" charset="-18"/>
                <a:ea typeface="ヒラギノ角ゴ ProN W3" pitchFamily="1" charset="-128"/>
              </a:defRPr>
            </a:lvl2pPr>
            <a:lvl3pPr eaLnBrk="0" hangingPunct="0">
              <a:defRPr sz="2400">
                <a:solidFill>
                  <a:srgbClr val="000000"/>
                </a:solidFill>
                <a:latin typeface="Lucida Grande CE" pitchFamily="1" charset="-18"/>
                <a:ea typeface="ヒラギノ角ゴ ProN W3" pitchFamily="1" charset="-128"/>
              </a:defRPr>
            </a:lvl3pPr>
            <a:lvl4pPr eaLnBrk="0" hangingPunct="0">
              <a:defRPr sz="2400">
                <a:solidFill>
                  <a:srgbClr val="000000"/>
                </a:solidFill>
                <a:latin typeface="Lucida Grande CE" pitchFamily="1" charset="-18"/>
                <a:ea typeface="ヒラギノ角ゴ ProN W3" pitchFamily="1" charset="-128"/>
              </a:defRPr>
            </a:lvl4pPr>
            <a:lvl5pPr eaLnBrk="0" hangingPunct="0">
              <a:defRPr sz="2400">
                <a:solidFill>
                  <a:srgbClr val="000000"/>
                </a:solidFill>
                <a:latin typeface="Lucida Grande CE" pitchFamily="1" charset="-18"/>
                <a:ea typeface="ヒラギノ角ゴ ProN W3" pitchFamily="1" charset="-128"/>
              </a:defRPr>
            </a:lvl5pPr>
            <a:lvl6pPr marL="4572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6pPr>
            <a:lvl7pPr marL="9144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7pPr>
            <a:lvl8pPr marL="13716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8pPr>
            <a:lvl9pPr marL="1828800" eaLnBrk="0" fontAlgn="base" hangingPunct="0">
              <a:spcBef>
                <a:spcPts val="1500"/>
              </a:spcBef>
              <a:spcAft>
                <a:spcPct val="0"/>
              </a:spcAft>
              <a:defRPr sz="2400">
                <a:solidFill>
                  <a:srgbClr val="000000"/>
                </a:solidFill>
                <a:latin typeface="Lucida Grande CE" pitchFamily="1" charset="-18"/>
                <a:ea typeface="ヒラギノ角ゴ ProN W3" pitchFamily="1" charset="-128"/>
              </a:defRPr>
            </a:lvl9pPr>
          </a:lstStyle>
          <a:p>
            <a:pPr eaLnBrk="1" hangingPunct="1"/>
            <a:fld id="{575F0AC0-F557-4362-B669-059BCA936415}" type="slidenum">
              <a:rPr lang="en-US" sz="1200">
                <a:solidFill>
                  <a:srgbClr val="382F28"/>
                </a:solidFill>
                <a:latin typeface="Hoefler Text" pitchFamily="1" charset="0"/>
                <a:ea typeface="ヒラギノ角ゴ ProN W6" pitchFamily="1" charset="-128"/>
              </a:rPr>
              <a:pPr eaLnBrk="1" hangingPunct="1"/>
              <a:t>12</a:t>
            </a:fld>
            <a:endParaRPr lang="en-US" sz="1200">
              <a:solidFill>
                <a:srgbClr val="382F28"/>
              </a:solidFill>
              <a:latin typeface="Hoefler Text" pitchFamily="1" charset="0"/>
              <a:ea typeface="ヒラギノ角ゴ ProN W6" pitchFamily="1" charset="-128"/>
            </a:endParaRPr>
          </a:p>
        </p:txBody>
      </p:sp>
      <p:sp>
        <p:nvSpPr>
          <p:cNvPr id="249859" name="Rectangle 2"/>
          <p:cNvSpPr>
            <a:spLocks noGrp="1" noRot="1" noChangeAspect="1" noChangeArrowheads="1" noTextEdit="1"/>
          </p:cNvSpPr>
          <p:nvPr>
            <p:ph type="sldImg"/>
          </p:nvPr>
        </p:nvSpPr>
        <p:spPr>
          <a:ln/>
        </p:spPr>
      </p:sp>
      <p:sp>
        <p:nvSpPr>
          <p:cNvPr id="230403" name="Rectangle 3"/>
          <p:cNvSpPr>
            <a:spLocks noGrp="1"/>
          </p:cNvSpPr>
          <p:nvPr>
            <p:ph type="body" idx="1"/>
          </p:nvPr>
        </p:nvSpPr>
        <p:spPr/>
        <p:txBody>
          <a:bodyPr/>
          <a:lstStyle/>
          <a:p>
            <a:pPr eaLnBrk="1" hangingPunct="1">
              <a:defRPr/>
            </a:pPr>
            <a:r>
              <a:rPr lang="en-AU" dirty="0"/>
              <a:t>The </a:t>
            </a:r>
            <a:r>
              <a:rPr lang="en-AU" b="1" dirty="0"/>
              <a:t>skin</a:t>
            </a:r>
            <a:r>
              <a:rPr lang="en-AU" dirty="0"/>
              <a:t> and accessory structures perform a variety of essential functions, such as protecting the </a:t>
            </a:r>
            <a:r>
              <a:rPr lang="en-AU" b="1" dirty="0"/>
              <a:t>body</a:t>
            </a:r>
            <a:r>
              <a:rPr lang="en-AU" dirty="0"/>
              <a:t> from invasion by microorganisms, chemicals, and other environmental factors; preventing dehydration; acting as a sensory organ; modulating </a:t>
            </a:r>
            <a:r>
              <a:rPr lang="en-AU" b="1" dirty="0"/>
              <a:t>body</a:t>
            </a:r>
            <a:r>
              <a:rPr lang="en-AU" dirty="0"/>
              <a:t> temperature and electrolyte balance; and synthesizing vitamin D</a:t>
            </a:r>
            <a:endParaRPr lang="en-US" dirty="0">
              <a:cs typeface="+mn-cs"/>
            </a:endParaRPr>
          </a:p>
        </p:txBody>
      </p:sp>
    </p:spTree>
    <p:extLst>
      <p:ext uri="{BB962C8B-B14F-4D97-AF65-F5344CB8AC3E}">
        <p14:creationId xmlns:p14="http://schemas.microsoft.com/office/powerpoint/2010/main" val="2014856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84FD51A-014F-4C4E-B0C5-9BE6456AC768}" type="slidenum">
              <a:rPr lang="en-US"/>
              <a:pPr/>
              <a:t>15</a:t>
            </a:fld>
            <a:endParaRPr lang="en-US"/>
          </a:p>
        </p:txBody>
      </p:sp>
      <p:sp>
        <p:nvSpPr>
          <p:cNvPr id="539650" name="Rectangle 2"/>
          <p:cNvSpPr>
            <a:spLocks noGrp="1" noRot="1" noChangeAspect="1" noChangeArrowheads="1" noTextEdit="1"/>
          </p:cNvSpPr>
          <p:nvPr>
            <p:ph type="sldImg"/>
          </p:nvPr>
        </p:nvSpPr>
        <p:spPr>
          <a:ln/>
        </p:spPr>
      </p:sp>
      <p:sp>
        <p:nvSpPr>
          <p:cNvPr id="539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35312105-B78D-43B8-92F5-97644C846C0F}" type="slidenum">
              <a:rPr lang="en-US"/>
              <a:pPr/>
              <a:t>16</a:t>
            </a:fld>
            <a:endParaRPr lang="en-US"/>
          </a:p>
        </p:txBody>
      </p:sp>
      <p:sp>
        <p:nvSpPr>
          <p:cNvPr id="540674" name="Rectangle 2"/>
          <p:cNvSpPr>
            <a:spLocks noGrp="1" noRot="1" noChangeAspect="1" noChangeArrowheads="1" noTextEdit="1"/>
          </p:cNvSpPr>
          <p:nvPr>
            <p:ph type="sldImg"/>
          </p:nvPr>
        </p:nvSpPr>
        <p:spPr>
          <a:ln/>
        </p:spPr>
      </p:sp>
      <p:sp>
        <p:nvSpPr>
          <p:cNvPr id="540675" name="Rectangle 3"/>
          <p:cNvSpPr>
            <a:spLocks noGrp="1" noChangeArrowheads="1"/>
          </p:cNvSpPr>
          <p:nvPr>
            <p:ph type="body" idx="1"/>
          </p:nvPr>
        </p:nvSpPr>
        <p:spPr/>
        <p:txBody>
          <a:bodyPr/>
          <a:lstStyle/>
          <a:p>
            <a:r>
              <a:rPr lang="en-AU" b="1" dirty="0"/>
              <a:t>Filter feeding</a:t>
            </a:r>
            <a:r>
              <a:rPr lang="en-AU" dirty="0"/>
              <a:t> is a method of aquatic </a:t>
            </a:r>
            <a:r>
              <a:rPr lang="en-AU" b="1" dirty="0"/>
              <a:t>feeding</a:t>
            </a:r>
            <a:r>
              <a:rPr lang="en-AU" dirty="0"/>
              <a:t> in which the animal takes in many small pieces of prey at one time. As opposed to predators who seek out specialized food items, </a:t>
            </a:r>
            <a:r>
              <a:rPr lang="en-AU" b="1" dirty="0"/>
              <a:t>filter feeding</a:t>
            </a:r>
            <a:r>
              <a:rPr lang="en-AU" dirty="0"/>
              <a:t> is simply opening up your mouth and taking in whatever happens to be there, while </a:t>
            </a:r>
            <a:r>
              <a:rPr lang="en-AU" b="1" dirty="0"/>
              <a:t>filtering</a:t>
            </a:r>
            <a:r>
              <a:rPr lang="en-AU" dirty="0"/>
              <a:t> out the undesirable parts.</a:t>
            </a:r>
          </a:p>
          <a:p>
            <a:endParaRPr lang="en-AU" dirty="0"/>
          </a:p>
          <a:p>
            <a:r>
              <a:rPr lang="en-AU" dirty="0"/>
              <a:t>Fluid feeding is defined as getting your </a:t>
            </a:r>
            <a:r>
              <a:rPr lang="en-AU" dirty="0">
                <a:hlinkClick r:id="rId3"/>
              </a:rPr>
              <a:t>nutrients</a:t>
            </a:r>
            <a:r>
              <a:rPr lang="en-AU" dirty="0"/>
              <a:t> by consuming the fluids of another organism. Animals which practice fluid feeding include </a:t>
            </a:r>
            <a:r>
              <a:rPr lang="en-AU" dirty="0">
                <a:hlinkClick r:id="rId4"/>
              </a:rPr>
              <a:t>hummingbirds</a:t>
            </a:r>
            <a:r>
              <a:rPr lang="en-AU" dirty="0"/>
              <a:t>, spiders, </a:t>
            </a:r>
            <a:r>
              <a:rPr lang="en-AU" dirty="0">
                <a:hlinkClick r:id="rId5"/>
              </a:rPr>
              <a:t>aphids</a:t>
            </a:r>
            <a:r>
              <a:rPr lang="en-AU" dirty="0"/>
              <a:t>, vampire bat, ticks, mosquitos, and leeches. Except for hummingbirds, that's veritably a rogue's gallery of reviled organisms</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31D693C-52D1-4E76-A53A-9AAB775AC2F2}" type="slidenum">
              <a:rPr lang="en-US"/>
              <a:pPr/>
              <a:t>17</a:t>
            </a:fld>
            <a:endParaRPr lang="en-US"/>
          </a:p>
        </p:txBody>
      </p:sp>
      <p:sp>
        <p:nvSpPr>
          <p:cNvPr id="3645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64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385EADDC-7AF5-4B0D-909D-CF55E9153511}" type="slidenum">
              <a:rPr lang="en-US"/>
              <a:pPr/>
              <a:t>18</a:t>
            </a:fld>
            <a:endParaRPr lang="en-US"/>
          </a:p>
        </p:txBody>
      </p:sp>
      <p:sp>
        <p:nvSpPr>
          <p:cNvPr id="3706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06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8EEA2EA-91EE-4ED4-8CF5-0398F48C7F61}" type="slidenum">
              <a:rPr lang="en-US"/>
              <a:pPr/>
              <a:t>19</a:t>
            </a:fld>
            <a:endParaRPr lang="en-US"/>
          </a:p>
        </p:txBody>
      </p:sp>
      <p:sp>
        <p:nvSpPr>
          <p:cNvPr id="3686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686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4A96C5B-B05B-4FDB-B339-D8C7669AE6F7}" type="slidenum">
              <a:rPr lang="en-US"/>
              <a:pPr/>
              <a:t>22</a:t>
            </a:fld>
            <a:endParaRPr lang="en-US"/>
          </a:p>
        </p:txBody>
      </p:sp>
      <p:sp>
        <p:nvSpPr>
          <p:cNvPr id="3788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8883"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a:ln/>
        </p:spPr>
      </p:sp>
      <p:sp>
        <p:nvSpPr>
          <p:cNvPr id="238595" name="Rectangle 3"/>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hlinkClick r:id="rId3"/>
              </a:rPr>
              <a:t>https://www.youtube.com/watch?v=rJS-Kh5wCQU</a:t>
            </a:r>
            <a:endParaRPr lang="en-AU" sz="1200" dirty="0"/>
          </a:p>
          <a:p>
            <a:endParaRPr lang="en-AU" dirty="0"/>
          </a:p>
        </p:txBody>
      </p:sp>
      <p:sp>
        <p:nvSpPr>
          <p:cNvPr id="4" name="Slide Number Placeholder 3"/>
          <p:cNvSpPr>
            <a:spLocks noGrp="1"/>
          </p:cNvSpPr>
          <p:nvPr>
            <p:ph type="sldNum" sz="quarter" idx="5"/>
          </p:nvPr>
        </p:nvSpPr>
        <p:spPr/>
        <p:txBody>
          <a:bodyPr/>
          <a:lstStyle/>
          <a:p>
            <a:fld id="{9F75C081-5051-4407-B163-A70E6E988381}" type="slidenum">
              <a:rPr lang="en-AU" smtClean="0"/>
              <a:t>25</a:t>
            </a:fld>
            <a:endParaRPr lang="en-AU"/>
          </a:p>
        </p:txBody>
      </p:sp>
    </p:spTree>
    <p:extLst>
      <p:ext uri="{BB962C8B-B14F-4D97-AF65-F5344CB8AC3E}">
        <p14:creationId xmlns:p14="http://schemas.microsoft.com/office/powerpoint/2010/main" val="2135940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5E2F676-5D78-46DD-8FD8-06A36412E599}" type="slidenum">
              <a:rPr lang="en-US"/>
              <a:pPr/>
              <a:t>26</a:t>
            </a:fld>
            <a:endParaRPr lang="en-US"/>
          </a:p>
        </p:txBody>
      </p:sp>
      <p:sp>
        <p:nvSpPr>
          <p:cNvPr id="3829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2979" name="Rectangle 3"/>
          <p:cNvSpPr>
            <a:spLocks noGrp="1" noChangeArrowheads="1"/>
          </p:cNvSpPr>
          <p:nvPr>
            <p:ph type="body" idx="1"/>
          </p:nvPr>
        </p:nvSpPr>
        <p:spPr bwMode="auto">
          <a:xfrm>
            <a:off x="914400" y="4343400"/>
            <a:ext cx="53340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a:buClr>
                <a:srgbClr val="339933"/>
              </a:buClr>
            </a:pPr>
            <a:endParaRPr lang="en-US" sz="1200" dirty="0">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54A12517-4217-4C2C-A1DF-5ECF891CF4C4}" type="slidenum">
              <a:rPr lang="en-US"/>
              <a:pPr/>
              <a:t>27</a:t>
            </a:fld>
            <a:endParaRPr lang="en-US"/>
          </a:p>
        </p:txBody>
      </p:sp>
      <p:sp>
        <p:nvSpPr>
          <p:cNvPr id="3891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89123"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a:buClr>
                <a:srgbClr val="339933"/>
              </a:buClr>
            </a:pPr>
            <a:endParaRPr 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D9F5EF21-B349-4D2F-8E81-1D155CD8F989}" type="slidenum">
              <a:rPr lang="en-US"/>
              <a:pPr/>
              <a:t>31</a:t>
            </a:fld>
            <a:endParaRPr lang="en-US"/>
          </a:p>
        </p:txBody>
      </p:sp>
      <p:sp>
        <p:nvSpPr>
          <p:cNvPr id="39936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993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ChangeArrowheads="1" noTextEdit="1"/>
          </p:cNvSpPr>
          <p:nvPr>
            <p:ph type="sldImg"/>
          </p:nvPr>
        </p:nvSpPr>
        <p:spPr>
          <a:ln/>
        </p:spPr>
      </p:sp>
      <p:sp>
        <p:nvSpPr>
          <p:cNvPr id="283651" name="Rectangle 3"/>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Fats = lacteal</a:t>
            </a:r>
          </a:p>
          <a:p>
            <a:pPr eaLnBrk="1" hangingPunct="1"/>
            <a:r>
              <a:rPr lang="en-US" dirty="0"/>
              <a:t>Protein and glucose blood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DA9E02A6-308F-4FA9-8414-2E185A7CB17E}" type="slidenum">
              <a:rPr lang="en-US"/>
              <a:pPr/>
              <a:t>33</a:t>
            </a:fld>
            <a:endParaRPr lang="en-US"/>
          </a:p>
        </p:txBody>
      </p:sp>
      <p:sp>
        <p:nvSpPr>
          <p:cNvPr id="40345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345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F94FAC0A-7DE5-4C53-A308-528E8A4EE5BD}" type="slidenum">
              <a:rPr lang="en-US"/>
              <a:pPr/>
              <a:t>34</a:t>
            </a:fld>
            <a:endParaRPr lang="en-US"/>
          </a:p>
        </p:txBody>
      </p:sp>
      <p:sp>
        <p:nvSpPr>
          <p:cNvPr id="3747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374787" name="Rectangle 3"/>
          <p:cNvSpPr>
            <a:spLocks noGrp="1" noChangeArrowheads="1"/>
          </p:cNvSpPr>
          <p:nvPr>
            <p:ph type="body" idx="1"/>
          </p:nvPr>
        </p:nvSpPr>
        <p:spPr bwMode="auto">
          <a:xfrm>
            <a:off x="914400" y="4343400"/>
            <a:ext cx="5029200" cy="4114800"/>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38729358-32AF-4B68-B302-68DBC59C5013}" type="slidenum">
              <a:rPr lang="en-US"/>
              <a:pPr/>
              <a:t>35</a:t>
            </a:fld>
            <a:endParaRPr lang="en-US"/>
          </a:p>
        </p:txBody>
      </p:sp>
      <p:sp>
        <p:nvSpPr>
          <p:cNvPr id="4096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096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C59305B-1865-4F79-99D9-C96C4E7EF3D8}" type="slidenum">
              <a:rPr lang="en-US"/>
              <a:pPr/>
              <a:t>36</a:t>
            </a:fld>
            <a:endParaRPr lang="en-US"/>
          </a:p>
        </p:txBody>
      </p:sp>
      <p:sp>
        <p:nvSpPr>
          <p:cNvPr id="4116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16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908C9EE8-1B17-48C3-9D91-CB71FE5DBB9A}" type="slidenum">
              <a:rPr lang="en-US"/>
              <a:pPr/>
              <a:t>37</a:t>
            </a:fld>
            <a:endParaRPr lang="en-US"/>
          </a:p>
        </p:txBody>
      </p:sp>
      <p:sp>
        <p:nvSpPr>
          <p:cNvPr id="4136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136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AU" dirty="0"/>
              <a:t>Rumen </a:t>
            </a:r>
            <a:r>
              <a:rPr lang="en-US" sz="1200" dirty="0">
                <a:latin typeface="Comic Sans MS" pitchFamily="66" charset="0"/>
              </a:rPr>
              <a:t>Cud arrives here</a:t>
            </a:r>
          </a:p>
          <a:p>
            <a:pPr eaLnBrk="1" hangingPunct="1">
              <a:lnSpc>
                <a:spcPct val="90000"/>
              </a:lnSpc>
            </a:pPr>
            <a:r>
              <a:rPr lang="en-US" sz="1200" dirty="0">
                <a:latin typeface="Comic Sans MS" pitchFamily="66" charset="0"/>
              </a:rPr>
              <a:t>Billions of anaerobic bacteria (symbiosis) convert cellulose into glucose</a:t>
            </a:r>
          </a:p>
          <a:p>
            <a:pPr eaLnBrk="1" hangingPunct="1">
              <a:lnSpc>
                <a:spcPct val="90000"/>
              </a:lnSpc>
            </a:pPr>
            <a:r>
              <a:rPr lang="en-US" sz="1200" dirty="0">
                <a:latin typeface="Comic Sans MS" pitchFamily="66" charset="0"/>
              </a:rPr>
              <a:t>Fermentation of the glucose to produce organic acids</a:t>
            </a:r>
          </a:p>
          <a:p>
            <a:endParaRPr lang="en-AU" dirty="0"/>
          </a:p>
        </p:txBody>
      </p:sp>
      <p:sp>
        <p:nvSpPr>
          <p:cNvPr id="4" name="Slide Number Placeholder 3"/>
          <p:cNvSpPr>
            <a:spLocks noGrp="1"/>
          </p:cNvSpPr>
          <p:nvPr>
            <p:ph type="sldNum" sz="quarter" idx="10"/>
          </p:nvPr>
        </p:nvSpPr>
        <p:spPr/>
        <p:txBody>
          <a:bodyPr/>
          <a:lstStyle/>
          <a:p>
            <a:fld id="{9F75C081-5051-4407-B163-A70E6E988381}" type="slidenum">
              <a:rPr lang="en-AU" smtClean="0"/>
              <a:t>39</a:t>
            </a:fld>
            <a:endParaRPr lang="en-AU"/>
          </a:p>
        </p:txBody>
      </p:sp>
    </p:spTree>
    <p:extLst>
      <p:ext uri="{BB962C8B-B14F-4D97-AF65-F5344CB8AC3E}">
        <p14:creationId xmlns:p14="http://schemas.microsoft.com/office/powerpoint/2010/main" val="8564329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Bacteria digest cellulose.</a:t>
            </a:r>
          </a:p>
        </p:txBody>
      </p:sp>
      <p:sp>
        <p:nvSpPr>
          <p:cNvPr id="4" name="Slide Number Placeholder 3"/>
          <p:cNvSpPr>
            <a:spLocks noGrp="1"/>
          </p:cNvSpPr>
          <p:nvPr>
            <p:ph type="sldNum" sz="quarter" idx="10"/>
          </p:nvPr>
        </p:nvSpPr>
        <p:spPr/>
        <p:txBody>
          <a:bodyPr/>
          <a:lstStyle/>
          <a:p>
            <a:fld id="{9F75C081-5051-4407-B163-A70E6E988381}" type="slidenum">
              <a:rPr lang="en-AU" smtClean="0"/>
              <a:t>40</a:t>
            </a:fld>
            <a:endParaRPr lang="en-AU"/>
          </a:p>
        </p:txBody>
      </p:sp>
    </p:spTree>
    <p:extLst>
      <p:ext uri="{BB962C8B-B14F-4D97-AF65-F5344CB8AC3E}">
        <p14:creationId xmlns:p14="http://schemas.microsoft.com/office/powerpoint/2010/main" val="2150104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11"/>
          </p:nvPr>
        </p:nvSpPr>
        <p:spPr/>
        <p:txBody>
          <a:bodyPr/>
          <a:lstStyle>
            <a:lvl1pPr>
              <a:defRPr>
                <a:solidFill>
                  <a:srgbClr val="FFFFFF"/>
                </a:solidFill>
              </a:defRPr>
            </a:lvl1p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103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3935251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8849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6" name="Footer Placeholder 5"/>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1757442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8" name="Footer Placeholder 7"/>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9" name="Slide Number Placeholder 8"/>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2818144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4" name="Footer Placeholder 3"/>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5" name="Slide Number Placeholder 4"/>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1610773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3" name="Footer Placeholder 2"/>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4" name="Slide Number Placeholder 3"/>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283230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6" name="Footer Placeholder 5"/>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1456935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6" name="Footer Placeholder 5"/>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7" name="Slide Number Placeholder 6"/>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2974159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1459850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11"/>
          </p:nvPr>
        </p:nvSpPr>
        <p:spPr/>
        <p:txBody>
          <a:body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12"/>
          </p:nvPr>
        </p:nvSpPr>
        <p:spPr/>
        <p:txBody>
          <a:body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1066172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pPr eaLnBrk="1" latinLnBrk="0" hangingPunct="1"/>
            <a:fld id="{8F6BCBE8-30B0-4476-8762-9236B142003A}" type="datetimeFigureOut">
              <a:rPr lang="en-US" smtClean="0"/>
              <a:pPr eaLnBrk="1" latinLnBrk="0" hangingPunct="1"/>
              <a:t>9/20/2023</a:t>
            </a:fld>
            <a:endParaRPr lang="en-US" sz="1100" dirty="0">
              <a:solidFill>
                <a:schemeClr val="tx2"/>
              </a:solidFill>
            </a:endParaRPr>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pPr algn="r" eaLnBrk="1" latinLnBrk="0" hangingPunct="1"/>
            <a:endParaRPr kumimoji="0" lang="en-US" sz="1100" dirty="0">
              <a:solidFill>
                <a:schemeClr val="tx2"/>
              </a:solidFill>
            </a:endParaRPr>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pPr algn="l" eaLnBrk="1" latinLnBrk="0" hangingPunct="1"/>
            <a:fld id="{09CEB3EB-F4F2-46F4-8867-D3C68411A9A0}" type="slidenum">
              <a:rPr kumimoji="0" lang="en-US" smtClean="0"/>
              <a:pPr algn="l" eaLnBrk="1" latinLnBrk="0" hangingPunct="1"/>
              <a:t>‹#›</a:t>
            </a:fld>
            <a:endParaRPr kumimoji="0" lang="en-US" sz="1200">
              <a:solidFill>
                <a:schemeClr val="tx2"/>
              </a:solidFill>
            </a:endParaRPr>
          </a:p>
        </p:txBody>
      </p:sp>
    </p:spTree>
    <p:extLst>
      <p:ext uri="{BB962C8B-B14F-4D97-AF65-F5344CB8AC3E}">
        <p14:creationId xmlns:p14="http://schemas.microsoft.com/office/powerpoint/2010/main" val="28150382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ideo" Target="BIOZONE%20Digestive%20system%20rotate%201.mp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hyperlink" Target="https://www.youtube.com/watch?v=rJS-Kh5wCQU"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www.youtube.com/watch?v=svw5KA8YlAA"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hyperlink" Target="https://www.youtube.com/watch?v=2PLJ9pLxRnM" TargetMode="Externa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2.xml"/><Relationship Id="rId5" Type="http://schemas.openxmlformats.org/officeDocument/2006/relationships/image" Target="../media/image58.jpg"/><Relationship Id="rId4" Type="http://schemas.openxmlformats.org/officeDocument/2006/relationships/image" Target="../media/image57.jpg"/></Relationships>
</file>

<file path=ppt/slides/_rels/slide47.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2402" y="980728"/>
            <a:ext cx="7475220" cy="2395680"/>
          </a:xfrm>
        </p:spPr>
        <p:txBody>
          <a:bodyPr>
            <a:normAutofit fontScale="90000"/>
          </a:bodyPr>
          <a:lstStyle/>
          <a:p>
            <a:r>
              <a:rPr lang="en-AU" sz="5400" dirty="0"/>
              <a:t>11ATAR Biology</a:t>
            </a:r>
            <a:br>
              <a:rPr lang="en-AU" sz="4200" dirty="0"/>
            </a:br>
            <a:br>
              <a:rPr lang="en-AU" sz="4200" dirty="0"/>
            </a:br>
            <a:r>
              <a:rPr lang="en-AU" sz="4200" dirty="0"/>
              <a:t>Week 30 </a:t>
            </a:r>
            <a:br>
              <a:rPr lang="en-AU" sz="4200" dirty="0"/>
            </a:br>
            <a:r>
              <a:rPr lang="en-AU" sz="3200" dirty="0"/>
              <a:t>Acquiring nutrients in animals</a:t>
            </a:r>
            <a:br>
              <a:rPr lang="en-AU" sz="3200" dirty="0"/>
            </a:br>
            <a:r>
              <a:rPr lang="en-AU" sz="3200" dirty="0"/>
              <a:t>(Digestive System)</a:t>
            </a:r>
          </a:p>
        </p:txBody>
      </p:sp>
      <p:pic>
        <p:nvPicPr>
          <p:cNvPr id="1026" name="Picture 2" descr="https://encrypted-tbn2.gstatic.com/images?q=tbn:ANd9GcSJCjd81Bxmtem6591Sr4FRPNWVfWJwu9JXlgEe0yfTcQwNqJy-b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3933056"/>
            <a:ext cx="4536504" cy="2551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5811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609600"/>
            <a:ext cx="7406640" cy="803176"/>
          </a:xfrm>
        </p:spPr>
        <p:txBody>
          <a:bodyPr/>
          <a:lstStyle/>
          <a:p>
            <a:r>
              <a:rPr lang="en-AU" dirty="0"/>
              <a:t>Year 11 Biology Work Schedule</a:t>
            </a:r>
          </a:p>
        </p:txBody>
      </p:sp>
      <p:sp>
        <p:nvSpPr>
          <p:cNvPr id="3" name="Content Placeholder 2"/>
          <p:cNvSpPr>
            <a:spLocks noGrp="1"/>
          </p:cNvSpPr>
          <p:nvPr>
            <p:ph idx="1"/>
          </p:nvPr>
        </p:nvSpPr>
        <p:spPr>
          <a:xfrm>
            <a:off x="483554" y="1632137"/>
            <a:ext cx="8153400" cy="2781003"/>
          </a:xfrm>
        </p:spPr>
        <p:txBody>
          <a:bodyPr>
            <a:normAutofit/>
          </a:bodyPr>
          <a:lstStyle/>
          <a:p>
            <a:r>
              <a:rPr lang="en-AU" altLang="en-US" dirty="0"/>
              <a:t>It is important to remain on schedule during this Semester.</a:t>
            </a:r>
          </a:p>
          <a:p>
            <a:pPr marL="0" indent="0">
              <a:buNone/>
            </a:pPr>
            <a:r>
              <a:rPr lang="en-AU" altLang="en-US" b="1" dirty="0"/>
              <a:t>Moodle</a:t>
            </a:r>
          </a:p>
          <a:p>
            <a:r>
              <a:rPr lang="en-AU" altLang="en-US" dirty="0"/>
              <a:t>Have you visited Moodle this week?        Yes  /  No</a:t>
            </a:r>
          </a:p>
          <a:p>
            <a:pPr marL="0" indent="0">
              <a:buNone/>
            </a:pPr>
            <a:r>
              <a:rPr lang="en-AU" altLang="en-US" b="1" dirty="0"/>
              <a:t>Tasks</a:t>
            </a:r>
          </a:p>
          <a:p>
            <a:r>
              <a:rPr lang="en-AU" altLang="en-US" dirty="0"/>
              <a:t>Are you on schedule?     	        	Yes  /  No</a:t>
            </a:r>
          </a:p>
          <a:p>
            <a:r>
              <a:rPr lang="en-AU" altLang="en-US" dirty="0"/>
              <a:t>When is your next task due?</a:t>
            </a:r>
          </a:p>
          <a:p>
            <a:endParaRPr lang="en-AU" dirty="0"/>
          </a:p>
        </p:txBody>
      </p:sp>
      <p:pic>
        <p:nvPicPr>
          <p:cNvPr id="4" name="Picture 3"/>
          <p:cNvPicPr>
            <a:picLocks noChangeAspect="1"/>
          </p:cNvPicPr>
          <p:nvPr/>
        </p:nvPicPr>
        <p:blipFill>
          <a:blip r:embed="rId2"/>
          <a:stretch>
            <a:fillRect/>
          </a:stretch>
        </p:blipFill>
        <p:spPr>
          <a:xfrm>
            <a:off x="207673" y="4077072"/>
            <a:ext cx="8705162" cy="2428026"/>
          </a:xfrm>
          <a:prstGeom prst="rect">
            <a:avLst/>
          </a:prstGeom>
        </p:spPr>
      </p:pic>
    </p:spTree>
    <p:extLst>
      <p:ext uri="{BB962C8B-B14F-4D97-AF65-F5344CB8AC3E}">
        <p14:creationId xmlns:p14="http://schemas.microsoft.com/office/powerpoint/2010/main" val="334409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609600"/>
            <a:ext cx="7406640" cy="947192"/>
          </a:xfrm>
        </p:spPr>
        <p:txBody>
          <a:bodyPr/>
          <a:lstStyle/>
          <a:p>
            <a:r>
              <a:rPr lang="en-AU" dirty="0"/>
              <a:t>Learning Intentions</a:t>
            </a:r>
          </a:p>
        </p:txBody>
      </p:sp>
      <p:sp>
        <p:nvSpPr>
          <p:cNvPr id="3" name="Content Placeholder 2"/>
          <p:cNvSpPr>
            <a:spLocks noGrp="1"/>
          </p:cNvSpPr>
          <p:nvPr>
            <p:ph idx="1"/>
          </p:nvPr>
        </p:nvSpPr>
        <p:spPr>
          <a:xfrm>
            <a:off x="971600" y="1556792"/>
            <a:ext cx="7290303" cy="1008112"/>
          </a:xfrm>
        </p:spPr>
        <p:txBody>
          <a:bodyPr>
            <a:normAutofit/>
          </a:bodyPr>
          <a:lstStyle/>
          <a:p>
            <a:r>
              <a:rPr lang="en-AU" dirty="0"/>
              <a:t>Understand the structure and function of animal digestive systems. </a:t>
            </a:r>
          </a:p>
          <a:p>
            <a:pPr marL="34290" lvl="0" indent="0">
              <a:buNone/>
            </a:pPr>
            <a:endParaRPr lang="en-AU" dirty="0"/>
          </a:p>
          <a:p>
            <a:endParaRPr lang="en-AU" dirty="0"/>
          </a:p>
        </p:txBody>
      </p:sp>
      <p:sp>
        <p:nvSpPr>
          <p:cNvPr id="4" name="Content Placeholder 2"/>
          <p:cNvSpPr txBox="1">
            <a:spLocks/>
          </p:cNvSpPr>
          <p:nvPr/>
        </p:nvSpPr>
        <p:spPr>
          <a:xfrm>
            <a:off x="758185" y="3337867"/>
            <a:ext cx="7776864" cy="2871680"/>
          </a:xfrm>
          <a:prstGeom prst="rect">
            <a:avLst/>
          </a:prstGeom>
        </p:spPr>
        <p:txBody>
          <a:bodyPr vert="horz" lIns="91440" tIns="45720" rIns="91440" bIns="45720" rtlCol="0">
            <a:normAutofit fontScale="92500" lnSpcReduction="10000"/>
          </a:bodyPr>
          <a:lst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a:lstStyle>
          <a:p>
            <a:pPr marL="34290" indent="0">
              <a:buNone/>
            </a:pPr>
            <a:r>
              <a:rPr lang="en-AU" sz="2400" dirty="0"/>
              <a:t>Students will be able to:</a:t>
            </a:r>
          </a:p>
          <a:p>
            <a:r>
              <a:rPr lang="en-AU" sz="2400" dirty="0"/>
              <a:t>Describe the structure and function of organs within the digestive system.</a:t>
            </a:r>
          </a:p>
          <a:p>
            <a:r>
              <a:rPr lang="en-AU" sz="2400" dirty="0"/>
              <a:t>Differentiate between a gastrovascular cavity and specialised alimentary canal. </a:t>
            </a:r>
          </a:p>
          <a:p>
            <a:r>
              <a:rPr lang="en-AU" sz="2400" dirty="0"/>
              <a:t>Explain mechanical and chemical digestion.</a:t>
            </a:r>
          </a:p>
          <a:p>
            <a:r>
              <a:rPr lang="en-AU" sz="2400" dirty="0"/>
              <a:t>Identify specialisations within the digestive system related to diet (herbivores vs carnivores).</a:t>
            </a:r>
          </a:p>
          <a:p>
            <a:endParaRPr lang="en-AU" dirty="0"/>
          </a:p>
          <a:p>
            <a:endParaRPr lang="en-AU" dirty="0"/>
          </a:p>
        </p:txBody>
      </p:sp>
      <p:sp>
        <p:nvSpPr>
          <p:cNvPr id="5" name="Title 1"/>
          <p:cNvSpPr txBox="1">
            <a:spLocks/>
          </p:cNvSpPr>
          <p:nvPr/>
        </p:nvSpPr>
        <p:spPr>
          <a:xfrm>
            <a:off x="771957" y="2420888"/>
            <a:ext cx="7406640" cy="94719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a:lstStyle>
          <a:p>
            <a:r>
              <a:rPr lang="en-AU" dirty="0"/>
              <a:t>Success Criteria</a:t>
            </a:r>
          </a:p>
        </p:txBody>
      </p:sp>
    </p:spTree>
    <p:extLst>
      <p:ext uri="{BB962C8B-B14F-4D97-AF65-F5344CB8AC3E}">
        <p14:creationId xmlns:p14="http://schemas.microsoft.com/office/powerpoint/2010/main" val="407893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868651" y="2420888"/>
            <a:ext cx="4553000" cy="3910828"/>
          </a:xfrm>
          <a:prstGeom prst="rect">
            <a:avLst/>
          </a:prstGeom>
        </p:spPr>
      </p:pic>
      <p:sp>
        <p:nvSpPr>
          <p:cNvPr id="2" name="Title 1"/>
          <p:cNvSpPr>
            <a:spLocks noGrp="1"/>
          </p:cNvSpPr>
          <p:nvPr>
            <p:ph type="title"/>
          </p:nvPr>
        </p:nvSpPr>
        <p:spPr>
          <a:xfrm>
            <a:off x="868680" y="344448"/>
            <a:ext cx="7406640" cy="1356360"/>
          </a:xfrm>
        </p:spPr>
        <p:txBody>
          <a:bodyPr/>
          <a:lstStyle/>
          <a:p>
            <a:r>
              <a:rPr lang="en-AU" dirty="0"/>
              <a:t>Multicellularity</a:t>
            </a:r>
          </a:p>
        </p:txBody>
      </p:sp>
      <p:sp>
        <p:nvSpPr>
          <p:cNvPr id="3" name="Content Placeholder 2"/>
          <p:cNvSpPr>
            <a:spLocks noGrp="1"/>
          </p:cNvSpPr>
          <p:nvPr>
            <p:ph sz="quarter" idx="1"/>
          </p:nvPr>
        </p:nvSpPr>
        <p:spPr>
          <a:xfrm>
            <a:off x="251520" y="1700808"/>
            <a:ext cx="8153400" cy="4495800"/>
          </a:xfrm>
        </p:spPr>
        <p:txBody>
          <a:bodyPr>
            <a:normAutofit/>
          </a:bodyPr>
          <a:lstStyle/>
          <a:p>
            <a:r>
              <a:rPr lang="en-US" dirty="0"/>
              <a:t>The evolution from unicellular organisms to multicellular organisms required three organizing principles:</a:t>
            </a:r>
          </a:p>
          <a:p>
            <a:endParaRPr lang="en-US" dirty="0"/>
          </a:p>
          <a:p>
            <a:pPr lvl="1"/>
            <a:r>
              <a:rPr lang="en-US" dirty="0"/>
              <a:t>Cell division so that many cells are created.</a:t>
            </a:r>
          </a:p>
          <a:p>
            <a:pPr lvl="1"/>
            <a:r>
              <a:rPr lang="en-US" dirty="0"/>
              <a:t>Specialisation (one function) of cells.</a:t>
            </a:r>
          </a:p>
          <a:p>
            <a:pPr lvl="1"/>
            <a:r>
              <a:rPr lang="en-US" dirty="0"/>
              <a:t>Communication with other cells.</a:t>
            </a:r>
          </a:p>
          <a:p>
            <a:endParaRPr lang="en-AU" dirty="0"/>
          </a:p>
        </p:txBody>
      </p:sp>
    </p:spTree>
    <p:extLst>
      <p:ext uri="{BB962C8B-B14F-4D97-AF65-F5344CB8AC3E}">
        <p14:creationId xmlns:p14="http://schemas.microsoft.com/office/powerpoint/2010/main" val="876651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373314"/>
            <a:ext cx="7406640" cy="1356360"/>
          </a:xfrm>
        </p:spPr>
        <p:txBody>
          <a:bodyPr/>
          <a:lstStyle/>
          <a:p>
            <a:r>
              <a:rPr lang="en-AU" dirty="0"/>
              <a:t>Multicellular – Cell Specialisation</a:t>
            </a:r>
          </a:p>
        </p:txBody>
      </p:sp>
      <p:sp>
        <p:nvSpPr>
          <p:cNvPr id="3" name="Content Placeholder 2"/>
          <p:cNvSpPr>
            <a:spLocks noGrp="1"/>
          </p:cNvSpPr>
          <p:nvPr>
            <p:ph sz="quarter" idx="1"/>
          </p:nvPr>
        </p:nvSpPr>
        <p:spPr>
          <a:xfrm>
            <a:off x="251520" y="1600200"/>
            <a:ext cx="4248472" cy="4853136"/>
          </a:xfrm>
        </p:spPr>
        <p:txBody>
          <a:bodyPr>
            <a:normAutofit/>
          </a:bodyPr>
          <a:lstStyle/>
          <a:p>
            <a:r>
              <a:rPr lang="en-AU" dirty="0"/>
              <a:t>All specialised cells originate from </a:t>
            </a:r>
            <a:r>
              <a:rPr lang="en-AU" b="1" dirty="0"/>
              <a:t>stem cells</a:t>
            </a:r>
            <a:r>
              <a:rPr lang="en-AU" dirty="0"/>
              <a:t>. </a:t>
            </a:r>
          </a:p>
          <a:p>
            <a:r>
              <a:rPr lang="en-AU" dirty="0"/>
              <a:t>Stem cells differ from other cells in the body in three important ways: </a:t>
            </a:r>
          </a:p>
          <a:p>
            <a:pPr lvl="1"/>
            <a:r>
              <a:rPr lang="en-AU" dirty="0"/>
              <a:t>They are unspecialised (have not yet specialised into a particular type of cell). </a:t>
            </a:r>
          </a:p>
          <a:p>
            <a:pPr lvl="1"/>
            <a:r>
              <a:rPr lang="en-AU" dirty="0"/>
              <a:t>They have the potential to divide and replicate for long periods of time. </a:t>
            </a:r>
          </a:p>
          <a:p>
            <a:pPr lvl="1"/>
            <a:r>
              <a:rPr lang="en-AU" dirty="0"/>
              <a:t>These relatively unspecialised cells can differentiate to form different specialised cells.</a:t>
            </a:r>
            <a:endParaRPr lang="en-US" dirty="0"/>
          </a:p>
          <a:p>
            <a:endParaRPr lang="en-AU" dirty="0"/>
          </a:p>
        </p:txBody>
      </p:sp>
      <p:pic>
        <p:nvPicPr>
          <p:cNvPr id="6" name="Picture 5"/>
          <p:cNvPicPr>
            <a:picLocks noChangeAspect="1"/>
          </p:cNvPicPr>
          <p:nvPr/>
        </p:nvPicPr>
        <p:blipFill>
          <a:blip r:embed="rId2"/>
          <a:stretch>
            <a:fillRect/>
          </a:stretch>
        </p:blipFill>
        <p:spPr>
          <a:xfrm>
            <a:off x="4355976" y="2132856"/>
            <a:ext cx="4359262" cy="3744416"/>
          </a:xfrm>
          <a:prstGeom prst="rect">
            <a:avLst/>
          </a:prstGeom>
        </p:spPr>
      </p:pic>
    </p:spTree>
    <p:extLst>
      <p:ext uri="{BB962C8B-B14F-4D97-AF65-F5344CB8AC3E}">
        <p14:creationId xmlns:p14="http://schemas.microsoft.com/office/powerpoint/2010/main" val="473106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68680" y="272440"/>
            <a:ext cx="7406640" cy="1356360"/>
          </a:xfrm>
        </p:spPr>
        <p:txBody>
          <a:bodyPr/>
          <a:lstStyle/>
          <a:p>
            <a:r>
              <a:rPr lang="en-AU" dirty="0"/>
              <a:t>Multicellular – Cell Specialisation</a:t>
            </a:r>
          </a:p>
        </p:txBody>
      </p:sp>
      <p:sp>
        <p:nvSpPr>
          <p:cNvPr id="3" name="Content Placeholder 2"/>
          <p:cNvSpPr>
            <a:spLocks noGrp="1"/>
          </p:cNvSpPr>
          <p:nvPr>
            <p:ph sz="quarter" idx="1"/>
          </p:nvPr>
        </p:nvSpPr>
        <p:spPr>
          <a:xfrm>
            <a:off x="3419872" y="1600200"/>
            <a:ext cx="5544616" cy="5069160"/>
          </a:xfrm>
        </p:spPr>
        <p:txBody>
          <a:bodyPr>
            <a:normAutofit/>
          </a:bodyPr>
          <a:lstStyle/>
          <a:p>
            <a:r>
              <a:rPr lang="en-US" dirty="0"/>
              <a:t>During early development of the embryo, cell layers migrate to different regions, genes are switched on or off in response to neighbouring cells and environmental cues. </a:t>
            </a:r>
          </a:p>
          <a:p>
            <a:r>
              <a:rPr lang="en-US" dirty="0"/>
              <a:t>Cell appearance and function is determined by active genes (which genes are switched on).</a:t>
            </a:r>
          </a:p>
          <a:p>
            <a:r>
              <a:rPr lang="en-US" dirty="0"/>
              <a:t>Specialised cells are created.</a:t>
            </a:r>
          </a:p>
          <a:p>
            <a:r>
              <a:rPr lang="en-US" dirty="0"/>
              <a:t>In humans this results in 230 different types of cells.</a:t>
            </a:r>
          </a:p>
          <a:p>
            <a:r>
              <a:rPr lang="en-AU" dirty="0"/>
              <a:t>The cells together form tissues and tissues together form organs, which make up all the different part of the multicellular organism.</a:t>
            </a:r>
          </a:p>
        </p:txBody>
      </p:sp>
      <p:pic>
        <p:nvPicPr>
          <p:cNvPr id="4098" name="Picture 2" descr="http://searchforbetterhealth.wikispaces.com/file/view/Cell_Differentiation.jpg/116875179/584x566/Cell_Differentia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881" y="2274692"/>
            <a:ext cx="3048186" cy="2954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469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3" name="Rectangle 5"/>
          <p:cNvSpPr>
            <a:spLocks noGrp="1" noChangeArrowheads="1"/>
          </p:cNvSpPr>
          <p:nvPr>
            <p:ph type="title"/>
          </p:nvPr>
        </p:nvSpPr>
        <p:spPr>
          <a:xfrm>
            <a:off x="868680" y="188640"/>
            <a:ext cx="7406640" cy="1356360"/>
          </a:xfrm>
        </p:spPr>
        <p:txBody>
          <a:bodyPr/>
          <a:lstStyle/>
          <a:p>
            <a:r>
              <a:rPr lang="en-US" dirty="0"/>
              <a:t>Levels of Organisation</a:t>
            </a:r>
          </a:p>
        </p:txBody>
      </p:sp>
      <p:sp>
        <p:nvSpPr>
          <p:cNvPr id="8" name="Content Placeholder 7"/>
          <p:cNvSpPr>
            <a:spLocks noGrp="1"/>
          </p:cNvSpPr>
          <p:nvPr>
            <p:ph sz="quarter" idx="1"/>
          </p:nvPr>
        </p:nvSpPr>
        <p:spPr>
          <a:xfrm>
            <a:off x="5868144" y="1600200"/>
            <a:ext cx="2897904" cy="4495800"/>
          </a:xfrm>
        </p:spPr>
        <p:txBody>
          <a:bodyPr/>
          <a:lstStyle/>
          <a:p>
            <a:r>
              <a:rPr lang="en-US" dirty="0"/>
              <a:t>Organization is a defining feature of living things.</a:t>
            </a:r>
          </a:p>
          <a:p>
            <a:r>
              <a:rPr lang="en-US" dirty="0"/>
              <a:t>Organisms are organized according to a hierarchy of structural levels.</a:t>
            </a:r>
          </a:p>
          <a:p>
            <a:endParaRPr lang="en-AU" dirty="0"/>
          </a:p>
        </p:txBody>
      </p:sp>
      <p:pic>
        <p:nvPicPr>
          <p:cNvPr id="5122" name="Picture 2" descr="http://anatomyandphysiologyi.com/wp-content/uploads/2013/05/levels-of-structural-organiza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413024"/>
            <a:ext cx="5409630"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40004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280117"/>
            <a:ext cx="7406640" cy="1356360"/>
          </a:xfrm>
        </p:spPr>
        <p:txBody>
          <a:bodyPr/>
          <a:lstStyle/>
          <a:p>
            <a:r>
              <a:rPr lang="en-US" dirty="0"/>
              <a:t>Levels of Organisation</a:t>
            </a:r>
            <a:endParaRPr lang="en-AU" dirty="0"/>
          </a:p>
        </p:txBody>
      </p:sp>
      <p:sp>
        <p:nvSpPr>
          <p:cNvPr id="3" name="Content Placeholder 2"/>
          <p:cNvSpPr>
            <a:spLocks noGrp="1"/>
          </p:cNvSpPr>
          <p:nvPr>
            <p:ph sz="quarter" idx="1"/>
          </p:nvPr>
        </p:nvSpPr>
        <p:spPr>
          <a:xfrm>
            <a:off x="612648" y="4293096"/>
            <a:ext cx="5975576" cy="2088232"/>
          </a:xfrm>
        </p:spPr>
        <p:txBody>
          <a:bodyPr>
            <a:normAutofit/>
          </a:bodyPr>
          <a:lstStyle/>
          <a:p>
            <a:pPr marL="502920" indent="-457200">
              <a:buFont typeface="Wingdings" pitchFamily="2" charset="2"/>
              <a:buChar char="q"/>
            </a:pPr>
            <a:r>
              <a:rPr lang="en-US" dirty="0"/>
              <a:t>Levels of Organisation -</a:t>
            </a:r>
          </a:p>
          <a:p>
            <a:pPr lvl="1"/>
            <a:r>
              <a:rPr lang="en-US" dirty="0"/>
              <a:t>Chemical and molecular level:</a:t>
            </a:r>
            <a:br>
              <a:rPr lang="en-US" dirty="0"/>
            </a:br>
            <a:r>
              <a:rPr lang="en-US" dirty="0"/>
              <a:t>Atoms, molecules and macromolecules form the most basic level of organization. This level includes all the chemicals essential for maintaining life.</a:t>
            </a:r>
          </a:p>
          <a:p>
            <a:endParaRPr lang="en-US" dirty="0"/>
          </a:p>
          <a:p>
            <a:endParaRPr lang="en-AU" dirty="0"/>
          </a:p>
        </p:txBody>
      </p:sp>
      <p:grpSp>
        <p:nvGrpSpPr>
          <p:cNvPr id="6" name="Group 9"/>
          <p:cNvGrpSpPr>
            <a:grpSpLocks/>
          </p:cNvGrpSpPr>
          <p:nvPr/>
        </p:nvGrpSpPr>
        <p:grpSpPr bwMode="auto">
          <a:xfrm>
            <a:off x="6804249" y="679978"/>
            <a:ext cx="1944216" cy="5197294"/>
            <a:chOff x="0" y="0"/>
            <a:chExt cx="2064" cy="4807"/>
          </a:xfrm>
        </p:grpSpPr>
        <p:pic>
          <p:nvPicPr>
            <p:cNvPr id="7"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064" cy="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p:cNvSpPr>
              <a:spLocks/>
            </p:cNvSpPr>
            <p:nvPr/>
          </p:nvSpPr>
          <p:spPr bwMode="auto">
            <a:xfrm>
              <a:off x="128" y="4607"/>
              <a:ext cx="170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spcBef>
                  <a:spcPct val="0"/>
                </a:spcBef>
                <a:tabLst>
                  <a:tab pos="366104" algn="l"/>
                </a:tabLst>
              </a:pPr>
              <a:r>
                <a:rPr lang="en-US" dirty="0">
                  <a:solidFill>
                    <a:srgbClr val="0000FF"/>
                  </a:solidFill>
                  <a:latin typeface="Arial" charset="0"/>
                  <a:ea typeface="ＭＳ Ｐゴシック" pitchFamily="1" charset="-128"/>
                  <a:sym typeface="Arial" charset="0"/>
                </a:rPr>
                <a:t>Phospholipid</a:t>
              </a:r>
            </a:p>
          </p:txBody>
        </p:sp>
      </p:grpSp>
      <p:pic>
        <p:nvPicPr>
          <p:cNvPr id="6146" name="Picture 2" descr="http://awkwardrevision.weebly.com/uploads/1/2/3/6/12361647/770155202_ori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736" y="1700808"/>
            <a:ext cx="3024336" cy="2296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54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a:xfrm>
            <a:off x="611560" y="308930"/>
            <a:ext cx="7406640" cy="1356360"/>
          </a:xfrm>
        </p:spPr>
        <p:txBody>
          <a:bodyPr/>
          <a:lstStyle/>
          <a:p>
            <a:r>
              <a:rPr lang="en-AU" dirty="0"/>
              <a:t>Levels of Organisation</a:t>
            </a:r>
          </a:p>
        </p:txBody>
      </p:sp>
      <p:sp>
        <p:nvSpPr>
          <p:cNvPr id="108545" name="Rectangle 1"/>
          <p:cNvSpPr>
            <a:spLocks noGrp="1" noChangeArrowheads="1"/>
          </p:cNvSpPr>
          <p:nvPr>
            <p:ph type="body" idx="1"/>
          </p:nvPr>
        </p:nvSpPr>
        <p:spPr>
          <a:xfrm>
            <a:off x="323528" y="1600200"/>
            <a:ext cx="4752528" cy="4985444"/>
          </a:xfrm>
        </p:spPr>
        <p:txBody>
          <a:bodyPr>
            <a:normAutofit/>
          </a:bodyPr>
          <a:lstStyle/>
          <a:p>
            <a:pPr lvl="1"/>
            <a:r>
              <a:rPr lang="en-US" sz="2400" dirty="0"/>
              <a:t>Organelle level:</a:t>
            </a:r>
            <a:br>
              <a:rPr lang="en-US" sz="2400" dirty="0"/>
            </a:br>
            <a:r>
              <a:rPr lang="en-US" sz="2400" dirty="0"/>
              <a:t>Molecules associate together to form complex, highly specialized structures and organelles within cells. e.g. mitochondria, Golgi apparatus. </a:t>
            </a:r>
          </a:p>
          <a:p>
            <a:pPr lvl="1"/>
            <a:r>
              <a:rPr lang="en-US" sz="2400" dirty="0">
                <a:sym typeface="Arial" charset="0"/>
              </a:rPr>
              <a:t>Cellular level:</a:t>
            </a:r>
            <a:br>
              <a:rPr lang="en-US" sz="2400" dirty="0">
                <a:sym typeface="Arial" charset="0"/>
              </a:rPr>
            </a:br>
            <a:r>
              <a:rPr lang="en-US" sz="2400" dirty="0">
                <a:sym typeface="Arial" charset="0"/>
              </a:rPr>
              <a:t>Cells are the basic structural and functional units of organisms. Cells become specialized to perform specific functions as a result of differentiation during development.</a:t>
            </a:r>
          </a:p>
          <a:p>
            <a:pPr lvl="1"/>
            <a:endParaRPr lang="en-US" dirty="0"/>
          </a:p>
        </p:txBody>
      </p:sp>
      <p:grpSp>
        <p:nvGrpSpPr>
          <p:cNvPr id="244739" name="Group 2"/>
          <p:cNvGrpSpPr>
            <a:grpSpLocks/>
          </p:cNvGrpSpPr>
          <p:nvPr/>
        </p:nvGrpSpPr>
        <p:grpSpPr bwMode="auto">
          <a:xfrm>
            <a:off x="6768703" y="821531"/>
            <a:ext cx="2150939" cy="2062758"/>
            <a:chOff x="0" y="0"/>
            <a:chExt cx="1927" cy="1848"/>
          </a:xfrm>
        </p:grpSpPr>
        <p:sp>
          <p:nvSpPr>
            <p:cNvPr id="244751" name="Rectangle 3"/>
            <p:cNvSpPr>
              <a:spLocks/>
            </p:cNvSpPr>
            <p:nvPr/>
          </p:nvSpPr>
          <p:spPr bwMode="auto">
            <a:xfrm>
              <a:off x="648" y="1672"/>
              <a:ext cx="1224"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Golgi apparatus</a:t>
              </a:r>
            </a:p>
          </p:txBody>
        </p:sp>
        <p:pic>
          <p:nvPicPr>
            <p:cNvPr id="2447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27" cy="1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740" name="Group 5"/>
          <p:cNvGrpSpPr>
            <a:grpSpLocks/>
          </p:cNvGrpSpPr>
          <p:nvPr/>
        </p:nvGrpSpPr>
        <p:grpSpPr bwMode="auto">
          <a:xfrm>
            <a:off x="4951512" y="1794867"/>
            <a:ext cx="2504777" cy="2000250"/>
            <a:chOff x="0" y="0"/>
            <a:chExt cx="2243" cy="1792"/>
          </a:xfrm>
        </p:grpSpPr>
        <p:pic>
          <p:nvPicPr>
            <p:cNvPr id="24474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22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50" name="Rectangle 7"/>
            <p:cNvSpPr>
              <a:spLocks/>
            </p:cNvSpPr>
            <p:nvPr/>
          </p:nvSpPr>
          <p:spPr bwMode="auto">
            <a:xfrm>
              <a:off x="11" y="1624"/>
              <a:ext cx="2232"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Mitochondria</a:t>
              </a:r>
            </a:p>
          </p:txBody>
        </p:sp>
      </p:grpSp>
      <p:grpSp>
        <p:nvGrpSpPr>
          <p:cNvPr id="244742" name="Group 9"/>
          <p:cNvGrpSpPr>
            <a:grpSpLocks/>
          </p:cNvGrpSpPr>
          <p:nvPr/>
        </p:nvGrpSpPr>
        <p:grpSpPr bwMode="auto">
          <a:xfrm>
            <a:off x="6741914" y="3855198"/>
            <a:ext cx="2232422" cy="2053828"/>
            <a:chOff x="0" y="0"/>
            <a:chExt cx="2000" cy="1840"/>
          </a:xfrm>
        </p:grpSpPr>
        <p:sp>
          <p:nvSpPr>
            <p:cNvPr id="244747" name="Rectangle 10"/>
            <p:cNvSpPr>
              <a:spLocks/>
            </p:cNvSpPr>
            <p:nvPr/>
          </p:nvSpPr>
          <p:spPr bwMode="auto">
            <a:xfrm>
              <a:off x="0" y="1680"/>
              <a:ext cx="200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Liver cells</a:t>
              </a:r>
            </a:p>
          </p:txBody>
        </p:sp>
        <p:pic>
          <p:nvPicPr>
            <p:cNvPr id="244748" name="Picture 11"/>
            <p:cNvPicPr>
              <a:picLocks noChangeAspect="1" noChangeArrowheads="1"/>
            </p:cNvPicPr>
            <p:nvPr/>
          </p:nvPicPr>
          <p:blipFill>
            <a:blip r:embed="rId5">
              <a:extLst>
                <a:ext uri="{28A0092B-C50C-407E-A947-70E740481C1C}">
                  <a14:useLocalDpi xmlns:a14="http://schemas.microsoft.com/office/drawing/2010/main" val="0"/>
                </a:ext>
              </a:extLst>
            </a:blip>
            <a:srcRect r="9099" b="13716"/>
            <a:stretch>
              <a:fillRect/>
            </a:stretch>
          </p:blipFill>
          <p:spPr bwMode="auto">
            <a:xfrm>
              <a:off x="47" y="0"/>
              <a:ext cx="1904" cy="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4743" name="Group 12"/>
          <p:cNvGrpSpPr>
            <a:grpSpLocks/>
          </p:cNvGrpSpPr>
          <p:nvPr/>
        </p:nvGrpSpPr>
        <p:grpSpPr bwMode="auto">
          <a:xfrm>
            <a:off x="4954861" y="4652367"/>
            <a:ext cx="2126381" cy="2044898"/>
            <a:chOff x="0" y="0"/>
            <a:chExt cx="1904" cy="1832"/>
          </a:xfrm>
        </p:grpSpPr>
        <p:pic>
          <p:nvPicPr>
            <p:cNvPr id="244745"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896"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6" name="Rectangle 14"/>
            <p:cNvSpPr>
              <a:spLocks/>
            </p:cNvSpPr>
            <p:nvPr/>
          </p:nvSpPr>
          <p:spPr bwMode="auto">
            <a:xfrm>
              <a:off x="0" y="1632"/>
              <a:ext cx="1904"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Kidney tubule cells</a:t>
              </a:r>
            </a:p>
          </p:txBody>
        </p:sp>
      </p:grpSp>
    </p:spTree>
    <p:extLst>
      <p:ext uri="{BB962C8B-B14F-4D97-AF65-F5344CB8AC3E}">
        <p14:creationId xmlns:p14="http://schemas.microsoft.com/office/powerpoint/2010/main" val="231561885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46786" name="Group 1"/>
          <p:cNvGrpSpPr>
            <a:grpSpLocks/>
          </p:cNvGrpSpPr>
          <p:nvPr/>
        </p:nvGrpSpPr>
        <p:grpSpPr bwMode="auto">
          <a:xfrm>
            <a:off x="6536531" y="761256"/>
            <a:ext cx="2428875" cy="2123033"/>
            <a:chOff x="0" y="0"/>
            <a:chExt cx="2176" cy="1901"/>
          </a:xfrm>
        </p:grpSpPr>
        <p:pic>
          <p:nvPicPr>
            <p:cNvPr id="2468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76" cy="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801" name="Rectangle 3"/>
            <p:cNvSpPr>
              <a:spLocks/>
            </p:cNvSpPr>
            <p:nvPr/>
          </p:nvSpPr>
          <p:spPr bwMode="auto">
            <a:xfrm>
              <a:off x="1024" y="1541"/>
              <a:ext cx="106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Liver tissue and bile duct</a:t>
              </a:r>
            </a:p>
          </p:txBody>
        </p:sp>
      </p:grpSp>
      <p:grpSp>
        <p:nvGrpSpPr>
          <p:cNvPr id="246787" name="Group 4"/>
          <p:cNvGrpSpPr>
            <a:grpSpLocks/>
          </p:cNvGrpSpPr>
          <p:nvPr/>
        </p:nvGrpSpPr>
        <p:grpSpPr bwMode="auto">
          <a:xfrm>
            <a:off x="6313289" y="4018359"/>
            <a:ext cx="2214563" cy="1973461"/>
            <a:chOff x="0" y="0"/>
            <a:chExt cx="1984" cy="1768"/>
          </a:xfrm>
        </p:grpSpPr>
        <p:pic>
          <p:nvPicPr>
            <p:cNvPr id="24679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84" cy="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99" name="Rectangle 6"/>
            <p:cNvSpPr>
              <a:spLocks/>
            </p:cNvSpPr>
            <p:nvPr/>
          </p:nvSpPr>
          <p:spPr bwMode="auto">
            <a:xfrm>
              <a:off x="384" y="1560"/>
              <a:ext cx="1600"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a:solidFill>
                    <a:srgbClr val="0000FF"/>
                  </a:solidFill>
                  <a:latin typeface="Arial" charset="0"/>
                  <a:ea typeface="ＭＳ Ｐゴシック" pitchFamily="1" charset="-128"/>
                  <a:sym typeface="Arial" charset="0"/>
                </a:rPr>
                <a:t>Liver</a:t>
              </a:r>
            </a:p>
          </p:txBody>
        </p:sp>
      </p:grpSp>
      <p:sp>
        <p:nvSpPr>
          <p:cNvPr id="5" name="Title 4"/>
          <p:cNvSpPr>
            <a:spLocks noGrp="1"/>
          </p:cNvSpPr>
          <p:nvPr>
            <p:ph type="title"/>
          </p:nvPr>
        </p:nvSpPr>
        <p:spPr>
          <a:xfrm>
            <a:off x="591859" y="288153"/>
            <a:ext cx="7406640" cy="1356360"/>
          </a:xfrm>
        </p:spPr>
        <p:txBody>
          <a:bodyPr/>
          <a:lstStyle/>
          <a:p>
            <a:r>
              <a:rPr lang="en-AU" dirty="0"/>
              <a:t>Levels of Organisation</a:t>
            </a:r>
          </a:p>
        </p:txBody>
      </p:sp>
      <p:sp>
        <p:nvSpPr>
          <p:cNvPr id="109575" name="Rectangle 7"/>
          <p:cNvSpPr>
            <a:spLocks noGrp="1" noChangeArrowheads="1"/>
          </p:cNvSpPr>
          <p:nvPr>
            <p:ph type="body" idx="1"/>
          </p:nvPr>
        </p:nvSpPr>
        <p:spPr>
          <a:xfrm>
            <a:off x="107504" y="1600199"/>
            <a:ext cx="4752528" cy="5015583"/>
          </a:xfrm>
        </p:spPr>
        <p:txBody>
          <a:bodyPr>
            <a:normAutofit/>
          </a:bodyPr>
          <a:lstStyle/>
          <a:p>
            <a:pPr lvl="1"/>
            <a:r>
              <a:rPr lang="en-US" sz="2400" dirty="0"/>
              <a:t>Tissue level:</a:t>
            </a:r>
            <a:br>
              <a:rPr lang="en-US" sz="2400" dirty="0"/>
            </a:br>
            <a:r>
              <a:rPr lang="en-US" sz="2400" dirty="0"/>
              <a:t>Tissues are composed of groups of cells of similar structure that perform particular related functions. Examples include: epithelial tissue, liver tissue, bone, and kidney tissue. </a:t>
            </a:r>
          </a:p>
          <a:p>
            <a:pPr lvl="1"/>
            <a:r>
              <a:rPr lang="en-US" sz="2400" dirty="0">
                <a:sym typeface="Arial" charset="0"/>
              </a:rPr>
              <a:t>Organ level:</a:t>
            </a:r>
            <a:br>
              <a:rPr lang="en-US" sz="2400" dirty="0">
                <a:sym typeface="Arial" charset="0"/>
              </a:rPr>
            </a:br>
            <a:r>
              <a:rPr lang="en-US" sz="2400" dirty="0">
                <a:sym typeface="Arial" charset="0"/>
              </a:rPr>
              <a:t>Organs are structures of definite form and structure, comprising two or more tissues. Examples include: kidneys, liver, heart, brain, lungs, stomach.</a:t>
            </a:r>
          </a:p>
          <a:p>
            <a:pPr lvl="1"/>
            <a:endParaRPr lang="en-US" dirty="0"/>
          </a:p>
        </p:txBody>
      </p:sp>
      <p:grpSp>
        <p:nvGrpSpPr>
          <p:cNvPr id="246789" name="Group 8"/>
          <p:cNvGrpSpPr>
            <a:grpSpLocks/>
          </p:cNvGrpSpPr>
          <p:nvPr/>
        </p:nvGrpSpPr>
        <p:grpSpPr bwMode="auto">
          <a:xfrm>
            <a:off x="5072063" y="1678781"/>
            <a:ext cx="2454548" cy="1982391"/>
            <a:chOff x="0" y="0"/>
            <a:chExt cx="2199" cy="1776"/>
          </a:xfrm>
        </p:grpSpPr>
        <p:pic>
          <p:nvPicPr>
            <p:cNvPr id="246796"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 y="0"/>
              <a:ext cx="2184" cy="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97" name="Rectangle 10"/>
            <p:cNvSpPr>
              <a:spLocks/>
            </p:cNvSpPr>
            <p:nvPr/>
          </p:nvSpPr>
          <p:spPr bwMode="auto">
            <a:xfrm>
              <a:off x="0" y="1432"/>
              <a:ext cx="215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sz="1600" dirty="0">
                  <a:solidFill>
                    <a:srgbClr val="0000FF"/>
                  </a:solidFill>
                  <a:latin typeface="Arial" charset="0"/>
                  <a:ea typeface="ＭＳ Ｐゴシック" pitchFamily="1" charset="-128"/>
                  <a:sym typeface="Arial" charset="0"/>
                </a:rPr>
                <a:t>Kidney tissue: glomeruli, tubule cells, Bowman</a:t>
              </a:r>
              <a:r>
                <a:rPr lang="ja-JP" altLang="en-US" sz="1600" dirty="0">
                  <a:solidFill>
                    <a:srgbClr val="0000FF"/>
                  </a:solidFill>
                  <a:latin typeface="Arial" charset="0"/>
                  <a:ea typeface="ＭＳ Ｐゴシック" pitchFamily="1" charset="-128"/>
                  <a:sym typeface="Arial" charset="0"/>
                </a:rPr>
                <a:t>’</a:t>
              </a:r>
              <a:r>
                <a:rPr lang="en-US" altLang="ja-JP" sz="1600" dirty="0">
                  <a:solidFill>
                    <a:srgbClr val="0000FF"/>
                  </a:solidFill>
                  <a:latin typeface="Arial" charset="0"/>
                  <a:cs typeface="Arial" charset="0"/>
                  <a:sym typeface="Arial" charset="0"/>
                </a:rPr>
                <a:t>s capsule</a:t>
              </a:r>
              <a:endParaRPr lang="en-US" sz="1600" dirty="0">
                <a:solidFill>
                  <a:srgbClr val="0000FF"/>
                </a:solidFill>
                <a:latin typeface="Arial" charset="0"/>
                <a:cs typeface="Arial" charset="0"/>
                <a:sym typeface="Arial" charset="0"/>
              </a:endParaRPr>
            </a:p>
          </p:txBody>
        </p:sp>
      </p:grpSp>
      <p:grpSp>
        <p:nvGrpSpPr>
          <p:cNvPr id="246791" name="Group 12"/>
          <p:cNvGrpSpPr>
            <a:grpSpLocks/>
          </p:cNvGrpSpPr>
          <p:nvPr/>
        </p:nvGrpSpPr>
        <p:grpSpPr bwMode="auto">
          <a:xfrm>
            <a:off x="4295179" y="4863332"/>
            <a:ext cx="2527102" cy="1848445"/>
            <a:chOff x="0" y="0"/>
            <a:chExt cx="2263" cy="1656"/>
          </a:xfrm>
        </p:grpSpPr>
        <p:pic>
          <p:nvPicPr>
            <p:cNvPr id="246794"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 y="0"/>
              <a:ext cx="1928" cy="1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795" name="Rectangle 14"/>
            <p:cNvSpPr>
              <a:spLocks/>
            </p:cNvSpPr>
            <p:nvPr/>
          </p:nvSpPr>
          <p:spPr bwMode="auto">
            <a:xfrm>
              <a:off x="0" y="1330"/>
              <a:ext cx="95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nSpc>
                  <a:spcPct val="106000"/>
                </a:lnSpc>
                <a:spcBef>
                  <a:spcPct val="0"/>
                </a:spcBef>
                <a:tabLst>
                  <a:tab pos="366104" algn="l"/>
                </a:tabLst>
              </a:pPr>
              <a:r>
                <a:rPr lang="en-US" dirty="0">
                  <a:solidFill>
                    <a:srgbClr val="0000FF"/>
                  </a:solidFill>
                  <a:latin typeface="Arial" charset="0"/>
                  <a:ea typeface="ＭＳ Ｐゴシック" pitchFamily="1" charset="-128"/>
                  <a:sym typeface="Arial" charset="0"/>
                </a:rPr>
                <a:t>Kidney</a:t>
              </a:r>
            </a:p>
          </p:txBody>
        </p:sp>
      </p:grpSp>
      <p:sp>
        <p:nvSpPr>
          <p:cNvPr id="246792" name="Rectangle 15"/>
          <p:cNvSpPr>
            <a:spLocks/>
          </p:cNvSpPr>
          <p:nvPr/>
        </p:nvSpPr>
        <p:spPr bwMode="auto">
          <a:xfrm rot="5400000">
            <a:off x="8372698" y="5260703"/>
            <a:ext cx="622846" cy="107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tabLst>
                <a:tab pos="250022" algn="l"/>
                <a:tab pos="500045" algn="l"/>
                <a:tab pos="750067" algn="l"/>
                <a:tab pos="1000089" algn="l"/>
                <a:tab pos="1250112" algn="l"/>
                <a:tab pos="1500134" algn="l"/>
                <a:tab pos="1750157" algn="l"/>
                <a:tab pos="2000179" algn="l"/>
                <a:tab pos="2250201" algn="l"/>
                <a:tab pos="2500224" algn="l"/>
                <a:tab pos="2750246" algn="l"/>
                <a:tab pos="3000268" algn="l"/>
              </a:tabLst>
            </a:pPr>
            <a:r>
              <a:rPr lang="en-US" sz="700">
                <a:latin typeface="Verdana" pitchFamily="1" charset="0"/>
                <a:ea typeface="ＭＳ Ｐゴシック" pitchFamily="1" charset="-128"/>
                <a:sym typeface="Verdana" pitchFamily="1" charset="0"/>
              </a:rPr>
              <a:t>Photo:Suseno</a:t>
            </a:r>
          </a:p>
        </p:txBody>
      </p:sp>
    </p:spTree>
    <p:extLst>
      <p:ext uri="{BB962C8B-B14F-4D97-AF65-F5344CB8AC3E}">
        <p14:creationId xmlns:p14="http://schemas.microsoft.com/office/powerpoint/2010/main" val="3629870642"/>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5" name="Rectangle 2"/>
          <p:cNvSpPr>
            <a:spLocks noGrp="1" noChangeArrowheads="1"/>
          </p:cNvSpPr>
          <p:nvPr>
            <p:ph type="title"/>
          </p:nvPr>
        </p:nvSpPr>
        <p:spPr>
          <a:xfrm>
            <a:off x="755576" y="332656"/>
            <a:ext cx="7406640" cy="1356360"/>
          </a:xfrm>
        </p:spPr>
        <p:txBody>
          <a:bodyPr/>
          <a:lstStyle/>
          <a:p>
            <a:r>
              <a:rPr lang="en-US" dirty="0"/>
              <a:t>Levels of Organisation</a:t>
            </a:r>
          </a:p>
        </p:txBody>
      </p:sp>
      <p:sp>
        <p:nvSpPr>
          <p:cNvPr id="110595" name="Rectangle 3"/>
          <p:cNvSpPr>
            <a:spLocks noGrp="1" noChangeArrowheads="1"/>
          </p:cNvSpPr>
          <p:nvPr>
            <p:ph type="body" idx="1"/>
          </p:nvPr>
        </p:nvSpPr>
        <p:spPr>
          <a:xfrm>
            <a:off x="5076056" y="2348880"/>
            <a:ext cx="3888432" cy="3728814"/>
          </a:xfrm>
        </p:spPr>
        <p:txBody>
          <a:bodyPr>
            <a:normAutofit/>
          </a:bodyPr>
          <a:lstStyle/>
          <a:p>
            <a:pPr lvl="1"/>
            <a:r>
              <a:rPr lang="en-US" sz="2000" dirty="0"/>
              <a:t>System level:</a:t>
            </a:r>
            <a:br>
              <a:rPr lang="en-US" sz="2000" dirty="0"/>
            </a:br>
            <a:r>
              <a:rPr lang="en-US" sz="2000" dirty="0"/>
              <a:t>In humans and other animals, organs form parts of larger units known as organ systems.  An organ system is an association of organs with a common function, e.g. digestion or excretion.</a:t>
            </a:r>
          </a:p>
        </p:txBody>
      </p:sp>
      <p:sp>
        <p:nvSpPr>
          <p:cNvPr id="248839" name="Rectangle 6"/>
          <p:cNvSpPr>
            <a:spLocks/>
          </p:cNvSpPr>
          <p:nvPr/>
        </p:nvSpPr>
        <p:spPr bwMode="auto">
          <a:xfrm>
            <a:off x="857250" y="5733256"/>
            <a:ext cx="3888431" cy="19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dirty="0">
                <a:solidFill>
                  <a:srgbClr val="0000FF"/>
                </a:solidFill>
                <a:latin typeface="Arial" charset="0"/>
                <a:ea typeface="ＭＳ Ｐゴシック" pitchFamily="1" charset="-128"/>
                <a:sym typeface="Arial" charset="0"/>
              </a:rPr>
              <a:t>Can you name the 11 organ systems of the human body?</a:t>
            </a:r>
          </a:p>
        </p:txBody>
      </p:sp>
    </p:spTree>
    <p:extLst>
      <p:ext uri="{BB962C8B-B14F-4D97-AF65-F5344CB8AC3E}">
        <p14:creationId xmlns:p14="http://schemas.microsoft.com/office/powerpoint/2010/main" val="847999211"/>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5" name="Rectangle 2"/>
          <p:cNvSpPr>
            <a:spLocks noGrp="1" noChangeArrowheads="1"/>
          </p:cNvSpPr>
          <p:nvPr>
            <p:ph type="title"/>
          </p:nvPr>
        </p:nvSpPr>
        <p:spPr>
          <a:xfrm>
            <a:off x="755576" y="270850"/>
            <a:ext cx="7406640" cy="1356360"/>
          </a:xfrm>
        </p:spPr>
        <p:txBody>
          <a:bodyPr/>
          <a:lstStyle/>
          <a:p>
            <a:r>
              <a:rPr lang="en-US" dirty="0"/>
              <a:t>Levels of Organisation</a:t>
            </a:r>
          </a:p>
        </p:txBody>
      </p:sp>
      <p:sp>
        <p:nvSpPr>
          <p:cNvPr id="110595" name="Rectangle 3"/>
          <p:cNvSpPr>
            <a:spLocks noGrp="1" noChangeArrowheads="1"/>
          </p:cNvSpPr>
          <p:nvPr>
            <p:ph type="body" idx="1"/>
          </p:nvPr>
        </p:nvSpPr>
        <p:spPr>
          <a:xfrm>
            <a:off x="5076056" y="1600200"/>
            <a:ext cx="3888432" cy="4909542"/>
          </a:xfrm>
        </p:spPr>
        <p:txBody>
          <a:bodyPr/>
          <a:lstStyle/>
          <a:p>
            <a:pPr lvl="1"/>
            <a:r>
              <a:rPr lang="en-US" dirty="0"/>
              <a:t>System level:</a:t>
            </a:r>
            <a:br>
              <a:rPr lang="en-US" dirty="0"/>
            </a:br>
            <a:r>
              <a:rPr lang="en-US" dirty="0"/>
              <a:t>In humans and other animals, organs form parts of larger units known as organ systems.  An organ system is an association of organs with a common function, e.g. digestion or excretion.</a:t>
            </a:r>
          </a:p>
        </p:txBody>
      </p:sp>
      <p:sp>
        <p:nvSpPr>
          <p:cNvPr id="248839" name="Rectangle 6"/>
          <p:cNvSpPr>
            <a:spLocks/>
          </p:cNvSpPr>
          <p:nvPr/>
        </p:nvSpPr>
        <p:spPr bwMode="auto">
          <a:xfrm>
            <a:off x="1259632" y="5949280"/>
            <a:ext cx="3888431" cy="19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80364" algn="ctr">
              <a:lnSpc>
                <a:spcPct val="106000"/>
              </a:lnSpc>
              <a:spcBef>
                <a:spcPct val="0"/>
              </a:spcBef>
              <a:tabLst>
                <a:tab pos="366104" algn="l"/>
              </a:tabLst>
            </a:pPr>
            <a:r>
              <a:rPr lang="en-US" dirty="0">
                <a:solidFill>
                  <a:srgbClr val="0000FF"/>
                </a:solidFill>
                <a:latin typeface="Arial" charset="0"/>
                <a:ea typeface="ＭＳ Ｐゴシック" pitchFamily="1" charset="-128"/>
                <a:sym typeface="Arial" charset="0"/>
              </a:rPr>
              <a:t>11 organ systems make up the body.</a:t>
            </a:r>
          </a:p>
        </p:txBody>
      </p:sp>
      <p:pic>
        <p:nvPicPr>
          <p:cNvPr id="5122" name="Picture 2" descr="http://anatomyandphysiologyi.com/wp-content/uploads/2013/05/organsyst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2060848"/>
            <a:ext cx="5040560" cy="374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289218"/>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92696"/>
            <a:ext cx="3282702" cy="2027312"/>
          </a:xfrm>
        </p:spPr>
        <p:txBody>
          <a:bodyPr>
            <a:normAutofit/>
          </a:bodyPr>
          <a:lstStyle/>
          <a:p>
            <a:r>
              <a:rPr lang="en-AU" dirty="0"/>
              <a:t>Previous Knowledge Check In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9912" y="404664"/>
            <a:ext cx="4752528" cy="5903762"/>
          </a:xfrm>
          <a:prstGeom prst="rect">
            <a:avLst/>
          </a:prstGeom>
        </p:spPr>
      </p:pic>
      <p:sp>
        <p:nvSpPr>
          <p:cNvPr id="5" name="Rectangle 4"/>
          <p:cNvSpPr/>
          <p:nvPr/>
        </p:nvSpPr>
        <p:spPr>
          <a:xfrm>
            <a:off x="4644008" y="1484784"/>
            <a:ext cx="64807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p:cNvSpPr/>
          <p:nvPr/>
        </p:nvSpPr>
        <p:spPr>
          <a:xfrm>
            <a:off x="6948264" y="1328746"/>
            <a:ext cx="1224136" cy="22804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4860032" y="1916832"/>
            <a:ext cx="792087"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6624228" y="2336858"/>
            <a:ext cx="972108"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p:cNvSpPr/>
          <p:nvPr/>
        </p:nvSpPr>
        <p:spPr>
          <a:xfrm>
            <a:off x="5537375" y="2734362"/>
            <a:ext cx="648072"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p:cNvSpPr/>
          <p:nvPr/>
        </p:nvSpPr>
        <p:spPr>
          <a:xfrm>
            <a:off x="7740352" y="3212528"/>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v</a:t>
            </a:r>
          </a:p>
        </p:txBody>
      </p:sp>
      <p:sp>
        <p:nvSpPr>
          <p:cNvPr id="11" name="Rectangle 10"/>
          <p:cNvSpPr/>
          <p:nvPr/>
        </p:nvSpPr>
        <p:spPr>
          <a:xfrm>
            <a:off x="3707904" y="3546637"/>
            <a:ext cx="1080120"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p:cNvSpPr/>
          <p:nvPr/>
        </p:nvSpPr>
        <p:spPr>
          <a:xfrm>
            <a:off x="3851920" y="3819200"/>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3606230" y="4144517"/>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p:cNvSpPr/>
          <p:nvPr/>
        </p:nvSpPr>
        <p:spPr>
          <a:xfrm>
            <a:off x="3851920" y="4383579"/>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p:cNvSpPr/>
          <p:nvPr/>
        </p:nvSpPr>
        <p:spPr>
          <a:xfrm>
            <a:off x="3563888" y="4531155"/>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15"/>
          <p:cNvSpPr/>
          <p:nvPr/>
        </p:nvSpPr>
        <p:spPr>
          <a:xfrm>
            <a:off x="3787597" y="4803718"/>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6"/>
          <p:cNvSpPr/>
          <p:nvPr/>
        </p:nvSpPr>
        <p:spPr>
          <a:xfrm>
            <a:off x="3851920" y="5106940"/>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7"/>
          <p:cNvSpPr/>
          <p:nvPr/>
        </p:nvSpPr>
        <p:spPr>
          <a:xfrm>
            <a:off x="6624228" y="5261640"/>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p:cNvSpPr/>
          <p:nvPr/>
        </p:nvSpPr>
        <p:spPr>
          <a:xfrm>
            <a:off x="6726514" y="5541327"/>
            <a:ext cx="792088" cy="28847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823854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692696"/>
            <a:ext cx="3282702" cy="2027312"/>
          </a:xfrm>
        </p:spPr>
        <p:txBody>
          <a:bodyPr>
            <a:normAutofit/>
          </a:bodyPr>
          <a:lstStyle/>
          <a:p>
            <a:r>
              <a:rPr lang="en-AU" dirty="0"/>
              <a:t>Previous Knowledge Check In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9912" y="404664"/>
            <a:ext cx="4752528" cy="5903762"/>
          </a:xfrm>
          <a:prstGeom prst="rect">
            <a:avLst/>
          </a:prstGeom>
        </p:spPr>
      </p:pic>
    </p:spTree>
    <p:extLst>
      <p:ext uri="{BB962C8B-B14F-4D97-AF65-F5344CB8AC3E}">
        <p14:creationId xmlns:p14="http://schemas.microsoft.com/office/powerpoint/2010/main" val="796944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a:xfrm>
            <a:off x="804474" y="365761"/>
            <a:ext cx="7406640" cy="1356360"/>
          </a:xfrm>
        </p:spPr>
        <p:txBody>
          <a:bodyPr/>
          <a:lstStyle/>
          <a:p>
            <a:r>
              <a:rPr lang="en-US" dirty="0"/>
              <a:t>What do Animals need to Live?</a:t>
            </a:r>
          </a:p>
        </p:txBody>
      </p:sp>
      <p:sp>
        <p:nvSpPr>
          <p:cNvPr id="437251" name="Rectangle 3" descr="Rectangle: Click to edit Master text styles&#10;Second level&#10;Third level&#10;Fourth level&#10;Fifth level"/>
          <p:cNvSpPr>
            <a:spLocks noGrp="1" noChangeArrowheads="1"/>
          </p:cNvSpPr>
          <p:nvPr>
            <p:ph idx="1"/>
          </p:nvPr>
        </p:nvSpPr>
        <p:spPr>
          <a:xfrm>
            <a:off x="914400" y="2133600"/>
            <a:ext cx="3657600" cy="4221960"/>
          </a:xfrm>
        </p:spPr>
        <p:txBody>
          <a:bodyPr>
            <a:normAutofit/>
          </a:bodyPr>
          <a:lstStyle/>
          <a:p>
            <a:r>
              <a:rPr lang="en-US" dirty="0"/>
              <a:t>Animals make energy using:</a:t>
            </a:r>
          </a:p>
          <a:p>
            <a:pPr lvl="1"/>
            <a:r>
              <a:rPr lang="en-US" dirty="0"/>
              <a:t>food</a:t>
            </a:r>
          </a:p>
          <a:p>
            <a:pPr lvl="1"/>
            <a:r>
              <a:rPr lang="en-US" dirty="0"/>
              <a:t>oxygen</a:t>
            </a:r>
          </a:p>
          <a:p>
            <a:r>
              <a:rPr lang="en-US" dirty="0"/>
              <a:t>Animals build bodies using:</a:t>
            </a:r>
          </a:p>
          <a:p>
            <a:pPr lvl="1"/>
            <a:r>
              <a:rPr lang="en-US" dirty="0"/>
              <a:t>food for raw materials (manufacture amino acids, sugars, fats, nucleotides) </a:t>
            </a:r>
          </a:p>
          <a:p>
            <a:pPr lvl="1"/>
            <a:r>
              <a:rPr lang="en-US" dirty="0"/>
              <a:t>ATP energy for synthesis</a:t>
            </a:r>
          </a:p>
        </p:txBody>
      </p:sp>
      <p:pic>
        <p:nvPicPr>
          <p:cNvPr id="4372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4388" y="1676400"/>
            <a:ext cx="2411412" cy="3352800"/>
          </a:xfrm>
          <a:prstGeom prst="rect">
            <a:avLst/>
          </a:prstGeom>
          <a:noFill/>
          <a:extLst>
            <a:ext uri="{909E8E84-426E-40DD-AFC4-6F175D3DCCD1}">
              <a14:hiddenFill xmlns:a14="http://schemas.microsoft.com/office/drawing/2010/main">
                <a:solidFill>
                  <a:srgbClr val="FFFFFF"/>
                </a:solidFill>
              </a14:hiddenFill>
            </a:ext>
          </a:extLst>
        </p:spPr>
      </p:pic>
      <p:grpSp>
        <p:nvGrpSpPr>
          <p:cNvPr id="437253" name="Group 5"/>
          <p:cNvGrpSpPr>
            <a:grpSpLocks/>
          </p:cNvGrpSpPr>
          <p:nvPr/>
        </p:nvGrpSpPr>
        <p:grpSpPr bwMode="auto">
          <a:xfrm>
            <a:off x="5257800" y="4267200"/>
            <a:ext cx="1600200" cy="1143000"/>
            <a:chOff x="2880" y="3168"/>
            <a:chExt cx="1008" cy="720"/>
          </a:xfrm>
        </p:grpSpPr>
        <p:sp>
          <p:nvSpPr>
            <p:cNvPr id="437254" name="AutoShape 6"/>
            <p:cNvSpPr>
              <a:spLocks noChangeArrowheads="1"/>
            </p:cNvSpPr>
            <p:nvPr/>
          </p:nvSpPr>
          <p:spPr bwMode="auto">
            <a:xfrm rot="-5400000">
              <a:off x="3168" y="3168"/>
              <a:ext cx="720" cy="720"/>
            </a:xfrm>
            <a:custGeom>
              <a:avLst/>
              <a:gdLst>
                <a:gd name="G0" fmla="+- -42504 0 0"/>
                <a:gd name="G1" fmla="+- -3925525 0 0"/>
                <a:gd name="G2" fmla="+- -42504 0 -3925525"/>
                <a:gd name="G3" fmla="+- 10800 0 0"/>
                <a:gd name="G4" fmla="+- 0 0 -42504"/>
                <a:gd name="T0" fmla="*/ 360 256 1"/>
                <a:gd name="T1" fmla="*/ 0 256 1"/>
                <a:gd name="G5" fmla="+- G2 T0 T1"/>
                <a:gd name="G6" fmla="?: G2 G2 G5"/>
                <a:gd name="G7" fmla="+- 0 0 G6"/>
                <a:gd name="G8" fmla="+- 8039 0 0"/>
                <a:gd name="G9" fmla="+- 0 0 -3925525"/>
                <a:gd name="G10" fmla="+- 8039 0 2700"/>
                <a:gd name="G11" fmla="cos G10 -42504"/>
                <a:gd name="G12" fmla="sin G10 -42504"/>
                <a:gd name="G13" fmla="cos 13500 -42504"/>
                <a:gd name="G14" fmla="sin 13500 -42504"/>
                <a:gd name="G15" fmla="+- G11 10800 0"/>
                <a:gd name="G16" fmla="+- G12 10800 0"/>
                <a:gd name="G17" fmla="+- G13 10800 0"/>
                <a:gd name="G18" fmla="+- G14 10800 0"/>
                <a:gd name="G19" fmla="*/ 8039 1 2"/>
                <a:gd name="G20" fmla="+- G19 5400 0"/>
                <a:gd name="G21" fmla="cos G20 -42504"/>
                <a:gd name="G22" fmla="sin G20 -42504"/>
                <a:gd name="G23" fmla="+- G21 10800 0"/>
                <a:gd name="G24" fmla="+- G12 G23 G22"/>
                <a:gd name="G25" fmla="+- G22 G23 G11"/>
                <a:gd name="G26" fmla="cos 10800 -42504"/>
                <a:gd name="G27" fmla="sin 10800 -42504"/>
                <a:gd name="G28" fmla="cos 8039 -42504"/>
                <a:gd name="G29" fmla="sin 8039 -42504"/>
                <a:gd name="G30" fmla="+- G26 10800 0"/>
                <a:gd name="G31" fmla="+- G27 10800 0"/>
                <a:gd name="G32" fmla="+- G28 10800 0"/>
                <a:gd name="G33" fmla="+- G29 10800 0"/>
                <a:gd name="G34" fmla="+- G19 5400 0"/>
                <a:gd name="G35" fmla="cos G34 -3925525"/>
                <a:gd name="G36" fmla="sin G34 -3925525"/>
                <a:gd name="G37" fmla="+/ -3925525 -42504 2"/>
                <a:gd name="T2" fmla="*/ 180 256 1"/>
                <a:gd name="T3" fmla="*/ 0 256 1"/>
                <a:gd name="G38" fmla="+- G37 T2 T3"/>
                <a:gd name="G39" fmla="?: G2 G37 G38"/>
                <a:gd name="G40" fmla="cos 10800 G39"/>
                <a:gd name="G41" fmla="sin 10800 G39"/>
                <a:gd name="G42" fmla="cos 8039 G39"/>
                <a:gd name="G43" fmla="sin 8039 G39"/>
                <a:gd name="G44" fmla="+- G40 10800 0"/>
                <a:gd name="G45" fmla="+- G41 10800 0"/>
                <a:gd name="G46" fmla="+- G42 10800 0"/>
                <a:gd name="G47" fmla="+- G43 10800 0"/>
                <a:gd name="G48" fmla="+- G35 10800 0"/>
                <a:gd name="G49" fmla="+- G36 10800 0"/>
                <a:gd name="T4" fmla="*/ 20127 w 21600"/>
                <a:gd name="T5" fmla="*/ 5355 h 21600"/>
                <a:gd name="T6" fmla="*/ 15524 w 21600"/>
                <a:gd name="T7" fmla="*/ 2650 h 21600"/>
                <a:gd name="T8" fmla="*/ 17742 w 21600"/>
                <a:gd name="T9" fmla="*/ 6747 h 21600"/>
                <a:gd name="T10" fmla="*/ 24299 w 21600"/>
                <a:gd name="T11" fmla="*/ 10647 h 21600"/>
                <a:gd name="T12" fmla="*/ 20265 w 21600"/>
                <a:gd name="T13" fmla="*/ 14774 h 21600"/>
                <a:gd name="T14" fmla="*/ 16138 w 21600"/>
                <a:gd name="T15" fmla="*/ 10739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838" y="10709"/>
                  </a:moveTo>
                  <a:cubicBezTo>
                    <a:pt x="18806" y="7874"/>
                    <a:pt x="17284" y="5266"/>
                    <a:pt x="14831" y="3845"/>
                  </a:cubicBezTo>
                  <a:lnTo>
                    <a:pt x="16216" y="1456"/>
                  </a:lnTo>
                  <a:cubicBezTo>
                    <a:pt x="19510" y="3366"/>
                    <a:pt x="21556" y="6869"/>
                    <a:pt x="21599" y="10677"/>
                  </a:cubicBezTo>
                  <a:lnTo>
                    <a:pt x="24299" y="10647"/>
                  </a:lnTo>
                  <a:lnTo>
                    <a:pt x="20265" y="14774"/>
                  </a:lnTo>
                  <a:lnTo>
                    <a:pt x="16138" y="10739"/>
                  </a:lnTo>
                  <a:lnTo>
                    <a:pt x="18838" y="10709"/>
                  </a:lnTo>
                  <a:close/>
                </a:path>
              </a:pathLst>
            </a:custGeom>
            <a:solidFill>
              <a:srgbClr val="00A5E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7255" name="Oval 7"/>
            <p:cNvSpPr>
              <a:spLocks noChangeArrowheads="1"/>
            </p:cNvSpPr>
            <p:nvPr/>
          </p:nvSpPr>
          <p:spPr bwMode="auto">
            <a:xfrm>
              <a:off x="2880" y="3360"/>
              <a:ext cx="384" cy="384"/>
            </a:xfrm>
            <a:prstGeom prst="ellipse">
              <a:avLst/>
            </a:prstGeom>
            <a:solidFill>
              <a:srgbClr val="00A5E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2800" b="1">
                  <a:solidFill>
                    <a:srgbClr val="0F116A"/>
                  </a:solidFill>
                </a:rPr>
                <a:t>O</a:t>
              </a:r>
              <a:r>
                <a:rPr lang="en-US" sz="2800" b="1" baseline="-25000">
                  <a:solidFill>
                    <a:srgbClr val="0F116A"/>
                  </a:solidFill>
                </a:rPr>
                <a:t>2</a:t>
              </a:r>
              <a:endParaRPr lang="en-US" sz="2800" b="1">
                <a:solidFill>
                  <a:srgbClr val="0F116A"/>
                </a:solidFill>
              </a:endParaRPr>
            </a:p>
          </p:txBody>
        </p:sp>
      </p:grpSp>
      <p:grpSp>
        <p:nvGrpSpPr>
          <p:cNvPr id="437256" name="Group 8"/>
          <p:cNvGrpSpPr>
            <a:grpSpLocks/>
          </p:cNvGrpSpPr>
          <p:nvPr/>
        </p:nvGrpSpPr>
        <p:grpSpPr bwMode="auto">
          <a:xfrm>
            <a:off x="5105400" y="2133600"/>
            <a:ext cx="1752600" cy="1143000"/>
            <a:chOff x="2784" y="2160"/>
            <a:chExt cx="1104" cy="720"/>
          </a:xfrm>
        </p:grpSpPr>
        <p:sp>
          <p:nvSpPr>
            <p:cNvPr id="437257" name="AutoShape 9"/>
            <p:cNvSpPr>
              <a:spLocks noChangeArrowheads="1"/>
            </p:cNvSpPr>
            <p:nvPr/>
          </p:nvSpPr>
          <p:spPr bwMode="auto">
            <a:xfrm rot="5400000" flipV="1">
              <a:off x="3168" y="2160"/>
              <a:ext cx="720" cy="720"/>
            </a:xfrm>
            <a:custGeom>
              <a:avLst/>
              <a:gdLst>
                <a:gd name="G0" fmla="+- -42504 0 0"/>
                <a:gd name="G1" fmla="+- -3925525 0 0"/>
                <a:gd name="G2" fmla="+- -42504 0 -3925525"/>
                <a:gd name="G3" fmla="+- 10800 0 0"/>
                <a:gd name="G4" fmla="+- 0 0 -42504"/>
                <a:gd name="T0" fmla="*/ 360 256 1"/>
                <a:gd name="T1" fmla="*/ 0 256 1"/>
                <a:gd name="G5" fmla="+- G2 T0 T1"/>
                <a:gd name="G6" fmla="?: G2 G2 G5"/>
                <a:gd name="G7" fmla="+- 0 0 G6"/>
                <a:gd name="G8" fmla="+- 8039 0 0"/>
                <a:gd name="G9" fmla="+- 0 0 -3925525"/>
                <a:gd name="G10" fmla="+- 8039 0 2700"/>
                <a:gd name="G11" fmla="cos G10 -42504"/>
                <a:gd name="G12" fmla="sin G10 -42504"/>
                <a:gd name="G13" fmla="cos 13500 -42504"/>
                <a:gd name="G14" fmla="sin 13500 -42504"/>
                <a:gd name="G15" fmla="+- G11 10800 0"/>
                <a:gd name="G16" fmla="+- G12 10800 0"/>
                <a:gd name="G17" fmla="+- G13 10800 0"/>
                <a:gd name="G18" fmla="+- G14 10800 0"/>
                <a:gd name="G19" fmla="*/ 8039 1 2"/>
                <a:gd name="G20" fmla="+- G19 5400 0"/>
                <a:gd name="G21" fmla="cos G20 -42504"/>
                <a:gd name="G22" fmla="sin G20 -42504"/>
                <a:gd name="G23" fmla="+- G21 10800 0"/>
                <a:gd name="G24" fmla="+- G12 G23 G22"/>
                <a:gd name="G25" fmla="+- G22 G23 G11"/>
                <a:gd name="G26" fmla="cos 10800 -42504"/>
                <a:gd name="G27" fmla="sin 10800 -42504"/>
                <a:gd name="G28" fmla="cos 8039 -42504"/>
                <a:gd name="G29" fmla="sin 8039 -42504"/>
                <a:gd name="G30" fmla="+- G26 10800 0"/>
                <a:gd name="G31" fmla="+- G27 10800 0"/>
                <a:gd name="G32" fmla="+- G28 10800 0"/>
                <a:gd name="G33" fmla="+- G29 10800 0"/>
                <a:gd name="G34" fmla="+- G19 5400 0"/>
                <a:gd name="G35" fmla="cos G34 -3925525"/>
                <a:gd name="G36" fmla="sin G34 -3925525"/>
                <a:gd name="G37" fmla="+/ -3925525 -42504 2"/>
                <a:gd name="T2" fmla="*/ 180 256 1"/>
                <a:gd name="T3" fmla="*/ 0 256 1"/>
                <a:gd name="G38" fmla="+- G37 T2 T3"/>
                <a:gd name="G39" fmla="?: G2 G37 G38"/>
                <a:gd name="G40" fmla="cos 10800 G39"/>
                <a:gd name="G41" fmla="sin 10800 G39"/>
                <a:gd name="G42" fmla="cos 8039 G39"/>
                <a:gd name="G43" fmla="sin 8039 G39"/>
                <a:gd name="G44" fmla="+- G40 10800 0"/>
                <a:gd name="G45" fmla="+- G41 10800 0"/>
                <a:gd name="G46" fmla="+- G42 10800 0"/>
                <a:gd name="G47" fmla="+- G43 10800 0"/>
                <a:gd name="G48" fmla="+- G35 10800 0"/>
                <a:gd name="G49" fmla="+- G36 10800 0"/>
                <a:gd name="T4" fmla="*/ 20127 w 21600"/>
                <a:gd name="T5" fmla="*/ 5355 h 21600"/>
                <a:gd name="T6" fmla="*/ 15524 w 21600"/>
                <a:gd name="T7" fmla="*/ 2650 h 21600"/>
                <a:gd name="T8" fmla="*/ 17742 w 21600"/>
                <a:gd name="T9" fmla="*/ 6747 h 21600"/>
                <a:gd name="T10" fmla="*/ 24299 w 21600"/>
                <a:gd name="T11" fmla="*/ 10647 h 21600"/>
                <a:gd name="T12" fmla="*/ 20265 w 21600"/>
                <a:gd name="T13" fmla="*/ 14774 h 21600"/>
                <a:gd name="T14" fmla="*/ 16138 w 21600"/>
                <a:gd name="T15" fmla="*/ 10739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838" y="10709"/>
                  </a:moveTo>
                  <a:cubicBezTo>
                    <a:pt x="18806" y="7874"/>
                    <a:pt x="17284" y="5266"/>
                    <a:pt x="14831" y="3845"/>
                  </a:cubicBezTo>
                  <a:lnTo>
                    <a:pt x="16216" y="1456"/>
                  </a:lnTo>
                  <a:cubicBezTo>
                    <a:pt x="19510" y="3366"/>
                    <a:pt x="21556" y="6869"/>
                    <a:pt x="21599" y="10677"/>
                  </a:cubicBezTo>
                  <a:lnTo>
                    <a:pt x="24299" y="10647"/>
                  </a:lnTo>
                  <a:lnTo>
                    <a:pt x="20265" y="14774"/>
                  </a:lnTo>
                  <a:lnTo>
                    <a:pt x="16138" y="10739"/>
                  </a:lnTo>
                  <a:lnTo>
                    <a:pt x="18838" y="10709"/>
                  </a:lnTo>
                  <a:close/>
                </a:path>
              </a:pathLst>
            </a:custGeom>
            <a:solidFill>
              <a:srgbClr val="66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7258" name="AutoShape 10"/>
            <p:cNvSpPr>
              <a:spLocks noChangeArrowheads="1"/>
            </p:cNvSpPr>
            <p:nvPr/>
          </p:nvSpPr>
          <p:spPr bwMode="auto">
            <a:xfrm>
              <a:off x="2784" y="2208"/>
              <a:ext cx="528" cy="457"/>
            </a:xfrm>
            <a:prstGeom prst="hexagon">
              <a:avLst>
                <a:gd name="adj" fmla="val 28884"/>
                <a:gd name="vf" fmla="val 115470"/>
              </a:avLst>
            </a:prstGeom>
            <a:solidFill>
              <a:srgbClr val="FFCC1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sz="3000" b="1">
                  <a:solidFill>
                    <a:srgbClr val="660000"/>
                  </a:solidFill>
                </a:rPr>
                <a:t>food</a:t>
              </a:r>
              <a:endParaRPr lang="en-US" sz="3000" b="1">
                <a:solidFill>
                  <a:srgbClr val="0F116A"/>
                </a:solidFill>
              </a:endParaRPr>
            </a:p>
          </p:txBody>
        </p:sp>
      </p:grpSp>
      <p:grpSp>
        <p:nvGrpSpPr>
          <p:cNvPr id="437259" name="Group 11"/>
          <p:cNvGrpSpPr>
            <a:grpSpLocks/>
          </p:cNvGrpSpPr>
          <p:nvPr/>
        </p:nvGrpSpPr>
        <p:grpSpPr bwMode="auto">
          <a:xfrm>
            <a:off x="6934200" y="2895600"/>
            <a:ext cx="2057400" cy="1712913"/>
            <a:chOff x="4176" y="2784"/>
            <a:chExt cx="1296" cy="1079"/>
          </a:xfrm>
        </p:grpSpPr>
        <p:sp>
          <p:nvSpPr>
            <p:cNvPr id="437260" name="AutoShape 12"/>
            <p:cNvSpPr>
              <a:spLocks noChangeArrowheads="1"/>
            </p:cNvSpPr>
            <p:nvPr/>
          </p:nvSpPr>
          <p:spPr bwMode="auto">
            <a:xfrm rot="5400000" flipV="1">
              <a:off x="4176" y="2784"/>
              <a:ext cx="720" cy="720"/>
            </a:xfrm>
            <a:custGeom>
              <a:avLst/>
              <a:gdLst>
                <a:gd name="G0" fmla="+- -42504 0 0"/>
                <a:gd name="G1" fmla="+- -3925525 0 0"/>
                <a:gd name="G2" fmla="+- -42504 0 -3925525"/>
                <a:gd name="G3" fmla="+- 10800 0 0"/>
                <a:gd name="G4" fmla="+- 0 0 -42504"/>
                <a:gd name="T0" fmla="*/ 360 256 1"/>
                <a:gd name="T1" fmla="*/ 0 256 1"/>
                <a:gd name="G5" fmla="+- G2 T0 T1"/>
                <a:gd name="G6" fmla="?: G2 G2 G5"/>
                <a:gd name="G7" fmla="+- 0 0 G6"/>
                <a:gd name="G8" fmla="+- 8039 0 0"/>
                <a:gd name="G9" fmla="+- 0 0 -3925525"/>
                <a:gd name="G10" fmla="+- 8039 0 2700"/>
                <a:gd name="G11" fmla="cos G10 -42504"/>
                <a:gd name="G12" fmla="sin G10 -42504"/>
                <a:gd name="G13" fmla="cos 13500 -42504"/>
                <a:gd name="G14" fmla="sin 13500 -42504"/>
                <a:gd name="G15" fmla="+- G11 10800 0"/>
                <a:gd name="G16" fmla="+- G12 10800 0"/>
                <a:gd name="G17" fmla="+- G13 10800 0"/>
                <a:gd name="G18" fmla="+- G14 10800 0"/>
                <a:gd name="G19" fmla="*/ 8039 1 2"/>
                <a:gd name="G20" fmla="+- G19 5400 0"/>
                <a:gd name="G21" fmla="cos G20 -42504"/>
                <a:gd name="G22" fmla="sin G20 -42504"/>
                <a:gd name="G23" fmla="+- G21 10800 0"/>
                <a:gd name="G24" fmla="+- G12 G23 G22"/>
                <a:gd name="G25" fmla="+- G22 G23 G11"/>
                <a:gd name="G26" fmla="cos 10800 -42504"/>
                <a:gd name="G27" fmla="sin 10800 -42504"/>
                <a:gd name="G28" fmla="cos 8039 -42504"/>
                <a:gd name="G29" fmla="sin 8039 -42504"/>
                <a:gd name="G30" fmla="+- G26 10800 0"/>
                <a:gd name="G31" fmla="+- G27 10800 0"/>
                <a:gd name="G32" fmla="+- G28 10800 0"/>
                <a:gd name="G33" fmla="+- G29 10800 0"/>
                <a:gd name="G34" fmla="+- G19 5400 0"/>
                <a:gd name="G35" fmla="cos G34 -3925525"/>
                <a:gd name="G36" fmla="sin G34 -3925525"/>
                <a:gd name="G37" fmla="+/ -3925525 -42504 2"/>
                <a:gd name="T2" fmla="*/ 180 256 1"/>
                <a:gd name="T3" fmla="*/ 0 256 1"/>
                <a:gd name="G38" fmla="+- G37 T2 T3"/>
                <a:gd name="G39" fmla="?: G2 G37 G38"/>
                <a:gd name="G40" fmla="cos 10800 G39"/>
                <a:gd name="G41" fmla="sin 10800 G39"/>
                <a:gd name="G42" fmla="cos 8039 G39"/>
                <a:gd name="G43" fmla="sin 8039 G39"/>
                <a:gd name="G44" fmla="+- G40 10800 0"/>
                <a:gd name="G45" fmla="+- G41 10800 0"/>
                <a:gd name="G46" fmla="+- G42 10800 0"/>
                <a:gd name="G47" fmla="+- G43 10800 0"/>
                <a:gd name="G48" fmla="+- G35 10800 0"/>
                <a:gd name="G49" fmla="+- G36 10800 0"/>
                <a:gd name="T4" fmla="*/ 20127 w 21600"/>
                <a:gd name="T5" fmla="*/ 5355 h 21600"/>
                <a:gd name="T6" fmla="*/ 15524 w 21600"/>
                <a:gd name="T7" fmla="*/ 2650 h 21600"/>
                <a:gd name="T8" fmla="*/ 17742 w 21600"/>
                <a:gd name="T9" fmla="*/ 6747 h 21600"/>
                <a:gd name="T10" fmla="*/ 24299 w 21600"/>
                <a:gd name="T11" fmla="*/ 10647 h 21600"/>
                <a:gd name="T12" fmla="*/ 20265 w 21600"/>
                <a:gd name="T13" fmla="*/ 14774 h 21600"/>
                <a:gd name="T14" fmla="*/ 16138 w 21600"/>
                <a:gd name="T15" fmla="*/ 10739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838" y="10709"/>
                  </a:moveTo>
                  <a:cubicBezTo>
                    <a:pt x="18806" y="7874"/>
                    <a:pt x="17284" y="5266"/>
                    <a:pt x="14831" y="3845"/>
                  </a:cubicBezTo>
                  <a:lnTo>
                    <a:pt x="16216" y="1456"/>
                  </a:lnTo>
                  <a:cubicBezTo>
                    <a:pt x="19510" y="3366"/>
                    <a:pt x="21556" y="6869"/>
                    <a:pt x="21599" y="10677"/>
                  </a:cubicBezTo>
                  <a:lnTo>
                    <a:pt x="24299" y="10647"/>
                  </a:lnTo>
                  <a:lnTo>
                    <a:pt x="20265" y="14774"/>
                  </a:lnTo>
                  <a:lnTo>
                    <a:pt x="16138" y="10739"/>
                  </a:lnTo>
                  <a:lnTo>
                    <a:pt x="18838" y="10709"/>
                  </a:lnTo>
                  <a:close/>
                </a:path>
              </a:pathLst>
            </a:custGeom>
            <a:solidFill>
              <a:srgbClr val="CC00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37261" name="AutoShape 13"/>
            <p:cNvSpPr>
              <a:spLocks noChangeArrowheads="1"/>
            </p:cNvSpPr>
            <p:nvPr/>
          </p:nvSpPr>
          <p:spPr bwMode="auto">
            <a:xfrm>
              <a:off x="4704" y="3360"/>
              <a:ext cx="768" cy="503"/>
            </a:xfrm>
            <a:prstGeom prst="irregularSeal1">
              <a:avLst/>
            </a:prstGeom>
            <a:solidFill>
              <a:srgbClr val="CC0000"/>
            </a:solidFill>
            <a:ln w="57150">
              <a:solidFill>
                <a:srgbClr val="FF6404"/>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b="1">
                  <a:solidFill>
                    <a:srgbClr val="FFEA18"/>
                  </a:solidFill>
                </a:rPr>
                <a:t>ATP</a:t>
              </a:r>
              <a:endParaRPr lang="en-US" sz="6000" b="1">
                <a:solidFill>
                  <a:schemeClr val="tx2"/>
                </a:solidFill>
              </a:endParaRPr>
            </a:p>
          </p:txBody>
        </p:sp>
      </p:grpSp>
      <p:sp>
        <p:nvSpPr>
          <p:cNvPr id="437263" name="Rectangle 15"/>
          <p:cNvSpPr>
            <a:spLocks noChangeArrowheads="1"/>
          </p:cNvSpPr>
          <p:nvPr/>
        </p:nvSpPr>
        <p:spPr bwMode="auto">
          <a:xfrm>
            <a:off x="6856413" y="5027613"/>
            <a:ext cx="2274887" cy="488950"/>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sz="2600" b="1" u="sng" dirty="0">
                <a:solidFill>
                  <a:srgbClr val="CC0000"/>
                </a:solidFill>
              </a:rPr>
              <a:t>mitochondria</a:t>
            </a:r>
          </a:p>
        </p:txBody>
      </p:sp>
    </p:spTree>
    <p:extLst>
      <p:ext uri="{BB962C8B-B14F-4D97-AF65-F5344CB8AC3E}">
        <p14:creationId xmlns:p14="http://schemas.microsoft.com/office/powerpoint/2010/main" val="4044018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a:xfrm>
            <a:off x="857251" y="444463"/>
            <a:ext cx="7406640" cy="1356360"/>
          </a:xfrm>
        </p:spPr>
        <p:txBody>
          <a:bodyPr/>
          <a:lstStyle/>
          <a:p>
            <a:r>
              <a:rPr lang="en-US" dirty="0"/>
              <a:t>How do Animals get their Food?</a:t>
            </a:r>
          </a:p>
        </p:txBody>
      </p:sp>
      <p:sp>
        <p:nvSpPr>
          <p:cNvPr id="3" name="Content Placeholder 2"/>
          <p:cNvSpPr>
            <a:spLocks noGrp="1"/>
          </p:cNvSpPr>
          <p:nvPr>
            <p:ph idx="1"/>
          </p:nvPr>
        </p:nvSpPr>
        <p:spPr/>
        <p:txBody>
          <a:bodyPr/>
          <a:lstStyle/>
          <a:p>
            <a:r>
              <a:rPr lang="en-AU" dirty="0"/>
              <a:t>Animals can get their food in a variety of ways.</a:t>
            </a:r>
          </a:p>
          <a:p>
            <a:pPr lvl="1"/>
            <a:r>
              <a:rPr lang="en-AU" b="1" dirty="0"/>
              <a:t>Filter feeding</a:t>
            </a:r>
          </a:p>
          <a:p>
            <a:pPr lvl="1"/>
            <a:r>
              <a:rPr lang="en-AU" b="1" dirty="0"/>
              <a:t>Living inside their food</a:t>
            </a:r>
          </a:p>
          <a:p>
            <a:pPr lvl="1"/>
            <a:r>
              <a:rPr lang="en-AU" b="1" dirty="0"/>
              <a:t>Fluid feeding</a:t>
            </a:r>
          </a:p>
          <a:p>
            <a:pPr lvl="1"/>
            <a:r>
              <a:rPr lang="en-AU" b="1" dirty="0"/>
              <a:t>Bulk feeding</a:t>
            </a:r>
          </a:p>
        </p:txBody>
      </p:sp>
      <p:pic>
        <p:nvPicPr>
          <p:cNvPr id="439300" name="Picture 4" descr="41-06-SuspensionFeed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62" y="4040977"/>
            <a:ext cx="2469266" cy="1635099"/>
          </a:xfrm>
          <a:prstGeom prst="rect">
            <a:avLst/>
          </a:prstGeom>
          <a:noFill/>
          <a:extLst>
            <a:ext uri="{909E8E84-426E-40DD-AFC4-6F175D3DCCD1}">
              <a14:hiddenFill xmlns:a14="http://schemas.microsoft.com/office/drawing/2010/main">
                <a:solidFill>
                  <a:srgbClr val="FFFFFF"/>
                </a:solidFill>
              </a14:hiddenFill>
            </a:ext>
          </a:extLst>
        </p:spPr>
      </p:pic>
      <p:pic>
        <p:nvPicPr>
          <p:cNvPr id="439301" name="Picture 5" descr="41-07-SubstrateFeed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2200" y="2062429"/>
            <a:ext cx="2599624" cy="1728192"/>
          </a:xfrm>
          <a:prstGeom prst="rect">
            <a:avLst/>
          </a:prstGeom>
          <a:noFill/>
          <a:extLst>
            <a:ext uri="{909E8E84-426E-40DD-AFC4-6F175D3DCCD1}">
              <a14:hiddenFill xmlns:a14="http://schemas.microsoft.com/office/drawing/2010/main">
                <a:solidFill>
                  <a:srgbClr val="FFFFFF"/>
                </a:solidFill>
              </a14:hiddenFill>
            </a:ext>
          </a:extLst>
        </p:spPr>
      </p:pic>
      <p:pic>
        <p:nvPicPr>
          <p:cNvPr id="439302" name="Picture 6" descr="41-08-Mosquito"/>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9069" y="4221088"/>
            <a:ext cx="2524321" cy="1701149"/>
          </a:xfrm>
          <a:prstGeom prst="rect">
            <a:avLst/>
          </a:prstGeom>
          <a:noFill/>
          <a:extLst>
            <a:ext uri="{909E8E84-426E-40DD-AFC4-6F175D3DCCD1}">
              <a14:hiddenFill xmlns:a14="http://schemas.microsoft.com/office/drawing/2010/main">
                <a:solidFill>
                  <a:srgbClr val="FFFFFF"/>
                </a:solidFill>
              </a14:hiddenFill>
            </a:ext>
          </a:extLst>
        </p:spPr>
      </p:pic>
      <p:pic>
        <p:nvPicPr>
          <p:cNvPr id="439303" name="Picture 7" descr="41-09-BulkFeedi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10139" y="3560847"/>
            <a:ext cx="2813175"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857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a:xfrm>
            <a:off x="910827" y="502440"/>
            <a:ext cx="7406640" cy="1356360"/>
          </a:xfrm>
        </p:spPr>
        <p:txBody>
          <a:bodyPr/>
          <a:lstStyle/>
          <a:p>
            <a:r>
              <a:rPr lang="en-US" dirty="0"/>
              <a:t>Different Types of Diets</a:t>
            </a:r>
          </a:p>
        </p:txBody>
      </p:sp>
      <p:sp>
        <p:nvSpPr>
          <p:cNvPr id="363523" name="Rectangle 3" descr="Rectangle: Click to edit Master text styles&#10;Second level&#10;Third level&#10;Fourth level&#10;Fifth level"/>
          <p:cNvSpPr>
            <a:spLocks noGrp="1" noChangeArrowheads="1"/>
          </p:cNvSpPr>
          <p:nvPr>
            <p:ph idx="1"/>
          </p:nvPr>
        </p:nvSpPr>
        <p:spPr>
          <a:xfrm>
            <a:off x="914400" y="1965960"/>
            <a:ext cx="7772400" cy="4389600"/>
          </a:xfrm>
        </p:spPr>
        <p:txBody>
          <a:bodyPr>
            <a:normAutofit/>
          </a:bodyPr>
          <a:lstStyle/>
          <a:p>
            <a:r>
              <a:rPr lang="en-US" dirty="0"/>
              <a:t>All animals eat other organisms</a:t>
            </a:r>
          </a:p>
          <a:p>
            <a:pPr lvl="1"/>
            <a:r>
              <a:rPr lang="en-US" b="1" dirty="0"/>
              <a:t>Herbivores</a:t>
            </a:r>
            <a:r>
              <a:rPr lang="en-US" dirty="0"/>
              <a:t> (</a:t>
            </a:r>
            <a:r>
              <a:rPr lang="en-US" dirty="0" err="1"/>
              <a:t>eg</a:t>
            </a:r>
            <a:r>
              <a:rPr lang="en-US" dirty="0"/>
              <a:t>. gorillas, cows, rabbits, snails) eat mainly plants.</a:t>
            </a:r>
          </a:p>
          <a:p>
            <a:pPr lvl="1"/>
            <a:r>
              <a:rPr lang="en-US" b="1" dirty="0"/>
              <a:t>Carnivores</a:t>
            </a:r>
            <a:r>
              <a:rPr lang="en-US" dirty="0"/>
              <a:t> (</a:t>
            </a:r>
            <a:r>
              <a:rPr lang="en-US" dirty="0" err="1"/>
              <a:t>eg</a:t>
            </a:r>
            <a:r>
              <a:rPr lang="en-US" dirty="0"/>
              <a:t>. sharks, hawks, spiders, snakes) eat other animals.</a:t>
            </a:r>
          </a:p>
          <a:p>
            <a:pPr lvl="1"/>
            <a:r>
              <a:rPr lang="en-US" b="1" dirty="0"/>
              <a:t>Omnivores</a:t>
            </a:r>
            <a:r>
              <a:rPr lang="en-US" dirty="0"/>
              <a:t> (</a:t>
            </a:r>
            <a:r>
              <a:rPr lang="en-US" dirty="0" err="1"/>
              <a:t>eg</a:t>
            </a:r>
            <a:r>
              <a:rPr lang="en-US" dirty="0"/>
              <a:t>. cockroaches, bears, raccoons, humans) eat animals and plants</a:t>
            </a:r>
          </a:p>
        </p:txBody>
      </p:sp>
      <p:pic>
        <p:nvPicPr>
          <p:cNvPr id="363524" name="Picture 4"/>
          <p:cNvPicPr>
            <a:picLocks noChangeAspect="1" noChangeArrowheads="1"/>
          </p:cNvPicPr>
          <p:nvPr/>
        </p:nvPicPr>
        <p:blipFill>
          <a:blip r:embed="rId3">
            <a:extLst>
              <a:ext uri="{28A0092B-C50C-407E-A947-70E740481C1C}">
                <a14:useLocalDpi xmlns:a14="http://schemas.microsoft.com/office/drawing/2010/main" val="0"/>
              </a:ext>
            </a:extLst>
          </a:blip>
          <a:srcRect l="11058" t="5528" r="5528" b="27643"/>
          <a:stretch>
            <a:fillRect/>
          </a:stretch>
        </p:blipFill>
        <p:spPr bwMode="auto">
          <a:xfrm>
            <a:off x="2483768" y="3884168"/>
            <a:ext cx="3847728" cy="2041342"/>
          </a:xfrm>
          <a:prstGeom prst="rect">
            <a:avLst/>
          </a:prstGeom>
          <a:noFill/>
          <a:ln>
            <a:noFill/>
          </a:ln>
          <a:effectLst>
            <a:outerShdw dist="35921" dir="2700000" algn="ctr" rotWithShape="0">
              <a:srgbClr val="808080">
                <a:alpha val="75000"/>
              </a:srgbClr>
            </a:outerShdw>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027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a:xfrm>
            <a:off x="868680" y="344448"/>
            <a:ext cx="7406640" cy="1356360"/>
          </a:xfrm>
        </p:spPr>
        <p:txBody>
          <a:bodyPr/>
          <a:lstStyle/>
          <a:p>
            <a:r>
              <a:rPr lang="en-US" dirty="0"/>
              <a:t>Digestive Systems</a:t>
            </a:r>
          </a:p>
        </p:txBody>
      </p:sp>
      <p:sp>
        <p:nvSpPr>
          <p:cNvPr id="3" name="Content Placeholder 2"/>
          <p:cNvSpPr>
            <a:spLocks noGrp="1"/>
          </p:cNvSpPr>
          <p:nvPr>
            <p:ph idx="1"/>
          </p:nvPr>
        </p:nvSpPr>
        <p:spPr>
          <a:xfrm>
            <a:off x="539552" y="1700808"/>
            <a:ext cx="8280920" cy="1990436"/>
          </a:xfrm>
        </p:spPr>
        <p:txBody>
          <a:bodyPr>
            <a:normAutofit/>
          </a:bodyPr>
          <a:lstStyle/>
          <a:p>
            <a:r>
              <a:rPr lang="en-AU" dirty="0"/>
              <a:t>Remember animals get oxygen from gas exchange but for life, animals still need to get food.</a:t>
            </a:r>
          </a:p>
          <a:p>
            <a:r>
              <a:rPr lang="en-AU" dirty="0"/>
              <a:t>Animals acquire the food (nutrients) through the </a:t>
            </a:r>
            <a:r>
              <a:rPr lang="en-AU" b="1" dirty="0"/>
              <a:t>digestive system</a:t>
            </a:r>
            <a:r>
              <a:rPr lang="en-AU" dirty="0"/>
              <a:t>.</a:t>
            </a:r>
          </a:p>
        </p:txBody>
      </p:sp>
      <p:pic>
        <p:nvPicPr>
          <p:cNvPr id="369667" name="Picture 3"/>
          <p:cNvPicPr>
            <a:picLocks noChangeAspect="1" noChangeArrowheads="1"/>
          </p:cNvPicPr>
          <p:nvPr/>
        </p:nvPicPr>
        <p:blipFill>
          <a:blip r:embed="rId3">
            <a:extLst>
              <a:ext uri="{28A0092B-C50C-407E-A947-70E740481C1C}">
                <a14:useLocalDpi xmlns:a14="http://schemas.microsoft.com/office/drawing/2010/main" val="0"/>
              </a:ext>
            </a:extLst>
          </a:blip>
          <a:srcRect b="3334"/>
          <a:stretch>
            <a:fillRect/>
          </a:stretch>
        </p:blipFill>
        <p:spPr bwMode="auto">
          <a:xfrm>
            <a:off x="2123728" y="2780928"/>
            <a:ext cx="5610393"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274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a:xfrm>
            <a:off x="755576" y="341844"/>
            <a:ext cx="7406640" cy="1356360"/>
          </a:xfrm>
        </p:spPr>
        <p:txBody>
          <a:bodyPr/>
          <a:lstStyle/>
          <a:p>
            <a:r>
              <a:rPr lang="en-US" dirty="0"/>
              <a:t>Getting &amp; Using Food</a:t>
            </a:r>
          </a:p>
        </p:txBody>
      </p:sp>
      <p:sp>
        <p:nvSpPr>
          <p:cNvPr id="367619" name="Rectangle 3" descr="Rectangle: Click to edit Master text styles&#10;Second level&#10;Third level&#10;Fourth level&#10;Fifth level"/>
          <p:cNvSpPr>
            <a:spLocks noGrp="1" noChangeArrowheads="1"/>
          </p:cNvSpPr>
          <p:nvPr>
            <p:ph idx="1"/>
          </p:nvPr>
        </p:nvSpPr>
        <p:spPr>
          <a:xfrm>
            <a:off x="541278" y="1772816"/>
            <a:ext cx="6105585" cy="4778796"/>
          </a:xfrm>
        </p:spPr>
        <p:txBody>
          <a:bodyPr>
            <a:normAutofit/>
          </a:bodyPr>
          <a:lstStyle/>
          <a:p>
            <a:r>
              <a:rPr lang="en-US" b="1" dirty="0"/>
              <a:t>Ingest</a:t>
            </a:r>
          </a:p>
          <a:p>
            <a:pPr lvl="1"/>
            <a:r>
              <a:rPr lang="en-US" dirty="0"/>
              <a:t>taking in food.</a:t>
            </a:r>
          </a:p>
          <a:p>
            <a:r>
              <a:rPr lang="en-US" b="1" dirty="0"/>
              <a:t>Digest</a:t>
            </a:r>
          </a:p>
          <a:p>
            <a:pPr lvl="1"/>
            <a:r>
              <a:rPr lang="en-US" b="1" dirty="0"/>
              <a:t>mechanical digestion </a:t>
            </a:r>
            <a:r>
              <a:rPr lang="en-US" dirty="0"/>
              <a:t>- breaking up food into smaller pieces.</a:t>
            </a:r>
          </a:p>
          <a:p>
            <a:pPr lvl="1"/>
            <a:r>
              <a:rPr lang="en-US" b="1" dirty="0"/>
              <a:t>chemical digestion </a:t>
            </a:r>
            <a:r>
              <a:rPr lang="en-US" dirty="0"/>
              <a:t>- breaking down food into molecules small enough to be absorbed into cells.  This involves chemical reactions and requires enzymes.</a:t>
            </a:r>
          </a:p>
          <a:p>
            <a:r>
              <a:rPr lang="en-US" b="1" dirty="0"/>
              <a:t>Absorb</a:t>
            </a:r>
          </a:p>
          <a:p>
            <a:pPr lvl="1"/>
            <a:r>
              <a:rPr lang="en-US" dirty="0"/>
              <a:t>absorb nutrients across cell membranes by diffusion and active transport</a:t>
            </a:r>
          </a:p>
          <a:p>
            <a:r>
              <a:rPr lang="en-US" b="1" dirty="0"/>
              <a:t> Elimination or Egestion</a:t>
            </a:r>
          </a:p>
          <a:p>
            <a:pPr lvl="1"/>
            <a:r>
              <a:rPr lang="en-US" dirty="0"/>
              <a:t>undigested material passes out of body</a:t>
            </a:r>
          </a:p>
        </p:txBody>
      </p:sp>
      <p:pic>
        <p:nvPicPr>
          <p:cNvPr id="367620" name="Picture 4" descr="41-10-IntracellDigest-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0417" y="402010"/>
            <a:ext cx="1900237" cy="2741612"/>
          </a:xfrm>
          <a:prstGeom prst="rect">
            <a:avLst/>
          </a:prstGeom>
          <a:noFill/>
          <a:extLst>
            <a:ext uri="{909E8E84-426E-40DD-AFC4-6F175D3DCCD1}">
              <a14:hiddenFill xmlns:a14="http://schemas.microsoft.com/office/drawing/2010/main">
                <a:solidFill>
                  <a:srgbClr val="FFFFFF"/>
                </a:solidFill>
              </a14:hiddenFill>
            </a:ext>
          </a:extLst>
        </p:spPr>
      </p:pic>
      <p:sp>
        <p:nvSpPr>
          <p:cNvPr id="367621" name="Rectangle 5"/>
          <p:cNvSpPr>
            <a:spLocks noChangeArrowheads="1"/>
          </p:cNvSpPr>
          <p:nvPr/>
        </p:nvSpPr>
        <p:spPr bwMode="auto">
          <a:xfrm>
            <a:off x="6686550" y="3008313"/>
            <a:ext cx="1831975" cy="581025"/>
          </a:xfrm>
          <a:prstGeom prst="rect">
            <a:avLst/>
          </a:prstGeom>
          <a:solidFill>
            <a:srgbClr val="FFCC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80000"/>
              </a:lnSpc>
            </a:pPr>
            <a:r>
              <a:rPr lang="en-US" sz="2000" b="1">
                <a:solidFill>
                  <a:srgbClr val="0F116A"/>
                </a:solidFill>
              </a:rPr>
              <a:t>intracellular</a:t>
            </a:r>
            <a:br>
              <a:rPr lang="en-US" sz="2000" b="1">
                <a:solidFill>
                  <a:srgbClr val="0F116A"/>
                </a:solidFill>
              </a:rPr>
            </a:br>
            <a:r>
              <a:rPr lang="en-US" sz="2000" b="1">
                <a:solidFill>
                  <a:srgbClr val="0F116A"/>
                </a:solidFill>
              </a:rPr>
              <a:t>digestion</a:t>
            </a:r>
          </a:p>
        </p:txBody>
      </p:sp>
      <p:pic>
        <p:nvPicPr>
          <p:cNvPr id="367622" name="Picture 6" descr="41-11-ExtraCellDigest-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2563" y="3663950"/>
            <a:ext cx="2162175" cy="2736850"/>
          </a:xfrm>
          <a:prstGeom prst="rect">
            <a:avLst/>
          </a:prstGeom>
          <a:noFill/>
          <a:extLst>
            <a:ext uri="{909E8E84-426E-40DD-AFC4-6F175D3DCCD1}">
              <a14:hiddenFill xmlns:a14="http://schemas.microsoft.com/office/drawing/2010/main">
                <a:solidFill>
                  <a:srgbClr val="FFFFFF"/>
                </a:solidFill>
              </a14:hiddenFill>
            </a:ext>
          </a:extLst>
        </p:spPr>
      </p:pic>
      <p:sp>
        <p:nvSpPr>
          <p:cNvPr id="367623" name="Rectangle 7"/>
          <p:cNvSpPr>
            <a:spLocks noChangeArrowheads="1"/>
          </p:cNvSpPr>
          <p:nvPr/>
        </p:nvSpPr>
        <p:spPr bwMode="auto">
          <a:xfrm>
            <a:off x="6586538" y="6261100"/>
            <a:ext cx="2066925" cy="581025"/>
          </a:xfrm>
          <a:prstGeom prst="rect">
            <a:avLst/>
          </a:prstGeom>
          <a:solidFill>
            <a:srgbClr val="FFCC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80000"/>
              </a:lnSpc>
            </a:pPr>
            <a:r>
              <a:rPr lang="en-US" sz="2000" b="1">
                <a:solidFill>
                  <a:srgbClr val="0F116A"/>
                </a:solidFill>
              </a:rPr>
              <a:t>extracellular</a:t>
            </a:r>
            <a:br>
              <a:rPr lang="en-US" sz="2000" b="1">
                <a:solidFill>
                  <a:srgbClr val="0F116A"/>
                </a:solidFill>
              </a:rPr>
            </a:br>
            <a:r>
              <a:rPr lang="en-US" sz="2000" b="1">
                <a:solidFill>
                  <a:srgbClr val="0F116A"/>
                </a:solidFill>
              </a:rPr>
              <a:t>digestion</a:t>
            </a:r>
          </a:p>
        </p:txBody>
      </p:sp>
    </p:spTree>
    <p:extLst>
      <p:ext uri="{BB962C8B-B14F-4D97-AF65-F5344CB8AC3E}">
        <p14:creationId xmlns:p14="http://schemas.microsoft.com/office/powerpoint/2010/main" val="3761354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260648"/>
            <a:ext cx="7772400" cy="914400"/>
          </a:xfrm>
        </p:spPr>
        <p:txBody>
          <a:bodyPr/>
          <a:lstStyle/>
          <a:p>
            <a:r>
              <a:rPr lang="en-AU" dirty="0"/>
              <a:t>Digestion</a:t>
            </a:r>
          </a:p>
        </p:txBody>
      </p:sp>
      <p:sp>
        <p:nvSpPr>
          <p:cNvPr id="3" name="Content Placeholder 2"/>
          <p:cNvSpPr>
            <a:spLocks noGrp="1"/>
          </p:cNvSpPr>
          <p:nvPr>
            <p:ph idx="1"/>
          </p:nvPr>
        </p:nvSpPr>
        <p:spPr>
          <a:xfrm>
            <a:off x="539552" y="4869160"/>
            <a:ext cx="8352928" cy="1872208"/>
          </a:xfrm>
        </p:spPr>
        <p:txBody>
          <a:bodyPr>
            <a:normAutofit/>
          </a:bodyPr>
          <a:lstStyle/>
          <a:p>
            <a:r>
              <a:rPr lang="en-AU" dirty="0"/>
              <a:t>Important to understand the difference between mechanical and chemical digestion</a:t>
            </a:r>
          </a:p>
          <a:p>
            <a:pPr lvl="1"/>
            <a:r>
              <a:rPr lang="en-US" b="1" dirty="0"/>
              <a:t>mechanical digestion </a:t>
            </a:r>
            <a:r>
              <a:rPr lang="en-US" dirty="0"/>
              <a:t>- breaking up food into smaller pieces.  </a:t>
            </a:r>
            <a:r>
              <a:rPr lang="en-US" dirty="0" err="1"/>
              <a:t>Eg</a:t>
            </a:r>
            <a:r>
              <a:rPr lang="en-US" dirty="0"/>
              <a:t>. Chewing the food.</a:t>
            </a:r>
          </a:p>
          <a:p>
            <a:pPr lvl="1"/>
            <a:r>
              <a:rPr lang="en-US" b="1" dirty="0"/>
              <a:t>chemical digestion </a:t>
            </a:r>
            <a:r>
              <a:rPr lang="en-US" dirty="0"/>
              <a:t>- breaking down food into molecules small enough to be absorbed into cells.  This involves chemical reactions and requires enzymes.</a:t>
            </a:r>
          </a:p>
          <a:p>
            <a:endParaRPr lang="en-AU" dirty="0"/>
          </a:p>
        </p:txBody>
      </p:sp>
      <p:pic>
        <p:nvPicPr>
          <p:cNvPr id="1026" name="Picture 2" descr="http://image.slidesharecdn.com/digestion-131209012039-phpapp02/95/digestion-6-638.jpg?cb=1386552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052736"/>
            <a:ext cx="4987342"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708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OZONE Digestive system rotate 1.mpg" descr="/Users/timothylind/Desktop/Digestive system/BIOZONE Digestive system rotate 1.mpg">
            <a:hlinkClick r:id="" action="ppaction://media"/>
          </p:cNvPr>
          <p:cNvPicPr>
            <a:picLocks noChangeAspect="1" noChangeArrowheads="1"/>
          </p:cNvPicPr>
          <p:nvPr>
            <a:videoFile r:link="rId1"/>
          </p:nvPr>
        </p:nvPicPr>
        <p:blipFill>
          <a:blip r:embed="rId3">
            <a:extLst>
              <a:ext uri="{28A0092B-C50C-407E-A947-70E740481C1C}">
                <a14:useLocalDpi xmlns:a14="http://schemas.microsoft.com/office/drawing/2010/main" val="0"/>
              </a:ext>
            </a:extLst>
          </a:blip>
          <a:srcRect/>
          <a:stretch>
            <a:fillRect/>
          </a:stretch>
        </p:blipFill>
        <p:spPr bwMode="auto">
          <a:xfrm>
            <a:off x="6516216" y="1308549"/>
            <a:ext cx="2029562" cy="507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55576" y="260648"/>
            <a:ext cx="7406640" cy="1356360"/>
          </a:xfrm>
        </p:spPr>
        <p:txBody>
          <a:bodyPr/>
          <a:lstStyle/>
          <a:p>
            <a:r>
              <a:rPr lang="en-AU" dirty="0"/>
              <a:t>Human Digestive System</a:t>
            </a:r>
          </a:p>
        </p:txBody>
      </p:sp>
      <p:sp>
        <p:nvSpPr>
          <p:cNvPr id="3" name="Content Placeholder 2"/>
          <p:cNvSpPr>
            <a:spLocks noGrp="1"/>
          </p:cNvSpPr>
          <p:nvPr>
            <p:ph idx="1"/>
          </p:nvPr>
        </p:nvSpPr>
        <p:spPr>
          <a:xfrm>
            <a:off x="539552" y="1772816"/>
            <a:ext cx="5832648" cy="4968552"/>
          </a:xfrm>
        </p:spPr>
        <p:txBody>
          <a:bodyPr>
            <a:normAutofit/>
          </a:bodyPr>
          <a:lstStyle/>
          <a:p>
            <a:pPr>
              <a:tabLst>
                <a:tab pos="1025525" algn="l"/>
                <a:tab pos="1487488" algn="l"/>
              </a:tabLst>
            </a:pPr>
            <a:r>
              <a:rPr lang="en-US" dirty="0"/>
              <a:t>The role of the digestive system to ingest food, digest it, absorb nutrients from the food, and eliminate undigested material.</a:t>
            </a:r>
          </a:p>
          <a:p>
            <a:pPr>
              <a:tabLst>
                <a:tab pos="1025525" algn="l"/>
                <a:tab pos="1487488" algn="l"/>
              </a:tabLst>
            </a:pPr>
            <a:r>
              <a:rPr lang="en-US" dirty="0"/>
              <a:t>The organs of the digestive system can be divided into two groups:</a:t>
            </a:r>
          </a:p>
          <a:p>
            <a:pPr lvl="1">
              <a:tabLst>
                <a:tab pos="1025525" algn="l"/>
                <a:tab pos="1487488" algn="l"/>
              </a:tabLst>
            </a:pPr>
            <a:r>
              <a:rPr lang="en-US" dirty="0"/>
              <a:t>Those that make up the </a:t>
            </a:r>
            <a:r>
              <a:rPr lang="en-US" b="1"/>
              <a:t>alimentary canal </a:t>
            </a:r>
            <a:r>
              <a:rPr lang="en-US"/>
              <a:t>itself</a:t>
            </a:r>
            <a:r>
              <a:rPr lang="en-US" dirty="0"/>
              <a:t>: mouth pharynx, </a:t>
            </a:r>
            <a:r>
              <a:rPr lang="en-US" dirty="0" err="1"/>
              <a:t>oesophagus</a:t>
            </a:r>
            <a:r>
              <a:rPr lang="en-US" dirty="0"/>
              <a:t>, stomach, small intestine, large intestine rectum, and anus.</a:t>
            </a:r>
          </a:p>
          <a:p>
            <a:pPr lvl="1">
              <a:tabLst>
                <a:tab pos="1025525" algn="l"/>
                <a:tab pos="1487488" algn="l"/>
              </a:tabLst>
            </a:pPr>
            <a:r>
              <a:rPr lang="en-US" dirty="0"/>
              <a:t>Accessory organs: tongue, salivary glands, pancreas, liver, and gall bladder.</a:t>
            </a:r>
          </a:p>
          <a:p>
            <a:pPr>
              <a:tabLst>
                <a:tab pos="1025525" algn="l"/>
                <a:tab pos="1487488" algn="l"/>
              </a:tabLst>
            </a:pPr>
            <a:r>
              <a:rPr lang="en-US" dirty="0"/>
              <a:t>The GI tract performs all digestive functions.</a:t>
            </a:r>
          </a:p>
          <a:p>
            <a:pPr>
              <a:tabLst>
                <a:tab pos="1025525" algn="l"/>
                <a:tab pos="1487488" algn="l"/>
              </a:tabLst>
            </a:pPr>
            <a:r>
              <a:rPr lang="en-US" dirty="0"/>
              <a:t>The accessory organs assist in digestion, e.g. through secretion of enzyme-rich fluids.</a:t>
            </a:r>
          </a:p>
          <a:p>
            <a:endParaRPr lang="en-AU" dirty="0"/>
          </a:p>
        </p:txBody>
      </p:sp>
    </p:spTree>
    <p:extLst>
      <p:ext uri="{BB962C8B-B14F-4D97-AF65-F5344CB8AC3E}">
        <p14:creationId xmlns:p14="http://schemas.microsoft.com/office/powerpoint/2010/main" val="1653111177"/>
      </p:ext>
    </p:extLst>
  </p:cSld>
  <p:clrMapOvr>
    <a:masterClrMapping/>
  </p:clrMapOvr>
  <p:timing>
    <p:tnLst>
      <p:par>
        <p:cTn id="1" dur="indefinite" restart="never" nodeType="tmRoot">
          <p:childTnLst>
            <p:video>
              <p:cMediaNode>
                <p:cTn id="2" repeatCount="indefinite" fill="hold" display="0">
                  <p:stCondLst>
                    <p:cond delay="indefinite"/>
                  </p:stCondLst>
                  <p:endCondLst>
                    <p:cond evt="onPrev" delay="0">
                      <p:tgtEl>
                        <p:sldTgt/>
                      </p:tgtEl>
                    </p:cond>
                  </p:endCondLst>
                </p:cTn>
                <p:tgtEl>
                  <p:spTgt spid="4"/>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755576" y="332656"/>
            <a:ext cx="7406640" cy="1356360"/>
          </a:xfrm>
        </p:spPr>
        <p:txBody>
          <a:bodyPr/>
          <a:lstStyle/>
          <a:p>
            <a:r>
              <a:rPr lang="en-US" dirty="0"/>
              <a:t>Human Digestive System</a:t>
            </a:r>
          </a:p>
        </p:txBody>
      </p:sp>
      <p:sp>
        <p:nvSpPr>
          <p:cNvPr id="377859" name="Rectangle 3" descr="Rectangle: Click to edit Master text styles&#10;Second level&#10;Third level&#10;Fourth level&#10;Fifth level"/>
          <p:cNvSpPr>
            <a:spLocks noGrp="1" noChangeArrowheads="1"/>
          </p:cNvSpPr>
          <p:nvPr>
            <p:ph idx="1"/>
          </p:nvPr>
        </p:nvSpPr>
        <p:spPr>
          <a:xfrm>
            <a:off x="914400" y="2105024"/>
            <a:ext cx="4809728" cy="4250535"/>
          </a:xfrm>
        </p:spPr>
        <p:txBody>
          <a:bodyPr>
            <a:normAutofit/>
          </a:bodyPr>
          <a:lstStyle/>
          <a:p>
            <a:r>
              <a:rPr lang="en-US" dirty="0"/>
              <a:t>Digestion starts in the mouth</a:t>
            </a:r>
          </a:p>
          <a:p>
            <a:r>
              <a:rPr lang="en-US" dirty="0"/>
              <a:t>Functions of the mouth</a:t>
            </a:r>
          </a:p>
          <a:p>
            <a:pPr lvl="1"/>
            <a:r>
              <a:rPr lang="en-US" dirty="0"/>
              <a:t>Mechanical digestion - </a:t>
            </a:r>
            <a:r>
              <a:rPr lang="en-US" b="1" dirty="0"/>
              <a:t>Teeth</a:t>
            </a:r>
            <a:r>
              <a:rPr lang="en-US" dirty="0"/>
              <a:t> break up food up into smaller pieces and mix it with saliva.</a:t>
            </a:r>
          </a:p>
          <a:p>
            <a:pPr lvl="1"/>
            <a:r>
              <a:rPr lang="en-US" dirty="0"/>
              <a:t>Chemical digestion – The enzyme </a:t>
            </a:r>
            <a:r>
              <a:rPr lang="en-US" b="1" dirty="0"/>
              <a:t>salivary amylase enzyme breakdowns starch</a:t>
            </a:r>
            <a:r>
              <a:rPr lang="en-US" dirty="0"/>
              <a:t>.</a:t>
            </a:r>
          </a:p>
          <a:p>
            <a:pPr lvl="1"/>
            <a:r>
              <a:rPr lang="en-US" dirty="0"/>
              <a:t>Produce mucus  to protect soft lining of digestive system and lubricates food for easier swallowing.</a:t>
            </a:r>
          </a:p>
          <a:p>
            <a:pPr lvl="1"/>
            <a:r>
              <a:rPr lang="en-US" dirty="0"/>
              <a:t>Anti-bacterial chemicals to kill bacteria that enter mouth with food.</a:t>
            </a:r>
          </a:p>
        </p:txBody>
      </p:sp>
      <p:pic>
        <p:nvPicPr>
          <p:cNvPr id="377860" name="Picture 4"/>
          <p:cNvPicPr>
            <a:picLocks noChangeAspect="1" noChangeArrowheads="1"/>
          </p:cNvPicPr>
          <p:nvPr/>
        </p:nvPicPr>
        <p:blipFill>
          <a:blip r:embed="rId3">
            <a:extLst>
              <a:ext uri="{28A0092B-C50C-407E-A947-70E740481C1C}">
                <a14:useLocalDpi xmlns:a14="http://schemas.microsoft.com/office/drawing/2010/main" val="0"/>
              </a:ext>
            </a:extLst>
          </a:blip>
          <a:srcRect r="62100" b="55814"/>
          <a:stretch>
            <a:fillRect/>
          </a:stretch>
        </p:blipFill>
        <p:spPr bwMode="auto">
          <a:xfrm>
            <a:off x="5970705" y="1472782"/>
            <a:ext cx="2944651" cy="227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AutoShape 2" descr="data:image/jpeg;base64,/9j/4AAQSkZJRgABAQAAAQABAAD/2wCEAAkGBxQSEhUUExQVFhQXGBoYGBgWGB0aGBgZGRsXGx0WGhgYHSggHBolGxgYIjEiJSktLi4uGh8zODMsNygtLisBCgoKDg0OGxAQGy0kHyUvLCw3LC8sLC0sLC4wNC0sLCssNSwvLCwsLDQtLCwsLCwsLCwsLDQvLCwsLCwsLCwsLP/AABEIAOoA1wMBIgACEQEDEQH/xAAbAAACAwEBAQAAAAAAAAAAAAAEBQADBgIBB//EAE8QAAIBAgQCBAcKDAQFBAMAAAECEQADBBIhMQVBEyJRYQYUMlJxgZFCRVSEkpOhsbPRFRYjMzVidJTB0tTwU3LT4SSCorLxB2ODwjRDc//EABkBAQADAQEAAAAAAAAAAAAAAAADBAUCAf/EADMRAAIBAgMFBgYCAgMAAAAAAAABAgMRBCExEhNBUXEiYYGh0fAFFCORweEysVJiFTNC/9oADAMBAAIRAxEAPwD6jxnE4g4qzh7Fy1bz2b11muWjc/NPh1CgC4kT0xM9wrvxLH/C8N+6N/U15i/0phv2TF/a4Gn1AIvEsf8AC8N+6N/U1PEsf8Lw37o39TT2pQCLxLH/AAvDfujf1NTxLH/C8N+6N/U09rl5jSgET4XHjfGYb90f+pr0YPH/AAvDfujf1NW4vEkmDy5d/wDZrnC4/Jvqv1eiudrM9sc+JY/4Xhv3Rv6mp4lj/heG/dG/qac2roYSDIrpmiujwSeJY/4Xhv3Rv6mp4lj/AIXhv3Rv6mjbvGbCmDdSewGfqmuPw9h/8VR6ZH1iuN5DmjvdT/xf2BfEsf8AC8N+6N/U1PEsf8Lw37o39TTBeLWSJ6W3H+YVy3F7XnT/AJQT9Qr3bjzG7nyYD4lj/heG/dG/qaniWP8AheG/dG/qasxPHreyMA52zgqoHnsTHVHZzOnaR3ZwqMJN2486lhecA9phGCgdwFeqSejPHGS1RR4lj/heG/dG/qaniWP+F4b90b+pqoqhmGuxsPy972/nOf3VauEQ6ZrsnQDp73+psKXPLHPinEJjxvDd/wDwjf1NdeJY/wCF4b90b+po21wlAIzXT3m9dkk/89RuEW+298/e/nr08FrW8aGCHG4TORIXxVsxGuoHjUxofZVnieP+F4b90b+przH4JFdW6bosir5RJkKSFzuzddczbNJ7Cs1SPB0uGJvAhoIIUkMpCaN1tVBUlQDoWJk0Bd4rj/hmG/dG/qa68Sx/wvDfujf1Ne3PB/rAi6wEkmZJksWzKZ0bXKTr1SRpNObNsKoUCAAAPQKAS+JY/wCF4b90b+przht7EriWs37tq4OiFxTbsm0Qc5UgzdedPRT6k3vh8WH2hoBzUqVKAQ4v9KYb9kxf2uBp9SHF/pTDfsmL+1wNPZoD2pUmvJoD2pUmpQAXEMJmEqOsPpHZSG7I30/vsrV0k8IVRF6RjGoBgSTPYBuf4DuFcSSSudRu3ZC/DYxrZlY9B0DdxPI9/wDCgL1832PTuYBgoBAUjXKVE6xzMzoRoRXrMCAQQQQCCNQQdQQeYO81XcXON4YCA3cNlaNSv0jlzBgqxc45fpk9GooSz+/IJ8atroifT91cHHjspK1pVI6W4qE6wxAnlIJMHUHUV4+Nw6+7HdGYj1FQRWa61ROzVjXjShJXjdjg4kTsJ7x2fXXKcQUHlPZSzjN021Rke2VdQVXomuMx1JIYXkXLEb+0yBQNnGsd0Uemxr6P/wAmvZVnHK6TPY0lJX2W0aYcWBk5Rr3D+Gtc2LoY5klRqGjQMeyBoYmTPaB2xmLmNkEdQPBynojGYA5Zy3yd60oRl6qtbKjyTkYyOTT0upO885mp8M5VM207cipjbUkopNXC7dz1RqZ5RuT6BJ9FaDhmGI67AhmEAH3K8h6TufUPcisjdF73BtjKBcJ6Njs3UX87tKlj3BfQdLwnF3r9tXW5aE6EdE2jDQj8721ehOO1s8TOlTkobfAc1KC6O/8A4lr5pv8AVr0W7/8AiWvmm/1amIjnHcPW4QxLBhEFTqIZW9G6iicPaVFVVEKoCgdgAga0p4lhr5uI1syQmpLEJIDe4nQkkb5hpGkA0Nd8dYvlOXsHUOh6MjLI1fVwSTl02J1oDRzXtIXs4vMpDggxMZQPLPIg9To+zrFo1jZzhVYIocy2UZjpqY1Omm9AW0m98Piw+0NOaTe+HxYfaGgHNSpUoDO8SB/CNjLo3ieMidp6XAxPrrnDW8WJADAESDcYOQ0LIjpCIkHmAJ0C87sX+lMN+yYv7XA0+oDM2MbjHd4teQugYZVL5yCisW6wyDRiBrrsas6bHdKB0Y6PMJbqbZo0GcGMoJ2kEiJ1FaKpQGbxeNxK3CqIzZmaOrKCA0SxIgZQkET1mYGNKuN3GEsQgUZjlVgpOWbcEkPEw1w7+4Hbq+qUAm4fcxHWzKM0JIcwJ6+aCgYHqi2dNJJpLxa9dvX8hW1ksjMT0reV2/m9Ij661ePxAt23c+5Un2DasTfvG3YLHW5dkn0Df2kn21VxNRLJ9X76lzCU3J3XRe+gr4Zi7nSG3kQIxJADsQHIJ0/JaBzoR5xBGrNPV/iNwvksrbY6hnzsyqQQIA6MZyNZM5QdDmOZQPirOVAk9e4QWPMKpBgRsS2UT3NTvhXCjaZLbIRnBOaNAiAaADySDAAPnc40pUa1WUdha8+Rdr4ajGW23ly59/QUHhTzmfKWOpLMzGT35e/kAAIAAECijwFGEShJ5ASDt3A/2K1eN4Wue1lHVLnPJOwV2ETPulAPcT3UfisGlxYYegjyl7we2pfkbtuRH8+422W7Hzs4Oeitna0rJqJgZzAHb1ctNBwYoASCJ84aE9nr7DTnhfC8t13cSUhVPKTrnj0ER2Sae3LYdSrCQRBHaKU8CneUtTqrj2mlDT1zPnON4PnU6a66iqeH442epcMLsCR5J7f8h7Dtqdpra8G4aOj/AChLNLCdtFYqCO8gBpPbSLinAmuh4EshIaNJ0kaeiCI2nnUcqE6Vpw15EnzNLEJ06mnB8izheIUX3AZSjQqldVIQBBB22U+z0Sf4OXOhxFyyTo+q/wCYfev/AG1kuH3PycKIayf+lpIb25qf4rEfmb67jU+rQj6xXFKtntcnfwep3Vw9k4c1bxWj8TcV7XKNIBGx1rqtkwRLxbDZ7qxeFtlyOR2hGYiTI0MkR6ew0BZ4Q3RhExQkZWEFjoEgMJcnUjNvE7a6064lwm3fjPOgYaGNGR0PLzXah08HraiAzgyWzDJmlggPuY1CDlzPdABOCdLdpFzrCKEkkAErC8++PaKLtXAwDKQQdiDIPoIpU/g5aJkl4AYZZEdZQhO0+SBz5emWWFwwtrlXaWb1sxY/STQF1JvfD4sPtDTmk3vh8WH2hoBzUqVKAzvElJ4lYA3ODxgHzuBrk8HvplS246OJfUr1ssdVVWAJCHSNcx5me+ILPEsOJicHixPZN3A1Xd8GTmOW4uU5eq1uYCoyjZhmILSCdtN41A5wnD8WcrPeU9YTDEjLlcEL1dGLNv2CNNqMwGExSs5e8hEKEkFhpEll6usTqCJmY5VWng2FdGW4eq2YiPKJbMWkEQxhQTrKyIg0+FABdFiP8Wz8y3+tU6LEf4tn5lv9ajq8NAZrwme8EW2bls9IwGlpgYUgk/ndpyj11ncYHe+FzpFsAT0ZAhf/AJdp39FaTjj/AJdSdraT7T/4rHcWvEWXIBL3W6NANyX3j1Zh7KzcTK8n70/ZsYKn2V714/Y44Fgr2KvnEB7YRHQAm2xzdYZVA6TcAqxk7sRzNbfEY5rOU3spUtlDppqQxE22JI8n3JYmNhVXg5gvFrAtuVzAy0ecQrGO2JHpgVnv/UkGcOCwKk3CVA7BbAJ1MxLDlvtUsbYeg5tZ6vqQyXzeJUIvLRdEMeK+G1hMosk3iHGYWwSAsHMMx0zRy5EaxXi+HlmPzN/1hB9OesKLA3iNwI0OpGkjeTy5613mYb9Yexuf/Kx+T66zn8UqSfZsjTXwujH+V333/BrD4XuHuMLalGIIVmIZQAF1I01idvbuLvx4MfmVmP8AEMf9ndWUtiU03BiNiBruDr7k68/VXNtNf72ioX8Rrp5vyJI/D8M1p5s1fCPDIJbRb1t8w0Z1IKkyZeCQQCTMaxtrFabhd5biNdtzFxy2ogyuW3qDt+bFfNraTv8A76x/v/e2g8Ccwuvb6RlTKHCDLBYEZozAkaFdjz9dXcFjp1JqEyhjsDThT26fAWcbtvh8R0pRhh2d7bGJGTNE6ExBAbWCcsCZNOMPaJtNbMErJXvB5/TTvwnwpuYS7bRAzEBUXkSGGUT6hM7Cs14LYovbUMIZCbTA7groAfQBHpU1LUoqE7cH7aFKu6tK71jb9P8AH2Np4P3s2HtnmFyn0r1f4UypH4MPAuJ5rT8r/cGnlXqTvBGVXjao0SpUqVIREqVKlASk3vh8WH2hpzSb3w+LD7Q0A5qVKlAZ7iE/hLDxv4ni49PS4GqXbiCZcqrcJVM3kqobZgQXJnUmQYMD0EnF/pTDfsmL+1wNPqAR9LilF0kElUbJ1VhmHklQGmSNwYAOkxrVIvY3N+b6uViDKAkhuqCM25XflodueiqUBncNcx0pmWBm605PJDwNm5pJMag5YG4psem/9r/qoyvDQGL45duZrvkZpC6TyHLXvpRw+1cuY20qqjJh1zuSdFdwcsid9FI9Z5U4xbAuZiDccn0A7/RXHgNhnKXcQTHjD5l7RbSQJ7ySfUB21nxjt1ffX+7Gu3u6Dd+Fvvl/Vxy7XRLsLagCWJJgADUmG7BXy+9cvX7j3GYHMTlDh2KprCDM+kAnTtntmvp/hLh1fC3gwBi25HpCGCDy1rB2F0Gn9gD76g+K1HFRiuJ18KhHtT4qyA7Vm5PWNuJ5IQYnTUuR2cjRL2QeXo50YmF5nn9VXeLjlp/ZrG3cpao1d7bRkt2VFgae6P3/AMaFIjb+4/8AH1UwwxAtkdjiPXk/2qw2110B9VTyo7cU1yIVUab6isLp/fo/gf72K4QoN+0ToBcGoJBGhG47TAPaJB0osoCNh2jT6aHv4eA2k93rH3V1Sg6clJcDyclUi4vibZQEMBFAOpyhVEnziYknurEXC1riWIQqVS8OktnYOVCliOROZrk89p3FazglxWtW9SzoAGZwWYMVBMEzpqNjtApf4drls28QBLWLqNturSjD2NPqFb9VKdPa8TEwsnCrsvjl6eYZwV4xDDk1ufWD/ua0VZDCYxbd+0xM5kYKFEswgEQo1Ow15TrFPVu4ljIS1bXkrks/pbJ1Qe4FvTyph/4vqcYr+fgMZqTSfH4fEEh1YBlQnKpIDvqQolgoB0BLBtCYjelt08QjRes2aTNvqwIXQ6SQZ00kbQYqwVjVTXs1mb2KxauoKtla4FGVFJg3FGpBIFvoiTJhswOkCK6RscABlkyBrkjZutOaSkZdNGLE6gUBpKTe+HxYfaGqsAcW1xOkXLbAkyUJnkDlA11MjbRYq33w+LD7Q0A5qVKlAIcX+lMN+yYv7XA0+rP44xxLD/seL+1wNCW/CZjbbqq1wAxHkk5CwygMS6iIYggjSQCSABq6lJL3Hwi2SyCbi5iA4MQyKQsgFiC40gaK3OAQ/wAaxoej8oCAG553TeIOyGNDBPZFAaeuXNKOG8dF0P8Ak2GSJAhiZJXQDXlIPNSD2gXY7iMW3PR3dFb3B7DRnqV2YjjV7LhncmPyR1/zwp/7q0vgng3s4S0lxpbLMRquYlgp11iY1HI1j/Ca/wD8IQEbUIBKaaDNrpt1a3HD+KdIit0N8EqshkywSJjrETvuKpYaPbbfJe/I1MZP6MUub8reoB4bFxhwAwCm4quI1ZTMLM6dYKT2gEc9c9hbG3d6+726U08KsU9y5atdC4XrXMzZZJAK5VUNyzzJ7opZi8ebYKWkfMo6zDLmLa9RCWgAHSSRrzEVVxsVKrd6JW8SXBycaWzxbv4aZhbYYjdWGnMR9B151XlBGhmgraXCASjE6ExlMaTuT6dTznbYWPcZd0fu8n+fXeqEm1nZ2LEZLmGIAF7esD9I/j9Xt9eAdT/Zoew5Nt2IZYYDrZYkQT5LHu3/AI14EzE6abmdPp7vupvLJK2Z0s7sKt315T6uz+xXqXlbQHXsO59HI+qqku21Em5bWO0908hVeJw5YeTkU6yYzEciF2A2ILSe1RVmMZbN8iNyinbO464PjRa6hICmSuhZiRl6qKslmgjkdB6aYY3BtikKXFyWj2kNcO0EDyUMgEHrH/KazXDLxGePzygtnJlmjXrE8gTttDbCmWN8KbSkZc11iBLAN0S7dinMetpAO0FhWlh6sN3m8u8zMRRmquSz7gDwaAUYY6ZhcKMebQHQEnc6AATtW/FfNeEXnYFlW2oF4OF10zODHZpm5VuoxP8A7H/XTC6PP3p+Bjl21lb3f8lfF+H3LroVutbQBwwUspbMrLup3Egg7gr7B7fBn6VbhuHq58sM5JDPbbrS8RCZcoEc+4WYzDYhntkOFCqxbLOVmDIQuUsN1DDWQJOxigrd7HSCUAmAfJgAMwmJmSpB9K8tjbKRpqlKOEXsSfzyACBJMKd22ys2bQL5u/qDagPaTe+HxYfaGnANJ/fD4sPtDQDmpUqUAgxn6Tw37Ji/tcDTm1iUc9VgTlVtPNacreg5T7KTYz9J4b9kxf2uBqx/By2whmcwotjUA9GoOVNBrBIaTrKjsigG2Zc3LMNOU66x64n1VZNJG8HgWVy7SHLnYAsXDnblI21079aLt8IQe6vn04i9/PQDACl/hC0Ya9/kb6RFWfgtPOvfP3f56WeEeARcO5DXZ0Gt66d2A2L1xVdoN9xJRV6keqMd4T3AcOgGxPPUfmyNe7rRWwscRXIjujoSokDWAAD7kyR6u3asdxnCjJaHX1kfnHPmDm2mk0247ZQZLYz5mgfnbm3Pd/QPXWbSq7DlK/BGvXpbyMI2/wAuJ3xHHZs1/aBFsHfuO+8ktp3dlJBdFlczDMxOVF85hBJPYonXtn2E8Ywijo0XOZzH85c5AAe703NAXsJbC3R19Ojg9I8QWIHutQc2buzGq1VbdRyb0V/H7ktFbMEktXz4HdnPc8slu7ZFB7FGndMSaMW2AyIXALEDKSJ6xABUHXRiDpyzD0JuMhbFgZc4e5opFx+qIkt5XfAPIkHlWIsYcpeS/DOy3Fcgs2ZgG16xMzAI351zThD/ANu9/fMuLD1qsJSgkkvPofUkP/CzGvSa9nI/dQF/iFlbnR3bqJtlVjElgGzn2gCdAVMdxGFsqououY6go2dirW3BggFoMqV176yXhJbBxVw7+SvoKKimI/WB37aihGMc3wSXv7HOHoyrTcdNX/Xqa27hpWV1ETIMiI3kaRFA8J4n0Ti3IazcMAtoiMSBmQ81JIkCVJB1BmVPgzjArrbfW28ZQdrdzcGJjrGNY0JERJNaPF4RWvIzgFVYuwOxCAmDPLTWpYRSkpQ4uzPMRTlDahU5XT4hGNwXRXVdutDAEEQnpC6jvBYswjei/FQMSQw6t0Tz8tQAde8BT6datxlrPZKySyDLr5RA8gsd8xAEntzdleXmLWrd0bqA3rXRvomrE42k14+pSg7xT46egJhLRtveXsBYeqD7Jr6FbMgVi8Qn5bMB5ds+syD/ABrX4Bptof1R9Qq3hVa69+8ynjntbMvfvIA4zg71x1FtsqZGBOYgZiyRKjypXONdBM7xQ44VcFxfy75IjL0j5iuYkjXnqozTMc9qM4vwlb7ISxGSYgDmRseW3o17YIGHg5aBJhd5WEUFTrBzASSJIXsGgq6Z5Q3D8TkzG4xcEwgcrmQFwFMNAdk6OXnRsxGXauPwRimDHp2UsoAXpD1No1APWUgnNJzZiDsDWl0qTQFGAsFEysZMsdP1mZo+ml3vh8WH2hpzSb3w+LD7Q0A3Y1K9IqUAhxf6Uw37Ji/tcDQp4njEtqWtFnuKSAEZihyr5WVRl6x8kiRBljyKxn6Tw37Ji/tcDVVkY3LB0YLuwt6sE6sZTzeQ0xyy9tAdfhrEG4yiwcqi4R1XBYqbeUAlY1DNOnZ2GicJxS8zsrWD1Q20jMVaAVLQIbWJI23M6TBLiTcBuCFDtzGq5XjqrykrG55k8qcRQC/x698Gf5dv+el3hBibrWGmwwAgznTtH61aKl/HlnD3P8v8RUdVXhLoySl/2R6o+fYy4zPh1NttW7V5sg87u3onEYlnxRJQ9XTyl+/v+quMRpes+kf9xj6aLw6EX272n6B/fsrEd2rW4r+jeasteD5c+gNxK+xuOchlEVRquj3CAD7WFVs2cXBcFtDBXOzQFA8jmBuBznQ9lc41BcS5L5Ee6GzjfIrFly98hCOyJ1gAr+nVTNtY5TMtz3c6nUzr6qldWFON3qz2lRlPJPS34FnhOXu3QFBhFAEjckZid4idPV3UlTC3cwRBmZtgOsS3mgDWYk6VsbPSOYUxpqWOijTUn+576JOLaMlskzoWM5iJ2EeSvcN9Jmqqld7T06fs044idKCpxtkU8K4diraBHxFqwAoCowW5cRd4BAJHokxrFKeJeDl9Q7oy3xqT0c5wJ16jCTpzE/TT63hynVAA9PoGnMc/q9NVm48zse0evT6O70aTUrlFqzRWp1KkJuUGs+5Wf58zFYHD3rkFJYaaraZgDI8xj2fTWyOJvG0rMFLGFceL3ZA1ltbu0gepjXuLm+OqSLo3SYFwc9JjPrvz2OuoAs3jOhMjt3Ecu41y6qpO6V0zuqpYhZuzXDMYcO4ndN1VzWyr9QsbbN5Xkg/luTkAdgY9tNMC9wIylrfUciDbbZv/AJe+lEm5GY9YRDRqCNRrz1j/AGp3hLDXXYopIYBuwAgnST2yfZ6YnVVzScczPrUow1yXU8UXB0YzJozIPybbZWP+L3CtXw9bptJD29v8Nv8AUrMcSDW2sqwgm4Dy8kAqSYP6w9orWcGP5FfX9Zq9h8m0Z2LzgmuYJxPhly4VcPFxEOQjqjpJBBMhiF0APcSDNBXMLjCxAvKpykqCVJDdfJmAUZhB17SlHcaw9tnQvfNorLQHVcyrq0ht16PpFPYHJ0IBAHDMBZsk/wDEoSzQIKqZClYUSYaXmBzO2tXCgWnDYqAOmlxMgFAwWREE2yAdIJIO3brTfhtu4qflWzPLEkREEmAIA0yxvr3mlfBTh7K5xesnOgIYFVXIsnTrGF1ZjruXOk01OPtyB0iSdQMwkiAZGvYR7aAKpN74fFh9oab27gYAggg7EGQfXSj3w+LD7Q0A5qVKlAIcX+lMN+yYv7XA0+pDi/0phv2TF/a4Gn1ASpUqUBKF4mma1cHap+qiq8avGrqx6nZ3PmGJg4jC6gBmUSf81sj171u3trouVchBnTsiPXzmsRx7C5bRiZsuYjQ9QldD2xB9VbhXJVWQgr9YPup+mqeEjbaT98DSx0rqDXf/AHf8nznGqDfa3mi3bdkG50VjvzLRAnnqa8v20jqs3LU253n9bs2neif/AFDwbLiFuKIzoNRzKyG9YEemR2UiUtpMyRy39Q9nPv2rKr9iq01c28Ot7QhKMrZefEPuYrXLGVBrE89hJgSeXrgADQN+F2AozsNeQ/j6fqpbwbA5mzNrvHZ2b8zuPbTrFnQKOeg+gfxr2lBtbyRHXkl9OIRY1IbtDx9Y+gVw9sTB/vs9f+1TB7qo8w/9jH+NdHUA+3+NXYrs++4p37Qp4pg8kOug0nuMxHrJ9p9EhtdVyGJVWJE/rCDLf5gQNe/UTrWjuHkdjoR6ZGoPs9VIMbw8ySssPXmG+h7fSPXzJq16ds4/YtUaillL7nDnL5JBPd7dJG9bHwStE4cnbM2hkg6R/En0zXz/ACFTrcb0RbnQgeZ2x9FfSOCYQnD2SL10DIp0W0BJE6A2p3JqfAJOo2uRW+KSapJW1Z54R2wVtaai4CO3yXJH/SPZTTgv5pfSfrNZ3j1o9Jam9cPVc6i3G6KDpbiYY+0074dgX6JIv3RImALWk6/4VaKs6jMmd1Rj1Ccbw5LjS07QQDo0TE+gsSI7edDNwFC2bM8QVIkQVLBwkxOUMD39Y6xXOP4OXyNmD3EJIdwoeDuodEGWfOAkb8qCxuAxQtgrcZnMyq3Mo8mEgmNA+p87mI2mKwe/g9ZLq5BlcpGukquQH5Pt07BHScDt5WVpOdmZjJB6xbqgzIAVso10AFUDh+JN1WN78mrk5Qx1WZEjLBOXq5T2zMgQ7FAV4e0EUKNlECewbD2Uq98Piw+0NOaTe+HxYfaGgHNSpUoBDi/0phv2TF/a4Gn1IcX+lMN+yYv7XA0+oCVKlSgJXhr2vDQGR4zhx0t1WHVeCfQ4yn/tb21X4FcQZ7L27gObDP0DHSHKBYZY2lCpI79KY+EluLltuTBkJ79GX6A9Z3DYlMJi+kuuLdjEpkZmOVFv2/JZidBntmJ7U13FVY9moaLW8oLn6foeeEOEt4iw46pa2T3kZdxHoE+oVhfwayCfcHQty9B7P71r6GMfbdYWbgYELlRirA6aXQMgB5SRWN4ffvrKi3F1Dku27jgAxGoyBwdCDykEdtV8bh4ykpPiS4DEyhBwLrVzKIXkI7NNO7+5rpPKXaJJPqB29g9lF2bFu5ov5NtiI0nmI5VxfwLpqRtzG1Q7uWyuSLm8i3bRneEf8t/yv9CkVYTEjfX6DuKH4Ic1xyASRbYgCJk5dpIHPtqnG40q5HRuJO02+Y//AKf3NSRl9Pa7yNr6jguSDGuCJO3960vx9oxI9UaeoH++VWcNd7gKpadh2gpAPOTnq2BY6zI7voFEoQDt1Rn1bX6K8a2434HSmoSsteQFb4RLLnks5AC9kkAFufME9nrivoakgnbKBp9P1QPbWL4fbe5iFLI5KddgCkKQYRZzcySe+Dypt4TcduYWx0osMxkLBZIJbydmJ3+s1Zw0Iwi5aFDGTlVqRis36iq7i2uXr5J0S6baDuQtO5MzcLCdNAo5VvLKwoHYAPZXzzhVpx0SlCzlgXIKjM5OdzvzbMa3Hjdz4O/y7f8ANXdC7cmyPGWSjFcA+pSvEcQdYlGBKkhYzGQ0RKyNtaBu+EF1TDWIbkoZiWlC8LCakRlPftJEVZKRoqlIrfGrj3Mi2nCz5ZVoI6VU5qN0JadtOetPaAlJvfD4sPtDTmk3vh8WH2hoBvcWRUrqpQCHF/pTDfsmL+1wNU4HwiaB0gV8yKwNpSOuYzWILNNwb7jTkImrMb+k8N+yYv7XA1WMfiyADagypLBDlCgvnhWaTEII0JkkTvQBFrjxIuHIkIEIK3JU53dCS2UAIuWS2vutNNTOE417qszLlGYZRBnKUQ6zuZLbcopeMVjIzFEPldUIQxgHK8m5pJg5eW086lrF4vLLWwOtBhSxgFfygGYTIJ0gERPdQBOK4tdV2RMLdaNnJVbZPYCGL/8ARyqo4vENuMg10W0zkeh2ZRPpQ0LhcRjFy50LbZpAPVBOZwVbVoywse6kTEC3xjGZ0HRgKwGcnKchJMxDa5QBpPPnyAD4/YLWWLHEsVIcZoQAAifzQT3M70lxeES7aYdGRnXyoEhxs2acxggc+2vod+2GUqdiCD6CKw+AUo1yyx1QmO3Tb6I9tVK+UlfjkaGEbcXbVZlng34TKbK2rquLtodGynLJydWZzeVpBHaDyiq/CTCszG/bt3xcVRmBCBXUTqOto4HMzIEdhCnimFy4i1fWAGMGdALir1Z7Jif+Q9prc4THLedkUN1VUnMCNXLDLrzGTX/MsGvKT3sXTnw09TuvDcyVSnx17ua6GHw3F0vgZrdwPsGXoxPdDXPoNM8Nxa6g1sXnX/4vom9Nd+FHgyzMlzCqgckq6+ShEEhyANxBGgnrA8jS+3w/HWjrZZhp1rThgO7KSH0jsjX0xC1UpSs4370TXp1Y3U0u58BjgLytfLpbNoMrKQSDuEIYqpIEGQYMaVRiBb6TO6h26qhCdAOsS5HuuQjaqLePvkA+L3iDz6FuwGdtqKw2MvXNbdhiJicsaiQRLGBHPXT2x5tpq1u/Q7UdnO65ahT8QuuMttMixEnRRHbpPspZfuC2cxfNc2zHRV/yjlofSfXRVjB4m/rDIslesQCSpKnqiSACCPVpI1LLg/g+lm8Wdw9wrKaRljR8ok+cgnsPeZ6VOdR+pw61KlF5rovyy3wcwYS2Lhk3HVWbcEDUqhU8xmMyNyfQM3x7iZxWLFjKRbwrF7hPu7iyEHcupOup7uek8LOL+KWxcC5icyDXQGMwZu0DKfaPSMrwy2bVsveY9JeYu5O5J2UKBJMe5AmZAHKpqrUUqUSPCwbbrz8Ov6Q/4CmbEL+qrN7dBWwrHeCmMTPdaLsABR+Rujn2FO6tKeKJ2Xfmbv8AJXeGXYv3sq4yV6luSB+LJiMwNgjyGEN5GaGKkjfVwik9haI3oO1411Xe2GK6AQmeCV2OaA2WZ1A05bUde4yq5SEcqdy0W8ozZASLpU6meWoBPMTPw7ZgkltBJhHPIkmVUggQZIkDSYkVYKgIhxcZcsHVi/VIGshQCZ7eWgjWdmnDxcy/ldWDMJ01XMcpMaSVih347ZAUs8SQNiYLCRMAxPadNqI4fxC3fXNabMsxIkawDzHYQZ76AKpN74fFh9oac0m98Piw+0NAOalQ1KAQY39J4b9kxf2uBoMWMc1pirgXZIU3CAPITkEMKbofcEgdo0o3F/pTDfsmL+1wNPYoBG2CxJK/lZGZWaSBEMhZRlTVIDgCZ11nk8FexUoCVKlSgPDWV8KMN0d1L45nI38D7JHqFauhuI4MXbbWzsw37DyPpBg1FWp7cbcSahV3c0+HHoY7FYXpc9nk4zKeQO4PyvrNeeCuOKSbk5lm243I8kj06hte+q1uMiiR17TQw/VmDEbgGPVrS/wiuGy3jCzkuBQ8ewN6Y0M9i9tUtq3bWqNlU94t0+OnX9o1tziQZ0ymEQ5mnQmQUnfyVDE67wOzUvi2JhCFaGcZVI3E+69Uz7O2sL4L8btvcJzCCIE78jz/AL1o6/i1B0EcoAiddzUvzPZuV5/D9mps8vM2GDvBrSmYgAN3EDUfRXGAxgdTMAgsewFczEGT3RPYZrO4vHAgkASYjtnlMc57asu4gW81siSp3I30n2zNSfMWsQfJ/cbYbiQz3AYCZuqVHaBOaN5MsCB7r1kLjHEFzIVYIUki4wgKT2zHV5GY335hfhMZq0gwToNjtvrQOOw5brNMjZmGx1jo00CnXytyNyaheIbiTLCKMzjFYy7jbyocpW2ZnIQszGilpO0SSBuRO1EXrYVi0liJGZtSR2DYAGBooA29NX8FwRt2uk1EjNsezq8uzl3mq8Hhmu3VSDqdT3b6ntiTUTlLZvxZYSgn/rH2zU+C+GyWATu5Ln/m2+iKcVxbUAAAQBoK6rRpx2IqPIxJz25OT4ibj162rL0ltWAU6sQoEkQCTplMc9JCczSq5icPiECW7TGIYqhRSA7PbhtdA0SY1gyDWix/QkhbuTVSRn06oKA6nlJT6K9s8QskdV00nSQPJY2zp2Zlyz3V2cCTC4nD3nVBZUSUBmJH5K4yzlOoAVliT5XpFaDC4VbYhAFBMwO3/wAAD1VWmIsuw6yFwSAJGYNlkiNw2X1xRdASk3vh8WH2hpzSb3w+LD7Q0A5qV5XtAIMZ+k8N+yYv7XA1w/hOFzZrbSoIbJrDICXGZoWAYAJI5zFd4v8ASeG/ZMX9rgatbjtghXM666qeoChcknaMo1gnVgOYoAdvCYdXqaF2QywBAW2bhOvPSMpg9sVMT4UokkKxUTO0gjUjsGgO8awNJkFDjOHEQRBHJTHVCmIAmVBBOnVA1iKtvcUtKAxPVJbrRA6h1Ou4nmN4mgL34igJBF2QY0s3SNOwhIPpFefhRPNvfMXf5K5bi9hVDPdS2GJA6Q9GSV0Ih4MiuPxgwnwnD/Op/NQFv4UTzb3zF3+SvDxNPNvfMXf5K4HHsL8JsfOp99e/hzDfCLHzqffQGa8JnUN0yLcgjK4Nm4N9J1SNdPWFpThMWGTo8lwnl+TuAiSAdchhRoZg69ugraY3i2Ea2yvfslSII6RdZ5CDM+iszhGsWxC3bXW3Ju25/VXRtgN+8k1UlQ+pfgXoYu1HZeq0AbtuYDWWufrjDuJMazbZJXuALeqhlxdgiQlzTmLd3Q8xBSB7KdYnittIVLtnN7ps6HLOyiTBaNTOwjmZA4u4W4c128jvoJa4pHbEkkwKjqQgpWS9CehiKjjeTy8wVQjQ3X3PlSpB7crAVfjlsXLhuPbRiQNWAOwE6x2mmNjCYYgFChHaMvLvHoq3orI5r7R/e9cxTWRO6sZWumzPNasCQLVkHkAizMeSBGtH4DwdRmD37duJ6qBRqO19PVHdPOAZeFgdYKhYbGAT6j91V4XiBDZZkHySdY/Uk69pHbqOyZIbO1aRBiXJwvCNl5gfEcAlodH0Vsr7hsiksBHVOnlDSe3Q8zlb+C3g3Zym5cs2yW8nqjbt25/wq9gLi5WHOQY1Uj3Q5c9uY02NO+HYjMIIhl0IG3cy/qnl6CNwalVNbe1cpyr/AEt2l4lX4Cw3+Ba+QPurocEw4/8A0WvkD7qPqVYKxn+NW8LbKC4CiqlxgVHUAJQNIHPrA7dtDBcKjNdJfqyxDDtcdcSskFliQY6vro/j1y2Hti5a6TMrCRGYAvZQgAkSD0mo5gEQZggWeJYV1z9BCtllmCwM2dgNW08lmIHafONegY8H4baBF1Mx0dFzEaKXJIEDbNJ1119VOKQYbj1oC2qJGcr0aqVEh85B1I80zE+UO2mfDMd0y5spTuaCdQrDySRsw+mvAGUm98Piw+0NOaTe+HxYfaGgHNSpUoBBi/0phv2TF/a4GmQ4TZC5cgiCI12IAPPuFLsX+lMN+yYv7XA0+oBe3BrJiU2mDmbNqFU9aZ1VQDrqJnc13iuF27iZCukMBHuc28UbUoCrD4dUEKNJJ3JMkySSdSZqyK9qUBKlSpQAmLwxuESYVYI725EjsG474OkCgb+GdT1RmPImYnkT3Dn6Kc1RYxlt5COjEEg5WBgiJBjYiR7a8aArveDysNHcNzJ1knUsRpqTJ0gdkUsv+Dt4eSyt6yp+o/XWrLgRPPQTzO8ewH2V6Khnh6cs7FiniqsFZMwt3g2I8xvap/8AtXn4CxBHkH1lR/8AatxevKilnYKo3LEAD0k14t9ScoIJ3gHUDbX11F8nHmyx/wAjV5L34mPs+DF8+U1tR7SPop1w7watW9XJuN+toPUo/jNNjiUDi3mXORmCSMxA3YLvE86l3Eos5mVYGYyQIXzjOw76khhoQd9epDVxlWorN5dwKnDoO+n00ZbtBdq8GIUrnzDJGbNIy5YnNm2iNZrtHB1BBHaNRU6SRVOqlSpXoPCK5FsbQIrupQHOQV6BXtSgJSb3w+LD7Q05pN74fFh9oaAc1K8NSgM1xfG27XEsM124ltThcUAXYKCelwJiWMTAPspl+MeE+FYf55P5qPewreUqn0gH6658Tt+YnyR91ABfjHhPhWH+eT+ap+MeE+FYf55P5qN8Tt+YnyR91TxO35ifJH3UAF+MeE+FYf55P5qn4x4T4Vh/nk/mo3xO35ifJH3VPE7fmJ8kfdQAX4x4T4Vh/nk/mqfjHhPhWH+eT+ajfE7fmJ8kfdU8Tt+YnyR91ABHwjwnwrD/ADyfzVm7XDuGK2bxu0esWg37UalTlAHkqCoMLGpJ3rY+J2/MT5I+6p4nb8xPkj7qAxK8G4XGuMRjB1a/ZLa9JJBiRpcbQQNjEia6fhXDCBOMQsGLZvGLcksIMxpG8aaZmjc1tPE7fmJ8kfdU8Tt+YnyR91AZG5geGN0IbF2mFlbaqDftmRacOpbt6w15HTSQCOcbw7hd1ndsVaDOzMSt+2pBcQwBGpB3IJMwOWlbDxO35ifJH3VPE7fmJ8kfdQGTxGF4a5TNi7RCKigdPbg9GrIrNzJyO4OsHMdJivMNhOHWxdC4y3+UbMScRbJVsyuCvIQyqYgjtmtb4nb8xPkj7qnidvzE+SPuoDG3uG8NcuzY1SzzmPjNsTKMmywOYbbRkQ8oovg44fhrrXExdjVMoU3rcKTcd2bQiS2ZBMTFtd60/idvzE+SPuqeJ2/MT5I+6gAvxjwnwrD/ADyfzVPxjwnwrD/PJ/NRvidvzE+SPuqeJ2/MT5I+6gAvxjwnwrD/ADyfzULxPjWGuWyqY3DoZBkXk5EHzu6m/idvzE+SPuqeJ2/MT5I+6gM1b4mgYE8Sw5UMDHS29VmSDrzGndrVIxiBpXidnKSSZvISAc3VWSRHW9Og1gRWr8Tt+YnyR91TxO35ifJH3UBmuHcSto6tc4jh3AkEdMkERAET26zM6d8ArBcQtXsextXbdwDDCejdWibhicp0p34nb8xPkj7q7t2FXyVUegAfVQHdSvalAf/Z"/>
          <p:cNvSpPr>
            <a:spLocks noChangeAspect="1" noChangeArrowheads="1"/>
          </p:cNvSpPr>
          <p:nvPr/>
        </p:nvSpPr>
        <p:spPr bwMode="auto">
          <a:xfrm>
            <a:off x="155575" y="-1943100"/>
            <a:ext cx="3714750" cy="404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028" name="Picture 4" descr="https://www-s.acm.illinois.edu/sigbio/project/digestive/early/mout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851" y="4083968"/>
            <a:ext cx="2312727"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096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F153-14E8-88FB-C867-4F804C615500}"/>
              </a:ext>
            </a:extLst>
          </p:cNvPr>
          <p:cNvSpPr>
            <a:spLocks noGrp="1"/>
          </p:cNvSpPr>
          <p:nvPr>
            <p:ph type="title"/>
          </p:nvPr>
        </p:nvSpPr>
        <p:spPr/>
        <p:txBody>
          <a:bodyPr/>
          <a:lstStyle/>
          <a:p>
            <a:r>
              <a:rPr lang="en-GB" dirty="0">
                <a:solidFill>
                  <a:srgbClr val="00B050"/>
                </a:solidFill>
              </a:rPr>
              <a:t>Lesson 2</a:t>
            </a:r>
            <a:endParaRPr lang="en-AU" dirty="0">
              <a:solidFill>
                <a:srgbClr val="00B050"/>
              </a:solidFill>
            </a:endParaRPr>
          </a:p>
        </p:txBody>
      </p:sp>
      <p:sp>
        <p:nvSpPr>
          <p:cNvPr id="3" name="Content Placeholder 2">
            <a:extLst>
              <a:ext uri="{FF2B5EF4-FFF2-40B4-BE49-F238E27FC236}">
                <a16:creationId xmlns:a16="http://schemas.microsoft.com/office/drawing/2014/main" id="{AA7EFF3B-9BEB-5AE7-C733-8F6FD63E4808}"/>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4157402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1"/>
          <p:cNvSpPr>
            <a:spLocks noGrp="1" noChangeArrowheads="1"/>
          </p:cNvSpPr>
          <p:nvPr>
            <p:ph type="title"/>
          </p:nvPr>
        </p:nvSpPr>
        <p:spPr>
          <a:xfrm>
            <a:off x="854072" y="349729"/>
            <a:ext cx="7406640" cy="1356360"/>
          </a:xfrm>
        </p:spPr>
        <p:txBody>
          <a:bodyPr/>
          <a:lstStyle/>
          <a:p>
            <a:r>
              <a:rPr lang="en-US" dirty="0"/>
              <a:t>Human Digestive </a:t>
            </a:r>
            <a:br>
              <a:rPr lang="en-US" dirty="0"/>
            </a:br>
            <a:r>
              <a:rPr lang="en-US" dirty="0"/>
              <a:t>System</a:t>
            </a:r>
          </a:p>
        </p:txBody>
      </p:sp>
      <p:sp>
        <p:nvSpPr>
          <p:cNvPr id="81922" name="Rectangle 2"/>
          <p:cNvSpPr>
            <a:spLocks noGrp="1" noChangeArrowheads="1"/>
          </p:cNvSpPr>
          <p:nvPr>
            <p:ph idx="1"/>
          </p:nvPr>
        </p:nvSpPr>
        <p:spPr>
          <a:xfrm>
            <a:off x="857251" y="2057400"/>
            <a:ext cx="4199313" cy="4038600"/>
          </a:xfrm>
        </p:spPr>
        <p:txBody>
          <a:bodyPr/>
          <a:lstStyle/>
          <a:p>
            <a:r>
              <a:rPr lang="en-US" dirty="0"/>
              <a:t>Swallowing sends food (now called a bolus) down into the </a:t>
            </a:r>
            <a:r>
              <a:rPr lang="en-US" b="1" dirty="0" err="1"/>
              <a:t>oesophagus</a:t>
            </a:r>
            <a:r>
              <a:rPr lang="en-US" dirty="0"/>
              <a:t>.</a:t>
            </a:r>
          </a:p>
          <a:p>
            <a:r>
              <a:rPr lang="en-US" dirty="0"/>
              <a:t>The features of the mouth and pharynx allow swallowing or breathing, but not at the same time.</a:t>
            </a:r>
          </a:p>
          <a:p>
            <a:r>
              <a:rPr lang="en-US" dirty="0"/>
              <a:t>As swallowing begins, the </a:t>
            </a:r>
            <a:r>
              <a:rPr lang="en-US" b="1" dirty="0"/>
              <a:t>epiglottis</a:t>
            </a:r>
            <a:r>
              <a:rPr lang="en-US" dirty="0"/>
              <a:t> is lowered so that food is directed down the </a:t>
            </a:r>
            <a:r>
              <a:rPr lang="en-US" dirty="0" err="1"/>
              <a:t>oesophagus</a:t>
            </a:r>
            <a:r>
              <a:rPr lang="en-US" dirty="0"/>
              <a:t>.</a:t>
            </a:r>
          </a:p>
          <a:p>
            <a:r>
              <a:rPr lang="en-US" dirty="0"/>
              <a:t>The tongue and muscles at the back of the throat contract to force food into the </a:t>
            </a:r>
            <a:r>
              <a:rPr lang="en-US" dirty="0" err="1"/>
              <a:t>oesophagus</a:t>
            </a:r>
            <a:r>
              <a:rPr lang="en-US" dirty="0"/>
              <a:t>.</a:t>
            </a:r>
          </a:p>
          <a:p>
            <a:endParaRPr lang="en-US" dirty="0"/>
          </a:p>
        </p:txBody>
      </p:sp>
      <p:sp>
        <p:nvSpPr>
          <p:cNvPr id="237572" name="Rectangle 3"/>
          <p:cNvSpPr>
            <a:spLocks/>
          </p:cNvSpPr>
          <p:nvPr/>
        </p:nvSpPr>
        <p:spPr bwMode="auto">
          <a:xfrm>
            <a:off x="7250906" y="1125141"/>
            <a:ext cx="1497559" cy="74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sz="1400" dirty="0">
                <a:cs typeface="Arial" charset="0"/>
              </a:rPr>
              <a:t>Breathing is possible through the nose and mouth when the epiglottis is raised.</a:t>
            </a:r>
          </a:p>
        </p:txBody>
      </p:sp>
      <p:grpSp>
        <p:nvGrpSpPr>
          <p:cNvPr id="237573" name="Group 10"/>
          <p:cNvGrpSpPr>
            <a:grpSpLocks/>
          </p:cNvGrpSpPr>
          <p:nvPr/>
        </p:nvGrpSpPr>
        <p:grpSpPr bwMode="auto">
          <a:xfrm>
            <a:off x="5233256" y="325696"/>
            <a:ext cx="1866970" cy="2760786"/>
            <a:chOff x="0" y="0"/>
            <a:chExt cx="2211" cy="3272"/>
          </a:xfrm>
        </p:grpSpPr>
        <p:pic>
          <p:nvPicPr>
            <p:cNvPr id="23757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 y="0"/>
              <a:ext cx="2195" cy="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237579" name="Freeform 5"/>
            <p:cNvSpPr>
              <a:spLocks/>
            </p:cNvSpPr>
            <p:nvPr/>
          </p:nvSpPr>
          <p:spPr bwMode="auto">
            <a:xfrm>
              <a:off x="0" y="1737"/>
              <a:ext cx="951" cy="108"/>
            </a:xfrm>
            <a:custGeom>
              <a:avLst/>
              <a:gdLst>
                <a:gd name="T0" fmla="*/ 0 w 21600"/>
                <a:gd name="T1" fmla="*/ 0 h 12565"/>
                <a:gd name="T2" fmla="*/ 0 w 21600"/>
                <a:gd name="T3" fmla="*/ 0 h 12565"/>
                <a:gd name="T4" fmla="*/ 0 60000 65536"/>
                <a:gd name="T5" fmla="*/ 0 60000 65536"/>
                <a:gd name="T6" fmla="*/ 0 w 21600"/>
                <a:gd name="T7" fmla="*/ 0 h 12565"/>
                <a:gd name="T8" fmla="*/ 21600 w 21600"/>
                <a:gd name="T9" fmla="*/ 12565 h 12565"/>
              </a:gdLst>
              <a:ahLst/>
              <a:cxnLst>
                <a:cxn ang="T4">
                  <a:pos x="T0" y="T1"/>
                </a:cxn>
                <a:cxn ang="T5">
                  <a:pos x="T2" y="T3"/>
                </a:cxn>
              </a:cxnLst>
              <a:rect l="T6" t="T7" r="T8" b="T9"/>
              <a:pathLst>
                <a:path w="21600" h="12565">
                  <a:moveTo>
                    <a:pt x="21600" y="3765"/>
                  </a:moveTo>
                  <a:cubicBezTo>
                    <a:pt x="21600" y="3765"/>
                    <a:pt x="12583" y="-9035"/>
                    <a:pt x="0" y="12565"/>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7580" name="Freeform 6"/>
            <p:cNvSpPr>
              <a:spLocks/>
            </p:cNvSpPr>
            <p:nvPr/>
          </p:nvSpPr>
          <p:spPr bwMode="auto">
            <a:xfrm>
              <a:off x="73" y="1028"/>
              <a:ext cx="665" cy="536"/>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21600" y="0"/>
                  </a:moveTo>
                  <a:cubicBezTo>
                    <a:pt x="21600" y="0"/>
                    <a:pt x="10248" y="4765"/>
                    <a:pt x="0" y="21600"/>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7581" name="Freeform 7"/>
            <p:cNvSpPr>
              <a:spLocks/>
            </p:cNvSpPr>
            <p:nvPr/>
          </p:nvSpPr>
          <p:spPr bwMode="auto">
            <a:xfrm>
              <a:off x="1034" y="1032"/>
              <a:ext cx="655" cy="449"/>
            </a:xfrm>
            <a:custGeom>
              <a:avLst/>
              <a:gdLst>
                <a:gd name="T0" fmla="*/ 0 w 21600"/>
                <a:gd name="T1" fmla="*/ 0 h 19093"/>
                <a:gd name="T2" fmla="*/ 0 w 21600"/>
                <a:gd name="T3" fmla="*/ 0 h 19093"/>
                <a:gd name="T4" fmla="*/ 0 60000 65536"/>
                <a:gd name="T5" fmla="*/ 0 60000 65536"/>
                <a:gd name="T6" fmla="*/ 0 w 21600"/>
                <a:gd name="T7" fmla="*/ 0 h 19093"/>
                <a:gd name="T8" fmla="*/ 21600 w 21600"/>
                <a:gd name="T9" fmla="*/ 19093 h 19093"/>
              </a:gdLst>
              <a:ahLst/>
              <a:cxnLst>
                <a:cxn ang="T4">
                  <a:pos x="T0" y="T1"/>
                </a:cxn>
                <a:cxn ang="T5">
                  <a:pos x="T2" y="T3"/>
                </a:cxn>
              </a:cxnLst>
              <a:rect l="T6" t="T7" r="T8" b="T9"/>
              <a:pathLst>
                <a:path w="21600" h="19093">
                  <a:moveTo>
                    <a:pt x="21600" y="19093"/>
                  </a:moveTo>
                  <a:cubicBezTo>
                    <a:pt x="21600" y="19093"/>
                    <a:pt x="11180" y="-2507"/>
                    <a:pt x="0" y="242"/>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7582" name="Freeform 8"/>
            <p:cNvSpPr>
              <a:spLocks/>
            </p:cNvSpPr>
            <p:nvPr/>
          </p:nvSpPr>
          <p:spPr bwMode="auto">
            <a:xfrm>
              <a:off x="1135" y="1766"/>
              <a:ext cx="564" cy="158"/>
            </a:xfrm>
            <a:custGeom>
              <a:avLst/>
              <a:gdLst>
                <a:gd name="T0" fmla="*/ 0 w 21600"/>
                <a:gd name="T1" fmla="*/ 0 h 19494"/>
                <a:gd name="T2" fmla="*/ 0 w 21600"/>
                <a:gd name="T3" fmla="*/ 0 h 19494"/>
                <a:gd name="T4" fmla="*/ 0 60000 65536"/>
                <a:gd name="T5" fmla="*/ 0 60000 65536"/>
                <a:gd name="T6" fmla="*/ 0 w 21600"/>
                <a:gd name="T7" fmla="*/ 0 h 19494"/>
                <a:gd name="T8" fmla="*/ 21600 w 21600"/>
                <a:gd name="T9" fmla="*/ 19494 h 19494"/>
              </a:gdLst>
              <a:ahLst/>
              <a:cxnLst>
                <a:cxn ang="T4">
                  <a:pos x="T0" y="T1"/>
                </a:cxn>
                <a:cxn ang="T5">
                  <a:pos x="T2" y="T3"/>
                </a:cxn>
              </a:cxnLst>
              <a:rect l="T6" t="T7" r="T8" b="T9"/>
              <a:pathLst>
                <a:path w="21600" h="19494">
                  <a:moveTo>
                    <a:pt x="21600" y="19494"/>
                  </a:moveTo>
                  <a:cubicBezTo>
                    <a:pt x="21600" y="19494"/>
                    <a:pt x="10977" y="-2106"/>
                    <a:pt x="0" y="168"/>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7583" name="Freeform 9"/>
            <p:cNvSpPr>
              <a:spLocks/>
            </p:cNvSpPr>
            <p:nvPr/>
          </p:nvSpPr>
          <p:spPr bwMode="auto">
            <a:xfrm>
              <a:off x="1754" y="1804"/>
              <a:ext cx="128" cy="1071"/>
            </a:xfrm>
            <a:custGeom>
              <a:avLst/>
              <a:gdLst>
                <a:gd name="T0" fmla="*/ 0 w 12755"/>
                <a:gd name="T1" fmla="*/ 0 h 21600"/>
                <a:gd name="T2" fmla="*/ 0 w 12755"/>
                <a:gd name="T3" fmla="*/ 0 h 21600"/>
                <a:gd name="T4" fmla="*/ 0 60000 65536"/>
                <a:gd name="T5" fmla="*/ 0 60000 65536"/>
                <a:gd name="T6" fmla="*/ 0 w 12755"/>
                <a:gd name="T7" fmla="*/ 0 h 21600"/>
                <a:gd name="T8" fmla="*/ 12755 w 12755"/>
                <a:gd name="T9" fmla="*/ 21600 h 21600"/>
              </a:gdLst>
              <a:ahLst/>
              <a:cxnLst>
                <a:cxn ang="T4">
                  <a:pos x="T0" y="T1"/>
                </a:cxn>
                <a:cxn ang="T5">
                  <a:pos x="T2" y="T3"/>
                </a:cxn>
              </a:cxnLst>
              <a:rect l="T6" t="T7" r="T8" b="T9"/>
              <a:pathLst>
                <a:path w="12755" h="21600">
                  <a:moveTo>
                    <a:pt x="9229" y="21600"/>
                  </a:moveTo>
                  <a:cubicBezTo>
                    <a:pt x="9229" y="21600"/>
                    <a:pt x="21600" y="9701"/>
                    <a:pt x="0" y="0"/>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pic>
        <p:nvPicPr>
          <p:cNvPr id="237574"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7363" y="3507135"/>
            <a:ext cx="1881528" cy="2800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237575" name="Rectangle 12"/>
          <p:cNvSpPr>
            <a:spLocks/>
          </p:cNvSpPr>
          <p:nvPr/>
        </p:nvSpPr>
        <p:spPr bwMode="auto">
          <a:xfrm>
            <a:off x="7250907" y="4723805"/>
            <a:ext cx="1497558" cy="1116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marL="80364">
              <a:tabLst>
                <a:tab pos="366104" algn="l"/>
              </a:tabLst>
            </a:pPr>
            <a:r>
              <a:rPr lang="en-US" sz="1400" dirty="0">
                <a:cs typeface="Arial" charset="0"/>
              </a:rPr>
              <a:t>When swallowing, the epiglottis is lowered, directing food into the esophagus. Breathing is not possible during this time.</a:t>
            </a:r>
          </a:p>
        </p:txBody>
      </p:sp>
      <p:sp>
        <p:nvSpPr>
          <p:cNvPr id="237576" name="Freeform 13"/>
          <p:cNvSpPr>
            <a:spLocks/>
          </p:cNvSpPr>
          <p:nvPr/>
        </p:nvSpPr>
        <p:spPr bwMode="auto">
          <a:xfrm>
            <a:off x="6929438" y="6000750"/>
            <a:ext cx="79251" cy="613916"/>
          </a:xfrm>
          <a:custGeom>
            <a:avLst/>
            <a:gdLst>
              <a:gd name="T0" fmla="*/ 2147483647 w 14988"/>
              <a:gd name="T1" fmla="*/ 2147483647 h 21600"/>
              <a:gd name="T2" fmla="*/ 0 w 14988"/>
              <a:gd name="T3" fmla="*/ 0 h 21600"/>
              <a:gd name="T4" fmla="*/ 0 60000 65536"/>
              <a:gd name="T5" fmla="*/ 0 60000 65536"/>
              <a:gd name="T6" fmla="*/ 0 w 14988"/>
              <a:gd name="T7" fmla="*/ 0 h 21600"/>
              <a:gd name="T8" fmla="*/ 14988 w 14988"/>
              <a:gd name="T9" fmla="*/ 21600 h 21600"/>
            </a:gdLst>
            <a:ahLst/>
            <a:cxnLst>
              <a:cxn ang="T4">
                <a:pos x="T0" y="T1"/>
              </a:cxn>
              <a:cxn ang="T5">
                <a:pos x="T2" y="T3"/>
              </a:cxn>
            </a:cxnLst>
            <a:rect l="T6" t="T7" r="T8" b="T9"/>
            <a:pathLst>
              <a:path w="14988" h="21600">
                <a:moveTo>
                  <a:pt x="13500" y="21600"/>
                </a:moveTo>
                <a:cubicBezTo>
                  <a:pt x="13500" y="21600"/>
                  <a:pt x="21600" y="10549"/>
                  <a:pt x="0" y="0"/>
                </a:cubicBezTo>
              </a:path>
            </a:pathLst>
          </a:custGeom>
          <a:noFill/>
          <a:ln w="38100">
            <a:solidFill>
              <a:srgbClr val="005481"/>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Tree>
    <p:extLst>
      <p:ext uri="{BB962C8B-B14F-4D97-AF65-F5344CB8AC3E}">
        <p14:creationId xmlns:p14="http://schemas.microsoft.com/office/powerpoint/2010/main" val="203362885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332656"/>
            <a:ext cx="7406640" cy="1356360"/>
          </a:xfrm>
        </p:spPr>
        <p:txBody>
          <a:bodyPr/>
          <a:lstStyle/>
          <a:p>
            <a:r>
              <a:rPr lang="en-AU" dirty="0"/>
              <a:t>Human Digestive System</a:t>
            </a:r>
          </a:p>
        </p:txBody>
      </p:sp>
      <p:sp>
        <p:nvSpPr>
          <p:cNvPr id="3" name="Content Placeholder 2"/>
          <p:cNvSpPr>
            <a:spLocks noGrp="1"/>
          </p:cNvSpPr>
          <p:nvPr>
            <p:ph idx="1"/>
          </p:nvPr>
        </p:nvSpPr>
        <p:spPr>
          <a:xfrm>
            <a:off x="914400" y="1783560"/>
            <a:ext cx="4809728" cy="4572000"/>
          </a:xfrm>
        </p:spPr>
        <p:txBody>
          <a:bodyPr>
            <a:normAutofit/>
          </a:bodyPr>
          <a:lstStyle/>
          <a:p>
            <a:r>
              <a:rPr lang="en-US" b="1" dirty="0"/>
              <a:t>Peristalsis</a:t>
            </a:r>
            <a:r>
              <a:rPr lang="en-US" dirty="0"/>
              <a:t> (involuntary muscle contractions to move food along) squeeze the food down the esophagus into the stomach. </a:t>
            </a:r>
          </a:p>
          <a:p>
            <a:r>
              <a:rPr lang="en-US" dirty="0"/>
              <a:t>The action of peristalsis actually moves food along the whole length of the gastrointestinal tract.</a:t>
            </a:r>
          </a:p>
          <a:p>
            <a:r>
              <a:rPr lang="en-AU" dirty="0"/>
              <a:t>Video showing peristalsis </a:t>
            </a:r>
            <a:r>
              <a:rPr lang="en-AU" sz="1800" dirty="0">
                <a:hlinkClick r:id="rId3"/>
              </a:rPr>
              <a:t>https://www.youtube.com/watch?v=rJS-Kh5wCQU</a:t>
            </a:r>
            <a:endParaRPr lang="en-AU" sz="1800" dirty="0"/>
          </a:p>
          <a:p>
            <a:pPr marL="68580" indent="0">
              <a:buNone/>
            </a:pPr>
            <a:endParaRPr lang="en-AU" dirty="0"/>
          </a:p>
        </p:txBody>
      </p:sp>
      <p:pic>
        <p:nvPicPr>
          <p:cNvPr id="5" name="Picture 4" descr="23-03_PeristalSegm_1"/>
          <p:cNvPicPr>
            <a:picLocks noGrp="1" noChangeAspect="1" noChangeArrowheads="1"/>
          </p:cNvPicPr>
          <p:nvPr/>
        </p:nvPicPr>
        <p:blipFill>
          <a:blip r:embed="rId4">
            <a:extLst>
              <a:ext uri="{28A0092B-C50C-407E-A947-70E740481C1C}">
                <a14:useLocalDpi xmlns:a14="http://schemas.microsoft.com/office/drawing/2010/main" val="0"/>
              </a:ext>
            </a:extLst>
          </a:blip>
          <a:srcRect b="49153"/>
          <a:stretch>
            <a:fillRect/>
          </a:stretch>
        </p:blipFill>
        <p:spPr bwMode="auto">
          <a:xfrm>
            <a:off x="6084168" y="2636912"/>
            <a:ext cx="2812313" cy="2664296"/>
          </a:xfrm>
          <a:prstGeom prst="rect">
            <a:avLst/>
          </a:prstGeom>
          <a:noFill/>
          <a:ln w="9525">
            <a:noFill/>
            <a:miter lim="800000"/>
            <a:headEnd/>
            <a:tailEnd/>
          </a:ln>
          <a:effectLst/>
        </p:spPr>
      </p:pic>
    </p:spTree>
    <p:extLst>
      <p:ext uri="{BB962C8B-B14F-4D97-AF65-F5344CB8AC3E}">
        <p14:creationId xmlns:p14="http://schemas.microsoft.com/office/powerpoint/2010/main" val="2061618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55576" y="332656"/>
            <a:ext cx="7406640" cy="1356360"/>
          </a:xfrm>
        </p:spPr>
        <p:txBody>
          <a:bodyPr/>
          <a:lstStyle/>
          <a:p>
            <a:r>
              <a:rPr lang="en-US" dirty="0"/>
              <a:t>Human Digestive System</a:t>
            </a:r>
          </a:p>
        </p:txBody>
      </p:sp>
      <p:sp>
        <p:nvSpPr>
          <p:cNvPr id="381956" name="Rectangle 4" descr="Rectangle: Click to edit Master text styles&#10;Second level&#10;Third level&#10;Fourth level&#10;Fifth level"/>
          <p:cNvSpPr>
            <a:spLocks noGrp="1" noChangeArrowheads="1"/>
          </p:cNvSpPr>
          <p:nvPr>
            <p:ph idx="1"/>
          </p:nvPr>
        </p:nvSpPr>
        <p:spPr>
          <a:xfrm>
            <a:off x="611560" y="1772816"/>
            <a:ext cx="5040560" cy="4896544"/>
          </a:xfrm>
        </p:spPr>
        <p:txBody>
          <a:bodyPr>
            <a:normAutofit/>
          </a:bodyPr>
          <a:lstStyle/>
          <a:p>
            <a:r>
              <a:rPr lang="en-US" dirty="0"/>
              <a:t>The </a:t>
            </a:r>
            <a:r>
              <a:rPr lang="en-US" dirty="0" err="1"/>
              <a:t>oesophagus</a:t>
            </a:r>
            <a:r>
              <a:rPr lang="en-US" dirty="0"/>
              <a:t> delivers the bolus to the </a:t>
            </a:r>
            <a:r>
              <a:rPr lang="en-US" b="1" dirty="0"/>
              <a:t>stomach</a:t>
            </a:r>
            <a:r>
              <a:rPr lang="en-US" dirty="0"/>
              <a:t>.</a:t>
            </a:r>
          </a:p>
          <a:p>
            <a:r>
              <a:rPr lang="en-US" dirty="0"/>
              <a:t>Functions of the stomach</a:t>
            </a:r>
          </a:p>
          <a:p>
            <a:pPr lvl="1"/>
            <a:r>
              <a:rPr lang="en-US" dirty="0"/>
              <a:t>Disinfect food as it contains hydrochloric (</a:t>
            </a:r>
            <a:r>
              <a:rPr lang="en-US" dirty="0" err="1"/>
              <a:t>HCl</a:t>
            </a:r>
            <a:r>
              <a:rPr lang="en-US" dirty="0"/>
              <a:t>) acid at pH 2 which kills bacteria. </a:t>
            </a:r>
          </a:p>
          <a:p>
            <a:pPr lvl="1"/>
            <a:r>
              <a:rPr lang="en-US" dirty="0"/>
              <a:t>Food storage (can stretch to fit  about 2L food). </a:t>
            </a:r>
          </a:p>
          <a:p>
            <a:pPr lvl="1"/>
            <a:r>
              <a:rPr lang="en-US" dirty="0"/>
              <a:t>Chemical digestion of protein using the </a:t>
            </a:r>
            <a:r>
              <a:rPr lang="en-US" b="1" dirty="0"/>
              <a:t>pepsin</a:t>
            </a:r>
            <a:r>
              <a:rPr lang="en-US" dirty="0"/>
              <a:t> enzyme. Pepsin is secreted in an inactive form, called pepsinogen by specialized chief cells in gastric pits.  Parietal cells, also in the pits, secrete </a:t>
            </a:r>
            <a:r>
              <a:rPr lang="en-US" dirty="0" err="1"/>
              <a:t>HCl</a:t>
            </a:r>
            <a:r>
              <a:rPr lang="en-US" dirty="0"/>
              <a:t> acid which converts pepsinogen to the active pepsin only when both reach the opening of the pits.  This along with a mucous lining helps to stop the pepsin and </a:t>
            </a:r>
            <a:r>
              <a:rPr lang="en-US" dirty="0" err="1"/>
              <a:t>HCl</a:t>
            </a:r>
            <a:r>
              <a:rPr lang="en-US" dirty="0"/>
              <a:t> acid destroying the stomach itself.</a:t>
            </a:r>
          </a:p>
        </p:txBody>
      </p:sp>
      <p:pic>
        <p:nvPicPr>
          <p:cNvPr id="381955" name="Picture 3"/>
          <p:cNvPicPr>
            <a:picLocks noChangeAspect="1" noChangeArrowheads="1"/>
          </p:cNvPicPr>
          <p:nvPr/>
        </p:nvPicPr>
        <p:blipFill>
          <a:blip r:embed="rId3">
            <a:extLst>
              <a:ext uri="{28A0092B-C50C-407E-A947-70E740481C1C}">
                <a14:useLocalDpi xmlns:a14="http://schemas.microsoft.com/office/drawing/2010/main" val="0"/>
              </a:ext>
            </a:extLst>
          </a:blip>
          <a:srcRect b="3246"/>
          <a:stretch>
            <a:fillRect/>
          </a:stretch>
        </p:blipFill>
        <p:spPr bwMode="auto">
          <a:xfrm>
            <a:off x="5626859" y="1772816"/>
            <a:ext cx="3321583"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144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755576" y="332656"/>
            <a:ext cx="7406640" cy="1356360"/>
          </a:xfrm>
        </p:spPr>
        <p:txBody>
          <a:bodyPr/>
          <a:lstStyle/>
          <a:p>
            <a:r>
              <a:rPr lang="en-US" dirty="0"/>
              <a:t>Human Digestive System</a:t>
            </a:r>
          </a:p>
        </p:txBody>
      </p:sp>
      <p:sp>
        <p:nvSpPr>
          <p:cNvPr id="388100" name="Rectangle 4" descr="Rectangle: Click to edit Master text styles&#10;Second level&#10;Third level&#10;Fourth level&#10;Fifth level"/>
          <p:cNvSpPr>
            <a:spLocks noGrp="1" noChangeArrowheads="1"/>
          </p:cNvSpPr>
          <p:nvPr>
            <p:ph idx="1"/>
          </p:nvPr>
        </p:nvSpPr>
        <p:spPr>
          <a:xfrm>
            <a:off x="683568" y="1556792"/>
            <a:ext cx="8280920" cy="5112568"/>
          </a:xfrm>
        </p:spPr>
        <p:txBody>
          <a:bodyPr>
            <a:normAutofit/>
          </a:bodyPr>
          <a:lstStyle/>
          <a:p>
            <a:r>
              <a:rPr lang="en-US" dirty="0"/>
              <a:t>About every 20 seconds, the stomach contents are mixed by the churning action of smooth muscles. As a result of mixing and enzyme action, what begins in the stomach as a recently swallowed meal becomes a nutrient-rich broth known as </a:t>
            </a:r>
            <a:r>
              <a:rPr lang="en-US" b="1" dirty="0" err="1"/>
              <a:t>chyme</a:t>
            </a:r>
            <a:r>
              <a:rPr lang="en-US" dirty="0"/>
              <a:t>.</a:t>
            </a:r>
          </a:p>
          <a:p>
            <a:r>
              <a:rPr lang="en-US" dirty="0"/>
              <a:t>At the opening from the stomach to the small intestine is the </a:t>
            </a:r>
            <a:r>
              <a:rPr lang="en-US" b="1" dirty="0"/>
              <a:t>pyloric sphincter</a:t>
            </a:r>
            <a:r>
              <a:rPr lang="en-US" dirty="0"/>
              <a:t>, which helps                                                                                               regulate the passage of                                                                                                </a:t>
            </a:r>
            <a:r>
              <a:rPr lang="en-US" dirty="0" err="1"/>
              <a:t>chyme</a:t>
            </a:r>
            <a:r>
              <a:rPr lang="en-US" dirty="0"/>
              <a:t> into the intestine.</a:t>
            </a:r>
          </a:p>
          <a:p>
            <a:r>
              <a:rPr lang="en-US" dirty="0"/>
              <a:t>The </a:t>
            </a:r>
            <a:r>
              <a:rPr lang="en-US" dirty="0" err="1"/>
              <a:t>chyme</a:t>
            </a:r>
            <a:r>
              <a:rPr lang="en-US" dirty="0"/>
              <a:t> enters the first                                                                                                    part of the small intestine,                                                                                                   known as the </a:t>
            </a:r>
            <a:r>
              <a:rPr lang="en-US" b="1" dirty="0"/>
              <a:t>duodenum</a:t>
            </a:r>
            <a:r>
              <a:rPr lang="en-US" dirty="0"/>
              <a:t>.  </a:t>
            </a:r>
          </a:p>
          <a:p>
            <a:r>
              <a:rPr lang="en-US" dirty="0"/>
              <a:t>The duodenum is where                                                                                      secretions from the liver and                                                                                                the pancreas are added to the                                                                                   </a:t>
            </a:r>
            <a:r>
              <a:rPr lang="en-US" dirty="0" err="1"/>
              <a:t>chyme</a:t>
            </a:r>
            <a:r>
              <a:rPr lang="en-US" dirty="0"/>
              <a:t>.</a:t>
            </a:r>
          </a:p>
        </p:txBody>
      </p:sp>
      <p:pic>
        <p:nvPicPr>
          <p:cNvPr id="388099" name="Picture 3"/>
          <p:cNvPicPr>
            <a:picLocks noChangeAspect="1" noChangeArrowheads="1"/>
          </p:cNvPicPr>
          <p:nvPr/>
        </p:nvPicPr>
        <p:blipFill>
          <a:blip r:embed="rId3">
            <a:extLst>
              <a:ext uri="{28A0092B-C50C-407E-A947-70E740481C1C}">
                <a14:useLocalDpi xmlns:a14="http://schemas.microsoft.com/office/drawing/2010/main" val="0"/>
              </a:ext>
            </a:extLst>
          </a:blip>
          <a:srcRect r="5539"/>
          <a:stretch>
            <a:fillRect/>
          </a:stretch>
        </p:blipFill>
        <p:spPr bwMode="auto">
          <a:xfrm>
            <a:off x="4644008" y="3429000"/>
            <a:ext cx="3852862" cy="2655887"/>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780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332656"/>
            <a:ext cx="7772400" cy="914400"/>
          </a:xfrm>
        </p:spPr>
        <p:txBody>
          <a:bodyPr/>
          <a:lstStyle/>
          <a:p>
            <a:r>
              <a:rPr lang="en-US" dirty="0"/>
              <a:t>Human Digestive System</a:t>
            </a:r>
            <a:endParaRPr lang="en-AU" dirty="0"/>
          </a:p>
        </p:txBody>
      </p:sp>
      <p:sp>
        <p:nvSpPr>
          <p:cNvPr id="3" name="Content Placeholder 2"/>
          <p:cNvSpPr>
            <a:spLocks noGrp="1"/>
          </p:cNvSpPr>
          <p:nvPr>
            <p:ph idx="1"/>
          </p:nvPr>
        </p:nvSpPr>
        <p:spPr>
          <a:xfrm>
            <a:off x="3980540" y="1484784"/>
            <a:ext cx="4968552" cy="5207072"/>
          </a:xfrm>
        </p:spPr>
        <p:txBody>
          <a:bodyPr>
            <a:normAutofit/>
          </a:bodyPr>
          <a:lstStyle/>
          <a:p>
            <a:r>
              <a:rPr lang="en-US" dirty="0"/>
              <a:t>The pancreas adds pancreatic juice, while the liver adds bile to the duodenum.</a:t>
            </a:r>
          </a:p>
          <a:p>
            <a:r>
              <a:rPr lang="en-US" dirty="0"/>
              <a:t>Functions of </a:t>
            </a:r>
            <a:r>
              <a:rPr lang="en-US" b="1" dirty="0"/>
              <a:t>pancreatic juice </a:t>
            </a:r>
            <a:r>
              <a:rPr lang="en-US" dirty="0"/>
              <a:t>-</a:t>
            </a:r>
          </a:p>
          <a:p>
            <a:pPr lvl="1"/>
            <a:r>
              <a:rPr lang="en-US" dirty="0"/>
              <a:t>Chemical digestion of carbohydrate using pancreatic amylase.</a:t>
            </a:r>
          </a:p>
          <a:p>
            <a:pPr lvl="1"/>
            <a:r>
              <a:rPr lang="en-US" dirty="0"/>
              <a:t>Chemical digestion of proteins using trypsin.</a:t>
            </a:r>
          </a:p>
          <a:p>
            <a:pPr lvl="1"/>
            <a:r>
              <a:rPr lang="en-US" dirty="0"/>
              <a:t>Chemical digestion of fats using pancreatic lipase.</a:t>
            </a:r>
          </a:p>
          <a:p>
            <a:pPr lvl="1"/>
            <a:r>
              <a:rPr lang="en-US" dirty="0" err="1"/>
              <a:t>Neutralise</a:t>
            </a:r>
            <a:r>
              <a:rPr lang="en-US" dirty="0"/>
              <a:t> stomach acids by secreting bicarbonate. </a:t>
            </a:r>
          </a:p>
          <a:p>
            <a:r>
              <a:rPr lang="en-US" dirty="0"/>
              <a:t>Functions of </a:t>
            </a:r>
            <a:r>
              <a:rPr lang="en-US" b="1" dirty="0"/>
              <a:t>bile from the liver </a:t>
            </a:r>
            <a:r>
              <a:rPr lang="en-US" dirty="0"/>
              <a:t>(bile is produced by the liver by stored in the gall bladder)- </a:t>
            </a:r>
          </a:p>
          <a:p>
            <a:pPr lvl="1"/>
            <a:r>
              <a:rPr lang="en-US" dirty="0"/>
              <a:t>Mechanical digestion of fats.  Bile </a:t>
            </a:r>
            <a:r>
              <a:rPr lang="en-US" b="1" dirty="0"/>
              <a:t>emulsifies</a:t>
            </a:r>
            <a:r>
              <a:rPr lang="en-US" dirty="0"/>
              <a:t> fat (breaks into smaller droplets) to increase surface area for chemical digestion.</a:t>
            </a:r>
          </a:p>
          <a:p>
            <a:endParaRPr lang="en-AU"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20" y="1412776"/>
            <a:ext cx="3933267" cy="2880320"/>
          </a:xfrm>
          <a:prstGeom prst="rect">
            <a:avLst/>
          </a:prstGeom>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b="4578"/>
          <a:stretch>
            <a:fillRect/>
          </a:stretch>
        </p:blipFill>
        <p:spPr bwMode="auto">
          <a:xfrm>
            <a:off x="184025" y="4293096"/>
            <a:ext cx="3682910" cy="2054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97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328377"/>
            <a:ext cx="7406640" cy="1356360"/>
          </a:xfrm>
        </p:spPr>
        <p:txBody>
          <a:bodyPr/>
          <a:lstStyle/>
          <a:p>
            <a:r>
              <a:rPr lang="en-US" dirty="0"/>
              <a:t>Human Digestive System</a:t>
            </a:r>
            <a:endParaRPr lang="en-AU" dirty="0"/>
          </a:p>
        </p:txBody>
      </p:sp>
      <p:sp>
        <p:nvSpPr>
          <p:cNvPr id="3" name="Content Placeholder 2"/>
          <p:cNvSpPr>
            <a:spLocks noGrp="1"/>
          </p:cNvSpPr>
          <p:nvPr>
            <p:ph idx="1"/>
          </p:nvPr>
        </p:nvSpPr>
        <p:spPr>
          <a:xfrm>
            <a:off x="914400" y="1783560"/>
            <a:ext cx="4377680" cy="4572000"/>
          </a:xfrm>
        </p:spPr>
        <p:txBody>
          <a:bodyPr>
            <a:normAutofit/>
          </a:bodyPr>
          <a:lstStyle/>
          <a:p>
            <a:r>
              <a:rPr lang="en-AU" dirty="0"/>
              <a:t>Food continues to move through the small intestine from the first section (duodenum) to the second section (jejunum).  This movement is still via peristalsis.</a:t>
            </a:r>
          </a:p>
          <a:p>
            <a:r>
              <a:rPr lang="en-AU" dirty="0"/>
              <a:t>In the jejunum the final enzymes for chemical digestion are secreted.  They are –</a:t>
            </a:r>
          </a:p>
          <a:p>
            <a:pPr lvl="1"/>
            <a:r>
              <a:rPr lang="en-AU" dirty="0"/>
              <a:t>Maltase, </a:t>
            </a:r>
            <a:r>
              <a:rPr lang="en-AU" dirty="0" err="1"/>
              <a:t>sucrase</a:t>
            </a:r>
            <a:r>
              <a:rPr lang="en-AU" dirty="0"/>
              <a:t> and lactase to digest sugars into the simplest form.</a:t>
            </a:r>
          </a:p>
          <a:p>
            <a:pPr lvl="1"/>
            <a:r>
              <a:rPr lang="en-AU" dirty="0"/>
              <a:t>Peptidase to digest proteins.</a:t>
            </a:r>
          </a:p>
        </p:txBody>
      </p:sp>
      <p:sp>
        <p:nvSpPr>
          <p:cNvPr id="4" name="AutoShape 2" descr="data:image/jpeg;base64,/9j/4AAQSkZJRgABAQAAAQABAAD/2wCEAAkGBxQTEhUUEhQWFhUXGBsbGBcYFx4cHBodHhwYHB4cHx8aHyggHBwlHx0YITIiJSkrLi4uHB8zODMsNygtLisBCgoKDg0OGxAQGywmHyQvLCwsLCwsLCwsLCwsLCwsLCwsLCwsLCwsLCwsLCwsLCwsLCwsLCwsLCwsLCwsLCwsLP/AABEIAMkA+wMBIgACEQEDEQH/xAAcAAACAgMBAQAAAAAAAAAAAAAFBgAEAQMHAgj/xABDEAACAQIEAwYEAwUFBwUBAAABAhEAAwQSITEFBkETIlFhcYEykaGxFELBByNS0fAzYnKS4RUkc6KywvEWNFOCs2P/xAAZAQACAwEAAAAAAAAAAAAAAAAAAwECBAX/xAAoEQACAgICAgICAQUBAAAAAAAAAQIRAyESMQRBIlEycWEUQoGhwRP/2gAMAwEAAhEDEQA/AO41KlSgAPzDxsYUIzqSrGJHQ9J9dflWrCcyI7KoBllzD0mKvcc4auIsvabTMND/AAsNQR6GKUMCAqp4ochI3BFADXiOLqgJ0JG4B1FU+HczW7r5Yy6xJPXp6UlcHxLZriHRcxbOdS0nuga+sk+QqzwFS2LRQJXPmaRIMDqOnTveMVCZZxo6UKzWBUNSVBmA5gsXnNtGObvwGRlDZGyuVLABwp0OUmKJNcA3Pl7+FI97lrF3LRtsLKi3+Ja0RcYm491rhUN3B2ahWgxn1Plr7xnLuIuXbt57Vlxc7SLL3DlUtZw1tXJyRmU2nGgkC4SD0IA3YjHoj20Yw11iqDxIVnPp3UbXyrb2yxMiPGdKR8VyliGYD93nDXD+KJ/eENhblgCMsiGYaBogTvVrh/KnetG5aQKHJuWiUZCOyZAQqWkUmWjUSQqk66AAcM4rAuiYkfOkjA8t4tLVu03Zt3rLvc7Rt0w62WAGSW7yggmNCeog78BygbbW2VLKsn4XvKNZthhdIOX8wIE/m60AOdDeN8Yt4ZMzySdFQfEx8B/OscaxXYo11ruRVG2UEk7ACep0EVznieLuXVfEXckrAmGkKSIAGfLOuulJy5VHXs0eP47yO/XsNXeZ8awL20sovRSGY+5kfavXLnPrXLyWMTbVWc5Q6E5cx2BB2naZOsUDwPEgU1kg6Io0nzJ8KUsbzDZNwFLbOUYEOpyQVMygAnQjc70iGWbds6OXxcKjS79H0KKzQPlLjn4qwH0zCAY6yAQ3lIO3Qg0crYnezjyi4umSpUqVJBKrfjk7RrWbvoiuw8FYuFM7alH+VWDSZxTgWKxFw3nW2sGyptK4cXEt/iDJNy0VHevBgpU62xqJkADf+IXNlnWJ20iQN9uo0r2bg66Uj3eANItWEIZMMwZmnLmN6zdS32gQAgBXAyiEBGgmK98Q5WvXzdZ1tS9vFhAWLZHurhhbb4dCDaclhqJETNADrnFYW4DsQfekrifL2Je3ctxbC5r7hzcMntbTIARk0hmMmdgD1gZwnAxZxJuotpB+Ka4MogiycKtrJAX/AOUZssx+begB2ms1Ut4gGrCtQB7qVKlAEqVTx+OFuANWOwn6nype4vxe4NnjyQQfmZNADFj8elpSWOvQdTSYwKq0/wCP7zUDMddAeubc+prXjr5y6xsRoaCV2Lwxaoyhphrkuf4UnLp5wCa6Ry9gcMs3MO+eRGbNMDeIG1IS8L7S2sRqzEyf7zaVea2LJDJow6pofn1qF0TJ7OlVKS8JzDeAkMtwdQwg/Mfypo4XxBbyZ1kdCDuD4VJUuVKlSgCVQxHGLSEgtJG8AmPlVHmfibWlVE+J518FET7mY+dD+yDWwAO6o18/68qq2XjCw0OO2ipZSzAAnQeHkYM1UPMgEMbZyH8wYH6R+tLF7EJh2nMqie8mYT8t5oTxPmQMws2lLKxJ/hAGk6nWPQVVypWMhiTdBviPEBjL8Ceyt6BT4n8xH0Hv40E4s+RLuHM98GD4jofY/atrYs2z24WCIFwAyGQmAw0BlSR7TQPmTjHabaEbQKw5E3K/s6uGox4/QGx2PK4UkGCq9mfEFjlP0H1odwjBZkaDLEAk+EflAH3ovwfgF7FFrVtM+YZn1y5YOjSdM2YAAdZPqGrgP7P76EBreWT8bMkKPEKpJZvCYE02MW46KvLGMvk+ho/Zlgmt2XnaVUeqjvfJmI9qc6r4HBratrbQQqiB+pPiSZJPUmrFa4qlRyMk+cnIlSpWC1WKGalVbPErLtkW7bZv4Q4J+QNWZoAzVPBXyz3gdkuBV9DbtN92NXKH8N/tMT/xh/8AhYoA88bxORfmfsB9TPtQHD4qTvJ6k0X5pZFtZrjZRt6zHTrEA+1LOGwrESpkfxKQy/TUe9QShitXxV3D3509xS7aRx1nzn+dFMEYIVt2IEeX+tBIdFZqCpUlRW4rf/eXG8IUegH85oNgwXeTVvjdovcu5TCydfONfrNLvLvFcl023MwdCfCgBmxlqKCcQ6etGsRiFYaER40Ex10ZlHiT/wBJqH0THtF3g9v9yjHqJ+ev617vJOlZ4DeU4e2Dp3F/6RXjGX1Tc1IM14Zcja7GjXK93LfuW+hQN7gx+tJi4xr17IDAGpP6U5cr2MuIeTLdmMvpOv6UEDZUqVKAEHmTEl8Re17tsIn6n6k/KhuP4uy4d4aDEf8A2Jj7SfYVs4qzviMRlAjtCCPQwPtNBbhJVrTiGMFSdmK7AnxIkDx0qg5fiCsDYn0ohgsJN9BGpSfRc2/ppWzCYYgxlIbwKEke0VesWit0uxy5kALuVU6E6AEiBVMqbjSG+O1GdyNvFkAtXY+EIR67AfUj50nYle/B96cMQrXlCW9LQMszbuQZAUfwzBk7x4UocVtlLhFZZ1qJ0MUW7k+mde5A4WtrCI/57ozsfI/CPQLHuTTLQnlG+r4LDMu3ZINPECCPmDRet0VSRx8jbk2yVKlSrFDBNcv5u5jbEO1pGjDqY007Qjck9VnYbHfwpo5744LFg20P726CAOoU6Fv0Hn6GuX3rZC1nzTr4m3xMX98l+gjZwdt4gREQdoNMvCua79ghMQrXbY0zgd9fXow+vmaTuE48aK24/r+fyozd4ixXKDpudNTWaMnF6OjLHHLHZ0vAcasXv7K8jHwDDMPVTqPlWOGH95if+MP/AMLFcixFu2zsCIy+mh96zf4dLMc5AAtAR1/3ez4VpWfV0YX4PySUuxy5sxytiTbcaW0Ea9W1J9YgUvYRYZmUMB+UyRp4yOmwpfv4Fj3gdZ1J1+u9a2e6hy52IPgZkDprMddoo/8AZEvwpJDzaxmIBHfkQCCYb6xRflxy94SZOrE/T7kUj8O5kDGGEGI02P8AI+VPfIKZkuXTsTlX21P1IHtTYuzHkg4aY21KlSrihd4rgiqEjfWa5vhsH2l99YMjUV2a9aDCDSLxvhK4e5ZZfzm5mPn3SPkJ+tAGjD8HYCc5IrTfwIXXXUxmPmCP1o1h7oiCarYkZ2AI7u1QyU6dg7D2E/D23zle6F9xoRHjINCsfb0JDmR0IIPyNHOHYILeYHXqG8Z3JHRvHxodzXdAZB4kg+ka1XluhnBVdgvla2TfI6kfrXUMDw3K63J1Aj2IpY5H4IMqX9yWYewgA/MNT+BVxRmpUqUAc44o/Y4y+sHvHONNwwn7yPagvFXLaFT8qaOYLYfGXDGi20WZgT3jrG+jCgXEbKa669B4mqDl+IKxNu8uVEe7lPQuyj0iYiqt7AEdtmGoQEfU/pTDcwYZ0EnXN18AP9aqY/DlL5ViTnt6T5Fh+opeR6HYIpyf6Ybwl1ez010H2FKvMOC70qKMcuvntID4Ae40phucITKepO/lWBXZ15ShGKv2Cf2Y8cFsnCXDAJLWidp0zJ6n4h/9q6VXFOL8KEnpWzBcx45FCJfOUbZgGIHhLAk+5rZjzqtnOz+HJyuJ2Z3ABJIAG5OwpQ4xz1bU5MMO1fq2oQe/5vbTzpSfEXL/APb3XueTHT5DSt+FtKDOkDXaon5H0Tj8CtzKuItXLjm5dJZm3J/rQDoKHY/wo/x7E5bJdR8ME+lLNq52txQuoPX1rM3ezVajGkC8GT2+WDEa6betOFgoDDDw+9C+HYTJcZH0ad/Har2JtQ289D5GlyyW6FK6oWuJhxibyKJDnOp8iAD9aKrduhiqrmOWyDoZk2LI2rbjrRGW6phlOnj9dK3YjiThmBvKki2TIgk9hYk+FMc5OPxQRycZL+LBd97yDvIVBJ1I+1eLeOJfKUBYfQkdaL4LHuzQT2g8Y+uhn3qlxi2q4nMCJZSSACNiIOtUhkfKpI1Qy8nQG43hOxfONQTB9PGuq/sjxvaYNwd0usD7hTPvM+9I3MaA4fpPj7Ua/YdfJbFLOmWyQPMG6p+gX5VuwyMPnY0kdYqVKlaTlkpZ57t/urTDcXV+oYUzUD5tANpAetxfoCaAE+5jMoJmQDBjoZjXw994rPCMS11s+oEmM2kgGNuhoHj7bW3d070kEpAMy7Ae+x89qqW+IgHs7dwiW7szmBOp30jQiKzyl87N+PCnj0PqsiAnMC/XyFIXHb7Xb2ZZyIQs+JaZ+gNanuZkLXMXAJ+BVzMRMeMTsaomRct9FYEqp+KI+JgNvL1ojJ38gniioPi7O38q2cuDsD/+an3Ov60WoZy1czYWyf7gHy0onWgwEqVK83HCgk6ACT7UAJNvFgX8UH3NzT0Gn2iqHFL6hTJ6fpW27xNEzO1vNdusXy7BQTKgnxywY9JiRS9xPF9ruVU9NAfP+L61Sh6eqDbyFtuAScwAjxKyaEczi6YcqQyTod46ivZ4pcOSGXuEmAo3gamX8NBXjjHGmZGLr3gCZ3EiT7eh+tQ1otGVbRR5QxTvbHe7MCQTAJJnXLOgHSYPWmFcdcT4XFxf4XMEehA+hpYwOCc2QyGSijMvnqZHjrMisY7H5A1wEEFQU9W0EjyM/KsLj9HYjGNfIM8TxRKSbY9nBPyIH3oQiiAytIP08iOh8qrcQxxmBOg1+VC0xRVh4MYb1jQ+uho4g3SGIYgD16Vnh+Mlwu5YH7TUtcKuPbsZVAzqJYmBqPmflWvD4QWLiOWzEHXoPzCqWhMstxZe4dZuXwAPgKANJgba+9CLPCb+HYjs3dBrKgmBPUbiPGmnhNwWsPazb5EgQTmMA5dB1rzx/iK2gzOGMj4M3wjTc/m8YpUZTm6XRSEJZHorPjLTKO1YI6wJYwfQzrWm/lAMkGeoMz1ms2eNYciCvSZk1dw/D7d0Z7QAM5RAAJMSR4+9XeP6NH9O0rsr4HD9ph8lxYJQaEf15UCwWNK4g2CA3csd1hIP7i0DHnpTFjVu2yZaddQ2o2iM24pZ4xlXFC6vdjJmBI7o/D2SNeux1/nVlai0ZcuOSkhgxy4eyQOxm46nKAuWP8TLEr9apWOBh5a4VEjcyqgaaLWeXmbEBsVc/O0geCDQCPr7mtPMPGw7FAIK6BfDzoxwrb7NmLEoxsXeK3jZlcxa1JWCZyk+B/hNOX7D/wC0v/8ACT/rf/Wub8RxJIfqBoT4tIOnpXUf2HYXTFXen7u2PVc7N9XA9q2Yls5/lytM6rUqVK0nNJSzzwx7O2F+LOSB6Kf1IpmpS5nvZr4SPgVTPhJP8hQAqYuzmtSCqh0XI7DSQNcpOsqwGum89DQ3huPLsbb2l7NjkLkKcrNqe9/AW1A3GaCK98esXINtWHZFiQCNV1kgdPH51rx+LW0rpbcFXAhEVSoQKAc06zp9PGsuZemdTxHyTMXzaUK+Wyt2SD2a5cy5TuBoWkqBHWg74Z2vhjHcKWzl8csFZJ1IGpjqNK8XsLFq29sqzEFiPhKNmgL6R9aN8B4fJRnAGQGANdTux8+nlVccW2qGeRkjGFP2dR5Mu5sHa6FZUjzBNG6V+SLxi8h/KykD1H+lNFbDjkobzGf91vjqbbKN92BVdtdyKJUv83XCRatqYJYsdfyqDqfLMyUErs5TzBddW7L4WOra6x0EzqNjPrOtV8BwqSJ+Z3+etXuOkPfa4ksghWO+VhJIIGy6+xmtmEvaaEx/dMx86qOSL2K4faQoozSF/IupOs7RA1qgLBbNaZWIj1YqekDqup+XjR/GKVuHULoJb9B51VxbZCrhjuAeuhOvy39RUFmgfyy4zPh7srcGkbEEefmII9aWOOI9m8LD9632ish8JaT7T9zTJzgvZ3MPiQYLEW29QCy/949AK182YE37a3FHeiQR46frWaa4ujqYJvJjf2FLnC7L2S+X4VljLbanadztSviOXbwKZk7JCwJPVRB9uvjRrlfj0hbb6d4Zp6ED4T/WtM3EeMDNDRsfvSm9bHuPPUVpmGWFswO6hG3gBp96B8wYYlmQbl4+ZNEERo7SwwkxNttVI8o1B1NDzeYXbbXFYAMJJEjQEalayOM4rezLPDNL9Bm1aVbzsfgtdxB10VSfkSR7Um80X3ZiRbbLr0nTx01o1y9xZGsNaBg5pEHTrIJ3piwaWGXvABvHNrWmMaSijVi+GP39aOOYbGBWjN5jr6jypl4LxnJ3lYGNtdiT/IR70y8f5aQ99FJ8CIzCfPr70j8UwAWQyhdDFxSQS3QR0PiDPlV2tlYzcVraGu5xlrhAPeJb4fLqSemlLnOBzNey6ELbIy7R2FmR5iKP8pYNPwa38ozkkE9BEaAePWgnGR+/M7EWgfexZFTFV2GVqajX8hzgzL+BslfCJ+ZNJ/MTlnDKYZjlYjrAmmTlcf7hBOqO6/KaWL1zWTsst7nQD5a+9VS+RfJK8STBdzDaBQxkajwn0rt37HVC4R1H/wAk/NR/ImuLIZyeLE/Lxrq37KMWVvPa6NbB90j9GPyrXjOL5Xo6lUqCpTjISkTiFwtfvHxfKPRdP0NPdK9rgD6kkSWJ+ZJoAVeK2Zn50nY+8RALAKpY7dSCNxrrXVcby27bEbUCt8g3CzZ4IIPWolFNbL48koO0JPDO+E7oELHmRO58T+lOvDsOFQnyrPD+RLqNJIimJOAOFA0oUVFUiJzc3bKvKt2MSR/Eke6wR9JpzpX4XwK5bvrcJEAmfQgj9aaKkqQ0o8eM4lh4Ig2BgEsNuvxfam40pceEYltPyIfaWEemnTXUVDLQ7OecKcAknckyfGSSfqaLYG3aD5sq+4/ofOhdiyLgZrfcYsxy/lOpOn8JiveHVjKkEMPKQfpH2qB6D2OuHtIUBmIkFhMf61Ux1y+LbN2piDKqABHXSNat8StntO4NIjMSNI9x/U1VvsqoSblp7g0FvtBEme8x8B/CPKoJBHP6O9mylsardVmLEAQFcDU9SW+nmBVrhGJZrGS4rZgNCsMI8dDVbEWL93NnJAI2X4D8jl1PUnqKEYO3dW8lo3LqBnCgnWJIEEH6eNJmuRs8dvHtMqcxYYpd7VJQ6DUaETqDI1FWOHcWFw6/ENGUnUfzHnVrD8wXWQZitwFZKsAdCPvQS7hbbk37MW7pJJt/lI6Bf5UvgmqHrJKEuS6HfCY4IgI30iiPGrqMoytnIjMRoAfAelc5t8aA0dSrjZSdydB610TgmGAseMjr6fz1pdNfE2RnCb5oSMfhrik3LYOcA5gv5wBJP+IAH1itnCOOl4gyBrB3o1isSgdM2bKrgmN48q0WuENZvnKRkPeKx1JYx5SB86TLIkqYvLN4slLphixxw5Qsyx2A1IHiY2FU+acCCNZhgNxBk9fnrW3gfDQb1yBrm18STBnXaQaxzneghfDcTTYbVluaklrtbAHL3HGt4f8AD5Z7xlvPbavWKskrmI3+ekD7AD0iscK4B/u5xJuEF2chR4ZjB361Q4hjCo1kgef099Ku18iilWPZ5wHMnYC7Zy5ibrkACTqdv/NB8XddtOzy2xqyzJI69KZ+B8Eiw2IuaM8kR5mT9DFC3cB2PRVJPnv/AKVZNXoRKM3Fcno0YLD9rdJ3mPh2Vf8AxAiugcoWGs4uyT+ZoEdQwK/qKCcs4DshbUrqEGePHf8AWjGG4nluJporqU8VhhI9DWiKo5WSXN2dgqVKlNM5KxWaDcb4sydyyue6RP8AdQH8zajzgdfLegC7xDiVqwua64QdJ3PkANSfIUuPzsHJFi0SAwUtcOXeYIUAkjQ7xsaDYzh2clr15c7DVmYE+ngB5DShlrCdm7qrhgVDAj+6Yj/mqLGcKD/GuZMbasXLtv8ADkoA2U2nPdJAme2GsEn2qlwPnvE3QM62CfBVdPqXarHGVZ7WKSN8PdI9SpIHsSTSFypemNdxSskmto1ePihNtSR1jCc425i+jWj/ABfGnzGoHmVApis3QwDKQVOoIMgjxBFc2u28ySN+oqngOKXcIxa0ZQmWtn4W8T/dbzHvNVjmp/IZl8HV43/g6yaUuaI/Ea7m0CP/AKs869Nx86O8F4vbxNoXLR02IO6nwPnVHmrDytu4BOQkH0aPuwUe9P7OetPZy/BEpmU/lJBB8if/ADRL8Qyww69Oh8q28XS0jI7KYiCQfIwCR02AB1AqonFVHwWzPQt08/CoHpljmCyZVTOUkz5mAQPlNVTwzTQAH+t/berWGxH4hWtuIcaj7yPT+dabd182R5JHQDf9IqCTIwZRe6SDoVIOnnpsQdd96tI5e3auqFVlu2TESpHa20YeI+Ix6bnavWLYgCBLnRVnaep8SR10ETVXHYnsfw2HQ5muXrMx/Ct1Xdj4SwCj0fwoZD+kJdzEqlq3b7AhzbWHttodFG0Zp28RrWzA8FuMQ1yQIHdH6npWzgKd20pABCKZ6nTSZP8Aip2uWwECyQOuXf51kbdbOnix2jn/ABrhwCmEKkag69Nepro3JOLW7h3AI0QMB1INacZy9bv2dCytGhmfodKQVu3sCezu90T3bgkoQehPTWaP5LJpXF6v/g64Plo4oswYJbBIZz1Pgo6nxPStnFcI9u2xS4GI1Hd8FYaDXTU0srx25ciLqgAaBW0HttW1OI3CveMjXWaXKKaWhyUZTbm7HBbtrDJbXLDFQc/5tQDqeo1pG5mxDFng946DXq2g+pq1x3inai0FJGRIYnQaQBr7Us3cWbtwdmZVDOb+Jh9wP51dWRKcYxr2xo4vjAqW7Nva2oQecDX9aC8MwH4m+qESiHvebdfltWm7IgT+8fRfLeW9hNNXACmFXXTONGPXrHruaOiPzdekY5mvLh07JCYI0BPwenlvpS1wbCm9cM/Anec/xHog+hNZ4xizdu6Akk5VXeTJj9SfQ0zcJwItrbtdd38z/UmmYoezJ5mWnxQbwHCHtp2pJDOMw1Og6e9VM4vEq/xDVWjwo1xXiYjKDoBAHkKWsOj3byLb+Jmj57+25rRRzujsWHeVU+IB+lbK1YVCqKp1IUAnzArbVxIN5g4oMNZa4dW2Rf4mOw9Op8ga5eb99ixLEliSzeJPX/TwAHQUz86YrPiFt/ltLJHi7/yWP85oUo6CqsfjjqwWeHse80+pNeODrF1juFRtD6rRlrqwevn0/wBaocNQG7cIHdyx5GWVf1NQWkGOPYgW7WJaTlXDOCZ/MwygDzJI0rk/L+JZB5oYPp/4NdJxVntnytluWhEWihg3I7zOZAYiYC7Dc6xGkcGtd7Lh8LvHcDQfI9ncKg+RilyqQ/FCUXZZ4PiA669Rv4VUxFmG7wPjtNe34ZZCg9k4PUW7l22B5TnI+ler/DrYgrdxA6f22ePUXbf60l47VWbo5Wn+JS4Txo4PFBwT2TQtxfFfH1Xce46115lW4kGGR19iCP1FclxvLz3D3bqtA62yPqhJ/wCSnrkC+/4bsbpBey2SQZBU95PkDl1E92n4rSpnN8tJy5IXOYeHlkuWWPeQ6E9dQVPlMqT0kt4Ur4FgYkD0+49RXVuYeHFwLiCWUQRGrD+a6kDqCw6yOe8W4Q2Y3bMMGksojTzHjOunl0OlMYmLPBtgwRow2I3FXLeJBKi+qnoLgGkn+ICI9RQvD4gg5WER46H60TWGVtJkQF8439BprUDLM8Tv/h7Vy8lte0ZwrSSBLGBrvlUAmFInaRrQvle2z3BirzhrhuoCCu+qgBde6qjYfrrW7nLEBLNqzPed0PUwqGWb6qNOretZ4AyA2kLBVF1TMyW7ywABsfWlZX6H+OkrkxeZMmHsNA7Ts0ZzuRbKQVjy+LTWZpmwPEFZFD+A736z1pC4Hjj2ShszHIqgRqe7oPrv4UU4HwS+D3bpUEzkGq/Jp+kUmfdG7D+Kdd/6HZOIG2I0Kz08/tRbF2bDJoFdIiDr9KSMbw7FWzrZ7RD+a0YP+Qkj7UOu490JTtFVhuryjD1DRVdpdDfjJ90MHFOWsEZY2kA8Rp9qV7vL+HW2jl47QnIqk6CSB7mKxiMf1a8p8lJb6Ca88LYXsTatorkJ3izCNBtA33NSnKiGsfJKkG8Lyba7MMylh0zMfsTS3xDhVu3d7kroTIJ0ia6hxJ8tkDQAL9651bsm/fyxIJzXNdrYOv8Am2+dQm7CeOLSpewNawz2ntvc1dt9Z0ZT/UUw4rigayqkzl013HlVPmfEq9zMBADqB7AmtduwzybYDECS26rp1/iPlVq5CXJYm16CHLGCzYlSdlUgf4m1PuFj/NTvhMNbHaXLixlMa/KdDMek0M5YwaWbYLSWOaZ3M7nTYzrp4CrPE8RmtBlMsphvMTWlKlRzJy5Scilxq4M+VDPpTdyBwbIDfcanRPTqffb2PjQLlbl837mZgezHxN/2jz+1dPRAAABAGgA6UxCJM9VKlSpKHLOLYgHE4hjqTdYf5IT/ALRVftGIg91fqfWrPEMEBiL5Zsv75yR/iOYfRhWpcbhU+IljVPZpj0e7OEa4YUCBufAeNBeP80WrD9lh1W6QuV5nLvOpBBmQNjRTH8zWrlh7AS4qvpKNlPz3pYw3DMIBAF1POR/Kod+i8XG9gXiGKfEXA9wKANERQcqddJ6kySdzNa3w8SCIB3jT5jqPWmX/ANOsGDWil1dwCQrH0nQ/OrGJ4OzqEuOiONQApcCRIDMDJEdVUgedKkmdCDxuPewDg7tyZ/EXFOXKGzk6eGp2r2cRirYJN66PyTm6DaCfvvWX4bctgh0JGYQyd5DrrDLp7GDVvsnK9kVcPMqCpHdE/FpIXeG6SdxULZZqNWV045ixmBfNoASygkAdQRBmPGZp9/ZNxd712+tz4hbST45WeD5aN9KSsU66kfFEEHcabEeNOX7J7A7e+w3FtFb1LGPs1Wx/kI8qNYmdOoRxDgKuxdGa2x1YLBVjESQevmpUnxoxUrQchCbi+X7qg/urd3/DC66a5WIHzY14wXA7oPdsm3M6sUAHujMT8vcU61Kii3NnFcdwthirxxJDusLCiFCwCoUHUKJnU7kkkzRLl/h1pr1sNb2cEHpIMj7UwftA4aVZcSo0gJc+fdPzMfKhPArylrTb99R9RWGdxmdzx3GeDX0JXB8FLppqbCfT+vpTW/EbVhQqjv5gGkbbA1Wwqpbs2mOUsbaa+WUUA4lc7S6xE+PypbdyNUIpQQw8b4qGsXACVGSQQYgxINeOG37GIDveRWY20UEjUZZ19TNKt1rl4dlaWVMBn1yCDJE/mPTSvGPwuKwtsXQqZWOXRjvp4z5VdJ+mKlkh7Wv4G69g8JbtgLbUsBqx1PmT0FTkPABzcxEAK7HXplBgAeup96ROP4fGdme1IAI+FR0InqOopy4Fxg2rdsLqmRYHT/zU1W5EKXK1FV+y5zfiiAwRhA6Agx9aVOD3YS8wiWfL7KIA+596asdiLF8Q6A6bn9DuDSxf4KLYmxdkEgsr6wfEedVTWxrjLT9IFcQQMpBnRg2m+m49xNH+FYlUTKoGUr3YGmu33NUOI4ZUyhWzEMJY9fGuucicr2rOFtG5aU3WBYlhJAZiyrroIUgaeFacLs5Xmri0xKwmCvXR3Fdht3QT9qP8K5Pvsf3gyW2+LXvR5AbV0RRFZp9HP5M1YbDqihUACqIAHSttSpUlSVKlSgDln7ScIyYkMvw3lDE/3lAUj5ZKWrGDncV13mzg/wCJsEL/AGiHPb9QCMvowJHyPSucYWzO8jUiOoIOoI6Gd6qx+N2qBrYMA6aV5FmdCNaOmyACTsK8pghOZtD+Vf51BegdhMOZA6Hp4HxrfYxXZsEuy1roYlrfmp3jrl2NEBg8pBPjIobjrcqWnrQFDB2CsNwGEQ69RAIOmsER3hqPAxQLF8wYexeNjFZ7DiCDbLuhDCQ4ZXVmkfmyg/KiHLynKrTHddCd9FII9DLwKXf2j21NzC3SIL2mRhH/AMbCPeHj2qk9Ky0ck20rDa4DC4kBrLJfgiQtyCR4EAZwQesE7gyDTNyNgXt27ly1ZRRduHR7zbKSun7kELOY6zv4VzjhfJgxFyyLY7N3hiyEhlURmYkbfzIHWu74XDrbRUQQqgADyGlGJqSsrnm0uLAfMYvthwCgn8RhSBaZnOUYmyXJ7ikAKCTvpM0BwOKxivatJmt2xOrW2Id/xF0OjfumIAQIQQySHzAkDTa/NOKJuZVsgC6tvKRL2y2Jt2AWUXMzAozNMIBAgsDNeX5nxSD941iCSofs2UJlxSYdi03DIKtmAkQRuacZTdb4ri7nZoO2Ru6t1uwjKxv5DBdMp/dyZAIiG2OpLle7is0Yh3cG0jd+2qZXzXFKjKq9ApgyfY0Ev8w3yl49ta0w182oRgLzW2uDPbi4G1ULoCd5B61au8x4ntL6p+HUWw4C3WAZcqrkdpuyVYkbhRDL3vEAZsXh7zZgHs5DpleyzadQT2oB+VIXMPL13A2/xFhEuojZ3QZ1KAGZUF2zKDuMw08Yin7gmN7axbuzOdQZy5fpmb6MR5mt2Pwou2ntnZ1ZT7giqyin2Xx5JQemfO+HxZIVFt3LhCgajLtA6zFasThL5e2r9y27gMgmTO0tuQYiNKZuDrlTK4AuKIYf3hofrNXeK4IubDIO7o7v0GUlo8Z2FYLpvR3+FpbBXCcZmvuDoEYolsbKFOXYeYJojzZZnCtpqsNHoQfsKD8CyvjLrLs10nygHL9YJ96aOPY0W7gkE5nyhIknfQagfPSola2g5LjX7KOFjEWQdwQAeuoEfalnGE4RsjCbZ1DDoD5dRNX8Pg8RhwezGa2WOQK4nKD1Bgaae0V6vYVic99SxnKoUhgg6nTdieomBHjULJH7soslpV2VkvBoKEFT1BqtlMyT18anHuCm1DWyyBte6dDtMgaE+oro/JnJeEvYWzeuC5cdlGbM8LmBIbRIETOnhFOjjvorn8tQXyQv8jcuNirwuXF/cWzJJ2dgdEHiOp9I612MVrsYdUUIihVGgVQAB6AVtrXCKiqOPmyvJK2SpUqVYUSpUqUASpUqUAYpX5k5ezMb9hZfd7YMZ9Nx4N9/WmmsUEp0clfFAtt3gYgggJG8g65vXWrGH1M7t6TT3xrl2ziNXUq8QLiaN6How8iDS5iOVsVa/sTauDqdUf5GVP8AmFVaHLIvYOx97TINWbT50P4ooVMs7b/KjC8MvoDGGulvE5NfcOfkKof+ncXccZrDZZk5mQA+XxTBMA6bTRTLckbuAobdoExJYuPISCT6yEWPEGgnOfD7uLxOEw1hC1xLRdj0XtGEFj0EJM+dPeF5XuMoW6621mYtd5jG0u4EddAvU60x4HApZGW2sSZJ3LHaWJ1YxGpNDjapi+ddA7ljl9cJaCznuEDO56xsB4KPD3qrj+N3beKayqq09gqZnhQbgxJJMJIP7qNzOm2s6sBzOXUXTl7N8Ol1F+Ge0uMqCTJkrk0AnMYHQVrtc123V7ow7furbPcLZQVKXL9qNdZDW7mpiASTGoqUklSFtt7Zot81Xe/cKWsvY4RlTMQQ+IuvZ7zR/ZhhMxMDaTFX8XxYPhma5bQsmIW1Gc9n2i3lVWzRIUNlJ00II1qjc5hsE/8As+0YK6ns1FwdkGynIVXvqxnu6DumYOlX+L8RTDsLHYhrPZSLaquUzetWgsEwADcB2gz5ayQeMTzDeS6bYw4udmEN0o2wcuJTMBooUkzEmQNtduH46xWy9xbQF9WZctyYUWzcEkgSd9tNzQz/AGzaRs7YO2qYazeclQpe2bTlWW2AIIMSIj4umte8PxKwWW22BFsPegs9tVt54tlSGZRmdu0gaCSjiZiQDWOb77JnSxay5WPeuMD3LFu8dkPRyo9J8qcrFzOittmAPzE0o2eOxbsPdwyL2lp3yIFIMNYtQCYy6OB5jqI1s3ecAnd/D3WdM+dLYzlQjlO7lBzEkEgaaDodKAEv9o/BHw984i2P3N1pJ6K53B8AdwfEkaaUrWcdfvRZsIzM35V19/8AXau6cMx/aviLbDWxd7MnowNu3dH/AC3AD5g1ftWVX4VC+gA+1JlhTZqh5Uoxo+b+Grcw1027ylLiGHUxIMTuDBneQetOdrE2r4BcaxBJ3jf709c28mWcb3j3LwEC4PAGQGH5hv5iTXN8TyXxHDsQLfaL0a2Qw9wYYH2NLyY36Nfj+VGkpF9cKmYEbdIMR00jY1sOLsp3Qfg0H3igP+zMaNDhr8/8J/0Fe7HKGPuHTDuJ6tCj3zEGkxxuzXLyca3oH8d4kbhIBJn6RXa+SsA1jBWLbiGyyR4FiWj2mKXeVf2dJZIuYoi5cBBCD4FI2mdXIPjp5U+1rxwcezk+TmWR6M1KlaL2MtoYZ1UxMFgDG0xTTI3RvqUL4hx2zZewrt/7hstsiCNpknopOVZ/idR1q3jOIWrRUXbqIWnKGYKWjUwCdY8qCSzUqvhcdauLnt3EdNRmVgwkbiQY0r0+LthO0LqEgHOWGWDEGdoMiPWgDdUrVfxCIpZ2VVG7MQAOmpOlbJoAzUqVKAJUqVKAJUqVKAJUNSpQAJt8u2AoUpmCghTqCqlw4UFYjKwXKdxAjxr1/sCyLdy3bQWxcUqSACYLMx+KQe87tr1Y0UqUABeH8tWrYWczsrEq0lcs5e6ApEJKg5dpk7miGJ4dauENcRWIEAkdMyvH+ZVPqoq1UoAH3eC2GMtbUnvg+BFzVww2YMdSDpNY/wBiWYQFJCMGUMzNDAqQdSZgqhE7FRERRGpQANTgOHAjsxAzQDJjMUYgSe6CUQwNJUV7fg9ksGyAMCzAglTLEM0wRIJAJB0kCr9SgCrgsCts3GHxXXzufEwqj5IqL6LVqpUoAlSpUoAxWalSgCVKlSgCUj8Y5ev3scXGltQrK5Y7yJGhkQAdAB01k08V460C8mJZFTE69y62Lt4iWa0twslsOhzoLblkuKSRkm9N3YyMngI04DjL3b+Ca9Yvpdt27wv/AO73ciuQi6PkykMUYiCdCKeKlBdKhFuJcu42+LNu4iX7dlWL2riI6obhuOTlgMylbIBh4loygE5tWjbsvw6/Zdk7W2LRS1ce01h7itkLBMqi2M9uGI7qqTvTy1RdqCTnuPwOJbCXLN+27jCELbaC5xHfQ2rkCSWS18W/fk/lBp9wuIFxQyhgDPxKyHQkfCwBG3hWys0Af//Z"/>
          <p:cNvSpPr>
            <a:spLocks noChangeAspect="1" noChangeArrowheads="1"/>
          </p:cNvSpPr>
          <p:nvPr/>
        </p:nvSpPr>
        <p:spPr bwMode="auto">
          <a:xfrm>
            <a:off x="155575" y="-1462088"/>
            <a:ext cx="3810000" cy="30480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148" name="Picture 4" descr="https://microbewiki.kenyon.edu/images/c/c3/Small_intestin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2420888"/>
            <a:ext cx="3240359"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1678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80" y="488464"/>
            <a:ext cx="7406640" cy="1356360"/>
          </a:xfrm>
        </p:spPr>
        <p:txBody>
          <a:bodyPr/>
          <a:lstStyle/>
          <a:p>
            <a:r>
              <a:rPr lang="en-AU" dirty="0"/>
              <a:t>Human Digestive System</a:t>
            </a:r>
          </a:p>
        </p:txBody>
      </p:sp>
      <p:sp>
        <p:nvSpPr>
          <p:cNvPr id="3" name="Content Placeholder 2"/>
          <p:cNvSpPr>
            <a:spLocks noGrp="1"/>
          </p:cNvSpPr>
          <p:nvPr>
            <p:ph idx="1"/>
          </p:nvPr>
        </p:nvSpPr>
        <p:spPr>
          <a:xfrm>
            <a:off x="914400" y="1844824"/>
            <a:ext cx="7772400" cy="4510736"/>
          </a:xfrm>
        </p:spPr>
        <p:txBody>
          <a:bodyPr/>
          <a:lstStyle/>
          <a:p>
            <a:r>
              <a:rPr lang="en-AU" dirty="0"/>
              <a:t>Summary of Chemical Digestion</a:t>
            </a:r>
          </a:p>
        </p:txBody>
      </p:sp>
      <p:pic>
        <p:nvPicPr>
          <p:cNvPr id="3074" name="Picture 2" descr="http://www.goldiesroom.org/Multimedia/Bio_Images/10%20Human%20Nutrition/05%20Digestive%20Enzym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348879"/>
            <a:ext cx="6480720" cy="363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356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xfrm>
            <a:off x="827584" y="116632"/>
            <a:ext cx="7772400" cy="914400"/>
          </a:xfrm>
        </p:spPr>
        <p:txBody>
          <a:bodyPr/>
          <a:lstStyle/>
          <a:p>
            <a:r>
              <a:rPr lang="en-US" dirty="0"/>
              <a:t>Human Digestion System</a:t>
            </a:r>
          </a:p>
        </p:txBody>
      </p:sp>
      <p:sp>
        <p:nvSpPr>
          <p:cNvPr id="398339" name="Rectangle 3" descr="Rectangle: Click to edit Master text styles&#10;Second level&#10;Third level&#10;Fourth level&#10;Fifth level"/>
          <p:cNvSpPr>
            <a:spLocks noGrp="1" noChangeArrowheads="1"/>
          </p:cNvSpPr>
          <p:nvPr>
            <p:ph idx="1"/>
          </p:nvPr>
        </p:nvSpPr>
        <p:spPr>
          <a:xfrm>
            <a:off x="395536" y="3933056"/>
            <a:ext cx="8568952" cy="2808312"/>
          </a:xfrm>
        </p:spPr>
        <p:txBody>
          <a:bodyPr>
            <a:normAutofit fontScale="92500" lnSpcReduction="10000"/>
          </a:bodyPr>
          <a:lstStyle/>
          <a:p>
            <a:r>
              <a:rPr lang="en-US" dirty="0"/>
              <a:t>Once food is broken down into its simplest nutrients via digestion is must be absorbed into the blood stream.</a:t>
            </a:r>
          </a:p>
          <a:p>
            <a:r>
              <a:rPr lang="en-US" b="1" dirty="0"/>
              <a:t>Absorption</a:t>
            </a:r>
            <a:r>
              <a:rPr lang="en-US" dirty="0"/>
              <a:t> is the process where nutrients move into the blood or lymph by diffusion or active transport.</a:t>
            </a:r>
          </a:p>
          <a:p>
            <a:r>
              <a:rPr lang="en-US" dirty="0"/>
              <a:t>Absorption can happen along the whole length of the gastrointestinal tract.  Alcohol and drugs are absorbed in the stomach.  However, most nutrients are absorbed by the small intestine.</a:t>
            </a:r>
          </a:p>
          <a:p>
            <a:r>
              <a:rPr lang="en-US" dirty="0"/>
              <a:t>Absorption occurs in the small intestine through </a:t>
            </a:r>
            <a:r>
              <a:rPr lang="en-US" b="1" dirty="0"/>
              <a:t>villi </a:t>
            </a:r>
            <a:r>
              <a:rPr lang="en-US" dirty="0"/>
              <a:t>and</a:t>
            </a:r>
            <a:r>
              <a:rPr lang="en-US" b="1" dirty="0"/>
              <a:t> microvilli</a:t>
            </a:r>
            <a:r>
              <a:rPr lang="en-US" dirty="0"/>
              <a:t>.  These are finger-like projections of the lining which increases surface area for absorption.</a:t>
            </a:r>
          </a:p>
        </p:txBody>
      </p:sp>
      <p:pic>
        <p:nvPicPr>
          <p:cNvPr id="398340" name="Picture 4"/>
          <p:cNvPicPr>
            <a:picLocks noChangeAspect="1" noChangeArrowheads="1"/>
          </p:cNvPicPr>
          <p:nvPr/>
        </p:nvPicPr>
        <p:blipFill>
          <a:blip r:embed="rId3">
            <a:extLst>
              <a:ext uri="{28A0092B-C50C-407E-A947-70E740481C1C}">
                <a14:useLocalDpi xmlns:a14="http://schemas.microsoft.com/office/drawing/2010/main" val="0"/>
              </a:ext>
            </a:extLst>
          </a:blip>
          <a:srcRect b="4517"/>
          <a:stretch>
            <a:fillRect/>
          </a:stretch>
        </p:blipFill>
        <p:spPr bwMode="auto">
          <a:xfrm>
            <a:off x="2771800" y="1124744"/>
            <a:ext cx="4296392" cy="2490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4311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Rectangle 2"/>
          <p:cNvSpPr>
            <a:spLocks noGrp="1" noChangeArrowheads="1"/>
          </p:cNvSpPr>
          <p:nvPr>
            <p:ph type="title"/>
          </p:nvPr>
        </p:nvSpPr>
        <p:spPr>
          <a:xfrm>
            <a:off x="827584" y="291460"/>
            <a:ext cx="7406640" cy="1356360"/>
          </a:xfrm>
        </p:spPr>
        <p:txBody>
          <a:bodyPr lIns="64291" tIns="32146" rIns="64291" bIns="32146"/>
          <a:lstStyle/>
          <a:p>
            <a:pPr>
              <a:tabLst>
                <a:tab pos="669703" algn="l"/>
              </a:tabLst>
            </a:pPr>
            <a:r>
              <a:rPr lang="en-US" dirty="0"/>
              <a:t>Human Digestion System</a:t>
            </a:r>
          </a:p>
        </p:txBody>
      </p:sp>
      <p:sp>
        <p:nvSpPr>
          <p:cNvPr id="104451" name="Rectangle 3"/>
          <p:cNvSpPr>
            <a:spLocks noGrp="1" noChangeArrowheads="1"/>
          </p:cNvSpPr>
          <p:nvPr>
            <p:ph idx="1"/>
          </p:nvPr>
        </p:nvSpPr>
        <p:spPr>
          <a:xfrm>
            <a:off x="683568" y="1844823"/>
            <a:ext cx="3672408" cy="4524613"/>
          </a:xfrm>
        </p:spPr>
        <p:txBody>
          <a:bodyPr lIns="64291" tIns="32146" rIns="64291" bIns="32146">
            <a:normAutofit lnSpcReduction="10000"/>
          </a:bodyPr>
          <a:lstStyle/>
          <a:p>
            <a:pPr>
              <a:tabLst>
                <a:tab pos="721047" algn="l"/>
              </a:tabLst>
            </a:pPr>
            <a:r>
              <a:rPr lang="en-US" dirty="0"/>
              <a:t>The intestinal villi project into the gut lumen (opening) and provide an immense surface area for nutrient absorption.</a:t>
            </a:r>
          </a:p>
          <a:p>
            <a:pPr>
              <a:tabLst>
                <a:tab pos="721047" algn="l"/>
              </a:tabLst>
            </a:pPr>
            <a:r>
              <a:rPr lang="en-US" dirty="0"/>
              <a:t>The villi are lined with epithelial cells and each has a brush border of many </a:t>
            </a:r>
            <a:r>
              <a:rPr lang="en-US" b="1" dirty="0"/>
              <a:t>microvilli</a:t>
            </a:r>
            <a:r>
              <a:rPr lang="en-US" dirty="0"/>
              <a:t> which further increase the surface area.</a:t>
            </a:r>
          </a:p>
          <a:p>
            <a:pPr>
              <a:tabLst>
                <a:tab pos="721047" algn="l"/>
              </a:tabLst>
            </a:pPr>
            <a:r>
              <a:rPr lang="en-US" dirty="0"/>
              <a:t>Inside each villi is a lymph vessel, called a </a:t>
            </a:r>
            <a:r>
              <a:rPr lang="en-US" b="1" dirty="0"/>
              <a:t>lacteal</a:t>
            </a:r>
            <a:r>
              <a:rPr lang="en-US" dirty="0"/>
              <a:t> and </a:t>
            </a:r>
            <a:r>
              <a:rPr lang="en-US" b="1" dirty="0"/>
              <a:t>blood capillaries</a:t>
            </a:r>
            <a:r>
              <a:rPr lang="en-US" dirty="0"/>
              <a:t>.</a:t>
            </a:r>
          </a:p>
          <a:p>
            <a:pPr>
              <a:tabLst>
                <a:tab pos="721047" algn="l"/>
              </a:tabLst>
            </a:pPr>
            <a:r>
              <a:rPr lang="en-US" dirty="0"/>
              <a:t>Nutrients are transported into either the lymph or blood to then be delivered to the rest of the body.</a:t>
            </a:r>
          </a:p>
        </p:txBody>
      </p:sp>
      <p:pic>
        <p:nvPicPr>
          <p:cNvPr id="5" name="Picture 4"/>
          <p:cNvPicPr>
            <a:picLocks noChangeAspect="1"/>
          </p:cNvPicPr>
          <p:nvPr/>
        </p:nvPicPr>
        <p:blipFill rotWithShape="1">
          <a:blip r:embed="rId3"/>
          <a:srcRect r="1538" b="2310"/>
          <a:stretch/>
        </p:blipFill>
        <p:spPr>
          <a:xfrm>
            <a:off x="4370784" y="1844824"/>
            <a:ext cx="4371390" cy="4043536"/>
          </a:xfrm>
          <a:prstGeom prst="rect">
            <a:avLst/>
          </a:prstGeom>
        </p:spPr>
      </p:pic>
    </p:spTree>
    <p:extLst>
      <p:ext uri="{BB962C8B-B14F-4D97-AF65-F5344CB8AC3E}">
        <p14:creationId xmlns:p14="http://schemas.microsoft.com/office/powerpoint/2010/main" val="256511336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a:xfrm>
            <a:off x="868680" y="260648"/>
            <a:ext cx="7406640" cy="1356360"/>
          </a:xfrm>
        </p:spPr>
        <p:txBody>
          <a:bodyPr/>
          <a:lstStyle/>
          <a:p>
            <a:r>
              <a:rPr lang="en-US" dirty="0"/>
              <a:t>Human Digestive System</a:t>
            </a:r>
          </a:p>
        </p:txBody>
      </p:sp>
      <p:sp>
        <p:nvSpPr>
          <p:cNvPr id="402438" name="Rectangle 6" descr="Rectangle: Click to edit Master text styles&#10;Second level&#10;Third level&#10;Fourth level&#10;Fifth level"/>
          <p:cNvSpPr>
            <a:spLocks noGrp="1" noChangeArrowheads="1"/>
          </p:cNvSpPr>
          <p:nvPr>
            <p:ph idx="1"/>
          </p:nvPr>
        </p:nvSpPr>
        <p:spPr>
          <a:xfrm>
            <a:off x="857251" y="2057400"/>
            <a:ext cx="4794869" cy="4038600"/>
          </a:xfrm>
        </p:spPr>
        <p:txBody>
          <a:bodyPr/>
          <a:lstStyle/>
          <a:p>
            <a:r>
              <a:rPr lang="en-US" dirty="0"/>
              <a:t>Finally peristalsis pushes the </a:t>
            </a:r>
            <a:r>
              <a:rPr lang="en-US" dirty="0" err="1"/>
              <a:t>chyme</a:t>
            </a:r>
            <a:r>
              <a:rPr lang="en-US" dirty="0"/>
              <a:t> into the </a:t>
            </a:r>
            <a:r>
              <a:rPr lang="en-US" b="1" dirty="0"/>
              <a:t>large intestine</a:t>
            </a:r>
            <a:r>
              <a:rPr lang="en-US" dirty="0"/>
              <a:t>.</a:t>
            </a:r>
          </a:p>
          <a:p>
            <a:r>
              <a:rPr lang="en-US" dirty="0"/>
              <a:t>Function of large intestine -</a:t>
            </a:r>
          </a:p>
          <a:p>
            <a:pPr lvl="1"/>
            <a:r>
              <a:rPr lang="en-US" dirty="0"/>
              <a:t>Absorb water </a:t>
            </a:r>
          </a:p>
          <a:p>
            <a:pPr lvl="1"/>
            <a:r>
              <a:rPr lang="en-US" dirty="0"/>
              <a:t>Bacteria found in the large intestine produce vitamins A and K which is then absorbed</a:t>
            </a:r>
          </a:p>
          <a:p>
            <a:pPr lvl="1"/>
            <a:r>
              <a:rPr lang="en-US" dirty="0"/>
              <a:t>Compact undigested food</a:t>
            </a:r>
          </a:p>
          <a:p>
            <a:pPr lvl="1"/>
            <a:r>
              <a:rPr lang="en-US" dirty="0"/>
              <a:t>Elimination of the leftover materials (</a:t>
            </a:r>
            <a:r>
              <a:rPr lang="en-US" dirty="0" err="1"/>
              <a:t>faeces</a:t>
            </a:r>
            <a:r>
              <a:rPr lang="en-US" dirty="0"/>
              <a:t>) through the rectum and anus.</a:t>
            </a:r>
          </a:p>
        </p:txBody>
      </p:sp>
      <p:pic>
        <p:nvPicPr>
          <p:cNvPr id="402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1844824"/>
            <a:ext cx="3097212" cy="4148137"/>
          </a:xfrm>
          <a:prstGeom prst="rect">
            <a:avLst/>
          </a:prstGeom>
          <a:noFill/>
          <a:ln>
            <a:noFill/>
          </a:ln>
          <a:effectLst/>
          <a:extLst>
            <a:ext uri="{909E8E84-426E-40DD-AFC4-6F175D3DCCD1}">
              <a14:hiddenFill xmlns:a14="http://schemas.microsoft.com/office/drawing/2010/main">
                <a:solidFill>
                  <a:srgbClr val="FFEA1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1517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3762" name="Picture 2"/>
          <p:cNvPicPr>
            <a:picLocks noChangeAspect="1" noChangeArrowheads="1"/>
          </p:cNvPicPr>
          <p:nvPr/>
        </p:nvPicPr>
        <p:blipFill>
          <a:blip r:embed="rId3">
            <a:extLst>
              <a:ext uri="{28A0092B-C50C-407E-A947-70E740481C1C}">
                <a14:useLocalDpi xmlns:a14="http://schemas.microsoft.com/office/drawing/2010/main" val="0"/>
              </a:ext>
            </a:extLst>
          </a:blip>
          <a:srcRect b="3000"/>
          <a:stretch>
            <a:fillRect/>
          </a:stretch>
        </p:blipFill>
        <p:spPr bwMode="auto">
          <a:xfrm>
            <a:off x="5364088" y="2132856"/>
            <a:ext cx="3634762" cy="2736304"/>
          </a:xfrm>
          <a:prstGeom prst="rect">
            <a:avLst/>
          </a:prstGeom>
          <a:noFill/>
          <a:extLst>
            <a:ext uri="{909E8E84-426E-40DD-AFC4-6F175D3DCCD1}">
              <a14:hiddenFill xmlns:a14="http://schemas.microsoft.com/office/drawing/2010/main">
                <a:solidFill>
                  <a:srgbClr val="FFFFFF"/>
                </a:solidFill>
              </a14:hiddenFill>
            </a:ext>
          </a:extLst>
        </p:spPr>
      </p:pic>
      <p:sp>
        <p:nvSpPr>
          <p:cNvPr id="373763" name="Rectangle 3"/>
          <p:cNvSpPr>
            <a:spLocks noGrp="1" noChangeArrowheads="1"/>
          </p:cNvSpPr>
          <p:nvPr>
            <p:ph type="title"/>
          </p:nvPr>
        </p:nvSpPr>
        <p:spPr>
          <a:xfrm>
            <a:off x="755576" y="332656"/>
            <a:ext cx="7406640" cy="1356360"/>
          </a:xfrm>
        </p:spPr>
        <p:txBody>
          <a:bodyPr/>
          <a:lstStyle/>
          <a:p>
            <a:r>
              <a:rPr lang="en-US" dirty="0"/>
              <a:t>Human Digestive System</a:t>
            </a:r>
          </a:p>
        </p:txBody>
      </p:sp>
      <p:sp>
        <p:nvSpPr>
          <p:cNvPr id="3" name="Content Placeholder 2"/>
          <p:cNvSpPr>
            <a:spLocks noGrp="1"/>
          </p:cNvSpPr>
          <p:nvPr>
            <p:ph idx="1"/>
          </p:nvPr>
        </p:nvSpPr>
        <p:spPr>
          <a:xfrm>
            <a:off x="539552" y="1965960"/>
            <a:ext cx="4771863" cy="4775408"/>
          </a:xfrm>
        </p:spPr>
        <p:txBody>
          <a:bodyPr>
            <a:normAutofit/>
          </a:bodyPr>
          <a:lstStyle/>
          <a:p>
            <a:r>
              <a:rPr lang="en-US" dirty="0"/>
              <a:t>After chewing and swallowing, it takes 5 to 10 seconds for food to pass down the esophagus to the stomach, where it spends 2 to 6 hours being partially digested.</a:t>
            </a:r>
          </a:p>
          <a:p>
            <a:r>
              <a:rPr lang="en-US" dirty="0"/>
              <a:t>Final digestion and nutrient absorption occur in the small intestine over a period of 5 to 6 hours.</a:t>
            </a:r>
          </a:p>
          <a:p>
            <a:r>
              <a:rPr lang="en-US" dirty="0"/>
              <a:t>In 12 to 24 hours, any undigested material passes through the large intestine, and </a:t>
            </a:r>
            <a:r>
              <a:rPr lang="en-US" dirty="0" err="1"/>
              <a:t>faeces</a:t>
            </a:r>
            <a:r>
              <a:rPr lang="en-US" dirty="0"/>
              <a:t> are expelled through the anus.</a:t>
            </a:r>
          </a:p>
        </p:txBody>
      </p:sp>
    </p:spTree>
    <p:extLst>
      <p:ext uri="{BB962C8B-B14F-4D97-AF65-F5344CB8AC3E}">
        <p14:creationId xmlns:p14="http://schemas.microsoft.com/office/powerpoint/2010/main" val="1485689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683568" y="412402"/>
            <a:ext cx="7406640" cy="1356360"/>
          </a:xfrm>
        </p:spPr>
        <p:txBody>
          <a:bodyPr/>
          <a:lstStyle/>
          <a:p>
            <a:r>
              <a:rPr lang="en-US" dirty="0"/>
              <a:t>Different Digestive Systems</a:t>
            </a:r>
          </a:p>
        </p:txBody>
      </p:sp>
      <p:sp>
        <p:nvSpPr>
          <p:cNvPr id="408579" name="Rectangle 3" descr="Rectangle: Click to edit Master text styles&#10;Second level&#10;Third level&#10;Fourth level&#10;Fifth level"/>
          <p:cNvSpPr>
            <a:spLocks noGrp="1" noChangeArrowheads="1"/>
          </p:cNvSpPr>
          <p:nvPr>
            <p:ph idx="1"/>
          </p:nvPr>
        </p:nvSpPr>
        <p:spPr>
          <a:xfrm>
            <a:off x="467544" y="2132856"/>
            <a:ext cx="3441576" cy="4307596"/>
          </a:xfrm>
        </p:spPr>
        <p:txBody>
          <a:bodyPr>
            <a:normAutofit/>
          </a:bodyPr>
          <a:lstStyle/>
          <a:p>
            <a:r>
              <a:rPr lang="en-US" dirty="0"/>
              <a:t>Different diets means different structures are needed in the digestive system.</a:t>
            </a:r>
          </a:p>
          <a:p>
            <a:r>
              <a:rPr lang="en-US" dirty="0"/>
              <a:t>Main differences occur in the -</a:t>
            </a:r>
          </a:p>
          <a:p>
            <a:pPr lvl="1"/>
            <a:r>
              <a:rPr lang="en-US" dirty="0"/>
              <a:t>teeth</a:t>
            </a:r>
          </a:p>
          <a:p>
            <a:pPr lvl="1"/>
            <a:r>
              <a:rPr lang="en-US" dirty="0"/>
              <a:t>length of digestive system</a:t>
            </a:r>
          </a:p>
          <a:p>
            <a:pPr lvl="1"/>
            <a:r>
              <a:rPr lang="en-US" dirty="0"/>
              <a:t>number and size of digestive organs</a:t>
            </a:r>
          </a:p>
        </p:txBody>
      </p:sp>
      <p:pic>
        <p:nvPicPr>
          <p:cNvPr id="8194" name="Picture 2" descr="http://image.slidesharecdn.com/animalkingdomcomparativeanatomy-110815154117-phpapp01/95/animal-kingdom-comparative-anatomy-10-728.jpg?cb=13134238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1" y="1768761"/>
            <a:ext cx="5382003" cy="403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5486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a:xfrm>
            <a:off x="868680" y="508979"/>
            <a:ext cx="7406640" cy="1356360"/>
          </a:xfrm>
        </p:spPr>
        <p:txBody>
          <a:bodyPr/>
          <a:lstStyle/>
          <a:p>
            <a:r>
              <a:rPr lang="en-US" dirty="0"/>
              <a:t>Teeth </a:t>
            </a:r>
          </a:p>
        </p:txBody>
      </p:sp>
      <p:sp>
        <p:nvSpPr>
          <p:cNvPr id="410627" name="Rectangle 3" descr="Rectangle: Click to edit Master text styles&#10;Second level&#10;Third level&#10;Fourth level&#10;Fifth level"/>
          <p:cNvSpPr>
            <a:spLocks noGrp="1" noChangeArrowheads="1"/>
          </p:cNvSpPr>
          <p:nvPr>
            <p:ph idx="1"/>
          </p:nvPr>
        </p:nvSpPr>
        <p:spPr>
          <a:xfrm>
            <a:off x="914400" y="1965960"/>
            <a:ext cx="3657600" cy="4389600"/>
          </a:xfrm>
        </p:spPr>
        <p:txBody>
          <a:bodyPr/>
          <a:lstStyle/>
          <a:p>
            <a:r>
              <a:rPr lang="en-US" dirty="0"/>
              <a:t>Carnivore</a:t>
            </a:r>
          </a:p>
          <a:p>
            <a:pPr lvl="1"/>
            <a:r>
              <a:rPr lang="en-US" dirty="0"/>
              <a:t>Sharp ripping teeth</a:t>
            </a:r>
          </a:p>
          <a:p>
            <a:pPr lvl="1"/>
            <a:r>
              <a:rPr lang="en-US" dirty="0"/>
              <a:t>Large canines</a:t>
            </a:r>
          </a:p>
          <a:p>
            <a:r>
              <a:rPr lang="en-US" dirty="0"/>
              <a:t>Herbivore</a:t>
            </a:r>
          </a:p>
          <a:p>
            <a:pPr lvl="1"/>
            <a:r>
              <a:rPr lang="en-US" dirty="0"/>
              <a:t>Wide grinding teeth</a:t>
            </a:r>
          </a:p>
          <a:p>
            <a:pPr lvl="1"/>
            <a:r>
              <a:rPr lang="en-US" dirty="0"/>
              <a:t>Large molars</a:t>
            </a:r>
          </a:p>
          <a:p>
            <a:r>
              <a:rPr lang="en-US" dirty="0"/>
              <a:t>Omnivore</a:t>
            </a:r>
          </a:p>
          <a:p>
            <a:pPr lvl="1"/>
            <a:r>
              <a:rPr lang="en-US" dirty="0"/>
              <a:t>Both kinds of teeth</a:t>
            </a:r>
          </a:p>
        </p:txBody>
      </p:sp>
      <p:pic>
        <p:nvPicPr>
          <p:cNvPr id="410628" name="Picture 4"/>
          <p:cNvPicPr>
            <a:picLocks noChangeAspect="1" noChangeArrowheads="1"/>
          </p:cNvPicPr>
          <p:nvPr/>
        </p:nvPicPr>
        <p:blipFill>
          <a:blip r:embed="rId3">
            <a:extLst>
              <a:ext uri="{28A0092B-C50C-407E-A947-70E740481C1C}">
                <a14:useLocalDpi xmlns:a14="http://schemas.microsoft.com/office/drawing/2010/main" val="0"/>
              </a:ext>
            </a:extLst>
          </a:blip>
          <a:srcRect b="4662"/>
          <a:stretch>
            <a:fillRect/>
          </a:stretch>
        </p:blipFill>
        <p:spPr bwMode="auto">
          <a:xfrm>
            <a:off x="4139952" y="836712"/>
            <a:ext cx="4422775"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865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868680" y="404664"/>
            <a:ext cx="7406640" cy="1356360"/>
          </a:xfrm>
        </p:spPr>
        <p:txBody>
          <a:bodyPr/>
          <a:lstStyle/>
          <a:p>
            <a:r>
              <a:rPr lang="en-US" dirty="0"/>
              <a:t>Length of Digestive System</a:t>
            </a:r>
          </a:p>
        </p:txBody>
      </p:sp>
      <p:sp>
        <p:nvSpPr>
          <p:cNvPr id="412675" name="Rectangle 3" descr="Rectangle: Click to edit Master text styles&#10;Second level&#10;Third level&#10;Fourth level&#10;Fifth level"/>
          <p:cNvSpPr>
            <a:spLocks noGrp="1" noChangeArrowheads="1"/>
          </p:cNvSpPr>
          <p:nvPr>
            <p:ph idx="1"/>
          </p:nvPr>
        </p:nvSpPr>
        <p:spPr>
          <a:xfrm>
            <a:off x="691362" y="2132856"/>
            <a:ext cx="4377680" cy="4572000"/>
          </a:xfrm>
        </p:spPr>
        <p:txBody>
          <a:bodyPr>
            <a:normAutofit/>
          </a:bodyPr>
          <a:lstStyle/>
          <a:p>
            <a:r>
              <a:rPr lang="en-US" dirty="0"/>
              <a:t>Herbivores &amp; omnivores</a:t>
            </a:r>
          </a:p>
          <a:p>
            <a:pPr lvl="1"/>
            <a:r>
              <a:rPr lang="en-US" dirty="0"/>
              <a:t>Long digestive </a:t>
            </a:r>
            <a:br>
              <a:rPr lang="en-US" dirty="0"/>
            </a:br>
            <a:r>
              <a:rPr lang="en-US" dirty="0"/>
              <a:t>systems.</a:t>
            </a:r>
          </a:p>
          <a:p>
            <a:pPr lvl="1"/>
            <a:r>
              <a:rPr lang="en-US" dirty="0"/>
              <a:t>Harder to digest cellulose (cell walls of plants).</a:t>
            </a:r>
          </a:p>
          <a:p>
            <a:pPr lvl="1"/>
            <a:r>
              <a:rPr lang="en-US" dirty="0"/>
              <a:t>Bacteria needed in intestines help.</a:t>
            </a:r>
          </a:p>
          <a:p>
            <a:r>
              <a:rPr lang="en-US" dirty="0"/>
              <a:t>Carnivores</a:t>
            </a:r>
          </a:p>
          <a:p>
            <a:pPr lvl="1"/>
            <a:r>
              <a:rPr lang="en-US" dirty="0"/>
              <a:t>Short digestive systems.</a:t>
            </a:r>
          </a:p>
          <a:p>
            <a:pPr lvl="1"/>
            <a:r>
              <a:rPr lang="en-US" dirty="0"/>
              <a:t>Protein easier to </a:t>
            </a:r>
            <a:br>
              <a:rPr lang="en-US" dirty="0"/>
            </a:br>
            <a:r>
              <a:rPr lang="en-US" dirty="0"/>
              <a:t>digest than cellulose.</a:t>
            </a:r>
          </a:p>
        </p:txBody>
      </p:sp>
      <p:pic>
        <p:nvPicPr>
          <p:cNvPr id="412676" name="Picture 4"/>
          <p:cNvPicPr>
            <a:picLocks noChangeAspect="1" noChangeArrowheads="1"/>
          </p:cNvPicPr>
          <p:nvPr/>
        </p:nvPicPr>
        <p:blipFill>
          <a:blip r:embed="rId3">
            <a:extLst>
              <a:ext uri="{28A0092B-C50C-407E-A947-70E740481C1C}">
                <a14:useLocalDpi xmlns:a14="http://schemas.microsoft.com/office/drawing/2010/main" val="0"/>
              </a:ext>
            </a:extLst>
          </a:blip>
          <a:srcRect b="3246"/>
          <a:stretch>
            <a:fillRect/>
          </a:stretch>
        </p:blipFill>
        <p:spPr bwMode="auto">
          <a:xfrm>
            <a:off x="5076056" y="1844824"/>
            <a:ext cx="3793145" cy="4026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482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521653"/>
            <a:ext cx="7406640" cy="1356360"/>
          </a:xfrm>
        </p:spPr>
        <p:txBody>
          <a:bodyPr/>
          <a:lstStyle/>
          <a:p>
            <a:r>
              <a:rPr lang="en-AU" dirty="0"/>
              <a:t>Different Stomachs - Ruminant</a:t>
            </a:r>
          </a:p>
        </p:txBody>
      </p:sp>
      <p:sp>
        <p:nvSpPr>
          <p:cNvPr id="3" name="Content Placeholder 2"/>
          <p:cNvSpPr>
            <a:spLocks noGrp="1"/>
          </p:cNvSpPr>
          <p:nvPr>
            <p:ph idx="1"/>
          </p:nvPr>
        </p:nvSpPr>
        <p:spPr>
          <a:xfrm>
            <a:off x="539551" y="1916832"/>
            <a:ext cx="7927737" cy="4572000"/>
          </a:xfrm>
        </p:spPr>
        <p:txBody>
          <a:bodyPr>
            <a:normAutofit/>
          </a:bodyPr>
          <a:lstStyle/>
          <a:p>
            <a:r>
              <a:rPr lang="en-US" b="1" dirty="0"/>
              <a:t>Ruminant</a:t>
            </a:r>
            <a:r>
              <a:rPr lang="en-US" dirty="0"/>
              <a:t> stomachs are                                                                                            found in sheep, cows and                                                                                              goats.  Are called cud-chewing  mammals.</a:t>
            </a:r>
          </a:p>
          <a:p>
            <a:r>
              <a:rPr lang="en-US" dirty="0"/>
              <a:t>Cud chewing means they                                                                                                                chew their food twice.</a:t>
            </a:r>
          </a:p>
          <a:p>
            <a:r>
              <a:rPr lang="en-US" dirty="0"/>
              <a:t>Their stomach occupies 3/4 of the                                                                      abdominal cavity.  Broken up into four parts -</a:t>
            </a:r>
          </a:p>
          <a:p>
            <a:pPr lvl="1"/>
            <a:r>
              <a:rPr lang="en-US" dirty="0"/>
              <a:t>Rumen</a:t>
            </a:r>
          </a:p>
          <a:p>
            <a:pPr lvl="1"/>
            <a:r>
              <a:rPr lang="en-US" dirty="0"/>
              <a:t>Reticulum</a:t>
            </a:r>
          </a:p>
          <a:p>
            <a:pPr lvl="1"/>
            <a:r>
              <a:rPr lang="en-US" dirty="0" err="1"/>
              <a:t>Omasum</a:t>
            </a:r>
            <a:endParaRPr lang="en-US" dirty="0"/>
          </a:p>
          <a:p>
            <a:pPr lvl="1"/>
            <a:r>
              <a:rPr lang="en-US" dirty="0"/>
              <a:t>Abomasum which is the “true” stomach</a:t>
            </a:r>
          </a:p>
          <a:p>
            <a:r>
              <a:rPr lang="en-US" dirty="0"/>
              <a:t>Video on cow digestion </a:t>
            </a:r>
            <a:r>
              <a:rPr lang="en-US" dirty="0">
                <a:hlinkClick r:id="rId2"/>
              </a:rPr>
              <a:t>https://www.youtube.com/watch?v=svw5KA8YlAA</a:t>
            </a:r>
            <a:endParaRPr lang="en-US" dirty="0"/>
          </a:p>
          <a:p>
            <a:pPr lvl="1"/>
            <a:endParaRPr lang="en-US" dirty="0"/>
          </a:p>
          <a:p>
            <a:pPr lvl="1"/>
            <a:endParaRPr lang="en-US" dirty="0"/>
          </a:p>
          <a:p>
            <a:endParaRPr lang="en-AU" dirty="0"/>
          </a:p>
        </p:txBody>
      </p:sp>
      <p:sp>
        <p:nvSpPr>
          <p:cNvPr id="6" name="AutoShape 4" descr="Image result for cud chew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7" name="AutoShape 6" descr="data:image/jpeg;base64,/9j/4AAQSkZJRgABAQAAAQABAAD/2wCEAAkGBxMTEhQUExQVFhUXGBoaGBgYFxcXGhgcGhgXFhgbGBcYHCggHBwmHBcZITEiJSkrLi4uGCAzODMsNygtLisBCgoKDg0OGxAQGywkHyQsLCwsLCwsLCwsLCwsLCwsLCwsLCwsLCwsLCwsLCwsLCwsLCwsLCwsLCwsLCwsLCwsLP/AABEIANoA5wMBIgACEQEDEQH/xAAbAAACAwEBAQAAAAAAAAAAAAAEBQIDBgEAB//EAEQQAAECAwQHBwIEAwYGAwEAAAECEQADIQQSMUEFUWFxgZHwBiIyobHB0RPhQlJy8RQjMxVigpKywhYkQ1Ois1STwwf/xAAaAQADAQEBAQAAAAAAAAAAAAABAgMABAUG/8QAIxEAAgICAgIDAQEBAAAAAAAAAAECEQMhEjFBURMiMmFxBP/aAAwDAQACEQMRAD8Aunybybpw14NGYm6HAUXDmNmZfergIBmWIzJyEJ8SyBufPcBWPFhKj6KaQgs1nY+UC22SQY+vWbsxZpY7oK1ZFRvbyEhhrjDdq9HXVltebeVPaDHKpPRDHlUnSM/ZuUHIU2HlAtkAweHMmSlqwZnRE5Yr0xVCR1qhhalgC4DvJxMDWealJYcYskC/MKmdhTeMImlsLZ2TMJSC3wB8kRUZF7E+XzBwUGuggAUGbtiwiFow8VNxfl+0M2ZAKkIT4lVyDueCQGiaUpOCFf4mHkaxYgCrU1k4nOpyOyK5ho9ANZw4Ur1UwrGLBITiCpOzFJ4Gg4NF6E5Mx6EL5KFKc946srx2Jeg3x5NqKCxoN7jfs34Y8ChWNFCmGLg40ap94ioMz4nLrKOybWm6VqwGfqwzJy3wKJ5mG8UkJyABNB+YtBYqC5IJww1xTbbTLQzrTeZsQSNdIHtq1KDM6fykt7h/SBbJIY0RLBODEKLbKYbowaOrN/AApO1+bQNOslyovD9JP+kgwxK1PV0kbA3tFE+8XdSWyxHXlBQRei1sWVgcLySk+bPFs4UKcUqFPtFyZLggsoHLHmkwBaZ90XSFBIqFfpyfPOKR2Tk67ArVYWCaqIJxBA840Gg5JlDElJr0PiFMmd3RTumpdmrDewWlqGoyjSuhVV2EWy2J2nZ+8ALnk1FBrz4RfpIBQcYiEloWQMj15QiRTwetVo6JrGi7LS/qBoxP1LygBnH1LstYgiXQMdda84pJUc85WqIztHTAXQeBj0PlJfAR2NZzqKRllLNYhZNIGRME26FsClQwoqhunIxbaMD11lAs6WLu/ARzHoNKSpm40bpWTaUvLU5qTLVRYpmPxDdSsI+1lnvJNdR1FgG1VrCOyWUpF7AjAu3I5R2029SwxU+1z+2vnA470c8f+fjK0zMTUFKjB9nnG6C9OuuMLNIzCVXE1OezjBM5ky21DrzaOjwWKrXbFBQ1nV8RoJU/6SUg0Khjmx1DWQ25ozdgsJn2iVLJopnOrMkRt9I6IA8I2bwMBAkgxlvYD9ZzRgNSRszOfpF60lhifL3gG4UuBVOIajHPCkWSprj8VOPqIQocUMHo+AyglLEgEPnXIfJfzgaYgPt1lyeEekIOFa1OsDWTrLUGQ3RjUEzVhI2qy/uigG75MDzLGhQunOpIx1cg9I4pQxVU6h/4pESlBVVH8vm7j1HKMCiMuy3UJBqwFNuBPOOTqYvg4Ke6eWEWz1O13HHk7+nmIHUurnXT0Hm/KBRjsucoeLvajgfseMSWpOBAIOIIo9KjbhWK11+20H2IihC6hwbpZ9jt94ZIDL5alENU/lfEaxXERMWcJDqJ4ig5RZKvJSM2o747YCtVrOtuRPDCMFE59tTkQd3t1whfpGWFJc4Hbgdbb4AtNp71HJGoeo+Iv/tK8goZi4IpkTXlDwVE5uyRktLP6evWIaOn3ZdcR+/pBBLSS+LEU9uEIRamCutcN2idpMdG3d9NaH5iGmQm64ofWM3LtJK0jUB6vDOfMvsCaYxuFNG+S0y/szYypd9Qpt9o+jWe1hIA7o3Uj5ujTyZXdSMItR2px18I6Pji9s5JO32fTkaXbVzjkfM/+JBmRHI3xw/oOL9mwVN15V5RUVgt1jSJTJRYDM1j0mS77/2jgR6ZbbCSn0HzCebKIB/aHNoLY4wFNlPU1bDZwjLRvAplyQCA1T0+6I6QllvLrbBSJXeJzPpnxggyCwff8w9iPQJoYFKioJBmBPd5sWDthnvh9orTqZsyZJqJiA7EguMDUYkUfeIzapxSFlPiYgHfj1thDYLOuVbJa0qJC0kEhyxIPi3kCKKFp/4SlJqq9n0e2EHZCn6TZFsmrA67Ss0V4vLe/Dyi2yTcB3hdFTlwjntnUguQg4mnqetfKLZKXdRoC+wsKO3DzjkpFLzHY+JpVtVHgsAAbvb7tzgmKhZgRUMOn8vWIqIwbpxBQZuuJ86RQs94bchiz/fzgIIMtIH6m9S8UTkNgKVpBM6ZWtPnGnWUBTVsyRieudIdCs8kFTZAD3Jc8hECopUkgUYp4hsd4eJTHYZEgCOXDXYfvXmeEMKdtNpYUSdlfvCgIXNJIAxYcMSYItgemWbExKXa0ITSmVMgMAOszCphZFVgKQyeJiEjRAKheOfWEdtOl0BLk0AfUBCOzdpTNXdQKGgclL6sKgRSMZNWiE8kU6ZodMXUUGGbGMNMVeJuuxLVbcM40dvTcs5KqLUouBhSkZ6ypYpHGKQVIlN2y0SmW0fROxnZ5ExH1JiQQcHqGEZPRWjjMVfOBwj6PotYlykIDhh+8MtsSTpBv/Ddlzkyj/hEVDsxZDjZ5f8AlEGItIIo8EypoaphmiQsPZOxn/oS/wDKI9Dn6mqOwNhpGLfExALYdY/b2jkxYcCK5lRt6JMcKPUOzlOes4vSAQWwGO2AJkyrYYny6HCLpc/uFuuvaGFo6lICju69IjOV3aYmm6AUTC5EV6Vn3U3R117wyWxKKZqXACalSroycktjGpsXZOSi9MCe9+Fy7NnCDRMsfUlJyRXiAS/ONNadKM1Y0p0FRfYg0mwUQRh6fEVWXuhg5NcRrYAQ0taApQJxNN8BmWUuOnEKtjhdknuFEmub6ga9bovBN0vi3tA1ms3mQ/MQaEY+Z5wGMdSoYnLbt+YqVUnI586DzflFglAAbCaYZYRFSEjc/sHJ1u0YwBNlggKrmeFG41gBwklhuJ5cBDOY5AbGogGZLcgttPI+8MhWckzqC9+F9+Dep8onPU9Eljdx2v8AAPOKijvA5N+3tC+1WgpV1v8AaCABtmkFuU3eJevLXrgdEhS6Cnt8mOzSVKKtZoOPxWCLFIWqjsM/tFEkibbbEumbMpSbqPCDU4u27KFmi7H3xeIBwDHCh2R9P0dZZScWJ1HLhFNq0VLCwtCU7dY+YpDNS4nPkwqUuRmdK2grSkniNorFui9ATFi+QwPpDjQmhkz7QAvwIVeVt1DnH0VVkl5MBGTQs3TMtoSxBKQkhmh+lCTWkXfwiBV4JR9IZQ8Gok5OyhCKUFY6mWrOCxOTlAs5ZhnMWjqLWE0jkCfwxd47E7YNmbcOeZ5U9Y4VuYhNXU7acujFayXPGOM9YhaFhuDnrlHU0ludfLr2iuf5kt15RO0BpTb/AF65wwAKxqvTC+w+8U2/vzEp214VieiVB5itw8opsqnmqUcknmSPvDeRfAVZp7TmzuqbkPiL5k0k+8KLOsm0J2OTuz9RDJCu81HwMJkVDwdjyzigpEbofcp/T7xOy1fUOuvvHV2c45/MLEZhMtVNVeutsXXKebeg9IoSnuiClKHlujMyBJ85rtHL4eZr1nEbQBWuFDliPtHZblRJyFN1RQdYR6WBUkfix16uXtGMDFXdbN3Hx7QJMXiRmKjrlF0yWA7GlGGrqvnACrOoqJRgHPHMcYYUkBg2DAj79aoU6XFQ2X2ENLQGSGO/rjCyUL69gz1Uh4ryKydmsoNdkSe6KZ8NmcEeEF8qQumznSOPRgOVsNUjkm3m9uhiLY7g0jPgjjrixE0vWphuJPkavs6g/Um3c7p9Y019bRn+x4ebN/SPUxshJgWcGb9sXhzHFpUWYGCvpNFgmXaQ1EqAEyycAaRCXOU7MYbLtAwGMAz5pB7oeH4P2NwZahzHoqvrNWaPQeIeJlUgYnrOIWiY3XH1iQYB+tj84Gmlz1rjmPVIkuQHwx3s/qY9plTIYZ0HDH3iMjxgazXrefKK9LzHVuoIZdmfRRYB/LUdavIAD5iFmolatvoKesXSg0kcTzJihH9Ov5j5QRSGjE/zFHUw5mG89LLBbFuvOFWiB41bfQfeGlpPeRqaEyvY+NaGljmOWg8B+Az63wksKycNcOfwgDxK9B+3rCJ0h2thhQAkdbYFUvLaa7feC1p7tcvPowE2foOtXlA7MjwSA7qGrbi3vFE5CgzZh/dyMvvFkyU7eWqmsDGIfUwGDhj7kchBABKUoYsXP2MU/Xd2o2PH2giYEjE+dMMoEtiGBUOI3wTA82c4Y6m5Ryx2e6Otf2imRVRGIxfX18wRa5oGGMOnoVrZTbJoYiE80hh57/j5gi2T92+F02fRuXBiPjhBihZMidh6wi+xIdQfLr7wJIx4wwQpgW1RUj2arsNMP1Jp1p/3Rt5U98YxHYBBVMmtkkesbdtXGFTo5c182SuPFAkl8YuvMYgUrekayJH6BJrEf4Qg0i9aTSOXjmYNjEVSTrj0emJNKx6NyYG2YQ1p1R4qnBvbb1jFqaB9jDrlFM1VWGPQ+Ikj12VWY/zH1CkDW81pkG66zi2Se+dQT15iBbfQbn9PmGXYr6CZymlgbBAiCPp7yo+ZPvF1tLNuHo0BWdX8ocfWDWgeQnRfgXvPXKGFsWyQd3pCzRKnQr9XxBuklZbviJZP0Ux9DHRSHDDAVV8RopVmXiBln08DaHsf8PLvKb6hqX/D+0ONH35wvBYz9SOcGOJy6BPKogk2WsgMw2wKdGAmq1ncSPSNGjRb+JTwRL0aBg22kWjg9kHnXgyU2xH8yhxPm8Cfwqw5Qb4/KfY4842p0YDWmrDnnC2boc1ZhuPtBeD0ZZ7MxOsKl0AINfs4wyyiE2yTEjvAmmqHy5E5O3bX2eFknTjrMsjCj5Pxq8SeOSRRZEZ1ckpU4w6f7wPblunrhD7S8sJqBQ162xm7XRwMOqNxgJDuWhdNm0IzgD26EXWgmr564HllyHy6+YvFUQk7YbIQAxi5Kqb4rUeuuqxxGG74ML2bo23/APP1sZx13R6n4jaS1kYCMp2ElgSFqP4ph5AJHq8a5E8ANjC+TiyO5s8VDPGLJe2BfqVi4zQTtgkzs1YNIpSl8TEBi+GyIrW51GAY6ZatcejwJNI9GFMLMm+Tc+mil6Pn8uPvET79e3KPDLUK9dZwp7JGUWUX1QJpAk8/SsEoNSetcUWpNCesh8wy7FfRLSHhfYfSFtlV/LO8+xg231HOFVhmf1E6q8/2gpfUDf2GWjFd1W/2EP8ARcgLtAeoT3uTH1pGa0cPGHGqu5o2WhZYCVKxKqcBX1MTmvsPF/UbWma6Cwckd7n6YUjO6O7QKkkpaiSXbMEvhxjRyLMHuviKVc4Qv0l2fUsugAH82HAx0xeiLS6NdofSaJssLSQyg8MBPEYvQ2jDZpaU37xdRJwAfEAan9SYaJtBAz4vDqRGUB/9cQFarYEudmMLE2otiPTDhthZpOeSkgFzvx64wXLQvHYh0/2yZakIJcY7PvHOy3eQpSxib1dsIbH2VmCYS4WCSScDi9QcY2Nnk/TDaseIxgNpIeKfbIW1V+WCKlJY64y9uQQWZtRb3jQz1AE0DHH5hNbUhyxYitM9kcyOkylukEKrnHLPLOOfQhtpIAsYFVQboopaJONOyI666wi1A9+vWB0qesXjDXGoFn0rsnZXsksAsSSeZh0ZV00jOaO0ymXLloSnwpAxxYQartKMbuG2D8L7OOUW3Y0UquDRUpREAL7RDNBig6dRechW6B8MhXBjP6iQQ8W3cxWFf9syX8JeJr08jaIKxSQFFoZqKgMY9CidpmVrJj0B45B4SMwBR+HE1PlFajTeW9omoG6Br69GgWbMw3er+3rEUesTSrHrIRVaj3W1/eJWcve3/PxFEyZhsPyYbyDwdtXhG4eYhJZS0w7Uw6tA/lp/SIQTFtNB2+RpDw8olN1THGjFgKUHOR1a42WhwDLRjnwrraMhZ0hKgdYNS2p6P7A742GgkkoCsTlQ+9WhJopFjeoq42b6Mxg+xW0KSxbZtxwY64CXgXbbQda4VqtN1TCr4lw2tt8NB0TnsfWtXRaApiicj6/eAVz3yIpmTqDkOnp48FHF22Ej2wG2KkrCyaYxSyTV/jy9IGmL7oqSTq9yacICNrx72vURrBpq84xrHM4oQAotQPWFcq0qU5UDXPHAYeULdIWslmzps1YPjFsqaAKNliYnIeLPWw7Cz7vV4XW2Yl3Yg7+eUMZk3bv+0KdMg3AoB2PLaYWPY7YrtJqQMH+8L7VOZxBKFHvXtnpjC61GsVitkpy0XS5lG1Qwskpa3EtJWtiQBr1wokx9J7AaJUmUqeR4+6jXdBqeJ/0xpaIudRMmLBpH/sTPL5jpsWkf/jzTwj6/LW2I8o8ZzEsIPysjv2fHV2bSI8UicOBjn/PDGTO/ymPs61ggYwPN4xnlYd+z5BftmUmdvuK+IqVa7U9Zc3/Ir4j7AmYMAWj11LiojfIw2z5B/G2jOXNG9CviPR9hCQcSI5B+Rmtnz+Yqh2BucBWhTkRJcynLr1gZR9feOZHptl9kV4trGKJxYkcYhZZhdtnuY5ajV98P5Fb0FhTyk7iORPxGctq2VTh7GNBYi8ovjWM9pVDGGx9ksv5HNnmElJ5nE1jb2KeJUlD09THz2wzXlp5fEaSbOK5AGaRT1hZrY8XobztNIIFfPAv+0KLd2nkoV3i5xNTTZSMhpSeoKLP1SBJFgVMdSx4qD3MWx4/Zy5JvpGvnduJYDgHgkh+e+Kpfa/6nhCjwA8njLW2QKtUD06JjuiZDgEUi3BEuUro1R7RqA/pqHEfMDzO1BastR4D5ZonZSkDv1hjZ5dmOJA3iBxRT7CGd2oSfElQD/lHsYvTpQHwqfOhjUf2MgpV9NKSlSWIIBBG6MjpTQMlCin6S0lioLQtRa7U91ZbqjQsoITnKIR/aWrYfnr94baPtKVBlVCtfW6MMuXMlTVIBvpBookVDOC7thqMOdF20qUGGDDUHLAedIlLHRSGdPs9pBQCiBkSORLQqniG1tsKmVMHerVsU5d7IVpjAMiwzZi0oShRUo92hrrxyGvCGjo05WW6A0aqfOTLTmanUMzyj7bJQJaUoQGSlIAGwYCM12d0D/DSwGeYrxK9hsh3LtBGW+JSdslIJFpJckCKTaRnETPBNSIiqYkA7IRsR7C5VsDVDNF19JTrhbJnhideUE2ZQTugqTCmc+kNTRFNhSak4xeouC9ICmEnAsIYzZGZYUu9/hHoqXKJGJj0C34BbPnjU3P8AAiqYKR6+TvP7x6coV6zMA9Qrs/8AUA2K8hHrYusds/8AVSd45iPaSQxg+RfBboyZ3SIV6WRBmjDXYRX2ivSyKQy7Fe4gmil90joao0dnN0AGqxRsQnMPkTsy8hndGKuV/Erw60pFCre7gbidUOdFjLaG9PcQZoXG7QVYtBiauWViilGvGnW2HOluxkz/AKSmS1U69xGEHaMQFylXalKjy6ER/tqfKpiMgat7wceRJbBOFvRlrZ2YnJSAlBIO0DJ3fOF9n7PWhBrKLcPaN0vtQrOW+6Jf8TA0MtQ5ZcYv8kSTxsyiLFd8YKd7tHZyJaRg/CNajTUo4uN6T8RxekLORUjrVG5INMyVkt6pZ7qmTml2H2hgv+fcWB3VXkBzUkggtsZ+UW6TmyJndHeKiwSkOSSWAbXF1ssKJcnuO9lQtW8zZa5IUNy0r/zRObXRPI3VGMk2RK0OzK+olBP5fqIdJ2soA84YdnkC+CtIZSVBYyBBINDzEMrFZkCzklgZi5ShsuWcXiP/ALQeJiOj7HcCSaXZigRSvhVTmC23VE5y0yCXkPlWUmYp3lzRQlnCgKFwosaVf5DvNCykBZUgIaW8tKgFJN095QKWCccwc4Atdp/okMouqSokD8PdUDtKSDTMEZw9s0lnAYZ0wO14S9D3W0GzJrppjw9IrLKBGsYwKVKSoO42QXMqgFq64HKxeTYDJsQRU1MdXLSddIu+ib2LUiK3JIGqNdATaLk2UM4bbBV5IG4wslpUliVH4gj6bi8VPBTVFLRZaJwfAtFM4gkNSJykP+J49aEJGOcG9AK5k8R6LDPlAMkVj0Jr2CkfI0TKx0nri8DJWbwGpvd/WLJhh6PRT0dStlDYRB+kuhC6WxpB6zeQk4kBjGfZk9AMhTKG+sF26WSDSACO9xhiqc/r89bYLAuhAqaUzd3dA2CgHlGh0Kt1pbW52MxJ2YRnbeghb45w2sM0XVEflDb76M9zxSW0Shp0a7QtsuKb845KFfaC7TaWPHrrZGVRModh+8Fo0sFBlUVr1ti3OIUWkF2jSAFDz+IWz9KDrc8UWhSTTL7wttRCQ20Dn+0NFWTbofWa1BVTWLClDYZndlAVnlBnEN9F2ZKUqnzg8tBZKP8AvTGcS31DFR1EDOMZukXyUCzoTMwnTR/LGctBoZu8hwnidUc0baDMlTZS1d2a0mUFYJWoqVLfZfSngYT23SClqmTZinJBc7TQADIAOw2QPOtChZrMUEpWq1LUkhqXEy0JPAqUYMVbIS/po9JWcKmmS4aRISA2BBSy1cSANzaojbjWQQGE0FTbTKlDmQgjjBCZqJ076yQb02WpKgW8SFCXRvzEBXOGOjbGiYmROU1yzgqutUqvH6aeYCtyTGfZFPdAcqzlK7QGBF/6iKfivVcbpijwGqHsibeTeZnNdivD5vUimecQNleal3reStTsciCd4cf4TF0pd26k1pz1iJ/wK6KLQCAxNNR821cIOstpQtFMMGOPPOA55F66WBFAT5CJS5KTRt4gLsRKmEd0Uz890RlyyxYMRgfnrnAypC5anSSpJyLFucGSZpcdxzvIHx5Q6Q6/oIZRJJWaZxWxIN2gyg+cKVS5fWPiKzMSRVxsYE+ogcTNAVnXXxRfMQogVcGPKly9Zf8ASB/uMWy5qcHLamHzGUfAqRSqwh6R6Ckpxoo7XA8mj0bgg8T4vMDF93pFs0UjxGI6wgj6bphzvBbJU7RB93LjAtmABgpa7pBjPsK6BFY15tFy8QOWA8z1SJT5daVGPDrOKrQKBnggI6Vkr8C0lJApeTdPEEQJYFFMpYwdaAOAWVcnRzhrZ1rVLaYR9F/xk0IYEysVPruhtcdXo5Ck9wrVddV4B3LIvBSAxBupfHM4lnylWmSk1dlCFuWzYe3vAk8soHb+8QQhQUJiWWkYlHeYf3k+JI3gRO2AKBKcDUQWqY6naL1DDbC60rOEGyZjgbqwMuzqmLShCSpSiyUgOVElgAIEezT6DOzwmzpn0kqCUhJXMmK8MqWlipat1A2ZIGcHW/S6bQoBJMuTKF2SlQPhxKlkDxqNVUxplAmnZqbMg2KUoFV4G1TE1C5icJSTnLl1G1TnIQBoyWVKuhq0xbGmJh5RSIwbbCdIJUmUk5KUS4Liguprvv02QwQ/0rOAPBImzW/UqcQW/wACeYiu26JtSJgSiUpXcCWACkrSA6sKGpNMYdaGtBEmYiZKvi6lF1TomoUVJR9K+Q92qSM4CaoSV30G9krsxFnmGqiWAalETLw3FUp+MaqfZQky7PLowBVl3rhuBX+FDcTHtCaFRJVLCHKJV9aysuQ/fxo7US5y1l4qts9f1UTAKlYP/iogN+l4SS2TjQTUWk0JSyHGoqL16ygJVkJOJDQ2UAmcovVTEACpu3k+g1QRMtDpcBJTgS0BxCo2Jp9nCksauGB3DDk0WWU0DhpiaOfxDb8wTaJsv8GRB41PtEVzlKUCE/eBQ3EuUdYAVmHf0jhl0pR4qM4gs1NsS/iHD+UMg0cFnN4OYrmyGd8I4u1rUWGAiZLuHeAxHRUZRZgz0rFU6zXFOYIKCltUTUH1EQoK8kDOAq5rHoEJxj0Dka0fJkmsHWSZQpMLpWEXysU7/iKM7kEypYvY9e8EWpLp6pHlDHh6R6YaCAFAUhbgJzFBBUxKUDvMteSfwp/V+Y/3cBnqiWjQypxzEpRBzBvpFDlQkcYXrxIyhhStU0qmOpTlqk8sMG2YQRaJxuWpu6ZS0LvPg61Sw2+8P8sLZviHCGVjqbSDUGdZQdo+vMoYdRshOVCzTCrs9YTSoLCjFQCiA2omGVnaZLT+cP8A4nrX+9678UWlT/zEz9XtDjR/h4xp/lGwOyhCmJTrwiyz2xcqYibLJCkEFJ2iOaR/rcEnmkEwKvCFXso3ojbJYQssLyFAKQ5L3VVTXXiDtBh7oTR6VFMwEmUApUwP3kXElRSW/NS6oYucwYQ2rwytyv8AWuNH2XSPoWo5/R//AERBl+RIdgE/Ss+UWExd13a9icTGw7I6WmTBfnLTLQosCQm8tiA95WpRYbjqjFW8d49ZmGPZ9AV9O8AWnKZ6tSUaPtJ5wtKkwzVuj6fLM9yQkFFReUki++QrWmbNEU2gFV1UsOSyaksoJUQVYZOKa4O0ge6kf3R/60mAWqr9R/8AWn5POEIt2HaSlOhJCu8GfbgaeR47IqsymcOCFDvp1jWNRHVIKtmJ3/7UQtm0mpbZBbAiyZKZF4OUgirYMc9Ucs9qSkAk4Zwx0L/XSnIggjIilCMxGfnpAUsDATFMMvFGelaFlJoOnzEObpqa1yjsguO7j5cIXfii+QcYCZoysJlJXeqzHOLAljtico4RVafEN8NQ7VHJs0qZODRxSgE0NYh+IwNLPeibEts5bZxGDR6Jzki9HoDG42f/2Q=="/>
          <p:cNvSpPr>
            <a:spLocks noChangeAspect="1" noChangeArrowheads="1"/>
          </p:cNvSpPr>
          <p:nvPr/>
        </p:nvSpPr>
        <p:spPr bwMode="auto">
          <a:xfrm>
            <a:off x="155575" y="-1722438"/>
            <a:ext cx="3810000" cy="3600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1272" name="Picture 8" descr="https://caringforaveteran.files.wordpress.com/2015/01/cow-chewing.jpg?w=6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204864"/>
            <a:ext cx="2819360"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5378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19922"/>
            <a:ext cx="7406640" cy="1356360"/>
          </a:xfrm>
        </p:spPr>
        <p:txBody>
          <a:bodyPr/>
          <a:lstStyle/>
          <a:p>
            <a:r>
              <a:rPr lang="en-AU" dirty="0"/>
              <a:t>Different Stomachs - Ruminant</a:t>
            </a:r>
          </a:p>
        </p:txBody>
      </p:sp>
      <p:sp>
        <p:nvSpPr>
          <p:cNvPr id="3" name="Content Placeholder 2"/>
          <p:cNvSpPr>
            <a:spLocks noGrp="1"/>
          </p:cNvSpPr>
          <p:nvPr>
            <p:ph idx="1"/>
          </p:nvPr>
        </p:nvSpPr>
        <p:spPr>
          <a:xfrm>
            <a:off x="683568" y="1783560"/>
            <a:ext cx="8003232" cy="4885800"/>
          </a:xfrm>
        </p:spPr>
        <p:txBody>
          <a:bodyPr>
            <a:normAutofit/>
          </a:bodyPr>
          <a:lstStyle/>
          <a:p>
            <a:r>
              <a:rPr lang="en-AU" dirty="0"/>
              <a:t>When a cow first takes a bite, it                                                                                 chews just enough to moisten                                                                                     the food. </a:t>
            </a:r>
          </a:p>
          <a:p>
            <a:r>
              <a:rPr lang="en-AU" dirty="0"/>
              <a:t>Once swallowed, the food goes into                                                                          the first section, the reticulum, where it                                                                 mixes with other acidic digestive                                                                        liquids and is softened. The softened                                                                      food is called </a:t>
            </a:r>
            <a:r>
              <a:rPr lang="en-AU" b="1" dirty="0"/>
              <a:t>cud</a:t>
            </a:r>
            <a:r>
              <a:rPr lang="en-AU" dirty="0"/>
              <a:t>, small balls of food.            </a:t>
            </a:r>
          </a:p>
          <a:p>
            <a:r>
              <a:rPr lang="en-AU" dirty="0"/>
              <a:t>Next, the muscles send the cud back up to the cow’s mouth, where it is re-chewed and swallowed again. This time going to the rumen and </a:t>
            </a:r>
            <a:r>
              <a:rPr lang="en-AU" dirty="0" err="1"/>
              <a:t>omasum</a:t>
            </a:r>
            <a:r>
              <a:rPr lang="en-AU" dirty="0"/>
              <a:t> section of stomach in order to squeeze out all of the moisture.</a:t>
            </a:r>
          </a:p>
          <a:p>
            <a:r>
              <a:rPr lang="en-AU" dirty="0"/>
              <a:t>Finally, the food enters the last part, Abomasum of the stomach where it mixes with digestive juices and makes its way to the intestine to be completely digested.</a:t>
            </a:r>
          </a:p>
          <a:p>
            <a:endParaRPr lang="en-AU" dirty="0"/>
          </a:p>
        </p:txBody>
      </p:sp>
      <p:pic>
        <p:nvPicPr>
          <p:cNvPr id="4" name="Picture 2" descr="Cows have one stomach with four different compartm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556792"/>
            <a:ext cx="3374668" cy="2526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6651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82951"/>
            <a:ext cx="7406640" cy="1356360"/>
          </a:xfrm>
        </p:spPr>
        <p:txBody>
          <a:bodyPr/>
          <a:lstStyle/>
          <a:p>
            <a:r>
              <a:rPr lang="en-AU" dirty="0"/>
              <a:t>Different Intestines - Hind Gut fermenters </a:t>
            </a:r>
          </a:p>
        </p:txBody>
      </p:sp>
      <p:sp>
        <p:nvSpPr>
          <p:cNvPr id="3" name="Content Placeholder 2"/>
          <p:cNvSpPr>
            <a:spLocks noGrp="1"/>
          </p:cNvSpPr>
          <p:nvPr>
            <p:ph idx="1"/>
          </p:nvPr>
        </p:nvSpPr>
        <p:spPr>
          <a:xfrm>
            <a:off x="609796" y="2063494"/>
            <a:ext cx="5472608" cy="4173818"/>
          </a:xfrm>
        </p:spPr>
        <p:txBody>
          <a:bodyPr>
            <a:normAutofit/>
          </a:bodyPr>
          <a:lstStyle/>
          <a:p>
            <a:r>
              <a:rPr lang="en-US" dirty="0"/>
              <a:t>Different intestines  are found in animals that eat large amounts of roughages (plant cellulose) but do not have ruminant stomachs.</a:t>
            </a:r>
          </a:p>
          <a:p>
            <a:r>
              <a:rPr lang="en-US" dirty="0"/>
              <a:t>Called hind-gut fermenters , they can utilize large amounts of roughages because of its greatly enlarged cecum (appendix) and large intestine. </a:t>
            </a:r>
          </a:p>
          <a:p>
            <a:r>
              <a:rPr lang="en-US" dirty="0"/>
              <a:t>Such an animal often re-ingest their own </a:t>
            </a:r>
            <a:r>
              <a:rPr lang="en-US" dirty="0" err="1"/>
              <a:t>faeces</a:t>
            </a:r>
            <a:r>
              <a:rPr lang="en-US" dirty="0"/>
              <a:t> to get all the nutrients from the food.</a:t>
            </a:r>
          </a:p>
          <a:p>
            <a:r>
              <a:rPr lang="en-US" dirty="0"/>
              <a:t>Examples are horses, rabbits, guinea pigs, and hamsters.</a:t>
            </a:r>
          </a:p>
          <a:p>
            <a:endParaRPr lang="en-US" dirty="0"/>
          </a:p>
          <a:p>
            <a:endParaRPr lang="en-AU" dirty="0"/>
          </a:p>
        </p:txBody>
      </p:sp>
      <p:pic>
        <p:nvPicPr>
          <p:cNvPr id="4" name="Picture 5" descr="j043928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4" y="1050090"/>
            <a:ext cx="1585940" cy="23789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2200" y="3678528"/>
            <a:ext cx="2523808" cy="2876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5901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39254"/>
            <a:ext cx="7406640" cy="1356360"/>
          </a:xfrm>
        </p:spPr>
        <p:txBody>
          <a:bodyPr/>
          <a:lstStyle/>
          <a:p>
            <a:r>
              <a:rPr lang="en-AU" dirty="0"/>
              <a:t>Examples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713316"/>
            <a:ext cx="7920880" cy="4485959"/>
          </a:xfrm>
        </p:spPr>
      </p:pic>
    </p:spTree>
    <p:extLst>
      <p:ext uri="{BB962C8B-B14F-4D97-AF65-F5344CB8AC3E}">
        <p14:creationId xmlns:p14="http://schemas.microsoft.com/office/powerpoint/2010/main" val="170419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Comparison</a:t>
            </a:r>
          </a:p>
        </p:txBody>
      </p:sp>
      <p:graphicFrame>
        <p:nvGraphicFramePr>
          <p:cNvPr id="4" name="Group 42"/>
          <p:cNvGraphicFramePr>
            <a:graphicFrameLocks/>
          </p:cNvGraphicFramePr>
          <p:nvPr>
            <p:extLst>
              <p:ext uri="{D42A27DB-BD31-4B8C-83A1-F6EECF244321}">
                <p14:modId xmlns:p14="http://schemas.microsoft.com/office/powerpoint/2010/main" val="3725753938"/>
              </p:ext>
            </p:extLst>
          </p:nvPr>
        </p:nvGraphicFramePr>
        <p:xfrm>
          <a:off x="395536" y="2060848"/>
          <a:ext cx="8524056" cy="3670175"/>
        </p:xfrm>
        <a:graphic>
          <a:graphicData uri="http://schemas.openxmlformats.org/drawingml/2006/table">
            <a:tbl>
              <a:tblPr/>
              <a:tblGrid>
                <a:gridCol w="2667000">
                  <a:extLst>
                    <a:ext uri="{9D8B030D-6E8A-4147-A177-3AD203B41FA5}">
                      <a16:colId xmlns:a16="http://schemas.microsoft.com/office/drawing/2014/main" val="20000"/>
                    </a:ext>
                  </a:extLst>
                </a:gridCol>
                <a:gridCol w="2013520">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gridCol w="1899320">
                  <a:extLst>
                    <a:ext uri="{9D8B030D-6E8A-4147-A177-3AD203B41FA5}">
                      <a16:colId xmlns:a16="http://schemas.microsoft.com/office/drawing/2014/main" val="20003"/>
                    </a:ext>
                  </a:extLst>
                </a:gridCol>
              </a:tblGrid>
              <a:tr h="701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a:ln>
                            <a:noFill/>
                          </a:ln>
                          <a:solidFill>
                            <a:srgbClr val="000066"/>
                          </a:solidFill>
                          <a:effectLst/>
                          <a:latin typeface="Tahoma" charset="0"/>
                        </a:rPr>
                        <a:t>Function</a:t>
                      </a: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a:ln>
                            <a:noFill/>
                          </a:ln>
                          <a:solidFill>
                            <a:srgbClr val="000066"/>
                          </a:solidFill>
                          <a:effectLst/>
                          <a:latin typeface="Tahoma" charset="0"/>
                        </a:rPr>
                        <a:t>Single Stomach</a:t>
                      </a:r>
                    </a:p>
                  </a:txBody>
                  <a:tcPr marL="0" marR="0"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dirty="0">
                          <a:ln>
                            <a:noFill/>
                          </a:ln>
                          <a:solidFill>
                            <a:srgbClr val="000066"/>
                          </a:solidFill>
                          <a:effectLst/>
                          <a:latin typeface="Tahoma" charset="0"/>
                        </a:rPr>
                        <a:t>Ruminants</a:t>
                      </a:r>
                    </a:p>
                  </a:txBody>
                  <a:tcPr marL="0" marR="0"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1" i="0" u="none" strike="noStrike" cap="none" normalizeH="0" baseline="0">
                          <a:ln>
                            <a:noFill/>
                          </a:ln>
                          <a:solidFill>
                            <a:srgbClr val="000066"/>
                          </a:solidFill>
                          <a:effectLst/>
                          <a:latin typeface="Tahoma" charset="0"/>
                        </a:rPr>
                        <a:t>Hind Gut Fermentors</a:t>
                      </a:r>
                    </a:p>
                  </a:txBody>
                  <a:tcPr marL="0" marR="0"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0"/>
                  </a:ext>
                </a:extLst>
              </a:tr>
              <a:tr h="701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Digest and extract energy from cellulose</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Very limited</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rgbClr val="000066"/>
                          </a:solidFill>
                          <a:effectLst/>
                          <a:latin typeface="Tahoma" charset="0"/>
                        </a:rPr>
                        <a:t>(large intestine)</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Yes</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rgbClr val="000066"/>
                          </a:solidFill>
                          <a:effectLst/>
                          <a:latin typeface="Tahoma" charset="0"/>
                        </a:rPr>
                        <a:t>(rumen/reticulum)</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Yes</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rgbClr val="000066"/>
                          </a:solidFill>
                          <a:effectLst/>
                          <a:latin typeface="Tahoma" charset="0"/>
                        </a:rPr>
                        <a:t>(large intestine)</a:t>
                      </a:r>
                    </a:p>
                  </a:txBody>
                  <a:tcPr marL="0" marR="0"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1"/>
                  </a:ext>
                </a:extLst>
              </a:tr>
              <a:tr h="701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Utilize dietary sugar sources directly</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Yes</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dirty="0">
                          <a:ln>
                            <a:noFill/>
                          </a:ln>
                          <a:solidFill>
                            <a:srgbClr val="000066"/>
                          </a:solidFill>
                          <a:effectLst/>
                          <a:latin typeface="Tahoma" charset="0"/>
                        </a:rPr>
                        <a:t>(absorbed as glucose)</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No</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000066"/>
                          </a:solidFill>
                          <a:effectLst/>
                          <a:latin typeface="Tahoma" charset="0"/>
                        </a:rPr>
                        <a:t>Yes</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a:ln>
                            <a:noFill/>
                          </a:ln>
                          <a:solidFill>
                            <a:srgbClr val="000066"/>
                          </a:solidFill>
                          <a:effectLst/>
                          <a:latin typeface="Tahoma" charset="0"/>
                        </a:rPr>
                        <a:t>(absorbed as glucose)</a:t>
                      </a:r>
                    </a:p>
                  </a:txBody>
                  <a:tcPr marL="0" marR="0"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2"/>
                  </a:ext>
                </a:extLst>
              </a:tr>
              <a:tr h="86572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000066"/>
                          </a:solidFill>
                          <a:effectLst/>
                          <a:latin typeface="Tahoma" charset="0"/>
                        </a:rPr>
                        <a:t>Utilize protein from feeds directly</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000066"/>
                          </a:solidFill>
                          <a:effectLst/>
                          <a:latin typeface="Tahoma" charset="0"/>
                        </a:rPr>
                        <a:t>Yes</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Limited</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400" b="0" i="0" u="none" strike="noStrike" cap="none" normalizeH="0" baseline="0" dirty="0">
                        <a:ln>
                          <a:noFill/>
                        </a:ln>
                        <a:solidFill>
                          <a:srgbClr val="000066"/>
                        </a:solidFill>
                        <a:effectLst/>
                        <a:latin typeface="Tahoma" charset="0"/>
                      </a:endParaRP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Yes</a:t>
                      </a:r>
                    </a:p>
                  </a:txBody>
                  <a:tcPr marL="0" marR="0"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3"/>
                  </a:ext>
                </a:extLst>
              </a:tr>
              <a:tr h="701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000066"/>
                          </a:solidFill>
                          <a:effectLst/>
                          <a:latin typeface="Tahoma" charset="0"/>
                        </a:rPr>
                        <a:t>Utilize fat from feeds directly</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000066"/>
                          </a:solidFill>
                          <a:effectLst/>
                          <a:latin typeface="Tahoma" charset="0"/>
                        </a:rPr>
                        <a:t>Yes</a:t>
                      </a: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Some</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400" b="0" i="0" u="none" strike="noStrike" cap="none" normalizeH="0" baseline="0" dirty="0">
                        <a:ln>
                          <a:noFill/>
                        </a:ln>
                        <a:solidFill>
                          <a:srgbClr val="000066"/>
                        </a:solidFill>
                        <a:effectLst/>
                        <a:latin typeface="Tahoma" charset="0"/>
                      </a:endParaRPr>
                    </a:p>
                  </a:txBody>
                  <a:tcPr marL="0" marR="0"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rgbClr val="000066"/>
                          </a:solidFill>
                          <a:effectLst/>
                          <a:latin typeface="Tahoma" charset="0"/>
                        </a:rPr>
                        <a:t>Yes</a:t>
                      </a:r>
                    </a:p>
                  </a:txBody>
                  <a:tcPr marL="0" marR="0"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60000"/>
                        <a:lumOff val="4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76830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40734"/>
            <a:ext cx="7406640" cy="1356360"/>
          </a:xfrm>
        </p:spPr>
        <p:txBody>
          <a:bodyPr/>
          <a:lstStyle/>
          <a:p>
            <a:r>
              <a:rPr lang="en-AU" dirty="0"/>
              <a:t>Birds – Unique System</a:t>
            </a:r>
          </a:p>
        </p:txBody>
      </p:sp>
      <p:sp>
        <p:nvSpPr>
          <p:cNvPr id="3" name="Content Placeholder 2"/>
          <p:cNvSpPr>
            <a:spLocks noGrp="1"/>
          </p:cNvSpPr>
          <p:nvPr>
            <p:ph idx="1"/>
          </p:nvPr>
        </p:nvSpPr>
        <p:spPr>
          <a:xfrm>
            <a:off x="636556" y="1697094"/>
            <a:ext cx="5184576" cy="4752528"/>
          </a:xfrm>
        </p:spPr>
        <p:txBody>
          <a:bodyPr>
            <a:normAutofit fontScale="92500" lnSpcReduction="20000"/>
          </a:bodyPr>
          <a:lstStyle/>
          <a:p>
            <a:r>
              <a:rPr lang="en-US" dirty="0"/>
              <a:t>This system differs greatly from any other type. </a:t>
            </a:r>
          </a:p>
          <a:p>
            <a:r>
              <a:rPr lang="en-US" dirty="0"/>
              <a:t>Since a bird has no teeth, no chewing is involved. </a:t>
            </a:r>
          </a:p>
          <a:p>
            <a:r>
              <a:rPr lang="en-US" dirty="0"/>
              <a:t>The esophagus empties directly into the crop.   The </a:t>
            </a:r>
            <a:r>
              <a:rPr lang="en-US" b="1" dirty="0"/>
              <a:t>crop</a:t>
            </a:r>
            <a:r>
              <a:rPr lang="en-US" b="1" i="1" dirty="0"/>
              <a:t> </a:t>
            </a:r>
            <a:r>
              <a:rPr lang="en-US" dirty="0"/>
              <a:t>is where the food is stored and soaked to make it wet. </a:t>
            </a:r>
          </a:p>
          <a:p>
            <a:r>
              <a:rPr lang="en-US" dirty="0"/>
              <a:t>Two parts to the stomach -</a:t>
            </a:r>
          </a:p>
          <a:p>
            <a:pPr lvl="1"/>
            <a:r>
              <a:rPr lang="en-US" b="1" dirty="0" err="1"/>
              <a:t>Proventriculus</a:t>
            </a:r>
            <a:r>
              <a:rPr lang="en-US" dirty="0"/>
              <a:t>: same as a single stomach and  provides digestive excretions</a:t>
            </a:r>
          </a:p>
          <a:p>
            <a:pPr lvl="1"/>
            <a:r>
              <a:rPr lang="en-US" b="1" dirty="0"/>
              <a:t>Gizzard</a:t>
            </a:r>
            <a:r>
              <a:rPr lang="en-US" dirty="0"/>
              <a:t>: located after </a:t>
            </a:r>
            <a:r>
              <a:rPr lang="en-US" dirty="0" err="1"/>
              <a:t>proventriculus</a:t>
            </a:r>
            <a:r>
              <a:rPr lang="en-US" dirty="0"/>
              <a:t>, very muscular, used to grind food.</a:t>
            </a:r>
          </a:p>
          <a:p>
            <a:r>
              <a:rPr lang="en-US" dirty="0"/>
              <a:t>From the crop, the food makes its way to   the gizzard.   The </a:t>
            </a:r>
            <a:r>
              <a:rPr lang="en-US" b="1" dirty="0"/>
              <a:t>gizzard</a:t>
            </a:r>
            <a:r>
              <a:rPr lang="en-US" b="1" i="1" dirty="0"/>
              <a:t> </a:t>
            </a:r>
            <a:r>
              <a:rPr lang="en-US" dirty="0"/>
              <a:t>is a very muscular  organ, which normally contains stones or grit that grinds the food.</a:t>
            </a:r>
          </a:p>
          <a:p>
            <a:r>
              <a:rPr lang="en-US" dirty="0"/>
              <a:t>Digestion in the avian system is very rapid.</a:t>
            </a:r>
          </a:p>
          <a:p>
            <a:r>
              <a:rPr lang="en-US" dirty="0"/>
              <a:t>Video of a dissected chicken digestive system </a:t>
            </a:r>
            <a:r>
              <a:rPr lang="en-US" sz="1900" dirty="0">
                <a:hlinkClick r:id="rId2"/>
              </a:rPr>
              <a:t>https://www.youtube.com/watch?v=2PLJ9pLxRnM</a:t>
            </a:r>
            <a:endParaRPr lang="en-US" sz="1900" dirty="0"/>
          </a:p>
          <a:p>
            <a:pPr lvl="1"/>
            <a:endParaRPr lang="en-US" dirty="0"/>
          </a:p>
          <a:p>
            <a:endParaRPr lang="en-AU" dirty="0"/>
          </a:p>
        </p:txBody>
      </p:sp>
      <p:pic>
        <p:nvPicPr>
          <p:cNvPr id="4" name="Picture 5" descr="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6256" y="692696"/>
            <a:ext cx="1788368" cy="20578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152" y="3140968"/>
            <a:ext cx="2902430" cy="288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16175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Surface Area - Key Feature of Digestive Systems</a:t>
            </a:r>
          </a:p>
        </p:txBody>
      </p:sp>
      <p:sp>
        <p:nvSpPr>
          <p:cNvPr id="3" name="Content Placeholder 2"/>
          <p:cNvSpPr>
            <a:spLocks noGrp="1"/>
          </p:cNvSpPr>
          <p:nvPr>
            <p:ph idx="1"/>
          </p:nvPr>
        </p:nvSpPr>
        <p:spPr>
          <a:xfrm>
            <a:off x="539552" y="2564904"/>
            <a:ext cx="4953744" cy="3851920"/>
          </a:xfrm>
        </p:spPr>
        <p:txBody>
          <a:bodyPr>
            <a:normAutofit/>
          </a:bodyPr>
          <a:lstStyle/>
          <a:p>
            <a:r>
              <a:rPr lang="en-AU" dirty="0"/>
              <a:t>Because acquiring nutrients requires substances to move across the cell membrane (either into the whole unicellular organism or from the digestive system into the rest of the organism) a key feature is that there must be a </a:t>
            </a:r>
            <a:r>
              <a:rPr lang="en-AU" b="1" dirty="0"/>
              <a:t>large surface area</a:t>
            </a:r>
            <a:r>
              <a:rPr lang="en-AU" dirty="0"/>
              <a:t>.</a:t>
            </a:r>
          </a:p>
          <a:p>
            <a:r>
              <a:rPr lang="en-AU" dirty="0"/>
              <a:t>All systems have features to increase the surface area of the sites where absorption occurs.  </a:t>
            </a:r>
          </a:p>
        </p:txBody>
      </p:sp>
      <p:sp>
        <p:nvSpPr>
          <p:cNvPr id="4" name="AutoShape 2" descr="data:image/jpeg;base64,/9j/4AAQSkZJRgABAQAAAQABAAD/2wCEAAkGBxQSEhUUEhIWFRUXGRYbFBgWGBgZHBYXFxgWGhQUFxQZHiggGB0lGxwbIjEhJSorLi4uFyAzODMsNygtMCsBCgoKDg0OGxAQGiwmHyQsLDQ0NCw0LCwsLC80LDc0LCwsLywwNywsLCwsLCwsLCwsLCwsLCwsLCwsLCwsLCwsLP/AABEIAMwA+AMBIgACEQEDEQH/xAAbAAEAAgMBAQAAAAAAAAAAAAAABAYCAwUBB//EAEYQAAIBAgQDBAYHBQcCBwEAAAECEQADBBIhMQVBURMiYXEGMlKBkaEjQmJygrHBM0OSorIUJGNzs9Hw4fEVNFSDk6PSU//EABoBAQADAQEBAAAAAAAAAAAAAAACAwQFAQb/xAAxEQACAgEDAQYEBAcAAAAAAAAAAQIDEQQSITETIkFRYXEFIzKBkbHB8BQzNEJSodH/2gAMAwEAAhEDEQA/APuNKUoBSlKAUpSgFKUoBSlKAUpSgFKUoBSlKAUpSgFKUoBSlKAUpSgFKUoBSlKAUpSgFKUoBSlKAUpSgFKUoBSlKAUpSgFKUoBSleE0B7SqxxT0lKXDbW33lfI+bUCUd02I3Rc3hIHiNFr00UWlYoC+QM4zwF0tkmILahiQIJIHmQBbqVjbeRNZUArwmo3EeIW7CF7rqiiBLGJJ0CjqSdgNTVVxfpXeunLhrXZj276nNE8rAIKzyLsD9k145JdScK5TeIouc1Bx3GcPZ/bYiza/zLiL/UaofEbbuhN+5dunfW4QngrWkVFjlqCdqzw/B7dkDKiqdpQBY8gNI8Kqdy8DXHQya7zLYPTDAf8ArsMfK9bPzmpOC9IcLe/Y4qxc+5dtt/SaqFkrkl+82ojlIMQF6k1qv4IH9raS4OQfvQOgLCP+b152/oTeg8Nx9Gmk181wXD8sthWfDry7NmABG8Wj3AOsqdRXT4b6RYpGK3ba4hV3ZIt3BtHdY5Ls7yMnlNTjbFlFmksjz1LxSufwvjFrEAm04JWA6mVdCdg9tu8p8xXQqwyilKUApSlAKUpQClKUApSlAKUpQCvJqqLjOIZlHZCM5kkASJt6RPdABuazuo1bZj4jHgN3ZOVdkUCYsk5e8STmN0bGAq6HdgLZSuFwbE4lrtwX7eS3ClNB62Zg6yCZGXKee515Du0ApSlAYla87IdB4+7as6UBDxWFJOdCA4Ea7MN8reHQ8jr1B5PGPSdbK5FTNfOnZExk+3df6qdD9bYTUr0i4x/Z1VVAa9cJFpTtIHed+iKNSfIDVhVNxeHABGYvdZg114JNzvCc4GyQIA+qAANqrnPaadPp3Y/Q3WLN127e6wuXI0dlMKDuLVqfolPmWIjMTW7D3ezzZgJMsTyI2n3CB/3qXgeIhxEZWHrKdCJ567g8jzqHjgCfAMp9xIDD4Gsreep060l3cYRheVrgJ9URtEmPHp5Vla+kYhzAEbEjN9o8/d576V0ywyxXJs4cu5gkBZBjmTBj5fOvCyLynnjB5icKFIKESDIjYnXce861ml25dWdl8tT/ALfOsMZhiAcpYHWATM+XOa34diwATRdhES0clnQAcyfKiWSTklHJoXEPaBG4k+BBY8+USd+VZthCO8WMncgx8BtG+81vxXDjGsjlJbMuukNoCPMVHwVlrkh910IPUAST18OXPnXuDxTi1lGu3hWutnzm3dt6JctwH5E6kEFDp3CCNPCrFwP0hJcWMSFW8fUYSEvwJOSScrRqbZJMSQSAYr160bRJXQ9Bs0eHI1lieHC7b75ZpgyrFcpGoZCNiDqDvpU4WOJn1GmjZyj6EDXtVz0X4yXPYXmm8qyrER21sGO0AGmYEgOBsSDADCrEDWtPJx5RcXhntKUoeClKUArya9rlce7fKP7P63eJ0U7Kci97q0f9KA6k0mqs2IxwDL2ZkFsrgJqgIA5+uQGPqkCRodFOF29jyARbIZSSV+jyx2bgQwbvGTJB0zARoNQLZNJqsYtsZkssqkvluC4BlEZrloW2KnTN2eY7bzoNqipxDHuvdtqCpVWgL65tl4gkjKrMiGDybUbgC40iq/gbuL7ZBcWbZDFiAgCnNcyjcltAnxO/1bAKAiYv9pZ++3+m9TKh4z9pZ++3+m9TKAUpSgFa795UUsxAVQSxOwAEknwArZVN9NuIF7lnBJ+8+kxJHKzbIIt/jfKpHs5uorxvHJ7GLk8I5OKuNeL4l+67CbSnTs7I1RCDsWHeYe00fVFTMMVRO8jxuWKka8yeYHyisbjjMzMdEH80EzHPKoJjxFRbeOud241tVtuYVtc4nZmM6g/ltFZtrknNnZjiKVSHE40dWgrqp30O4PVeceFe4dGuTmlWG6iNByMkd7z8I3FeX7H0qqBCt3o6ROZf4h866l9QQIMEbMOR5+YPMc/nVeC+UsJbSCmJIlSfI9R/uKncIMWgebEn4k/pFcR2ZzlCkupOYLJ7pB7wPQnLvrXW4e8W1XZlADA6EHxFELUnHgy4rc0BG/LzOg+dR8ViDZVLdr9o57O2fZVNHf4z8J5VuvmXtj7X9ILfpXNZO1xSqLnZultDb1GrsMzd0+sIZgR41fRFNtvwMt7xFRJrq+HZM7l7dzuvmkwW5iToP+a8l+92byTupB8WtnKx94y1o9ILl/sou20EEHOrHUjaEIkfE1LxljPcSeTuT5Qh/qiq5PLZbXFJJv1I98u4BgDpmMH4Rp763cNuwmU6RII6Rp+VScVaXKetc/DWmcyDAMciSxXQkKCNNhmPSoLqW7k4ckXiLMMr22C3bThrRJgTBBRuqsDBHTXcCr/wbiKYizbup6riYO6nZkPipBB8RVPtYXIxzazAJiCs6KCNe6TzHM10PRa/2WJuWCe7dBvWh9pSFxAHQd623m7Gr6XjhmDWxjJKcS3UpSrzmilK5PHHxANrsBIz/Ser6sjctsIk6CdNxzA6s0qoi5j2ZWyOpgDL9FlOlkuXGYka9rBHQct9tx8egJg3dG0i0DOQ5I2GtwiZ2CjxkC00qsG7jp9Vpk7C1lzZj2YBnN2RWCx9YHbmBqsYjiAa3mRivafSE9lBtk2w3dGoCguRBJ7u7cwLbSsLVwMAQZBEgjmDsaymgNeJ9RvI/kaxwX7NPur+QrLE+o3kfyNY4L9mn3V/IUBqxn7Sz99v9N6mVCxZ+ks/fb/TeptAKUpQEbiGMFq2ztJAGw3YkwqgcyWIAHUiqIqn+03y5m4otrdjlcdVuuAY1AR7KDwtrzmrax7fER+7sHXo14roPEIpn7zjmtVIXcz4h/av3v8A63NofJBVdrxE16KG61GniTf3Z2HMsfhcS3HwB+NZ8X4cbeHB7a4wAXusQRyAjSRH6Vp4sP7m3kv81xjWzil+6LHZXUkiALgiGEiCRMhq8kvkr3/4bof1BNvDvo3P6SPxFGNMRdhSegpjDDKPG58sgrVd1Kjqyf1Cs76l9a7uTDOQ4s21VmAJYttOmZiOZLfDTTWRnbv51zbMhgjoJAdZ6CQ3PpNacHhWuYq9luvbICkFMuubkQwPSvMLZK3b1ssWkHUxqWViTA03FX2pJpLyM9XO5vqiYx76eGf+hq5OJhsTdtC2r3HFkWww0SEOa6SNQFHQgyQOddKzclrf2p+dt694PBxd4xrks6+BSSJ/5tTTy2qT9P1PNUuUjRxXAPbREa+9wMyrDZdztrE7+NT7lz6Qf+7/AFqB8hTjHexGHT7Wb+ETUdm74/y0+JLE1Tnqy6Cyor0ZtxJLAKN2IHlO59wk+6tD32Zxas93QF2HJPqII20IPL1vAg7A0v5K7Dz7qj+qo/DeHJevXy8kLcKwGYCF0WQCJ069KuqSScmU3vlRN+GuM5a1cMlTlLcyjgx8CBr41rW+VfC3joVuWw3it76Jh5AuD+GsbGHW1iXRBC5UIHjnWofGbuXCX2G6JcceduXX5qKqT5TLJwThJLyPp4pXimlaziGVeVF4nfdLZa2uZtIGp3YAkgawAZ91cIccxKwHsSTsUS562dFCneO7naTAAA6EkCzxSqonpBiCFPYSSJjsr4kkSyyRp2e5MHPsomQN3DuP3nu20eyVVlbOxtuoUjtCGzSQFIUb+0NeVAWUisWIFeXrwUFmIAAkk8gKreKxjXzrpb5L7Xi//wCfj4QnNRLaqnN8EjD8SylrVoZgDKMdFCNsAfrQ2YaaRGtL1y43rXD5L3B8u9860Xxly3PY9b7hjP8ADRvwGt92qpTbRohCKfQg4myMrTJ0O7MeR6mscNbARYJHdXZmHIdDW3Eeq3kfyNY4f1F+6v5CqjQkj1sRcV7UOT3mgOMw/ZvzEN866+H4uCQLgyE7GZUnwbl7499ca6O/a+83+m9SrtuRrVkZtFM6oSZYwahcWxhtp3ADcchLSnm7bT9kCWP2VauRgOIGycrEm38Sn+6/l5bTcAe3vG/uiZksdDrF26PMjID0QkaNV8ZKS4Mllbg8MncOwYtW1QEmJljuzMSzufFmJJ86+d2lydsDuMRiz/FibzD5MK+m18047KYnFL1uKyeK3LVsz77guD3VC76TX8OfzsehlxUf3Jv8uz85NT+O6rZX2nQfM1F40kWVtj69yzbHiAACfcTUzix/vFgcgHY/hEj8qjZ/LivVmit/Ob/fQj41++vk59zuY/KtTNqv30/qWsMU30seyiD5T+tYXH281+RFUt8m+uHy17G6xhi+KcC4yArrkgFgpAjMRpr061lgsOFxLqCSAB6xLHWeZrdhRGM80f8A1P8ApXmHP96vHxt/0mrrnmUfZGGl4U/34kbAtrZ/D81I/WpHCP8Azdz/AC7PyQCoOBbW152/zFTuHGMaR1sg/BgKVfTL2/UnrFhx/fmbsQZxi/Ytu3x0qLcMXCOioP5R/vUjfFXj0sN/UKh4hvprn4f6FqjwLql3vsSsJq58lHxcf7VH4TgC7XnS41t+1fvLBkad1lMg61twDd9vJfk6/wC9SfR399/m3P0rRXJqt49DLqV8whYRWGKbtGzEBQSAB9rYeVczjFyMDfP+BcMdT2baV0bT9/Ev0DR5qpH61Fv286JaH7x7VuPB3UN/LJ91UR5aNU+ISfkl+R9OtrAA6UrIUrafPHteZa04zEi2jO2iqCWO8Aakx4DWuHivSpEMBSw7/e1EZFDExEkGdImgLFlrF0B0Ikc/GslNR8fiOzts+8AwOp5D3nSjeAlngq/FsWVcWZ+iUiD9vSLZPMDSD103Andhlrn5JkN3t80859YnzJrSeJ9kAhJgz2bDVrgHJQdJHttoRrrrWKUtzydeNe2KjEsN28iCHI15HWeoAGprjrxQIMraFTANxgpYbocp7x7pHLcGuVcxDtOuQHfKTJ+9dPePugeFQ0t94NbQtPdbINJJ7kvtOYxqfrVHtM8IujpMd6bwdm/xdYbvDY7Jdbl1yCmH4suVRmX1V3W6vIcyhFaV4XeP7sD7zL+k143DLw/dT91k/Uio5l5E9lP+R1sLxFW1iQOaEOB7l73yroJcVxKkEeH5HpVNvJBGdSrcswKn8Lcz5GtyYx01JLAcyYYAdLn1h4PPnXqn4EZ6XjMXk6vGXOltDD3JEjdUEdpc8CAYH2mWur6NYoJFjZQPoh0A3T3DUeE9KrvC8WLua8/1oVTEZEElEdfqMxJadjmAnQCpqEq0ruDmXzHL36j31ZGW18GeVW+DT6l3qn+lmDAxWHukSHm2QAdblsNcsjwkdpr5DnVssXQyhhsQCPI1C9IOGnEWHtg5W0a222W4hDW205ZgJHMSOda2so5kJuEsop9te2xiIDKYYMzkbG6893xiZ8MtbuMf+Zt/cu/0NUn0Xw9tLC9mCDLdoGMsLqkrdVzzIYET4aaRWr0g7rWrhGitDfdbQ/8APGs90k3hdEdHT8y90zk8QaL9zzX+hK1O23mPzqZxXBNmDKJIADAbkDRbgHMERt0rRgsMzOCysFUgmQRJBBVQDuSYqtrLOtC2PZJ56InM0Yy14i6PgzUwp/vF771ufejAfMisrtuMXYB37NyfNi8/M1nhVAxd1G2uII8SpiPgCaut/t9jl0viZyOGg9rbU7qe94ZAZ+YrqYZYxtsxvhjP8YNdNeGjMSSNdCcoDMOhYbj4bVAmeJfdw/zLilXG72Y1N3aNM8s64i+P8I/MiubjTF9/HKf5Vrp2xlx2v17bAeJDA/kKjcXwDSCollEEc2QHuMOpA0I3/WhLKNdU1GxZ8UjVgD9I3+W39SVO9Hmlbx/xLn6VD4TYYFmdSsiACIJEhnaNwABUj0Wn+zFjuzOfixq+PFT+xRqWndwQcMZsXn9osR5M6g1I9F7Ha4y3zWyrXW8HcG3ZEeI7Y/gFRsLAwJJMDJcYk7AW7mYk+78qtnoXwxrNjPcUrdvHO4O6CIt2z4qsT9ot1qNUc4ZHWXKNcoeLf+kWGlKVpOOYugIIIkHQg8wdxUJuEWCAOxSAIAyjQZQkeWUAeQqfSgIC3DbfKxlHPcY8mO9sn8j7ukx/SG53FXqw/lBb8wK6V+yHUqwkEa/9+XnVT49iSrradvVRmL8zbkZn0+sApGnNgeekLHiLLqI7rEcrE4iByMk5V5NG7N9gbeJ0qDctZzBBd3PL1mI2j2Y3GwG9e3HklyIJiFHJRolseW3iT412sBhWtq3dY3O7nKgEqp17NRry0zRBO56YUnJ4R3JyVMcvqyFgMIoYLfHaPyUeoVEywBjtDIII2kCBqJ7eBsvdXTbIxRl0UOIAUgesAwYRtEHnXV4dw0r+0yvlabZjVZ9aOknWOp8o6ioBtWuNSRyLdS5M4Fng7tlzwAxJuKTOuZiscjoVn7orxuE3AkwrXcwgzsuXLEnlPeI8TvAqxUqexFPbSKpxG0bZZSCbcoO/38+YLmUAn7xjqABvVc4rw4OwtWQVmTdQmVyKYCB/qlyCuU6EI8RvX0XH4hLaM7+qok6SdNgBzJ2AG5NcG3wi4q59FZi926q6nOQAqINjlQZROky0a1CVSL6tS1wVNSQZXRhIII+KOvMeHvHI10MJfmCJiYgmSjeyTzB3B6aHWt3E8IzAMEPahZbQDtEH2dwRyJAmCNOXKt3QpzbqR345pvI8VPeHv61kacXhnXjJWx3R6o+gcBebIHsll9wY5f5YrpVX/Re/PaKTJBUnxlQAfeFB99WCt8HmKOBdHbY0VX0htthWfEos23jt12yuAFXESAdIAVtNgraBWNV/G8Yu3VKnDmD9m4fnlFfSHQEQdf1qk8awt3ArNgBsODMFS7WB7MZlm1OxnuTGiCVhOpyfBfptRGv6o5OXheLsltVu2mOXYlXWB0DBTXQwXHMOTqCD4sXjyBMj4VCTi2MIB/s7EHaEtGQdiIv/AK1FxfEzviMID4m06/zLnH5U/hZ+DT+5reoql1g17HS/tyNjVfNCLaIDEFRmLAxqByNbOLXbZZblu4hdDI7y6+0u/Oq/wFMNcNw3WYS5KAFsqJ9USh05+tFd636N4dxKXGYdVuZvymoXQsTxJdCdUtOnlSf4HUwnFrToGzqvUMQI+O/nXIwWNt/23EObiBQttVJYa6d6OutZ3vRy1bVna5cCqCT3uQrn8G4UjWRcxF1lzEkS+QZSe78tffSG9RbS68EZRoz9T/Am8ex9qUuW7qG4hkAGZEajTqPyqVe47YKjMrHnEAQfvEgfA1y8ThcCBqLj9DmcR4qzsFmo2G4zgkOVsOucc5sajkwm4Y8Ry+BpHT2vlRPZXafCWW8ErHekVrs3VFhmUrmZ1O+m4J+FZcL4/ZS0tozKqASCrAwNTAM+O1czF8Yw9+/bzLFq2cyquViX5FgDy5ATt41YrOHt46FtJFoftLxWDI0Nu1mEl+r7L4ttOdFsUosr7fT9cP8AE0eimDOJhCP7vZuMxJH7Vwe5bE65VMs3U5V5OB9AArRgsIlpFS2oVFACqNgBUipxjtWDn22Oybk/EUpSpFYpSlAeVQPS0h7rCYJYAH2VsgHT8bwRzAIq/wBfNMa+a5J5qG99xnc/Ir8Kz6h4ib/h8FKznwMOGNLF2QnsgCyr7bGEIPsgSZ5acwa7PoyVNxS15t2FtTqx0klmE6eEwSBsRXGYFbQdGZXLuZGgZVhcjPIgSs843itnC8eQ+bMy5j3yNW0IldeciP8AeqoNRwdC2DsU14n0oV7ULh2OF1QYKk65TExMAx0NTa2nBaw8MV4a9qFxbGG1bLKMzkhba+1cYwinoJ3PIAnlQ8It76fEBP3dgqz/AGrsZrafgBDnxa30NdU1F4bg+ythZzNqXY7u7El3PmSfIQK1cW4gLSzBOwbLEqGmGg+NeNpHqi5PCKpxi4FukredhnJZR3WDDkSYzLyB10AAFc7E28rmFKq4DqCNg05l9zSfJhTEYli+bMSRoGmCRBAJI29/xrPEtmt22lmIdlJboy5oBkzqnXnWGznOD6GqDr2o63ofei4B4G355Ye1/IWH4aulfO+BPlvg+No/zm23yuV9ErRQ8wOVr4bbRXhFe0q8xFdxPAXtEthCoBJLWHJ7Mk7m2QCbJO8AFSSe7JmoqcSTMLd1TZuHZLoAzfccEpc/CSeoFWytOKwqXFKXEV1O6sAwPmDoag4JlkLHEqWP9HbF05mtgP7SyrfxrBrl3/RE65b7ebqjkDwcgN86tL+jKLJsXb1ieSvnQfdtXQ6IPBQK1nheLXa9YcfatOh/iW4R8qJ2x6SLO1g/qRT7foxeuLriANwwyMRmUwe6XiJEj3VJwvoUogteb8Cqn80Fh8a7VyzirbmVwwVxMm7cABUAE62+ax/Ca0i9iruljsmB+uqObY00PbO6hh4or1N3X4xkb6/I9w/o1hk17JWPV++T+JpNeY5cOpFsKDd3RLSZrgPI5R6o5S0LrBNS8H6L3X1xmMuXP8Oz9BbHgWtxcf3tB6VYMBw61ZXLatpbXchFCgnqY3Piar2yfMmeSu8IoqeD9HxiG/vVtLQXKexWCxnm94bLP1UPIgs21XHD2FRQqqFVQAqgAAAbAAaAVqxmGzQVOV11VunUEc1PMfqAaiYzi/ZWjcZGzAhSgicxjY/WHORy5bgWFLbbyzq0qrXfTBQUizcKOGKt3ZJnDBQEBJgm+JPLKdDz32PSlGy/RXQHKKk5NbjrabJGaQctyfK2/QSPCxUrwUoD2lKUB4a+ZX/X/Ba/oA/SvptfOeLWcl6PBl/+NyR8VdfhWbUrunS+GSSsaFlz2SAORrd7q5gSe0bXQjqNzUNsOc0qAZgOPAGNPEdeY05CJWE1RlCBmV5GgOVHXcCRPeU79aLHuHta92IMRM6iTy1qnwOjF4bT8yTgMa1sgyRJQM3rEKDsCeUcvAVZsJx5W9YZT3jprCrJ15zodADt41V0SI0gxAEn4TW3JGgmTrBPlIB/SrIWNGe/T12PPRlyHELcA5wAVzCdDlG5iuSmPt3Lr3mYG3Y7tuNZdu7cvADl+7B8LnI1WuIM4hUc537iRui65m8lEmNpIHOt1jDwFUSqqAoU+ysZRvqNAdeYqztvQyLQrPUsmM48FMAHRsrTG0HvKOex6fMVWMTinuQzSSRlY+rmEkyw58uXIVtK+eYfVnr1P/PfpWq4gg6TrrvGkTrGoEVVOxyNmnohW8+JFS0Ry1025kePKN58K3YlybQly30ogHNKnI5Pra7e6sWHKN+kRJ9WZ2MCIPteNMboLaFAjDO7Ac57iEiTuM3wqt8I0t7poz4SPph+D/WtRX0aqD6NWs178SD+ANcPzyfGr9WjTrunK+IyzbgUpXjNFaDnnteTXLucaVtLCtfMwezjIDzzXWITTmASfCvBhL939rdFtTuliZ8Qb7AN/CqHxoCVjeJW7UB3hj6qgFnb7qLLN7hUX+0Yi7+ztiyvtXu8/gVsoY16swI9mpeC4dbtT2aBSfWbdnPV3Pec+JJqXQHCxfA1K53LX7iEMpukEZln1bQAtoSCRIWdd67FlwyhgZBAIPgRI+VbDXGx3Dr0ILF7IMzZpnS2xzAKBuQQFG3dZqA7M17VPtcDxhAzYiDDTF1yZyXMv0mUMV7Qq0TyI20q3W5gTvz86A9IrC7YVhDKGGmhAI020PjWylAaGwVsjKbaFYIjKIg6ERG23wrB8BbLIco7hlOQBylZgaTlJAPIGpVKAUpSgFKUoDyqh6YYMg5wPtCPaQQ48zb1A626uFROI4TtEK7HdT0YbH/pzE1Ccd0cFtFnZzUj55YvBGzN6jArcj2G3afDfympzWypIysO8AhJ8wCJ9bSSYgRppULFYc2myxAkgD2W3a3PhuOqkdK2YO4pypcJCiRbPIZo+jfosgQfd0nDHjus71iUl2kSaikGQDJ3JiIk6SD8DW0NoQJJG8mDH3j+dQ2Bt911XMVJIgEmTvuAfVYnoAKY6Lw7EkgOGzgGJtAAOM0SCxZU01GYkairEsszzlhZNOFuo7NcMtMKIRmy2xEZiuisx7+sd3sxGlT7V5DpqGIOQlGUka6Kzjvnc6VstqAAqhVUDKAkgCNgibKNPz101XEDAhgDGjgkkEA6aaCZ58iPCpcFK3pdTwn1QZB336dWHu3rSyHfXNtIiNZjc7SffArFLsZkJLRAXNHeVguRogSdcpkjVSecV5k7UnIFMZZkRAIgz02YEchtUWsMuhLKyeZA0Z1YW4fO2bQASWJI56QQeum1QL+IzM1xgROoHRQO6PONfMmtuJuqZS2SbeYEknW4wiPwiB5kTtvHwV0XLuW2pusp0RBMuIMsSQqhZDHMwkgAVW1ueEXxarj2kvsW30RwRUFiNRI/ExDXI6x3U/Ca7uMx9u0JuOFB0E7seijdj4CuZhMDfKBS4sIBtbh7h5y11hlUnmAp1OjVOwXC7Vo5lTvnQ3GJdyOhusSxHhMVvhHasHBtsc5uRHONvXdLNnIv/wDS/K6e0tkd9vJsle/+Ch9cQ7Xz7L6W/dZHdPgWzEda6tKkVmKKAIAgDYDkOlZUpQClKUApSlAKUpQClKUApSlAKUpQClKUApSlAcbjnBxeBIAzRBG2cDUa8mB1DcqpOJsm3IfVZiSI19i4Pqt8jOm8V9PqBxDhiXdTo0RIjb2WB0ZfA1TbSp8+Jt0uslS8PoUTD4xkBQjtEIIysSCoO4R+WnI/EVut3LL3bagsua3ctBXGodiHRs2xkqw0O5WpWP8ARx7eqDT7ILL/AA+vb92YVybmFcggpm6m2c0EbERDAg6zAIIrMt0Hyjovsbo5g8M7K4ByohkMzn1JESIy6dNI03pc4e4BzXFWCMssYyAkwZ57fw1X33+ksq55vBtP+JTbKufEZKxykz2VoWjydQbrj7n0YW23j3/dvUiG2X3+355OnjMXh7bXe0JKoVRYMDuZ2YZ9FABuMm/7s1z8bxW7f0W3CHcGUQ+LGM9w6TGUL486xwvCMhUi3DxCtebvR0UauPIAVYuH+jTNBcfxiF91rdvxnxij3TfCHy6Y9+WWV7B8Je+QHZnVtgvcD9QqAyV6sxIHLw+h8F4SthAAFBgCFEKijZEHID571JwWAW3OXUn1mOpMbSenhtUutNde052o1LtfHQUpSrDKKUpQClKUApSlAKUpQClKUApSlAKUpQClKUApSlAKUpQClKUB5FaMRg0f10VvMA/OpFKBPBzzwi1yBHk7j5Bqf+EWuak/edz8ia6FK82ryJ9pPzNGHwqIIRFX7oA/Kt0V7SvSApSlAKUpQClKUApSlAKUpQClKUApSlAKUpQClKUApSlAf//Z"/>
          <p:cNvSpPr>
            <a:spLocks noChangeAspect="1" noChangeArrowheads="1"/>
          </p:cNvSpPr>
          <p:nvPr/>
        </p:nvSpPr>
        <p:spPr bwMode="auto">
          <a:xfrm>
            <a:off x="155575" y="-1622425"/>
            <a:ext cx="4124325" cy="33909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12292" name="Picture 4" descr="http://hilem001.wikispaces.com/file/view/0008n029.jpg/345235336/433x356/0008n0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2" y="2564904"/>
            <a:ext cx="3240562"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6021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743502" y="2060848"/>
            <a:ext cx="7421323" cy="3096344"/>
          </a:xfrm>
          <a:prstGeom prst="rect">
            <a:avLst/>
          </a:prstGeom>
        </p:spPr>
        <p:txBody>
          <a:bodyPr vert="horz" lIns="91440" tIns="45720" rIns="91440" bIns="45720" rtlCol="0">
            <a:normAutofit fontScale="92500" lnSpcReduction="20000"/>
          </a:bodyPr>
          <a:lst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a:lstStyle>
          <a:p>
            <a:pPr marL="34290" indent="0">
              <a:buNone/>
            </a:pPr>
            <a:r>
              <a:rPr lang="en-AU" sz="2400" dirty="0"/>
              <a:t>Students will be able to:</a:t>
            </a:r>
          </a:p>
          <a:p>
            <a:pPr marL="34290" indent="0">
              <a:buNone/>
            </a:pPr>
            <a:endParaRPr lang="en-AU" sz="2400" dirty="0"/>
          </a:p>
          <a:p>
            <a:r>
              <a:rPr lang="en-AU" sz="2400" dirty="0"/>
              <a:t>Describe the structure and function of organs within the digestive system.</a:t>
            </a:r>
          </a:p>
          <a:p>
            <a:r>
              <a:rPr lang="en-AU" sz="2400" dirty="0"/>
              <a:t>Differentiate between a gastrovascular cavity and specialised alimentary canal. </a:t>
            </a:r>
          </a:p>
          <a:p>
            <a:r>
              <a:rPr lang="en-AU" sz="2400" dirty="0"/>
              <a:t>Explain mechanical and chemical digestion.</a:t>
            </a:r>
          </a:p>
          <a:p>
            <a:r>
              <a:rPr lang="en-AU" sz="2400" dirty="0"/>
              <a:t>Identify specialisations within the digestive system related to diet (herbivores vs carnivores).</a:t>
            </a:r>
          </a:p>
          <a:p>
            <a:endParaRPr lang="en-AU" dirty="0"/>
          </a:p>
          <a:p>
            <a:endParaRPr lang="en-AU" dirty="0"/>
          </a:p>
        </p:txBody>
      </p:sp>
      <p:sp>
        <p:nvSpPr>
          <p:cNvPr id="5" name="Title 1"/>
          <p:cNvSpPr txBox="1">
            <a:spLocks/>
          </p:cNvSpPr>
          <p:nvPr/>
        </p:nvSpPr>
        <p:spPr>
          <a:xfrm>
            <a:off x="758185" y="908720"/>
            <a:ext cx="7406640" cy="94719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a:lstStyle>
          <a:p>
            <a:r>
              <a:rPr lang="en-AU" dirty="0"/>
              <a:t>Success Criteria</a:t>
            </a:r>
          </a:p>
        </p:txBody>
      </p:sp>
    </p:spTree>
    <p:extLst>
      <p:ext uri="{BB962C8B-B14F-4D97-AF65-F5344CB8AC3E}">
        <p14:creationId xmlns:p14="http://schemas.microsoft.com/office/powerpoint/2010/main" val="2994986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609600"/>
            <a:ext cx="2814142" cy="1356360"/>
          </a:xfrm>
        </p:spPr>
        <p:txBody>
          <a:bodyPr>
            <a:normAutofit fontScale="90000"/>
          </a:bodyPr>
          <a:lstStyle/>
          <a:p>
            <a:r>
              <a:rPr lang="en-AU" dirty="0"/>
              <a:t>Exam Review Question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301" y="3861048"/>
            <a:ext cx="4047165" cy="116728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762" y="2326001"/>
            <a:ext cx="3804189" cy="116728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0036" y="889809"/>
            <a:ext cx="5118467" cy="3937283"/>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2414" y="4868180"/>
            <a:ext cx="5277955" cy="1297124"/>
          </a:xfrm>
          <a:prstGeom prst="rect">
            <a:avLst/>
          </a:prstGeom>
        </p:spPr>
      </p:pic>
    </p:spTree>
    <p:extLst>
      <p:ext uri="{BB962C8B-B14F-4D97-AF65-F5344CB8AC3E}">
        <p14:creationId xmlns:p14="http://schemas.microsoft.com/office/powerpoint/2010/main" val="2261464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Moodle &amp; Textbook Work</a:t>
            </a:r>
          </a:p>
        </p:txBody>
      </p:sp>
      <p:sp>
        <p:nvSpPr>
          <p:cNvPr id="5" name="Content Placeholder 2"/>
          <p:cNvSpPr txBox="1">
            <a:spLocks/>
          </p:cNvSpPr>
          <p:nvPr/>
        </p:nvSpPr>
        <p:spPr>
          <a:xfrm>
            <a:off x="3707904" y="2492896"/>
            <a:ext cx="5112568" cy="2075300"/>
          </a:xfrm>
          <a:prstGeom prst="rect">
            <a:avLst/>
          </a:prstGeom>
        </p:spPr>
        <p:txBody>
          <a:bodyPr vert="horz" lIns="91440" tIns="45720" rIns="91440" bIns="45720" rtlCol="0">
            <a:normAutofit/>
          </a:bodyPr>
          <a:lstStyle>
            <a:lvl1pPr marL="171450" indent="-137160" algn="l" defTabSz="685800" rtl="0" eaLnBrk="1" latinLnBrk="0" hangingPunct="1">
              <a:lnSpc>
                <a:spcPct val="90000"/>
              </a:lnSpc>
              <a:spcBef>
                <a:spcPts val="1000"/>
              </a:spcBef>
              <a:buClr>
                <a:schemeClr val="accent1"/>
              </a:buClr>
              <a:buSzPct val="80000"/>
              <a:buFont typeface="Corbel"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20120" indent="-13716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a:lstStyle>
          <a:p>
            <a:r>
              <a:rPr lang="en-AU" dirty="0"/>
              <a:t>Read Nelson pages 362-369 &amp; 497-407 and complete question sets as indicated on Moodle.</a:t>
            </a:r>
          </a:p>
          <a:p>
            <a:r>
              <a:rPr lang="en-AU" dirty="0"/>
              <a:t>Don’t forget to do the questions in your revision guide also!</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2918" y="2060848"/>
            <a:ext cx="2470970" cy="3239996"/>
          </a:xfrm>
          <a:prstGeom prst="rect">
            <a:avLst/>
          </a:prstGeom>
        </p:spPr>
      </p:pic>
    </p:spTree>
    <p:extLst>
      <p:ext uri="{BB962C8B-B14F-4D97-AF65-F5344CB8AC3E}">
        <p14:creationId xmlns:p14="http://schemas.microsoft.com/office/powerpoint/2010/main" val="3936656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706" y="476672"/>
            <a:ext cx="7406640" cy="1356360"/>
          </a:xfrm>
        </p:spPr>
        <p:txBody>
          <a:bodyPr/>
          <a:lstStyle/>
          <a:p>
            <a:r>
              <a:rPr lang="en-AU" dirty="0"/>
              <a:t>Student Feedback</a:t>
            </a:r>
          </a:p>
        </p:txBody>
      </p:sp>
      <p:sp>
        <p:nvSpPr>
          <p:cNvPr id="3" name="Content Placeholder 2"/>
          <p:cNvSpPr>
            <a:spLocks noGrp="1"/>
          </p:cNvSpPr>
          <p:nvPr>
            <p:ph idx="1"/>
          </p:nvPr>
        </p:nvSpPr>
        <p:spPr>
          <a:xfrm>
            <a:off x="899592" y="1845287"/>
            <a:ext cx="6768752" cy="4392487"/>
          </a:xfrm>
        </p:spPr>
        <p:txBody>
          <a:bodyPr>
            <a:normAutofit/>
          </a:bodyPr>
          <a:lstStyle/>
          <a:p>
            <a:r>
              <a:rPr lang="en-AU" dirty="0"/>
              <a:t>What I learnt today…..</a:t>
            </a:r>
          </a:p>
          <a:p>
            <a:endParaRPr lang="en-AU" dirty="0"/>
          </a:p>
          <a:p>
            <a:endParaRPr lang="en-AU" dirty="0"/>
          </a:p>
          <a:p>
            <a:endParaRPr lang="en-AU" dirty="0"/>
          </a:p>
          <a:p>
            <a:endParaRPr lang="en-AU" dirty="0"/>
          </a:p>
          <a:p>
            <a:r>
              <a:rPr lang="en-AU" dirty="0"/>
              <a:t>What I need to revise….</a:t>
            </a:r>
          </a:p>
          <a:p>
            <a:endParaRPr lang="en-AU" dirty="0"/>
          </a:p>
          <a:p>
            <a:endParaRPr lang="en-AU" dirty="0"/>
          </a:p>
          <a:p>
            <a:pPr marL="34290" indent="0">
              <a:buNone/>
            </a:pPr>
            <a:endParaRPr lang="en-AU" dirty="0"/>
          </a:p>
          <a:p>
            <a:endParaRPr lang="en-AU" dirty="0"/>
          </a:p>
          <a:p>
            <a:endParaRPr lang="en-AU" dirty="0"/>
          </a:p>
        </p:txBody>
      </p:sp>
    </p:spTree>
    <p:extLst>
      <p:ext uri="{BB962C8B-B14F-4D97-AF65-F5344CB8AC3E}">
        <p14:creationId xmlns:p14="http://schemas.microsoft.com/office/powerpoint/2010/main" val="1428032264"/>
      </p:ext>
    </p:extLst>
  </p:cSld>
  <p:clrMapOvr>
    <a:masterClrMapping/>
  </p:clrMapOvr>
</p:sld>
</file>

<file path=ppt/theme/theme1.xml><?xml version="1.0" encoding="utf-8"?>
<a:theme xmlns:a="http://schemas.openxmlformats.org/drawingml/2006/main" name="Basi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Basis</Template>
  <TotalTime>1174</TotalTime>
  <Words>3093</Words>
  <Application>Microsoft Office PowerPoint</Application>
  <PresentationFormat>On-screen Show (4:3)</PresentationFormat>
  <Paragraphs>322</Paragraphs>
  <Slides>48</Slides>
  <Notes>26</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Calibri</vt:lpstr>
      <vt:lpstr>Comic Sans MS</vt:lpstr>
      <vt:lpstr>Corbel</vt:lpstr>
      <vt:lpstr>Hoefler Text</vt:lpstr>
      <vt:lpstr>Tahoma</vt:lpstr>
      <vt:lpstr>Verdana</vt:lpstr>
      <vt:lpstr>Wingdings</vt:lpstr>
      <vt:lpstr>Basis</vt:lpstr>
      <vt:lpstr>11ATAR Biology  Week 30  Acquiring nutrients in animals (Digestive System)</vt:lpstr>
      <vt:lpstr>Year 11 Biology Work Schedule</vt:lpstr>
      <vt:lpstr>Learning Intentions</vt:lpstr>
      <vt:lpstr>Multicellularity</vt:lpstr>
      <vt:lpstr>Multicellular – Cell Specialisation</vt:lpstr>
      <vt:lpstr>Multicellular – Cell Specialisation</vt:lpstr>
      <vt:lpstr>Levels of Organisation</vt:lpstr>
      <vt:lpstr>Levels of Organisation</vt:lpstr>
      <vt:lpstr>Levels of Organisation</vt:lpstr>
      <vt:lpstr>Levels of Organisation</vt:lpstr>
      <vt:lpstr>Levels of Organisation</vt:lpstr>
      <vt:lpstr>Levels of Organisation</vt:lpstr>
      <vt:lpstr>Previous Knowledge Check In</vt:lpstr>
      <vt:lpstr>Previous Knowledge Check In</vt:lpstr>
      <vt:lpstr>What do Animals need to Live?</vt:lpstr>
      <vt:lpstr>How do Animals get their Food?</vt:lpstr>
      <vt:lpstr>Different Types of Diets</vt:lpstr>
      <vt:lpstr>Digestive Systems</vt:lpstr>
      <vt:lpstr>Getting &amp; Using Food</vt:lpstr>
      <vt:lpstr>Digestion</vt:lpstr>
      <vt:lpstr>Human Digestive System</vt:lpstr>
      <vt:lpstr>Human Digestive System</vt:lpstr>
      <vt:lpstr>Lesson 2</vt:lpstr>
      <vt:lpstr>Human Digestive  System</vt:lpstr>
      <vt:lpstr>Human Digestive System</vt:lpstr>
      <vt:lpstr>Human Digestive System</vt:lpstr>
      <vt:lpstr>Human Digestive System</vt:lpstr>
      <vt:lpstr>Human Digestive System</vt:lpstr>
      <vt:lpstr>Human Digestive System</vt:lpstr>
      <vt:lpstr>Human Digestive System</vt:lpstr>
      <vt:lpstr>Human Digestion System</vt:lpstr>
      <vt:lpstr>Human Digestion System</vt:lpstr>
      <vt:lpstr>Human Digestive System</vt:lpstr>
      <vt:lpstr>Human Digestive System</vt:lpstr>
      <vt:lpstr>Different Digestive Systems</vt:lpstr>
      <vt:lpstr>Teeth </vt:lpstr>
      <vt:lpstr>Length of Digestive System</vt:lpstr>
      <vt:lpstr>Different Stomachs - Ruminant</vt:lpstr>
      <vt:lpstr>Different Stomachs - Ruminant</vt:lpstr>
      <vt:lpstr>Different Intestines - Hind Gut fermenters </vt:lpstr>
      <vt:lpstr>Examples</vt:lpstr>
      <vt:lpstr>Comparison</vt:lpstr>
      <vt:lpstr>Birds – Unique System</vt:lpstr>
      <vt:lpstr>Surface Area - Key Feature of Digestive Systems</vt:lpstr>
      <vt:lpstr>PowerPoint Presentation</vt:lpstr>
      <vt:lpstr>Exam Review Question</vt:lpstr>
      <vt:lpstr>Moodle &amp; Textbook Work</vt:lpstr>
      <vt:lpstr>Student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Acquiring nutrients in animals</dc:title>
  <dc:creator>HARDINGHAM Gillian</dc:creator>
  <cp:lastModifiedBy>HARTLAND Robbert [SIDE - Sch of Isol &amp; Dist Edu]</cp:lastModifiedBy>
  <cp:revision>69</cp:revision>
  <dcterms:created xsi:type="dcterms:W3CDTF">2015-08-27T02:55:36Z</dcterms:created>
  <dcterms:modified xsi:type="dcterms:W3CDTF">2023-09-20T03:08:00Z</dcterms:modified>
</cp:coreProperties>
</file>