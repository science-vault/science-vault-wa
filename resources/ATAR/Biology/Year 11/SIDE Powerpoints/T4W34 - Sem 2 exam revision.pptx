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  <p:sldMasterId id="2147483664" r:id="rId2"/>
  </p:sldMasterIdLst>
  <p:notesMasterIdLst>
    <p:notesMasterId r:id="rId24"/>
  </p:notesMasterIdLst>
  <p:sldIdLst>
    <p:sldId id="256" r:id="rId3"/>
    <p:sldId id="295" r:id="rId4"/>
    <p:sldId id="257" r:id="rId5"/>
    <p:sldId id="258" r:id="rId6"/>
    <p:sldId id="259" r:id="rId7"/>
    <p:sldId id="296" r:id="rId8"/>
    <p:sldId id="307" r:id="rId9"/>
    <p:sldId id="298" r:id="rId10"/>
    <p:sldId id="302" r:id="rId11"/>
    <p:sldId id="299" r:id="rId12"/>
    <p:sldId id="312" r:id="rId13"/>
    <p:sldId id="300" r:id="rId14"/>
    <p:sldId id="303" r:id="rId15"/>
    <p:sldId id="301" r:id="rId16"/>
    <p:sldId id="304" r:id="rId17"/>
    <p:sldId id="305" r:id="rId18"/>
    <p:sldId id="306" r:id="rId19"/>
    <p:sldId id="308" r:id="rId20"/>
    <p:sldId id="309" r:id="rId21"/>
    <p:sldId id="311" r:id="rId22"/>
    <p:sldId id="281" r:id="rId2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libri Light" panose="020F0302020204030204" pitchFamily="34" charset="0"/>
      <p:regular r:id="rId29"/>
      <p:italic r:id="rId30"/>
    </p:embeddedFont>
    <p:embeddedFont>
      <p:font typeface="Playfair Display" panose="00000500000000000000" pitchFamily="2" charset="0"/>
      <p:regular r:id="rId31"/>
      <p:bold r:id="rId32"/>
      <p:italic r:id="rId33"/>
      <p:boldItalic r:id="rId34"/>
    </p:embeddedFont>
    <p:embeddedFont>
      <p:font typeface="Tinos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C77CE9-B276-4AB6-A952-685470D25459}">
  <a:tblStyle styleId="{FEC77CE9-B276-4AB6-A952-685470D254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328446-1801-40F4-9D5D-7B887D8A4E9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452" autoAdjust="0"/>
  </p:normalViewPr>
  <p:slideViewPr>
    <p:cSldViewPr snapToGrid="0">
      <p:cViewPr varScale="1">
        <p:scale>
          <a:sx n="124" d="100"/>
          <a:sy n="124" d="100"/>
        </p:scale>
        <p:origin x="106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18. D   14. B   19. C   20. A    16.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6F1A9D-B5FE-4E1B-BE57-974CCBAD7E7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5766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(d) (</a:t>
            </a:r>
            <a:r>
              <a:rPr lang="en-AU" dirty="0" err="1"/>
              <a:t>i</a:t>
            </a:r>
            <a:r>
              <a:rPr lang="en-AU" dirty="0"/>
              <a:t>) False - Water travels to the leaves in the xylem/the phloem transport sugars not water. </a:t>
            </a:r>
          </a:p>
          <a:p>
            <a:r>
              <a:rPr lang="en-AU" dirty="0"/>
              <a:t>(d) (ii) True - A high surface area to volume ratio maximizes substance uptake.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C58A5D-A6F9-4469-B3C4-235C38D7DBEC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4133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17. B   2. D   3. B   5. C   6.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6F1A9D-B5FE-4E1B-BE57-974CCBAD7E7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5854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atrium  </a:t>
            </a: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ventricle  </a:t>
            </a: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Septum  </a:t>
            </a: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Apex  </a:t>
            </a: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 ventricle  </a:t>
            </a: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 atrium  </a:t>
            </a: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Aorta (arch)  </a:t>
            </a: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Pulmonary artery  </a:t>
            </a:r>
          </a:p>
          <a:p>
            <a:pPr marL="139700" indent="0">
              <a:buNone/>
            </a:pP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39700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– Left ventricle muscular wall is thick as it needs to work hard to pump oxygenated blood to the whole body.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6F1A9D-B5FE-4E1B-BE57-974CCBAD7E7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0300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AU" dirty="0"/>
              <a:t>9. B  10. C   B   D   A  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6F1A9D-B5FE-4E1B-BE57-974CCBAD7E7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130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15. A  14. D  18. C  19. D  20.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6F1A9D-B5FE-4E1B-BE57-974CCBAD7E7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9274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Dichotomous keys are a tool used for identification of organisms based on physical characteristics.</a:t>
            </a:r>
            <a:endParaRPr lang="en-AU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GB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Phylogenetic trees show evolutionary relationships between organisms.</a:t>
            </a:r>
            <a:endParaRPr lang="en-AU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dirty="0"/>
          </a:p>
          <a:p>
            <a:pPr lvl="0"/>
            <a:r>
              <a:rPr lang="en-GB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Intraspecific - same species and interspecific -different species</a:t>
            </a:r>
            <a:endParaRPr lang="en-AU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GB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Competing for limiting resources e.g. light, food, mates, nutrients</a:t>
            </a:r>
            <a:endParaRPr lang="en-AU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GB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Organisms of the same species will have more similar requirements than those of different species. Same optimal range= competing for same resources </a:t>
            </a:r>
          </a:p>
          <a:p>
            <a:pPr lvl="0"/>
            <a:endParaRPr lang="en-GB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GB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A: Eukarya, Animalia, Chordata, Mammalia</a:t>
            </a:r>
            <a:endParaRPr lang="en-AU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GB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B: Eukarya, Plantae</a:t>
            </a:r>
            <a:endParaRPr lang="en-AU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GB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 Eukarya, Animalia, Chordata, </a:t>
            </a:r>
            <a:r>
              <a:rPr lang="en-GB" sz="120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Reptilia</a:t>
            </a:r>
            <a:endParaRPr lang="en-AU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AU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6F1A9D-B5FE-4E1B-BE57-974CCBAD7E7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2813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22. C  23. A   </a:t>
            </a:r>
            <a:r>
              <a:rPr lang="en-AU" dirty="0" err="1"/>
              <a:t>A</a:t>
            </a:r>
            <a:r>
              <a:rPr lang="en-AU" dirty="0"/>
              <a:t>   </a:t>
            </a:r>
            <a:r>
              <a:rPr lang="en-AU" dirty="0" err="1"/>
              <a:t>A</a:t>
            </a:r>
            <a:r>
              <a:rPr lang="en-AU" dirty="0"/>
              <a:t>   16.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6F1A9D-B5FE-4E1B-BE57-974CCBAD7E7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3657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lvl="0" indent="0">
              <a:buNone/>
            </a:pP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Nitrogen cycle: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Nitrogen fixation (1);  Nitrogen gas (N</a:t>
            </a:r>
            <a:r>
              <a:rPr lang="en-GB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from the atmosphere is converted to ammonia (NH</a:t>
            </a:r>
            <a:r>
              <a:rPr lang="en-GB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(1);  by nitrogen-fixing bacteria (1)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39700" indent="0">
              <a:buNone/>
            </a:pP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Carbon cycle: 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Photosynthesis (1);  Carbon dioxide (CO</a:t>
            </a:r>
            <a:r>
              <a:rPr lang="en-GB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from the atmosphere is converted to glucose (1);  By plants (1)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39700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Population = A group of individuals from the same species, living in the same area at the same time.</a:t>
            </a: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39700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(b) License required for abalone capture. License restricts person to restricted area. 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Restricted season (and limited time for ‘fishing’).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 limit (15 per person).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 limit (must be ‘adult’ size, reproductive age).</a:t>
            </a: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6F1A9D-B5FE-4E1B-BE57-974CCBAD7E70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6800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A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</a:t>
            </a: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Formula: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</a:t>
            </a:r>
            <a:r>
              <a:rPr lang="en-AU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number in all quadrats sampled</a:t>
            </a:r>
          </a:p>
          <a:p>
            <a:pPr marL="139700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Density =  Number of quadrats x area of a quadrat</a:t>
            </a:r>
          </a:p>
          <a:p>
            <a:pPr marL="139700" indent="0">
              <a:buNone/>
            </a:pP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Calculation/answer: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39700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102 / (10 x 1) = 10.2 individuals per m</a:t>
            </a:r>
            <a:r>
              <a:rPr lang="en-AU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</a:p>
          <a:p>
            <a:pPr marL="139700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(b) 10.2 x 200 = 2040</a:t>
            </a:r>
            <a:endParaRPr lang="en-AU" sz="2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39700" indent="0">
              <a:buNone/>
            </a:pP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6F1A9D-B5FE-4E1B-BE57-974CCBAD7E7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78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AU" dirty="0"/>
              <a:t>12.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C58A5D-A6F9-4469-B3C4-235C38D7DBEC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16225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96900" lvl="1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(d)    C</a:t>
            </a:r>
            <a:r>
              <a:rPr lang="en-A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en-A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en-A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+ 6O</a:t>
            </a:r>
            <a:r>
              <a:rPr lang="en-A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6CO</a:t>
            </a:r>
            <a:r>
              <a:rPr lang="en-A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+ 6H</a:t>
            </a:r>
            <a:r>
              <a:rPr lang="en-AU" sz="120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+ 36 or 38ATP (1) </a:t>
            </a: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39700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(e)  Glycolysis- 1 Glucose is broken down into 2 pyruvate (1)  &amp;  2 ATP molecules produced (1)</a:t>
            </a:r>
          </a:p>
          <a:p>
            <a:endParaRPr lang="en-AU" dirty="0"/>
          </a:p>
          <a:p>
            <a:pPr marL="139700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(f)  1 mark per factor. Any 3 of:  Temperature (1);  pH (1);  Concentration of glucose (1);  Concentration of oxygen (1)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C58A5D-A6F9-4469-B3C4-235C38D7DBEC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1441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lvl="0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   Type A: Open circulatory system (1)       Type B: Closed circulatory system (1)</a:t>
            </a:r>
          </a:p>
          <a:p>
            <a:pPr marL="139700" lvl="0" indent="0">
              <a:buNone/>
            </a:pP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39700" lvl="0" indent="0">
              <a:buNone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(b)    Type A: Cricket (or other acceptable answer: Invertebrates usually have open with some exceptions (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eg.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crabs) – arthropods, molluscs, flatworms.) (1)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 B: Earthworm (or other acceptable answer: most vertebrates have closed circulation – fish, frogs, mammals, birds.) (1)</a:t>
            </a:r>
          </a:p>
          <a:p>
            <a:pPr marL="13970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C58A5D-A6F9-4469-B3C4-235C38D7DBEC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6724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d9e327104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d9e327104c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rganic-01.png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2022375" y="1022175"/>
            <a:ext cx="5099400" cy="3135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510400" y="2092225"/>
            <a:ext cx="41232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162050" y="756837"/>
            <a:ext cx="819900" cy="8199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organic-02.png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2022375" y="1022175"/>
            <a:ext cx="5099400" cy="31359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162050" y="756837"/>
            <a:ext cx="819900" cy="819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2361000" y="1735750"/>
            <a:ext cx="4335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361075" y="2840050"/>
            <a:ext cx="43350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>
                <a:solidFill>
                  <a:srgbClr val="4D4A56"/>
                </a:solidFill>
              </a:defRPr>
            </a:lvl1pPr>
            <a:lvl2pPr lvl="1" algn="ctr">
              <a:buNone/>
              <a:defRPr>
                <a:solidFill>
                  <a:srgbClr val="4D4A56"/>
                </a:solidFill>
              </a:defRPr>
            </a:lvl2pPr>
            <a:lvl3pPr lvl="2" algn="ctr">
              <a:buNone/>
              <a:defRPr>
                <a:solidFill>
                  <a:srgbClr val="4D4A56"/>
                </a:solidFill>
              </a:defRPr>
            </a:lvl3pPr>
            <a:lvl4pPr lvl="3" algn="ctr">
              <a:buNone/>
              <a:defRPr>
                <a:solidFill>
                  <a:srgbClr val="4D4A56"/>
                </a:solidFill>
              </a:defRPr>
            </a:lvl4pPr>
            <a:lvl5pPr lvl="4" algn="ctr">
              <a:buNone/>
              <a:defRPr>
                <a:solidFill>
                  <a:srgbClr val="4D4A56"/>
                </a:solidFill>
              </a:defRPr>
            </a:lvl5pPr>
            <a:lvl6pPr lvl="5" algn="ctr">
              <a:buNone/>
              <a:defRPr>
                <a:solidFill>
                  <a:srgbClr val="4D4A56"/>
                </a:solidFill>
              </a:defRPr>
            </a:lvl6pPr>
            <a:lvl7pPr lvl="6" algn="ctr">
              <a:buNone/>
              <a:defRPr>
                <a:solidFill>
                  <a:srgbClr val="4D4A56"/>
                </a:solidFill>
              </a:defRPr>
            </a:lvl7pPr>
            <a:lvl8pPr lvl="7" algn="ctr">
              <a:buNone/>
              <a:defRPr>
                <a:solidFill>
                  <a:srgbClr val="4D4A56"/>
                </a:solidFill>
              </a:defRPr>
            </a:lvl8pPr>
            <a:lvl9pPr lvl="8" algn="ctr">
              <a:buNone/>
              <a:defRPr>
                <a:solidFill>
                  <a:srgbClr val="4D4A5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bg>
      <p:bgPr>
        <a:solidFill>
          <a:schemeClr val="dk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 descr="organic-01.png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2066125" y="715358"/>
            <a:ext cx="6596700" cy="3910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404975" y="441142"/>
            <a:ext cx="1980300" cy="19803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539023" y="536390"/>
            <a:ext cx="16134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798250" y="958750"/>
            <a:ext cx="5503800" cy="32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▹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◦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7" descr="organic-02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/>
          <p:nvPr/>
        </p:nvSpPr>
        <p:spPr>
          <a:xfrm>
            <a:off x="2066125" y="715358"/>
            <a:ext cx="6596700" cy="3910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404975" y="441142"/>
            <a:ext cx="1980300" cy="19803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534610" y="541179"/>
            <a:ext cx="16134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2757725" y="1123950"/>
            <a:ext cx="2700600" cy="30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◦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5620903" y="1123950"/>
            <a:ext cx="2700600" cy="30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◦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ertical" type="blank">
  <p:cSld name="BLANK">
    <p:bg>
      <p:bgPr>
        <a:solidFill>
          <a:schemeClr val="dk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2" descr="organic-01.png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zigzag">
  <p:cSld name="BLANK_1_1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4" descr="organic-03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ircles">
  <p:cSld name="BLANK_1_1_1">
    <p:bg>
      <p:bgPr>
        <a:solidFill>
          <a:schemeClr val="dk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 descr="organic-04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64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57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nos"/>
              <a:buChar char="▹"/>
              <a:defRPr sz="30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nos"/>
              <a:buChar char="▸"/>
              <a:defRPr sz="24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nos"/>
              <a:buChar char="◦"/>
              <a:defRPr sz="24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●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○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■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●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○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■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8" r:id="rId5"/>
    <p:sldLayoutId id="2147483660" r:id="rId6"/>
    <p:sldLayoutId id="2147483661" r:id="rId7"/>
    <p:sldLayoutId id="2147483663" r:id="rId8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168676"/>
            <a:ext cx="1763688" cy="567467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2195736" y="660075"/>
            <a:ext cx="465633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40" y="251278"/>
            <a:ext cx="1803831" cy="42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8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library@side.wa.edu.au" TargetMode="Externa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ctrTitle"/>
          </p:nvPr>
        </p:nvSpPr>
        <p:spPr>
          <a:xfrm>
            <a:off x="2510400" y="2092225"/>
            <a:ext cx="41232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Semester Two Exam Revision</a:t>
            </a:r>
            <a:endParaRPr dirty="0"/>
          </a:p>
        </p:txBody>
      </p:sp>
      <p:grpSp>
        <p:nvGrpSpPr>
          <p:cNvPr id="91" name="Google Shape;91;p16"/>
          <p:cNvGrpSpPr/>
          <p:nvPr/>
        </p:nvGrpSpPr>
        <p:grpSpPr>
          <a:xfrm>
            <a:off x="4388765" y="980127"/>
            <a:ext cx="366458" cy="366437"/>
            <a:chOff x="1923675" y="1633650"/>
            <a:chExt cx="436000" cy="435975"/>
          </a:xfrm>
        </p:grpSpPr>
        <p:sp>
          <p:nvSpPr>
            <p:cNvPr id="92" name="Google Shape;92;p16"/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 STRUCTURE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3 hours + 10 </a:t>
            </a:r>
            <a:r>
              <a:rPr lang="en-AU" dirty="0" err="1"/>
              <a:t>mins</a:t>
            </a:r>
            <a:r>
              <a:rPr lang="en-AU" dirty="0"/>
              <a:t> reading time</a:t>
            </a:r>
          </a:p>
          <a:p>
            <a:r>
              <a:rPr lang="en-AU" dirty="0"/>
              <a:t>3 sections</a:t>
            </a:r>
          </a:p>
          <a:p>
            <a:pPr lvl="1"/>
            <a:r>
              <a:rPr lang="en-AU" dirty="0"/>
              <a:t>Multiple choice </a:t>
            </a:r>
          </a:p>
          <a:p>
            <a:pPr lvl="2"/>
            <a:r>
              <a:rPr lang="en-AU" sz="1600" dirty="0"/>
              <a:t>30 questions, 30 marks, 30 %</a:t>
            </a:r>
          </a:p>
          <a:p>
            <a:pPr lvl="1"/>
            <a:r>
              <a:rPr lang="en-AU" dirty="0"/>
              <a:t>Short answer</a:t>
            </a:r>
          </a:p>
          <a:p>
            <a:pPr lvl="2"/>
            <a:r>
              <a:rPr lang="en-AU" sz="1600" dirty="0"/>
              <a:t>6 questions, 105 marks, 50%</a:t>
            </a:r>
          </a:p>
          <a:p>
            <a:pPr lvl="1"/>
            <a:r>
              <a:rPr lang="en-AU" dirty="0"/>
              <a:t>Extended response</a:t>
            </a:r>
          </a:p>
          <a:p>
            <a:pPr lvl="2"/>
            <a:r>
              <a:rPr lang="en-AU" sz="1600" dirty="0"/>
              <a:t>4 questions (answer 2), 40 marks, 20%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7329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534610" y="541179"/>
            <a:ext cx="16134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Tips for doing well!</a:t>
            </a:r>
            <a:endParaRPr dirty="0"/>
          </a:p>
        </p:txBody>
      </p:sp>
      <p:sp>
        <p:nvSpPr>
          <p:cNvPr id="105" name="Google Shape;105;p17"/>
          <p:cNvSpPr txBox="1"/>
          <p:nvPr/>
        </p:nvSpPr>
        <p:spPr>
          <a:xfrm>
            <a:off x="2751325" y="1083365"/>
            <a:ext cx="5618400" cy="342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>
                    <a:lumMod val="50000"/>
                  </a:schemeClr>
                </a:solidFill>
                <a:latin typeface="+mn-lt"/>
                <a:ea typeface="Adobe Fan Heiti Std B" panose="020B0700000000000000" pitchFamily="34" charset="-128"/>
              </a:rPr>
              <a:t>Use reading time wisely by planning answers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>
                    <a:lumMod val="50000"/>
                  </a:schemeClr>
                </a:solidFill>
                <a:latin typeface="+mn-lt"/>
                <a:ea typeface="Adobe Fan Heiti Std B" panose="020B0700000000000000" pitchFamily="34" charset="-128"/>
              </a:rPr>
              <a:t>Attempt all questions – leave it blank you will get zero but try and you might get it right!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>
                    <a:lumMod val="50000"/>
                  </a:schemeClr>
                </a:solidFill>
                <a:latin typeface="+mn-lt"/>
                <a:ea typeface="Adobe Fan Heiti Std B" panose="020B0700000000000000" pitchFamily="34" charset="-128"/>
              </a:rPr>
              <a:t>Follow the instructions for each section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>
                    <a:lumMod val="50000"/>
                  </a:schemeClr>
                </a:solidFill>
                <a:latin typeface="+mn-lt"/>
                <a:ea typeface="Adobe Fan Heiti Std B" panose="020B0700000000000000" pitchFamily="34" charset="-128"/>
              </a:rPr>
              <a:t>Write neatly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>
                    <a:lumMod val="50000"/>
                  </a:schemeClr>
                </a:solidFill>
                <a:latin typeface="+mn-lt"/>
                <a:ea typeface="Adobe Fan Heiti Std B" panose="020B0700000000000000" pitchFamily="34" charset="-128"/>
              </a:rPr>
              <a:t>Use the time suggestions to pace yourself, make sure you attempt the whole paper and don’t run out of time.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00" b="1" dirty="0">
              <a:solidFill>
                <a:srgbClr val="4D4A56"/>
              </a:solidFill>
              <a:latin typeface="Tinos"/>
              <a:ea typeface="Tinos"/>
              <a:cs typeface="Tinos"/>
              <a:sym typeface="Tino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000" dirty="0">
              <a:solidFill>
                <a:srgbClr val="4D4A56"/>
              </a:solidFill>
              <a:latin typeface="Tinos"/>
              <a:ea typeface="Tinos"/>
              <a:cs typeface="Tinos"/>
              <a:sym typeface="Tinos"/>
            </a:endParaRPr>
          </a:p>
        </p:txBody>
      </p:sp>
      <p:sp>
        <p:nvSpPr>
          <p:cNvPr id="106" name="Google Shape;106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ctrTitle" idx="4294967295"/>
          </p:nvPr>
        </p:nvSpPr>
        <p:spPr>
          <a:xfrm>
            <a:off x="685800" y="167753"/>
            <a:ext cx="7772400" cy="96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</a:rPr>
              <a:t>What do I need to know?</a:t>
            </a: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4294967295"/>
          </p:nvPr>
        </p:nvSpPr>
        <p:spPr>
          <a:xfrm>
            <a:off x="685800" y="1208317"/>
            <a:ext cx="7772400" cy="37314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AU" sz="3600" b="1" dirty="0">
                <a:solidFill>
                  <a:schemeClr val="accent1"/>
                </a:solidFill>
              </a:rPr>
              <a:t>EVERYTHING</a:t>
            </a:r>
            <a:endParaRPr sz="3600" b="1"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800" dirty="0">
                <a:solidFill>
                  <a:srgbClr val="FFFFFF"/>
                </a:solidFill>
              </a:rPr>
              <a:t>Your exam will cover both Unit 1 &amp; 2 content. 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800" dirty="0">
                <a:solidFill>
                  <a:srgbClr val="FFFFFF"/>
                </a:solidFill>
              </a:rPr>
              <a:t>Use your syllabus document as a checklist when revising content.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AU" sz="1800" dirty="0">
              <a:solidFill>
                <a:srgbClr val="FFFFFF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800" b="1" u="sng" dirty="0">
                <a:solidFill>
                  <a:srgbClr val="FFFFFF"/>
                </a:solidFill>
              </a:rPr>
              <a:t>Broad topics include: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800" dirty="0">
                <a:solidFill>
                  <a:srgbClr val="FFFFFF"/>
                </a:solidFill>
              </a:rPr>
              <a:t>- Scientific method 		- Biodiversity 		- Ecosystems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800" dirty="0">
                <a:solidFill>
                  <a:srgbClr val="FFFFFF"/>
                </a:solidFill>
              </a:rPr>
              <a:t>- Populations 		- Human Activity 		- Cells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800" dirty="0">
                <a:solidFill>
                  <a:srgbClr val="FFFFFF"/>
                </a:solidFill>
              </a:rPr>
              <a:t>- Exchange of materials 	- Cell processes 		- Multicellularity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ctrTitle"/>
          </p:nvPr>
        </p:nvSpPr>
        <p:spPr>
          <a:xfrm>
            <a:off x="2361000" y="1735750"/>
            <a:ext cx="4335000" cy="7689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Questions?</a:t>
            </a:r>
            <a:endParaRPr dirty="0"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1"/>
          </p:nvPr>
        </p:nvSpPr>
        <p:spPr>
          <a:xfrm>
            <a:off x="2404575" y="2916250"/>
            <a:ext cx="42912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No, I can’t tell you exactly what is in the exam or the answers.</a:t>
            </a:r>
            <a:endParaRPr dirty="0"/>
          </a:p>
        </p:txBody>
      </p:sp>
      <p:sp>
        <p:nvSpPr>
          <p:cNvPr id="122" name="Google Shape;122;p1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61" y="180867"/>
            <a:ext cx="3407569" cy="21788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7" y="2479882"/>
            <a:ext cx="4386259" cy="11144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310" y="2479882"/>
            <a:ext cx="4357688" cy="11644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6244" y="180866"/>
            <a:ext cx="4271963" cy="21288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348" y="3814490"/>
            <a:ext cx="3429303" cy="105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83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224" y="453358"/>
            <a:ext cx="6100671" cy="366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2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9" y="344747"/>
            <a:ext cx="4426527" cy="12565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7283" y="1784096"/>
            <a:ext cx="4582259" cy="10308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444" y="3161698"/>
            <a:ext cx="4600575" cy="13340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976" y="302895"/>
            <a:ext cx="4663524" cy="419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05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7" y="101669"/>
            <a:ext cx="4138814" cy="49508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t="-1" r="17728" b="1027"/>
          <a:stretch/>
        </p:blipFill>
        <p:spPr>
          <a:xfrm>
            <a:off x="5241316" y="690082"/>
            <a:ext cx="3562118" cy="26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78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4692393" y="241693"/>
            <a:ext cx="4491913" cy="10981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706"/>
            <a:ext cx="4632043" cy="42587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758" y="1473606"/>
            <a:ext cx="4310401" cy="10981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051" y="2687574"/>
            <a:ext cx="4365440" cy="10002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876" y="3803663"/>
            <a:ext cx="4308283" cy="117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4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89390-6180-129D-63CD-B77AC943FF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0027EC-028C-73E0-3BBB-DD8EAB8415B6}"/>
              </a:ext>
            </a:extLst>
          </p:cNvPr>
          <p:cNvSpPr txBox="1"/>
          <p:nvPr/>
        </p:nvSpPr>
        <p:spPr>
          <a:xfrm>
            <a:off x="378573" y="291210"/>
            <a:ext cx="1869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92D050"/>
                </a:solidFill>
              </a:rPr>
              <a:t>Lesson 2…</a:t>
            </a:r>
            <a:endParaRPr lang="en-AU" sz="2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965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60" y="1921007"/>
            <a:ext cx="3514589" cy="10860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60" y="229667"/>
            <a:ext cx="4243388" cy="13287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60" y="3367873"/>
            <a:ext cx="3827768" cy="10860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036" y="229667"/>
            <a:ext cx="4178004" cy="10074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746" y="1658441"/>
            <a:ext cx="4636294" cy="320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79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35" y="94522"/>
            <a:ext cx="5405221" cy="4433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713" y="1229930"/>
            <a:ext cx="5157291" cy="5373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207" y="2549488"/>
            <a:ext cx="5329982" cy="250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4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8" y="176082"/>
            <a:ext cx="4801270" cy="40367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880" y="34805"/>
            <a:ext cx="4058216" cy="850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880" y="961056"/>
            <a:ext cx="4172532" cy="10145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7975" y="2051637"/>
            <a:ext cx="4697508" cy="309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998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21" y="170845"/>
            <a:ext cx="4851284" cy="7001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272" y="999097"/>
            <a:ext cx="5274015" cy="414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89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61" y="122945"/>
            <a:ext cx="5193678" cy="21605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343" y="3635027"/>
            <a:ext cx="3927314" cy="25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35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895" y="238205"/>
            <a:ext cx="4414910" cy="440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828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124" y="514830"/>
            <a:ext cx="5621752" cy="338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530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246" y="123067"/>
            <a:ext cx="5273507" cy="489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58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7404" y="2062576"/>
          <a:ext cx="6320928" cy="26862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60464">
                  <a:extLst>
                    <a:ext uri="{9D8B030D-6E8A-4147-A177-3AD203B41FA5}">
                      <a16:colId xmlns:a16="http://schemas.microsoft.com/office/drawing/2014/main" val="312023745"/>
                    </a:ext>
                  </a:extLst>
                </a:gridCol>
                <a:gridCol w="3160464">
                  <a:extLst>
                    <a:ext uri="{9D8B030D-6E8A-4147-A177-3AD203B41FA5}">
                      <a16:colId xmlns:a16="http://schemas.microsoft.com/office/drawing/2014/main" val="2915813223"/>
                    </a:ext>
                  </a:extLst>
                </a:gridCol>
              </a:tblGrid>
              <a:tr h="251460">
                <a:tc gridSpan="2">
                  <a:txBody>
                    <a:bodyPr/>
                    <a:lstStyle/>
                    <a:p>
                      <a:pPr algn="ctr"/>
                      <a:r>
                        <a:rPr lang="en-AU" sz="1200" b="1" dirty="0"/>
                        <a:t>HOW TO RETURN RESOURCES</a:t>
                      </a:r>
                    </a:p>
                  </a:txBody>
                  <a:tcPr marL="68580" marR="68580" marT="34290" marB="3429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971022"/>
                  </a:ext>
                </a:extLst>
              </a:tr>
              <a:tr h="664926">
                <a:tc gridSpan="2"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AU" sz="1100" b="1" dirty="0"/>
                        <a:t>OPTION 1:</a:t>
                      </a:r>
                      <a:r>
                        <a:rPr lang="en-AU" sz="1100" b="0" dirty="0"/>
                        <a:t> Post resources </a:t>
                      </a:r>
                      <a:r>
                        <a:rPr lang="en-AU" sz="1100" dirty="0"/>
                        <a:t>back to us –</a:t>
                      </a:r>
                      <a:r>
                        <a:rPr lang="en-AU" sz="1100" baseline="0" dirty="0"/>
                        <a:t> ask your parent or SIDE Supervisor for help. See postal addresses below.</a:t>
                      </a:r>
                      <a:endParaRPr lang="en-AU" sz="1100" b="1" baseline="0" dirty="0"/>
                    </a:p>
                    <a:p>
                      <a:pPr marL="0" lvl="0" indent="0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AU" sz="1100" b="1" baseline="0" dirty="0"/>
                        <a:t>OPTION 2: </a:t>
                      </a:r>
                      <a:r>
                        <a:rPr lang="en-AU" sz="1100" baseline="0" dirty="0"/>
                        <a:t>Bring your resources with you if you are visiting Perth and </a:t>
                      </a:r>
                      <a:r>
                        <a:rPr lang="en-AU" sz="1100" b="0" baseline="0" dirty="0"/>
                        <a:t>drop them off in </a:t>
                      </a:r>
                      <a:r>
                        <a:rPr lang="en-AU" sz="1100" baseline="0" dirty="0"/>
                        <a:t>person. (Mon-Fri 8am-4pm)</a:t>
                      </a:r>
                      <a:endParaRPr lang="en-AU" sz="1100" dirty="0"/>
                    </a:p>
                  </a:txBody>
                  <a:tcPr marL="68580" marR="68580" marT="34290" marB="34290">
                    <a:noFill/>
                  </a:tcPr>
                </a:tc>
                <a:tc hMerge="1">
                  <a:txBody>
                    <a:bodyPr/>
                    <a:lstStyle/>
                    <a:p>
                      <a:pPr lvl="1"/>
                      <a:endParaRPr lang="en-AU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11031"/>
                  </a:ext>
                </a:extLst>
              </a:tr>
              <a:tr h="1386305">
                <a:tc>
                  <a:txBody>
                    <a:bodyPr/>
                    <a:lstStyle/>
                    <a:p>
                      <a:pPr lvl="0" algn="l"/>
                      <a:r>
                        <a:rPr lang="en-AU" sz="1100" b="1" dirty="0"/>
                        <a:t>SCHOOL</a:t>
                      </a:r>
                      <a:r>
                        <a:rPr lang="en-AU" sz="1100" b="1" baseline="0" dirty="0"/>
                        <a:t> </a:t>
                      </a:r>
                      <a:r>
                        <a:rPr lang="en-AU" sz="1100" b="1" dirty="0"/>
                        <a:t>BASED</a:t>
                      </a:r>
                      <a:r>
                        <a:rPr lang="en-AU" sz="1100" b="1" baseline="0" dirty="0"/>
                        <a:t> &amp; HOME BASED IN AUSTRALIA</a:t>
                      </a:r>
                    </a:p>
                    <a:p>
                      <a:pPr lvl="0" algn="l"/>
                      <a:endParaRPr lang="en-AU" sz="900" baseline="0" dirty="0"/>
                    </a:p>
                    <a:p>
                      <a:pPr lvl="0" algn="l"/>
                      <a:r>
                        <a:rPr lang="en-AU" sz="900" baseline="0" dirty="0"/>
                        <a:t>Use the free reply-paid postal address:</a:t>
                      </a:r>
                      <a:endParaRPr lang="en-AU" sz="900" b="0" dirty="0"/>
                    </a:p>
                    <a:p>
                      <a:pPr lvl="1"/>
                      <a:endParaRPr lang="en-AU" sz="900" b="0" dirty="0"/>
                    </a:p>
                    <a:p>
                      <a:pPr lvl="1"/>
                      <a:r>
                        <a:rPr lang="en-AU" sz="900" b="0" dirty="0"/>
                        <a:t>School of Isolated and Distance Education</a:t>
                      </a:r>
                    </a:p>
                    <a:p>
                      <a:pPr lvl="1"/>
                      <a:r>
                        <a:rPr lang="en-AU" sz="900" b="0" dirty="0"/>
                        <a:t>Attn: Library Resource Centre</a:t>
                      </a:r>
                    </a:p>
                    <a:p>
                      <a:pPr lvl="1"/>
                      <a:r>
                        <a:rPr lang="en-AU" sz="900" b="0" dirty="0"/>
                        <a:t>Reply Paid 455</a:t>
                      </a:r>
                    </a:p>
                    <a:p>
                      <a:pPr lvl="1"/>
                      <a:r>
                        <a:rPr lang="en-AU" sz="900" b="0" dirty="0"/>
                        <a:t>LEEDERVILLE</a:t>
                      </a:r>
                      <a:r>
                        <a:rPr lang="en-AU" sz="900" b="0" baseline="0" dirty="0"/>
                        <a:t> </a:t>
                      </a:r>
                      <a:r>
                        <a:rPr lang="en-AU" sz="900" b="0" dirty="0"/>
                        <a:t>WA 6903</a:t>
                      </a:r>
                    </a:p>
                  </a:txBody>
                  <a:tcPr marL="68580" marR="68580" marT="34290" marB="3429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b="1" dirty="0"/>
                        <a:t>HOME BASED OVERSEAS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0" dirty="0"/>
                        <a:t>Please contact</a:t>
                      </a:r>
                      <a:r>
                        <a:rPr lang="en-AU" sz="900" b="0" baseline="0" dirty="0"/>
                        <a:t> </a:t>
                      </a:r>
                      <a:r>
                        <a:rPr lang="en-AU" sz="900" b="0" baseline="0" dirty="0">
                          <a:hlinkClick r:id="rId2"/>
                        </a:rPr>
                        <a:t>library@side.wa.edu.au</a:t>
                      </a:r>
                      <a:r>
                        <a:rPr lang="en-AU" sz="900" b="0" baseline="0" dirty="0"/>
                        <a:t> to organise alternative arrangements if returning by postage is not possible.</a:t>
                      </a:r>
                      <a:endParaRPr lang="en-AU" sz="900" b="0" dirty="0"/>
                    </a:p>
                    <a:p>
                      <a:pPr lvl="1"/>
                      <a:endParaRPr lang="en-AU" sz="900" b="0" dirty="0"/>
                    </a:p>
                    <a:p>
                      <a:pPr lvl="1"/>
                      <a:r>
                        <a:rPr lang="en-AU" sz="900" b="0" dirty="0"/>
                        <a:t>School of Isolated and Distance Education</a:t>
                      </a:r>
                    </a:p>
                    <a:p>
                      <a:pPr lvl="1"/>
                      <a:r>
                        <a:rPr lang="en-AU" sz="900" b="0" dirty="0"/>
                        <a:t>Attn: Library Resource Centre</a:t>
                      </a:r>
                    </a:p>
                    <a:p>
                      <a:pPr lvl="1"/>
                      <a:r>
                        <a:rPr lang="en-AU" sz="900" b="0" dirty="0"/>
                        <a:t>PO Box 455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0" dirty="0"/>
                        <a:t>LEEDERVILLE WA 6903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00" b="0" dirty="0"/>
                        <a:t>AUSTRALIA</a:t>
                      </a:r>
                    </a:p>
                  </a:txBody>
                  <a:tcPr marL="68580" marR="68580" marT="34290" marB="3429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62861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77634" y="4623978"/>
            <a:ext cx="6588732" cy="2833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 defTabSz="342900">
              <a:buClrTx/>
            </a:pPr>
            <a:r>
              <a:rPr lang="en-AU" sz="1275" i="1" kern="1200" dirty="0">
                <a:solidFill>
                  <a:prstClr val="black"/>
                </a:solidFill>
                <a:latin typeface="Calibri" panose="020F0502020204030204"/>
              </a:rPr>
              <a:t>Any questions? Please contact the SIDE Library </a:t>
            </a:r>
            <a:r>
              <a:rPr lang="en-AU" sz="1275" i="1" kern="1200">
                <a:solidFill>
                  <a:prstClr val="black"/>
                </a:solidFill>
                <a:latin typeface="Calibri" panose="020F0502020204030204"/>
              </a:rPr>
              <a:t>Resource Centre: </a:t>
            </a:r>
            <a:r>
              <a:rPr lang="en-AU" sz="1275" b="1" i="1" kern="1200" dirty="0">
                <a:solidFill>
                  <a:prstClr val="black"/>
                </a:solidFill>
                <a:latin typeface="Calibri" panose="020F0502020204030204"/>
              </a:rPr>
              <a:t>library@side.wa.edu.au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1710" y="856490"/>
            <a:ext cx="5730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3600" b="1" kern="1200" dirty="0">
                <a:solidFill>
                  <a:prstClr val="black"/>
                </a:solidFill>
                <a:latin typeface="Calibri Light" panose="020F0302020204030204"/>
                <a:ea typeface="Adobe Gothic Std B" panose="020B0800000000000000" pitchFamily="34" charset="-128"/>
                <a:cs typeface="+mn-cs"/>
              </a:rPr>
              <a:t>Returning Your SIDE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1710" y="1485913"/>
            <a:ext cx="6099846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275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Please return your resources to SIDE as soon as you have finished with them for the year. </a:t>
            </a:r>
            <a:r>
              <a:rPr lang="en-AU" sz="1275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This includes SIDE library books, text books, equipment and any unused materials.</a:t>
            </a:r>
            <a:endParaRPr lang="en-AU" sz="127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424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238936" y="2077937"/>
            <a:ext cx="4647639" cy="2151164"/>
          </a:xfrm>
        </p:spPr>
        <p:txBody>
          <a:bodyPr/>
          <a:lstStyle/>
          <a:p>
            <a:r>
              <a:rPr lang="en-AU" dirty="0"/>
              <a:t>Study hard and</a:t>
            </a:r>
            <a:br>
              <a:rPr lang="en-AU" dirty="0"/>
            </a:br>
            <a:r>
              <a:rPr lang="en-AU" dirty="0"/>
              <a:t>do you best.</a:t>
            </a:r>
            <a:br>
              <a:rPr lang="en-AU" dirty="0"/>
            </a:br>
            <a:r>
              <a:rPr lang="en-AU" dirty="0"/>
              <a:t>                             </a:t>
            </a:r>
            <a:br>
              <a:rPr lang="en-AU" dirty="0"/>
            </a:br>
            <a:r>
              <a:rPr lang="en-AU" dirty="0"/>
              <a:t>Good luck!!</a:t>
            </a:r>
            <a:br>
              <a:rPr lang="en-AU" dirty="0"/>
            </a:br>
            <a:endParaRPr lang="en-AU" dirty="0"/>
          </a:p>
        </p:txBody>
      </p:sp>
      <p:grpSp>
        <p:nvGrpSpPr>
          <p:cNvPr id="7" name="Google Shape;732;p51"/>
          <p:cNvGrpSpPr/>
          <p:nvPr/>
        </p:nvGrpSpPr>
        <p:grpSpPr>
          <a:xfrm>
            <a:off x="2125695" y="2815504"/>
            <a:ext cx="958788" cy="853231"/>
            <a:chOff x="5290150" y="1636700"/>
            <a:chExt cx="425025" cy="429875"/>
          </a:xfrm>
        </p:grpSpPr>
        <p:sp>
          <p:nvSpPr>
            <p:cNvPr id="8" name="Google Shape;733;p51"/>
            <p:cNvSpPr/>
            <p:nvPr/>
          </p:nvSpPr>
          <p:spPr>
            <a:xfrm>
              <a:off x="5396700" y="1939925"/>
              <a:ext cx="211900" cy="126650"/>
            </a:xfrm>
            <a:custGeom>
              <a:avLst/>
              <a:gdLst/>
              <a:ahLst/>
              <a:cxnLst/>
              <a:rect l="l" t="t" r="r" b="b"/>
              <a:pathLst>
                <a:path w="8476" h="5066" fill="none" extrusionOk="0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34;p51"/>
            <p:cNvSpPr/>
            <p:nvPr/>
          </p:nvSpPr>
          <p:spPr>
            <a:xfrm>
              <a:off x="5290150" y="1636700"/>
              <a:ext cx="425025" cy="294100"/>
            </a:xfrm>
            <a:custGeom>
              <a:avLst/>
              <a:gdLst/>
              <a:ahLst/>
              <a:cxnLst/>
              <a:rect l="l" t="t" r="r" b="b"/>
              <a:pathLst>
                <a:path w="17001" h="11764" fill="none" extrusionOk="0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912" y="2315319"/>
            <a:ext cx="1981200" cy="2305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phelia template">
  <a:themeElements>
    <a:clrScheme name="Custom 347">
      <a:dk1>
        <a:srgbClr val="4D4A56"/>
      </a:dk1>
      <a:lt1>
        <a:srgbClr val="FFFFFF"/>
      </a:lt1>
      <a:dk2>
        <a:srgbClr val="888394"/>
      </a:dk2>
      <a:lt2>
        <a:srgbClr val="E7E7EC"/>
      </a:lt2>
      <a:accent1>
        <a:srgbClr val="ECC1C8"/>
      </a:accent1>
      <a:accent2>
        <a:srgbClr val="E48DA3"/>
      </a:accent2>
      <a:accent3>
        <a:srgbClr val="AEA4CC"/>
      </a:accent3>
      <a:accent4>
        <a:srgbClr val="8F86AC"/>
      </a:accent4>
      <a:accent5>
        <a:srgbClr val="F0DFAE"/>
      </a:accent5>
      <a:accent6>
        <a:srgbClr val="E0B88E"/>
      </a:accent6>
      <a:hlink>
        <a:srgbClr val="4D4A5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999</Words>
  <Application>Microsoft Office PowerPoint</Application>
  <PresentationFormat>On-screen Show (16:9)</PresentationFormat>
  <Paragraphs>117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Playfair Display</vt:lpstr>
      <vt:lpstr>Calibri Light</vt:lpstr>
      <vt:lpstr>Arial</vt:lpstr>
      <vt:lpstr>Calibri</vt:lpstr>
      <vt:lpstr>Tinos</vt:lpstr>
      <vt:lpstr>Ophelia template</vt:lpstr>
      <vt:lpstr>Office Theme</vt:lpstr>
      <vt:lpstr>Semester Two Exam Revision</vt:lpstr>
      <vt:lpstr>EXAM STRUCTURE</vt:lpstr>
      <vt:lpstr>Tips for doing well!</vt:lpstr>
      <vt:lpstr>What do I need to know?</vt:lpstr>
      <vt:lpstr>Questions?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Study hard and do you best.                               Good luck!!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Two Exam Revision</dc:title>
  <dc:creator>AMONINI Rachel</dc:creator>
  <cp:lastModifiedBy>HARTLAND Robbert [SIDE - Sch of Isol &amp; Dist Edu]</cp:lastModifiedBy>
  <cp:revision>19</cp:revision>
  <dcterms:modified xsi:type="dcterms:W3CDTF">2023-11-01T03:11:14Z</dcterms:modified>
</cp:coreProperties>
</file>