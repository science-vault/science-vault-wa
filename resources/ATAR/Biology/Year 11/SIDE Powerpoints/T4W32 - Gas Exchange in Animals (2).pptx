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256" r:id="rId2"/>
    <p:sldId id="322" r:id="rId3"/>
    <p:sldId id="328" r:id="rId4"/>
    <p:sldId id="323" r:id="rId5"/>
    <p:sldId id="325" r:id="rId6"/>
    <p:sldId id="268" r:id="rId7"/>
    <p:sldId id="269" r:id="rId8"/>
    <p:sldId id="270" r:id="rId9"/>
    <p:sldId id="271" r:id="rId10"/>
    <p:sldId id="272" r:id="rId11"/>
    <p:sldId id="311" r:id="rId12"/>
    <p:sldId id="314" r:id="rId13"/>
    <p:sldId id="275" r:id="rId14"/>
    <p:sldId id="276" r:id="rId15"/>
    <p:sldId id="277" r:id="rId16"/>
    <p:sldId id="278" r:id="rId17"/>
    <p:sldId id="313" r:id="rId18"/>
    <p:sldId id="279" r:id="rId19"/>
    <p:sldId id="284" r:id="rId20"/>
    <p:sldId id="312" r:id="rId21"/>
    <p:sldId id="287" r:id="rId22"/>
    <p:sldId id="288" r:id="rId23"/>
    <p:sldId id="291" r:id="rId24"/>
    <p:sldId id="308" r:id="rId25"/>
    <p:sldId id="309" r:id="rId26"/>
    <p:sldId id="310" r:id="rId27"/>
    <p:sldId id="292" r:id="rId28"/>
    <p:sldId id="293" r:id="rId29"/>
    <p:sldId id="295" r:id="rId30"/>
    <p:sldId id="321" r:id="rId31"/>
    <p:sldId id="304" r:id="rId32"/>
    <p:sldId id="305" r:id="rId33"/>
    <p:sldId id="306" r:id="rId34"/>
    <p:sldId id="330" r:id="rId35"/>
    <p:sldId id="331" r:id="rId36"/>
    <p:sldId id="299" r:id="rId37"/>
    <p:sldId id="300" r:id="rId38"/>
    <p:sldId id="302" r:id="rId39"/>
    <p:sldId id="307" r:id="rId40"/>
    <p:sldId id="329" r:id="rId41"/>
    <p:sldId id="316" r:id="rId42"/>
    <p:sldId id="326" r:id="rId43"/>
    <p:sldId id="324"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990" autoAdjust="0"/>
  </p:normalViewPr>
  <p:slideViewPr>
    <p:cSldViewPr>
      <p:cViewPr varScale="1">
        <p:scale>
          <a:sx n="109" d="100"/>
          <a:sy n="109" d="100"/>
        </p:scale>
        <p:origin x="754" y="8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154650-1ADC-4BB9-A149-938010B948A6}" type="datetimeFigureOut">
              <a:rPr lang="en-AU" smtClean="0"/>
              <a:t>18/10/2023</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DCC9D2-D658-478B-A04A-E0AF743F41F3}" type="slidenum">
              <a:rPr lang="en-AU" smtClean="0"/>
              <a:t>‹#›</a:t>
            </a:fld>
            <a:endParaRPr lang="en-AU"/>
          </a:p>
        </p:txBody>
      </p:sp>
    </p:spTree>
    <p:extLst>
      <p:ext uri="{BB962C8B-B14F-4D97-AF65-F5344CB8AC3E}">
        <p14:creationId xmlns:p14="http://schemas.microsoft.com/office/powerpoint/2010/main" val="395314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kern="1200" dirty="0">
                <a:solidFill>
                  <a:schemeClr val="tx1"/>
                </a:solidFill>
                <a:effectLst/>
                <a:latin typeface="+mn-lt"/>
                <a:ea typeface="+mn-ea"/>
                <a:cs typeface="+mn-cs"/>
              </a:rPr>
              <a:t>Teeth (1-2 marks):</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Carnivores have canine teeth for tearing flesh (1)</a:t>
            </a:r>
          </a:p>
          <a:p>
            <a:r>
              <a:rPr lang="en-AU" sz="1200" kern="1200" dirty="0">
                <a:solidFill>
                  <a:schemeClr val="tx1"/>
                </a:solidFill>
                <a:effectLst/>
                <a:latin typeface="+mn-lt"/>
                <a:ea typeface="+mn-ea"/>
                <a:cs typeface="+mn-cs"/>
              </a:rPr>
              <a:t>Herbivore have large, flat molars  for grinding plant material (1)</a:t>
            </a:r>
          </a:p>
          <a:p>
            <a:r>
              <a:rPr lang="en-AU" sz="1200" b="1" kern="1200" dirty="0">
                <a:solidFill>
                  <a:schemeClr val="tx1"/>
                </a:solidFill>
                <a:effectLst/>
                <a:latin typeface="+mn-lt"/>
                <a:ea typeface="+mn-ea"/>
                <a:cs typeface="+mn-cs"/>
              </a:rPr>
              <a:t>Jaw muscles (1-2 marks)</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Carnivores have large upper jaw muscle of bite force (killing prey) (1)</a:t>
            </a:r>
          </a:p>
          <a:p>
            <a:r>
              <a:rPr lang="en-AU" sz="1200" kern="1200" dirty="0">
                <a:solidFill>
                  <a:schemeClr val="tx1"/>
                </a:solidFill>
                <a:effectLst/>
                <a:latin typeface="+mn-lt"/>
                <a:ea typeface="+mn-ea"/>
                <a:cs typeface="+mn-cs"/>
              </a:rPr>
              <a:t>Herbivores have large lower jar muscles for sideways movement/grinding of plant material (1)</a:t>
            </a:r>
          </a:p>
          <a:p>
            <a:r>
              <a:rPr lang="en-AU" sz="1200" b="1" kern="1200" dirty="0">
                <a:solidFill>
                  <a:schemeClr val="tx1"/>
                </a:solidFill>
                <a:effectLst/>
                <a:latin typeface="+mn-lt"/>
                <a:ea typeface="+mn-ea"/>
                <a:cs typeface="+mn-cs"/>
              </a:rPr>
              <a:t>Length of digestive tract (1-2 marks)</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Carnivores have shorter digestive tract as meat is faster to digest (1)</a:t>
            </a:r>
          </a:p>
          <a:p>
            <a:r>
              <a:rPr lang="en-AU" sz="1200" kern="1200" dirty="0">
                <a:solidFill>
                  <a:schemeClr val="tx1"/>
                </a:solidFill>
                <a:effectLst/>
                <a:latin typeface="+mn-lt"/>
                <a:ea typeface="+mn-ea"/>
                <a:cs typeface="+mn-cs"/>
              </a:rPr>
              <a:t>Herbivores have longer digestive tract as cellulose in plant material takes a long time to break down (1)</a:t>
            </a:r>
          </a:p>
          <a:p>
            <a:endParaRPr lang="en-AU" dirty="0"/>
          </a:p>
        </p:txBody>
      </p:sp>
      <p:sp>
        <p:nvSpPr>
          <p:cNvPr id="4" name="Slide Number Placeholder 3"/>
          <p:cNvSpPr>
            <a:spLocks noGrp="1"/>
          </p:cNvSpPr>
          <p:nvPr>
            <p:ph type="sldNum" sz="quarter" idx="10"/>
          </p:nvPr>
        </p:nvSpPr>
        <p:spPr/>
        <p:txBody>
          <a:bodyPr/>
          <a:lstStyle/>
          <a:p>
            <a:fld id="{6CA30BCC-94FA-436E-A017-406914F69CC5}" type="slidenum">
              <a:rPr lang="en-AU" smtClean="0"/>
              <a:t>3</a:t>
            </a:fld>
            <a:endParaRPr lang="en-AU"/>
          </a:p>
        </p:txBody>
      </p:sp>
    </p:spTree>
    <p:extLst>
      <p:ext uri="{BB962C8B-B14F-4D97-AF65-F5344CB8AC3E}">
        <p14:creationId xmlns:p14="http://schemas.microsoft.com/office/powerpoint/2010/main" val="2808287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BDCC9D2-D658-478B-A04A-E0AF743F41F3}" type="slidenum">
              <a:rPr lang="en-AU" smtClean="0"/>
              <a:t>4</a:t>
            </a:fld>
            <a:endParaRPr lang="en-AU"/>
          </a:p>
        </p:txBody>
      </p:sp>
    </p:spTree>
    <p:extLst>
      <p:ext uri="{BB962C8B-B14F-4D97-AF65-F5344CB8AC3E}">
        <p14:creationId xmlns:p14="http://schemas.microsoft.com/office/powerpoint/2010/main" val="1538210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BDCC9D2-D658-478B-A04A-E0AF743F41F3}" type="slidenum">
              <a:rPr lang="en-AU" smtClean="0"/>
              <a:t>6</a:t>
            </a:fld>
            <a:endParaRPr lang="en-AU"/>
          </a:p>
        </p:txBody>
      </p:sp>
    </p:spTree>
    <p:extLst>
      <p:ext uri="{BB962C8B-B14F-4D97-AF65-F5344CB8AC3E}">
        <p14:creationId xmlns:p14="http://schemas.microsoft.com/office/powerpoint/2010/main" val="655886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BDCC9D2-D658-478B-A04A-E0AF743F41F3}" type="slidenum">
              <a:rPr lang="en-AU" smtClean="0"/>
              <a:t>7</a:t>
            </a:fld>
            <a:endParaRPr lang="en-AU"/>
          </a:p>
        </p:txBody>
      </p:sp>
    </p:spTree>
    <p:extLst>
      <p:ext uri="{BB962C8B-B14F-4D97-AF65-F5344CB8AC3E}">
        <p14:creationId xmlns:p14="http://schemas.microsoft.com/office/powerpoint/2010/main" val="765498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exchange between the atmosphere and the lungs or respiratory surface.</a:t>
            </a:r>
          </a:p>
        </p:txBody>
      </p:sp>
      <p:sp>
        <p:nvSpPr>
          <p:cNvPr id="4" name="Slide Number Placeholder 3"/>
          <p:cNvSpPr>
            <a:spLocks noGrp="1"/>
          </p:cNvSpPr>
          <p:nvPr>
            <p:ph type="sldNum" sz="quarter" idx="10"/>
          </p:nvPr>
        </p:nvSpPr>
        <p:spPr/>
        <p:txBody>
          <a:bodyPr/>
          <a:lstStyle/>
          <a:p>
            <a:fld id="{ABDCC9D2-D658-478B-A04A-E0AF743F41F3}" type="slidenum">
              <a:rPr lang="en-AU" smtClean="0"/>
              <a:t>8</a:t>
            </a:fld>
            <a:endParaRPr lang="en-AU"/>
          </a:p>
        </p:txBody>
      </p:sp>
    </p:spTree>
    <p:extLst>
      <p:ext uri="{BB962C8B-B14F-4D97-AF65-F5344CB8AC3E}">
        <p14:creationId xmlns:p14="http://schemas.microsoft.com/office/powerpoint/2010/main" val="1052350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fact, some salamanders have no lungs at all, and they get all of their oxygen through their skin. </a:t>
            </a:r>
          </a:p>
        </p:txBody>
      </p:sp>
      <p:sp>
        <p:nvSpPr>
          <p:cNvPr id="4" name="Slide Number Placeholder 3"/>
          <p:cNvSpPr>
            <a:spLocks noGrp="1"/>
          </p:cNvSpPr>
          <p:nvPr>
            <p:ph type="sldNum" sz="quarter" idx="10"/>
          </p:nvPr>
        </p:nvSpPr>
        <p:spPr/>
        <p:txBody>
          <a:bodyPr/>
          <a:lstStyle/>
          <a:p>
            <a:fld id="{ABDCC9D2-D658-478B-A04A-E0AF743F41F3}" type="slidenum">
              <a:rPr lang="en-AU" smtClean="0"/>
              <a:t>12</a:t>
            </a:fld>
            <a:endParaRPr lang="en-AU"/>
          </a:p>
        </p:txBody>
      </p:sp>
    </p:spTree>
    <p:extLst>
      <p:ext uri="{BB962C8B-B14F-4D97-AF65-F5344CB8AC3E}">
        <p14:creationId xmlns:p14="http://schemas.microsoft.com/office/powerpoint/2010/main" val="2038058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4D4D4D"/>
                </a:solidFill>
                <a:effectLst/>
                <a:latin typeface="Open Sans" panose="020B0606030504020204" pitchFamily="34" charset="0"/>
              </a:rPr>
              <a:t>Dissolved oxygen decreases exponentially as salt levels increase. That is why, at the same pressure and temperature, saltwater holds about 20% less dissolved oxygen than freshwater.</a:t>
            </a:r>
            <a:endParaRPr lang="en-AU" dirty="0"/>
          </a:p>
        </p:txBody>
      </p:sp>
      <p:sp>
        <p:nvSpPr>
          <p:cNvPr id="4" name="Slide Number Placeholder 3"/>
          <p:cNvSpPr>
            <a:spLocks noGrp="1"/>
          </p:cNvSpPr>
          <p:nvPr>
            <p:ph type="sldNum" sz="quarter" idx="5"/>
          </p:nvPr>
        </p:nvSpPr>
        <p:spPr/>
        <p:txBody>
          <a:bodyPr/>
          <a:lstStyle/>
          <a:p>
            <a:fld id="{ABDCC9D2-D658-478B-A04A-E0AF743F41F3}" type="slidenum">
              <a:rPr lang="en-AU" smtClean="0"/>
              <a:t>13</a:t>
            </a:fld>
            <a:endParaRPr lang="en-AU"/>
          </a:p>
        </p:txBody>
      </p:sp>
    </p:spTree>
    <p:extLst>
      <p:ext uri="{BB962C8B-B14F-4D97-AF65-F5344CB8AC3E}">
        <p14:creationId xmlns:p14="http://schemas.microsoft.com/office/powerpoint/2010/main" val="3838303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Water difficult to ventilate so the </a:t>
            </a:r>
            <a:r>
              <a:rPr lang="en-NZ" dirty="0">
                <a:sym typeface="Wingdings" pitchFamily="2" charset="2"/>
              </a:rPr>
              <a:t>gills are near surface of body</a:t>
            </a:r>
            <a:endParaRPr lang="en-GB" dirty="0"/>
          </a:p>
          <a:p>
            <a:endParaRPr lang="en-AU" dirty="0"/>
          </a:p>
        </p:txBody>
      </p:sp>
      <p:sp>
        <p:nvSpPr>
          <p:cNvPr id="4" name="Slide Number Placeholder 3"/>
          <p:cNvSpPr>
            <a:spLocks noGrp="1"/>
          </p:cNvSpPr>
          <p:nvPr>
            <p:ph type="sldNum" sz="quarter" idx="10"/>
          </p:nvPr>
        </p:nvSpPr>
        <p:spPr/>
        <p:txBody>
          <a:bodyPr/>
          <a:lstStyle/>
          <a:p>
            <a:fld id="{ABDCC9D2-D658-478B-A04A-E0AF743F41F3}" type="slidenum">
              <a:rPr lang="en-AU" smtClean="0"/>
              <a:t>14</a:t>
            </a:fld>
            <a:endParaRPr lang="en-AU"/>
          </a:p>
        </p:txBody>
      </p:sp>
    </p:spTree>
    <p:extLst>
      <p:ext uri="{BB962C8B-B14F-4D97-AF65-F5344CB8AC3E}">
        <p14:creationId xmlns:p14="http://schemas.microsoft.com/office/powerpoint/2010/main" val="433317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https://www.youtube.com/watch?v=_2kjL9BV3SA</a:t>
            </a:r>
          </a:p>
        </p:txBody>
      </p:sp>
      <p:sp>
        <p:nvSpPr>
          <p:cNvPr id="4" name="Slide Number Placeholder 3"/>
          <p:cNvSpPr>
            <a:spLocks noGrp="1"/>
          </p:cNvSpPr>
          <p:nvPr>
            <p:ph type="sldNum" sz="quarter" idx="10"/>
          </p:nvPr>
        </p:nvSpPr>
        <p:spPr/>
        <p:txBody>
          <a:bodyPr/>
          <a:lstStyle/>
          <a:p>
            <a:fld id="{ABDCC9D2-D658-478B-A04A-E0AF743F41F3}" type="slidenum">
              <a:rPr lang="en-AU" smtClean="0"/>
              <a:t>16</a:t>
            </a:fld>
            <a:endParaRPr lang="en-AU"/>
          </a:p>
        </p:txBody>
      </p:sp>
    </p:spTree>
    <p:extLst>
      <p:ext uri="{BB962C8B-B14F-4D97-AF65-F5344CB8AC3E}">
        <p14:creationId xmlns:p14="http://schemas.microsoft.com/office/powerpoint/2010/main" val="999578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ABDCC9D2-D658-478B-A04A-E0AF743F41F3}" type="slidenum">
              <a:rPr lang="en-AU" smtClean="0"/>
              <a:t>29</a:t>
            </a:fld>
            <a:endParaRPr lang="en-AU"/>
          </a:p>
        </p:txBody>
      </p:sp>
    </p:spTree>
    <p:extLst>
      <p:ext uri="{BB962C8B-B14F-4D97-AF65-F5344CB8AC3E}">
        <p14:creationId xmlns:p14="http://schemas.microsoft.com/office/powerpoint/2010/main" val="2461794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ABDCC9D2-D658-478B-A04A-E0AF743F41F3}" type="slidenum">
              <a:rPr lang="en-AU" smtClean="0"/>
              <a:t>31</a:t>
            </a:fld>
            <a:endParaRPr lang="en-AU"/>
          </a:p>
        </p:txBody>
      </p:sp>
    </p:spTree>
    <p:extLst>
      <p:ext uri="{BB962C8B-B14F-4D97-AF65-F5344CB8AC3E}">
        <p14:creationId xmlns:p14="http://schemas.microsoft.com/office/powerpoint/2010/main" val="1628354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BDCC9D2-D658-478B-A04A-E0AF743F41F3}" type="slidenum">
              <a:rPr lang="en-AU" smtClean="0"/>
              <a:t>32</a:t>
            </a:fld>
            <a:endParaRPr lang="en-AU"/>
          </a:p>
        </p:txBody>
      </p:sp>
    </p:spTree>
    <p:extLst>
      <p:ext uri="{BB962C8B-B14F-4D97-AF65-F5344CB8AC3E}">
        <p14:creationId xmlns:p14="http://schemas.microsoft.com/office/powerpoint/2010/main" val="1260189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BDCC9D2-D658-478B-A04A-E0AF743F41F3}" type="slidenum">
              <a:rPr lang="en-AU" smtClean="0"/>
              <a:t>33</a:t>
            </a:fld>
            <a:endParaRPr lang="en-AU"/>
          </a:p>
        </p:txBody>
      </p:sp>
    </p:spTree>
    <p:extLst>
      <p:ext uri="{BB962C8B-B14F-4D97-AF65-F5344CB8AC3E}">
        <p14:creationId xmlns:p14="http://schemas.microsoft.com/office/powerpoint/2010/main" val="12638673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AU" sz="1200" kern="1200" dirty="0">
                <a:solidFill>
                  <a:schemeClr val="tx1"/>
                </a:solidFill>
                <a:effectLst/>
                <a:latin typeface="+mn-lt"/>
                <a:ea typeface="+mn-ea"/>
                <a:cs typeface="+mn-cs"/>
              </a:rPr>
              <a:t>Obtain oxygen and remove carbon dioxide (1) to enable cellular respiration to take place (1)</a:t>
            </a:r>
          </a:p>
          <a:p>
            <a:pPr lvl="0"/>
            <a:r>
              <a:rPr lang="en-AU" sz="1200" kern="1200" dirty="0">
                <a:solidFill>
                  <a:schemeClr val="tx1"/>
                </a:solidFill>
                <a:effectLst/>
                <a:latin typeface="+mn-lt"/>
                <a:ea typeface="+mn-ea"/>
                <a:cs typeface="+mn-cs"/>
              </a:rPr>
              <a:t>Fish – Gills comprised of gill lamellae (1)</a:t>
            </a:r>
          </a:p>
          <a:p>
            <a:r>
              <a:rPr lang="en-AU" sz="1200" kern="1200" dirty="0">
                <a:solidFill>
                  <a:schemeClr val="tx1"/>
                </a:solidFill>
                <a:effectLst/>
                <a:latin typeface="+mn-lt"/>
                <a:ea typeface="+mn-ea"/>
                <a:cs typeface="+mn-cs"/>
              </a:rPr>
              <a:t>Mammal – Lungs containing alveoli (1)</a:t>
            </a:r>
          </a:p>
          <a:p>
            <a:r>
              <a:rPr lang="en-AU" sz="1200" kern="1200" dirty="0">
                <a:solidFill>
                  <a:schemeClr val="tx1"/>
                </a:solidFill>
                <a:effectLst/>
                <a:latin typeface="+mn-lt"/>
                <a:ea typeface="+mn-ea"/>
                <a:cs typeface="+mn-cs"/>
              </a:rPr>
              <a:t>Frog – Lungs (with alveoli) and skin (1)</a:t>
            </a:r>
          </a:p>
          <a:p>
            <a:r>
              <a:rPr lang="en-AU" sz="1200" kern="1200" dirty="0">
                <a:solidFill>
                  <a:schemeClr val="tx1"/>
                </a:solidFill>
                <a:effectLst/>
                <a:latin typeface="+mn-lt"/>
                <a:ea typeface="+mn-ea"/>
                <a:cs typeface="+mn-cs"/>
              </a:rPr>
              <a:t>Insect – Spiracles and tracheal tubes (1)</a:t>
            </a:r>
          </a:p>
          <a:p>
            <a:r>
              <a:rPr lang="en-AU" sz="1200" kern="1200" dirty="0">
                <a:solidFill>
                  <a:schemeClr val="tx1"/>
                </a:solidFill>
                <a:effectLst/>
                <a:latin typeface="+mn-lt"/>
                <a:ea typeface="+mn-ea"/>
                <a:cs typeface="+mn-cs"/>
              </a:rPr>
              <a:t> </a:t>
            </a:r>
          </a:p>
          <a:p>
            <a:pPr lvl="0"/>
            <a:r>
              <a:rPr lang="en-AU" sz="1200" kern="1200" dirty="0">
                <a:solidFill>
                  <a:schemeClr val="tx1"/>
                </a:solidFill>
                <a:effectLst/>
                <a:latin typeface="+mn-lt"/>
                <a:ea typeface="+mn-ea"/>
                <a:cs typeface="+mn-cs"/>
              </a:rPr>
              <a:t>Max 2 from:</a:t>
            </a:r>
          </a:p>
          <a:p>
            <a:r>
              <a:rPr lang="en-AU" sz="1200" kern="1200" dirty="0">
                <a:solidFill>
                  <a:schemeClr val="tx1"/>
                </a:solidFill>
                <a:effectLst/>
                <a:latin typeface="+mn-lt"/>
                <a:ea typeface="+mn-ea"/>
                <a:cs typeface="+mn-cs"/>
              </a:rPr>
              <a:t>Moist surface for gas exchange (fish already in water). (1)</a:t>
            </a:r>
          </a:p>
          <a:p>
            <a:r>
              <a:rPr lang="en-AU" sz="1200" kern="1200" dirty="0">
                <a:solidFill>
                  <a:schemeClr val="tx1"/>
                </a:solidFill>
                <a:effectLst/>
                <a:latin typeface="+mn-lt"/>
                <a:ea typeface="+mn-ea"/>
                <a:cs typeface="+mn-cs"/>
              </a:rPr>
              <a:t>Large surface area. (1)</a:t>
            </a:r>
          </a:p>
          <a:p>
            <a:r>
              <a:rPr lang="en-AU" sz="1200" kern="1200" dirty="0">
                <a:solidFill>
                  <a:schemeClr val="tx1"/>
                </a:solidFill>
                <a:effectLst/>
                <a:latin typeface="+mn-lt"/>
                <a:ea typeface="+mn-ea"/>
                <a:cs typeface="+mn-cs"/>
              </a:rPr>
              <a:t>Thin (1)</a:t>
            </a:r>
          </a:p>
          <a:p>
            <a:r>
              <a:rPr lang="en-AU" sz="1200" kern="1200" dirty="0">
                <a:solidFill>
                  <a:schemeClr val="tx1"/>
                </a:solidFill>
                <a:effectLst/>
                <a:latin typeface="+mn-lt"/>
                <a:ea typeface="+mn-ea"/>
                <a:cs typeface="+mn-cs"/>
              </a:rPr>
              <a:t>Max 2 from:</a:t>
            </a:r>
          </a:p>
          <a:p>
            <a:r>
              <a:rPr lang="en-AU" sz="1200" kern="1200" dirty="0">
                <a:solidFill>
                  <a:schemeClr val="tx1"/>
                </a:solidFill>
                <a:effectLst/>
                <a:latin typeface="+mn-lt"/>
                <a:ea typeface="+mn-ea"/>
                <a:cs typeface="+mn-cs"/>
              </a:rPr>
              <a:t>Oxygen must be dissolved first before it can be diffused into respiratory system. (1)</a:t>
            </a:r>
          </a:p>
          <a:p>
            <a:r>
              <a:rPr lang="en-AU" sz="1200" kern="1200" dirty="0">
                <a:solidFill>
                  <a:schemeClr val="tx1"/>
                </a:solidFill>
                <a:effectLst/>
                <a:latin typeface="+mn-lt"/>
                <a:ea typeface="+mn-ea"/>
                <a:cs typeface="+mn-cs"/>
              </a:rPr>
              <a:t>Increases the amount of oxygen that can be obtained in order to supply metabolic needs and CO2 excreted. (1)</a:t>
            </a:r>
          </a:p>
          <a:p>
            <a:r>
              <a:rPr lang="en-AU" sz="1200" kern="1200" dirty="0">
                <a:solidFill>
                  <a:schemeClr val="tx1"/>
                </a:solidFill>
                <a:effectLst/>
                <a:latin typeface="+mn-lt"/>
                <a:ea typeface="+mn-ea"/>
                <a:cs typeface="+mn-cs"/>
              </a:rPr>
              <a:t>Must be thin enough for gases to diffuse across (1)</a:t>
            </a:r>
          </a:p>
          <a:p>
            <a:endParaRPr lang="en-AU" dirty="0"/>
          </a:p>
        </p:txBody>
      </p:sp>
      <p:sp>
        <p:nvSpPr>
          <p:cNvPr id="4" name="Slide Number Placeholder 3"/>
          <p:cNvSpPr>
            <a:spLocks noGrp="1"/>
          </p:cNvSpPr>
          <p:nvPr>
            <p:ph type="sldNum" sz="quarter" idx="10"/>
          </p:nvPr>
        </p:nvSpPr>
        <p:spPr/>
        <p:txBody>
          <a:bodyPr/>
          <a:lstStyle/>
          <a:p>
            <a:fld id="{ABDCC9D2-D658-478B-A04A-E0AF743F41F3}" type="slidenum">
              <a:rPr lang="en-AU" smtClean="0"/>
              <a:t>41</a:t>
            </a:fld>
            <a:endParaRPr lang="en-AU"/>
          </a:p>
        </p:txBody>
      </p:sp>
    </p:spTree>
    <p:extLst>
      <p:ext uri="{BB962C8B-B14F-4D97-AF65-F5344CB8AC3E}">
        <p14:creationId xmlns:p14="http://schemas.microsoft.com/office/powerpoint/2010/main" val="19527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pPr algn="ctr" eaLnBrk="1" latinLnBrk="0" hangingPunct="1"/>
            <a:fld id="{23A271A1-F6D6-438B-A432-4747EE7ECD40}" type="datetimeFigureOut">
              <a:rPr lang="en-US" smtClean="0"/>
              <a:pPr algn="ctr" eaLnBrk="1" latinLnBrk="0" hangingPunct="1"/>
              <a:t>10/18/2023</a:t>
            </a:fld>
            <a:endParaRPr lang="en-US" sz="2000" dirty="0">
              <a:solidFill>
                <a:srgbClr val="FFFFFF"/>
              </a:solidFill>
            </a:endParaRPr>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pPr algn="r" eaLnBrk="1" latinLnBrk="0" hangingPunct="1"/>
            <a:endParaRPr kumimoji="0" lang="en-US" dirty="0">
              <a:solidFill>
                <a:schemeClr val="tx2"/>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0C94032-CD4C-4C25-B0C2-CEC720522D92}" type="slidenum">
              <a:rPr kumimoji="0" lang="en-US" smtClean="0"/>
              <a:pPr eaLnBrk="1" latinLnBrk="0" hangingPunct="1"/>
              <a:t>‹#›</a:t>
            </a:fld>
            <a:endParaRPr kumimoji="0" lang="en-US" dirty="0">
              <a:solidFill>
                <a:schemeClr val="tx2"/>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10/18/2023</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10/18/2023</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pPr algn="ctr" eaLnBrk="1" latinLnBrk="0" hangingPunct="1"/>
            <a:fld id="{F0C94032-CD4C-4C25-B0C2-CEC720522D92}" type="slidenum">
              <a:rPr kumimoji="0" lang="en-US" smtClean="0"/>
              <a:pPr algn="ctr" eaLnBrk="1" latinLnBrk="0" hangingPunct="1"/>
              <a:t>‹#›</a:t>
            </a:fld>
            <a:endParaRPr kumimoji="0" lang="en-US" sz="2400" dirty="0">
              <a:solidFill>
                <a:srgbClr val="FFFFFF"/>
              </a:solidFill>
            </a:endParaRPr>
          </a:p>
        </p:txBody>
      </p:sp>
      <p:sp>
        <p:nvSpPr>
          <p:cNvPr id="14" name="Footer Placeholder 13"/>
          <p:cNvSpPr>
            <a:spLocks noGrp="1"/>
          </p:cNvSpPr>
          <p:nvPr>
            <p:ph type="ftr" sz="quarter" idx="12"/>
          </p:nvPr>
        </p:nvSpPr>
        <p:spPr/>
        <p:txBody>
          <a:bodyPr/>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pPr eaLnBrk="1" latinLnBrk="0" hangingPunct="1"/>
            <a:fld id="{23A271A1-F6D6-438B-A432-4747EE7ECD40}" type="datetimeFigureOut">
              <a:rPr lang="en-US" smtClean="0"/>
              <a:pPr eaLnBrk="1" latinLnBrk="0" hangingPunct="1"/>
              <a:t>10/18/2023</a:t>
            </a:fld>
            <a:endParaRPr lang="en-US"/>
          </a:p>
        </p:txBody>
      </p:sp>
      <p:sp>
        <p:nvSpPr>
          <p:cNvPr id="10" name="Slide Number Placeholder 9"/>
          <p:cNvSpPr>
            <a:spLocks noGrp="1"/>
          </p:cNvSpPr>
          <p:nvPr>
            <p:ph type="sldNum" sz="quarter" idx="16"/>
          </p:nvPr>
        </p:nvSpPr>
        <p:spPr/>
        <p:txBody>
          <a:bodyPr rtlCol="0"/>
          <a:lstStyle/>
          <a:p>
            <a:pPr algn="ctr" eaLnBrk="1" latinLnBrk="0" hangingPunct="1"/>
            <a:fld id="{F0C94032-CD4C-4C25-B0C2-CEC720522D92}" type="slidenum">
              <a:rPr kumimoji="0" lang="en-US" smtClean="0"/>
              <a:pPr algn="ctr" eaLnBrk="1" latinLnBrk="0" hangingPunct="1"/>
              <a:t>‹#›</a:t>
            </a:fld>
            <a:endParaRPr kumimoji="0" lang="en-US"/>
          </a:p>
        </p:txBody>
      </p:sp>
      <p:sp>
        <p:nvSpPr>
          <p:cNvPr id="12" name="Footer Placeholder 11"/>
          <p:cNvSpPr>
            <a:spLocks noGrp="1"/>
          </p:cNvSpPr>
          <p:nvPr>
            <p:ph type="ftr" sz="quarter" idx="17"/>
          </p:nvPr>
        </p:nvSpPr>
        <p:spPr/>
        <p:txBody>
          <a:bodyPr rtlCol="0"/>
          <a:lstStyle/>
          <a:p>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pPr eaLnBrk="1" latinLnBrk="0" hangingPunct="1"/>
            <a:fld id="{23A271A1-F6D6-438B-A432-4747EE7ECD40}" type="datetimeFigureOut">
              <a:rPr lang="en-US" smtClean="0"/>
              <a:pPr eaLnBrk="1" latinLnBrk="0" hangingPunct="1"/>
              <a:t>10/18/2023</a:t>
            </a:fld>
            <a:endParaRPr lang="en-US"/>
          </a:p>
        </p:txBody>
      </p:sp>
      <p:sp>
        <p:nvSpPr>
          <p:cNvPr id="12" name="Slide Number Placeholder 11"/>
          <p:cNvSpPr>
            <a:spLocks noGrp="1"/>
          </p:cNvSpPr>
          <p:nvPr>
            <p:ph type="sldNum" sz="quarter" idx="16"/>
          </p:nvPr>
        </p:nvSpPr>
        <p:spPr/>
        <p:txBody>
          <a:bodyPr rtlCol="0"/>
          <a:lstStyle/>
          <a:p>
            <a:pPr algn="ctr" eaLnBrk="1" latinLnBrk="0" hangingPunct="1"/>
            <a:fld id="{F0C94032-CD4C-4C25-B0C2-CEC720522D92}" type="slidenum">
              <a:rPr kumimoji="0" lang="en-US" smtClean="0"/>
              <a:pPr algn="ctr" eaLnBrk="1" latinLnBrk="0" hangingPunct="1"/>
              <a:t>‹#›</a:t>
            </a:fld>
            <a:endParaRPr kumimoji="0" lang="en-US"/>
          </a:p>
        </p:txBody>
      </p:sp>
      <p:sp>
        <p:nvSpPr>
          <p:cNvPr id="14" name="Footer Placeholder 13"/>
          <p:cNvSpPr>
            <a:spLocks noGrp="1"/>
          </p:cNvSpPr>
          <p:nvPr>
            <p:ph type="ftr" sz="quarter" idx="17"/>
          </p:nvPr>
        </p:nvSpPr>
        <p:spPr/>
        <p:txBody>
          <a:bodyPr rtlCol="0"/>
          <a:lstStyle/>
          <a:p>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10/18/2023</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10/18/2023</a:t>
            </a:fld>
            <a:endParaRPr lang="en-US"/>
          </a:p>
        </p:txBody>
      </p:sp>
      <p:sp>
        <p:nvSpPr>
          <p:cNvPr id="3" name="Footer Placeholder 2"/>
          <p:cNvSpPr>
            <a:spLocks noGrp="1"/>
          </p:cNvSpPr>
          <p:nvPr>
            <p:ph type="ftr" sz="quarter" idx="11"/>
          </p:nvPr>
        </p:nvSpPr>
        <p:spPr/>
        <p:txBody>
          <a:bodyPr/>
          <a:lstStyle/>
          <a:p>
            <a:endParaRPr kumimoji="0"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F0C94032-CD4C-4C25-B0C2-CEC720522D92}" type="slidenum">
              <a:rPr kumimoji="0" lang="en-US" smtClean="0"/>
              <a:pPr eaLnBrk="1" latinLnBrk="0" hangingPunct="1"/>
              <a:t>‹#›</a:t>
            </a:fld>
            <a:endParaRPr kumimoji="0"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10/18/2023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pPr eaLnBrk="1" latinLnBrk="0" hangingPunct="1"/>
            <a:fld id="{23A271A1-F6D6-438B-A432-4747EE7ECD40}" type="datetimeFigureOut">
              <a:rPr lang="en-US" smtClean="0"/>
              <a:pPr eaLnBrk="1" latinLnBrk="0" hangingPunct="1"/>
              <a:t>10/18/2023</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pPr algn="ctr" eaLnBrk="1" latinLnBrk="0" hangingPunct="1"/>
            <a:fld id="{F0C94032-CD4C-4C25-B0C2-CEC720522D92}" type="slidenum">
              <a:rPr kumimoji="0" lang="en-US" smtClean="0"/>
              <a:pPr algn="ctr" eaLnBrk="1" latinLnBrk="0" hangingPunct="1"/>
              <a:t>‹#›</a:t>
            </a:fld>
            <a:endParaRPr kumimoji="0" lang="en-US" sz="2800" dirty="0"/>
          </a:p>
        </p:txBody>
      </p:sp>
      <p:sp>
        <p:nvSpPr>
          <p:cNvPr id="14" name="Footer Placeholder 13"/>
          <p:cNvSpPr>
            <a:spLocks noGrp="1"/>
          </p:cNvSpPr>
          <p:nvPr>
            <p:ph type="ftr" sz="quarter" idx="12"/>
          </p:nvPr>
        </p:nvSpPr>
        <p:spPr>
          <a:xfrm>
            <a:off x="1600200" y="6248206"/>
            <a:ext cx="4572000" cy="365125"/>
          </a:xfrm>
        </p:spPr>
        <p:txBody>
          <a:bodyPr rtlCol="0"/>
          <a:lstStyle/>
          <a:p>
            <a:endParaRPr kumimoji="0"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10/18/2023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F0C94032-CD4C-4C25-B0C2-CEC720522D92}"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pPr eaLnBrk="1" latinLnBrk="0" hangingPunct="1"/>
            <a:fld id="{23A271A1-F6D6-438B-A432-4747EE7ECD40}" type="datetimeFigureOut">
              <a:rPr lang="en-US" smtClean="0"/>
              <a:pPr eaLnBrk="1" latinLnBrk="0" hangingPunct="1"/>
              <a:t>10/18/2023</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kumimoji="0"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F0C94032-CD4C-4C25-B0C2-CEC720522D92}" type="slidenum">
              <a:rPr kumimoji="0" lang="en-US" smtClean="0"/>
              <a:pPr eaLnBrk="1" latinLnBrk="0" hangingPunct="1"/>
              <a:t>‹#›</a:t>
            </a:fld>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eaLnBrk="1" latinLnBrk="0" hangingPunct="1"/>
            <a:fld id="{23A271A1-F6D6-438B-A432-4747EE7ECD40}" type="datetimeFigureOut">
              <a:rPr lang="en-US" smtClean="0"/>
              <a:pPr eaLnBrk="1" latinLnBrk="0" hangingPunct="1"/>
              <a:t>10/18/2023</a:t>
            </a:fld>
            <a:endParaRPr lang="en-US" sz="1400" dirty="0">
              <a:solidFill>
                <a:schemeClr val="tx2"/>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algn="ctr" eaLnBrk="1" latinLnBrk="0" hangingPunct="1"/>
            <a:fld id="{F0C94032-CD4C-4C25-B0C2-CEC720522D92}" type="slidenum">
              <a:rPr kumimoji="0" lang="en-US" smtClean="0"/>
              <a:pPr algn="ctr" eaLnBrk="1" latinLnBrk="0" hangingPunct="1"/>
              <a:t>‹#›</a:t>
            </a:fld>
            <a:endParaRPr kumimoji="0" lang="en-US" sz="1400" b="1"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_2kjL9BV3SA"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CBv2BqqAydE" TargetMode="External"/><Relationship Id="rId2" Type="http://schemas.openxmlformats.org/officeDocument/2006/relationships/hyperlink" Target="https://www.youtube.com/watch?v=9xhxALk9gm8" TargetMode="External"/><Relationship Id="rId1" Type="http://schemas.openxmlformats.org/officeDocument/2006/relationships/slideLayout" Target="../slideLayouts/slideLayout2.xml"/><Relationship Id="rId4" Type="http://schemas.openxmlformats.org/officeDocument/2006/relationships/hyperlink" Target="https://www.youtube.com/watch?v=AyUtdqiOgCA"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youtube.com/watch?v=quwhcgkVO3c"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jpe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hyperlink" Target="https://www.youtube.com/watch?v=kWMmyVu1ueY"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 Id="rId5" Type="http://schemas.openxmlformats.org/officeDocument/2006/relationships/image" Target="../media/image41.jpeg"/><Relationship Id="rId4" Type="http://schemas.openxmlformats.org/officeDocument/2006/relationships/image" Target="../media/image40.jpeg"/></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7664" y="188640"/>
            <a:ext cx="6336704" cy="1728192"/>
          </a:xfrm>
        </p:spPr>
        <p:txBody>
          <a:bodyPr>
            <a:normAutofit fontScale="90000"/>
          </a:bodyPr>
          <a:lstStyle/>
          <a:p>
            <a:pPr algn="ctr"/>
            <a:r>
              <a:rPr lang="en-AU" dirty="0"/>
              <a:t>11ATAR Biology</a:t>
            </a:r>
            <a:br>
              <a:rPr lang="en-AU" dirty="0"/>
            </a:br>
            <a:r>
              <a:rPr lang="en-AU" sz="3600" dirty="0"/>
              <a:t>Week 32 </a:t>
            </a:r>
            <a:br>
              <a:rPr lang="en-AU" sz="3600" dirty="0"/>
            </a:br>
            <a:r>
              <a:rPr lang="en-AU" sz="3600" dirty="0"/>
              <a:t>Gas Exchange in animals</a:t>
            </a:r>
          </a:p>
        </p:txBody>
      </p:sp>
      <p:pic>
        <p:nvPicPr>
          <p:cNvPr id="9218" name="Picture 2" descr="http://ykonline.yksd.com/distanceedcourses/Courses/Biology/lessons/SecondQuarterLessons/Chapter6/6-2/Images/GasExch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2060848"/>
            <a:ext cx="4771231" cy="3776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311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0070C0"/>
                </a:solidFill>
              </a:rPr>
              <a:t>Year 11 Biology Work Schedule</a:t>
            </a:r>
          </a:p>
        </p:txBody>
      </p:sp>
      <p:sp>
        <p:nvSpPr>
          <p:cNvPr id="3" name="Content Placeholder 2"/>
          <p:cNvSpPr>
            <a:spLocks noGrp="1"/>
          </p:cNvSpPr>
          <p:nvPr>
            <p:ph idx="1"/>
          </p:nvPr>
        </p:nvSpPr>
        <p:spPr>
          <a:xfrm>
            <a:off x="395536" y="1805966"/>
            <a:ext cx="7344816" cy="2510473"/>
          </a:xfrm>
        </p:spPr>
        <p:txBody>
          <a:bodyPr>
            <a:normAutofit/>
          </a:bodyPr>
          <a:lstStyle/>
          <a:p>
            <a:r>
              <a:rPr lang="en-AU" altLang="en-US" sz="2000" dirty="0">
                <a:solidFill>
                  <a:srgbClr val="002060"/>
                </a:solidFill>
                <a:latin typeface="Arial" panose="020B0604020202020204" pitchFamily="34" charset="0"/>
                <a:cs typeface="Arial" panose="020B0604020202020204" pitchFamily="34" charset="0"/>
              </a:rPr>
              <a:t>It is important to remain on schedule during this Semester.</a:t>
            </a:r>
          </a:p>
          <a:p>
            <a:pPr marL="0" indent="0">
              <a:buNone/>
            </a:pPr>
            <a:r>
              <a:rPr lang="en-AU" altLang="en-US" sz="2000" b="1" dirty="0">
                <a:solidFill>
                  <a:srgbClr val="002060"/>
                </a:solidFill>
                <a:latin typeface="Arial" panose="020B0604020202020204" pitchFamily="34" charset="0"/>
                <a:cs typeface="Arial" panose="020B0604020202020204" pitchFamily="34" charset="0"/>
              </a:rPr>
              <a:t>Moodle</a:t>
            </a:r>
          </a:p>
          <a:p>
            <a:r>
              <a:rPr lang="en-AU" altLang="en-US" sz="2000" dirty="0">
                <a:solidFill>
                  <a:srgbClr val="002060"/>
                </a:solidFill>
                <a:latin typeface="Arial" panose="020B0604020202020204" pitchFamily="34" charset="0"/>
                <a:cs typeface="Arial" panose="020B0604020202020204" pitchFamily="34" charset="0"/>
              </a:rPr>
              <a:t>Have you visited Moodle this week?        Yes  /  No</a:t>
            </a:r>
          </a:p>
          <a:p>
            <a:pPr marL="0" indent="0">
              <a:buNone/>
            </a:pPr>
            <a:r>
              <a:rPr lang="en-AU" altLang="en-US" sz="2000" b="1" dirty="0">
                <a:solidFill>
                  <a:srgbClr val="002060"/>
                </a:solidFill>
                <a:latin typeface="Arial" panose="020B0604020202020204" pitchFamily="34" charset="0"/>
                <a:cs typeface="Arial" panose="020B0604020202020204" pitchFamily="34" charset="0"/>
              </a:rPr>
              <a:t>Tasks</a:t>
            </a:r>
          </a:p>
          <a:p>
            <a:r>
              <a:rPr lang="en-AU" altLang="en-US" sz="2000" dirty="0">
                <a:solidFill>
                  <a:srgbClr val="002060"/>
                </a:solidFill>
                <a:latin typeface="Arial" panose="020B0604020202020204" pitchFamily="34" charset="0"/>
                <a:cs typeface="Arial" panose="020B0604020202020204" pitchFamily="34" charset="0"/>
              </a:rPr>
              <a:t>Are you on schedule?    	Yes  /  No</a:t>
            </a:r>
          </a:p>
          <a:p>
            <a:r>
              <a:rPr lang="en-AU" altLang="en-US" sz="2000" dirty="0">
                <a:solidFill>
                  <a:srgbClr val="002060"/>
                </a:solidFill>
                <a:latin typeface="Arial" panose="020B0604020202020204" pitchFamily="34" charset="0"/>
                <a:cs typeface="Arial" panose="020B0604020202020204" pitchFamily="34" charset="0"/>
              </a:rPr>
              <a:t>When is your next task due?</a:t>
            </a:r>
          </a:p>
        </p:txBody>
      </p:sp>
      <p:pic>
        <p:nvPicPr>
          <p:cNvPr id="4" name="Picture 3"/>
          <p:cNvPicPr>
            <a:picLocks noChangeAspect="1"/>
          </p:cNvPicPr>
          <p:nvPr/>
        </p:nvPicPr>
        <p:blipFill>
          <a:blip r:embed="rId2"/>
          <a:stretch>
            <a:fillRect/>
          </a:stretch>
        </p:blipFill>
        <p:spPr>
          <a:xfrm>
            <a:off x="132894" y="4293096"/>
            <a:ext cx="9000760" cy="2510473"/>
          </a:xfrm>
          <a:prstGeom prst="rect">
            <a:avLst/>
          </a:prstGeom>
        </p:spPr>
      </p:pic>
      <p:sp>
        <p:nvSpPr>
          <p:cNvPr id="5" name="Arrow: Right 4">
            <a:extLst>
              <a:ext uri="{FF2B5EF4-FFF2-40B4-BE49-F238E27FC236}">
                <a16:creationId xmlns:a16="http://schemas.microsoft.com/office/drawing/2014/main" id="{D9718909-6488-C741-6BFE-99FF0B380701}"/>
              </a:ext>
            </a:extLst>
          </p:cNvPr>
          <p:cNvSpPr/>
          <p:nvPr/>
        </p:nvSpPr>
        <p:spPr>
          <a:xfrm rot="16200000">
            <a:off x="7488324" y="6111800"/>
            <a:ext cx="288032" cy="36004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06B849A6-F113-D779-591F-99C1ABA8310B}"/>
              </a:ext>
            </a:extLst>
          </p:cNvPr>
          <p:cNvSpPr txBox="1"/>
          <p:nvPr/>
        </p:nvSpPr>
        <p:spPr>
          <a:xfrm>
            <a:off x="5780581" y="3168716"/>
            <a:ext cx="3312368" cy="830997"/>
          </a:xfrm>
          <a:prstGeom prst="rect">
            <a:avLst/>
          </a:prstGeom>
          <a:solidFill>
            <a:srgbClr val="E8FFDD"/>
          </a:solidFill>
          <a:ln>
            <a:solidFill>
              <a:srgbClr val="00B050"/>
            </a:solidFill>
          </a:ln>
        </p:spPr>
        <p:txBody>
          <a:bodyPr wrap="square" rtlCol="0">
            <a:spAutoFit/>
          </a:bodyPr>
          <a:lstStyle/>
          <a:p>
            <a:r>
              <a:rPr lang="en-AU" sz="1200" b="1" dirty="0">
                <a:solidFill>
                  <a:srgbClr val="008A3E"/>
                </a:solidFill>
                <a:latin typeface="Calibri" panose="020F0502020204030204" pitchFamily="34" charset="0"/>
                <a:cs typeface="Calibri" panose="020F0502020204030204" pitchFamily="34" charset="0"/>
              </a:rPr>
              <a:t>U2T4 Topic Test</a:t>
            </a:r>
          </a:p>
          <a:p>
            <a:r>
              <a:rPr lang="en-AU" sz="1200" dirty="0">
                <a:solidFill>
                  <a:srgbClr val="008A3E"/>
                </a:solidFill>
                <a:latin typeface="Calibri" panose="020F0502020204030204" pitchFamily="34" charset="0"/>
                <a:cs typeface="Calibri" panose="020F0502020204030204" pitchFamily="34" charset="0"/>
              </a:rPr>
              <a:t>On Topic 4 – Multicellular Organisms</a:t>
            </a:r>
          </a:p>
          <a:p>
            <a:r>
              <a:rPr lang="en-AU" sz="1200" dirty="0">
                <a:solidFill>
                  <a:srgbClr val="008A3E"/>
                </a:solidFill>
                <a:latin typeface="Calibri" panose="020F0502020204030204" pitchFamily="34" charset="0"/>
                <a:cs typeface="Calibri" panose="020F0502020204030204" pitchFamily="34" charset="0"/>
              </a:rPr>
              <a:t>62 marks / 60 min</a:t>
            </a:r>
          </a:p>
          <a:p>
            <a:r>
              <a:rPr lang="en-AU" sz="1200" dirty="0">
                <a:solidFill>
                  <a:srgbClr val="008A3E"/>
                </a:solidFill>
                <a:latin typeface="Calibri" panose="020F0502020204030204" pitchFamily="34" charset="0"/>
                <a:cs typeface="Calibri" panose="020F0502020204030204" pitchFamily="34" charset="0"/>
              </a:rPr>
              <a:t>Multiple choice/short answer/1 Extended Answer</a:t>
            </a:r>
          </a:p>
        </p:txBody>
      </p:sp>
      <p:cxnSp>
        <p:nvCxnSpPr>
          <p:cNvPr id="7" name="Straight Arrow Connector 6">
            <a:extLst>
              <a:ext uri="{FF2B5EF4-FFF2-40B4-BE49-F238E27FC236}">
                <a16:creationId xmlns:a16="http://schemas.microsoft.com/office/drawing/2014/main" id="{21261CC8-4810-36CB-7B0B-B9DE17B3AAD3}"/>
              </a:ext>
            </a:extLst>
          </p:cNvPr>
          <p:cNvCxnSpPr>
            <a:cxnSpLocks/>
          </p:cNvCxnSpPr>
          <p:nvPr/>
        </p:nvCxnSpPr>
        <p:spPr>
          <a:xfrm>
            <a:off x="7632340" y="3999713"/>
            <a:ext cx="324036" cy="1445511"/>
          </a:xfrm>
          <a:prstGeom prst="straightConnector1">
            <a:avLst/>
          </a:prstGeom>
          <a:ln>
            <a:solidFill>
              <a:srgbClr val="008A3E"/>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4293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09600" y="1781454"/>
            <a:ext cx="5934903" cy="1657581"/>
          </a:xfrm>
          <a:prstGeom prst="rect">
            <a:avLst/>
          </a:prstGeom>
        </p:spPr>
      </p:pic>
      <p:pic>
        <p:nvPicPr>
          <p:cNvPr id="5" name="Picture 4"/>
          <p:cNvPicPr>
            <a:picLocks noChangeAspect="1"/>
          </p:cNvPicPr>
          <p:nvPr/>
        </p:nvPicPr>
        <p:blipFill>
          <a:blip r:embed="rId4"/>
          <a:stretch>
            <a:fillRect/>
          </a:stretch>
        </p:blipFill>
        <p:spPr>
          <a:xfrm>
            <a:off x="626841" y="3501008"/>
            <a:ext cx="4496427" cy="1333686"/>
          </a:xfrm>
          <a:prstGeom prst="rect">
            <a:avLst/>
          </a:prstGeom>
        </p:spPr>
      </p:pic>
      <p:pic>
        <p:nvPicPr>
          <p:cNvPr id="6" name="Picture 5"/>
          <p:cNvPicPr>
            <a:picLocks noChangeAspect="1"/>
          </p:cNvPicPr>
          <p:nvPr/>
        </p:nvPicPr>
        <p:blipFill>
          <a:blip r:embed="rId5"/>
          <a:stretch>
            <a:fillRect/>
          </a:stretch>
        </p:blipFill>
        <p:spPr>
          <a:xfrm>
            <a:off x="601283" y="4897479"/>
            <a:ext cx="5925377" cy="1286054"/>
          </a:xfrm>
          <a:prstGeom prst="rect">
            <a:avLst/>
          </a:prstGeom>
        </p:spPr>
      </p:pic>
      <p:sp>
        <p:nvSpPr>
          <p:cNvPr id="7" name="Title 6"/>
          <p:cNvSpPr>
            <a:spLocks noGrp="1"/>
          </p:cNvSpPr>
          <p:nvPr>
            <p:ph type="title"/>
          </p:nvPr>
        </p:nvSpPr>
        <p:spPr/>
        <p:txBody>
          <a:bodyPr/>
          <a:lstStyle/>
          <a:p>
            <a:r>
              <a:rPr lang="en-AU" dirty="0">
                <a:solidFill>
                  <a:srgbClr val="0070C0"/>
                </a:solidFill>
              </a:rPr>
              <a:t>Review</a:t>
            </a:r>
          </a:p>
        </p:txBody>
      </p:sp>
    </p:spTree>
    <p:extLst>
      <p:ext uri="{BB962C8B-B14F-4D97-AF65-F5344CB8AC3E}">
        <p14:creationId xmlns:p14="http://schemas.microsoft.com/office/powerpoint/2010/main" val="1656163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67544" y="260648"/>
            <a:ext cx="8153400" cy="990600"/>
          </a:xfrm>
        </p:spPr>
        <p:txBody>
          <a:bodyPr/>
          <a:lstStyle/>
          <a:p>
            <a:r>
              <a:rPr lang="en-AU" dirty="0">
                <a:solidFill>
                  <a:srgbClr val="0070C0"/>
                </a:solidFill>
              </a:rPr>
              <a:t>Learning Intentions</a:t>
            </a:r>
          </a:p>
        </p:txBody>
      </p:sp>
      <p:sp>
        <p:nvSpPr>
          <p:cNvPr id="3" name="Content Placeholder 2"/>
          <p:cNvSpPr>
            <a:spLocks noGrp="1"/>
          </p:cNvSpPr>
          <p:nvPr>
            <p:ph idx="4294967295"/>
          </p:nvPr>
        </p:nvSpPr>
        <p:spPr>
          <a:xfrm>
            <a:off x="440758" y="1340768"/>
            <a:ext cx="8153400" cy="1296144"/>
          </a:xfrm>
        </p:spPr>
        <p:txBody>
          <a:bodyPr>
            <a:normAutofit/>
          </a:bodyPr>
          <a:lstStyle/>
          <a:p>
            <a:pPr lvl="0"/>
            <a:r>
              <a:rPr lang="en-AU" sz="2400" dirty="0">
                <a:latin typeface="Calibri" panose="020F0502020204030204" pitchFamily="34" charset="0"/>
                <a:cs typeface="Calibri" panose="020F0502020204030204" pitchFamily="34" charset="0"/>
              </a:rPr>
              <a:t>Understand the structure and function of various animal respiratory systems.</a:t>
            </a:r>
          </a:p>
          <a:p>
            <a:pPr lvl="0"/>
            <a:endParaRPr lang="en-AU" dirty="0"/>
          </a:p>
          <a:p>
            <a:endParaRPr lang="en-AU" dirty="0"/>
          </a:p>
        </p:txBody>
      </p:sp>
      <p:sp>
        <p:nvSpPr>
          <p:cNvPr id="4" name="Content Placeholder 2"/>
          <p:cNvSpPr txBox="1">
            <a:spLocks/>
          </p:cNvSpPr>
          <p:nvPr/>
        </p:nvSpPr>
        <p:spPr>
          <a:xfrm>
            <a:off x="593158" y="3645024"/>
            <a:ext cx="8153400" cy="2304256"/>
          </a:xfrm>
          <a:prstGeom prst="rect">
            <a:avLst/>
          </a:prstGeom>
        </p:spPr>
        <p:txBody>
          <a:bodyPr vert="horz">
            <a:normAutofit fontScale="925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AU" sz="2600" dirty="0">
                <a:latin typeface="Calibri" panose="020F0502020204030204" pitchFamily="34" charset="0"/>
                <a:cs typeface="Calibri" panose="020F0502020204030204" pitchFamily="34" charset="0"/>
              </a:rPr>
              <a:t>Describe the exchange of gases between the internal and external environments of the organism via specialised exchange surface(s), including spiracles, gills, alveoli and skin.</a:t>
            </a:r>
          </a:p>
          <a:p>
            <a:endParaRPr lang="en-AU" sz="2600" dirty="0">
              <a:latin typeface="Calibri" panose="020F0502020204030204" pitchFamily="34" charset="0"/>
              <a:cs typeface="Calibri" panose="020F0502020204030204" pitchFamily="34" charset="0"/>
            </a:endParaRPr>
          </a:p>
          <a:p>
            <a:r>
              <a:rPr lang="en-AU" sz="2600" dirty="0">
                <a:latin typeface="Calibri" panose="020F0502020204030204" pitchFamily="34" charset="0"/>
                <a:cs typeface="Calibri" panose="020F0502020204030204" pitchFamily="34" charset="0"/>
              </a:rPr>
              <a:t>Identify features of efficient gas exchange surfaces.</a:t>
            </a:r>
          </a:p>
          <a:p>
            <a:pPr marL="0" indent="0">
              <a:buNone/>
            </a:pPr>
            <a:endParaRPr lang="en-AU" dirty="0"/>
          </a:p>
        </p:txBody>
      </p:sp>
      <p:sp>
        <p:nvSpPr>
          <p:cNvPr id="6" name="Title 1"/>
          <p:cNvSpPr txBox="1">
            <a:spLocks/>
          </p:cNvSpPr>
          <p:nvPr/>
        </p:nvSpPr>
        <p:spPr>
          <a:xfrm>
            <a:off x="593158" y="2556653"/>
            <a:ext cx="8153400" cy="990600"/>
          </a:xfrm>
          <a:prstGeom prst="rect">
            <a:avLst/>
          </a:prstGeom>
        </p:spPr>
        <p:txBody>
          <a:bodyPr vert="horz" anchor="ctr">
            <a:normAutofit/>
          </a:bodyPr>
          <a:lstStyle>
            <a:lvl1pPr algn="l" rtl="0" eaLnBrk="1" latinLnBrk="0" hangingPunct="1">
              <a:spcBef>
                <a:spcPct val="0"/>
              </a:spcBef>
              <a:buNone/>
              <a:defRPr kumimoji="0" sz="4400" kern="1200">
                <a:solidFill>
                  <a:schemeClr val="tx2"/>
                </a:solidFill>
                <a:latin typeface="+mj-lt"/>
                <a:ea typeface="+mj-ea"/>
                <a:cs typeface="+mj-cs"/>
              </a:defRPr>
            </a:lvl1pPr>
          </a:lstStyle>
          <a:p>
            <a:r>
              <a:rPr lang="en-AU" dirty="0">
                <a:solidFill>
                  <a:srgbClr val="0070C0"/>
                </a:solidFill>
              </a:rPr>
              <a:t>Success Criteria</a:t>
            </a:r>
          </a:p>
        </p:txBody>
      </p:sp>
    </p:spTree>
    <p:extLst>
      <p:ext uri="{BB962C8B-B14F-4D97-AF65-F5344CB8AC3E}">
        <p14:creationId xmlns:p14="http://schemas.microsoft.com/office/powerpoint/2010/main" val="1338872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0070C0"/>
                </a:solidFill>
              </a:rPr>
              <a:t>Terminology</a:t>
            </a:r>
          </a:p>
        </p:txBody>
      </p:sp>
      <p:sp>
        <p:nvSpPr>
          <p:cNvPr id="3" name="Content Placeholder 2"/>
          <p:cNvSpPr>
            <a:spLocks noGrp="1"/>
          </p:cNvSpPr>
          <p:nvPr>
            <p:ph sz="quarter" idx="1"/>
          </p:nvPr>
        </p:nvSpPr>
        <p:spPr/>
        <p:txBody>
          <a:bodyPr/>
          <a:lstStyle/>
          <a:p>
            <a:r>
              <a:rPr lang="en-AU" dirty="0">
                <a:latin typeface="Calibri" panose="020F0502020204030204" pitchFamily="34" charset="0"/>
                <a:cs typeface="Calibri" panose="020F0502020204030204" pitchFamily="34" charset="0"/>
              </a:rPr>
              <a:t>What is the difference between:</a:t>
            </a:r>
          </a:p>
          <a:p>
            <a:pPr lvl="1"/>
            <a:r>
              <a:rPr lang="en-AU" dirty="0">
                <a:latin typeface="Calibri" panose="020F0502020204030204" pitchFamily="34" charset="0"/>
                <a:cs typeface="Calibri" panose="020F0502020204030204" pitchFamily="34" charset="0"/>
              </a:rPr>
              <a:t>Gas exchange –</a:t>
            </a:r>
          </a:p>
          <a:p>
            <a:pPr lvl="1"/>
            <a:endParaRPr lang="en-AU" dirty="0">
              <a:latin typeface="Calibri" panose="020F0502020204030204" pitchFamily="34" charset="0"/>
              <a:cs typeface="Calibri" panose="020F0502020204030204" pitchFamily="34" charset="0"/>
            </a:endParaRPr>
          </a:p>
          <a:p>
            <a:pPr marL="365760" lvl="1" indent="0">
              <a:buNone/>
            </a:pPr>
            <a:endParaRPr lang="en-AU" dirty="0">
              <a:latin typeface="Calibri" panose="020F0502020204030204" pitchFamily="34" charset="0"/>
              <a:cs typeface="Calibri" panose="020F0502020204030204" pitchFamily="34" charset="0"/>
            </a:endParaRPr>
          </a:p>
          <a:p>
            <a:pPr marL="365760" lvl="1" indent="0">
              <a:buNone/>
            </a:pPr>
            <a:endParaRPr lang="en-AU" dirty="0">
              <a:latin typeface="Calibri" panose="020F0502020204030204" pitchFamily="34" charset="0"/>
              <a:cs typeface="Calibri" panose="020F0502020204030204" pitchFamily="34" charset="0"/>
            </a:endParaRPr>
          </a:p>
          <a:p>
            <a:pPr lvl="1"/>
            <a:r>
              <a:rPr lang="en-AU" dirty="0">
                <a:latin typeface="Calibri" panose="020F0502020204030204" pitchFamily="34" charset="0"/>
                <a:cs typeface="Calibri" panose="020F0502020204030204" pitchFamily="34" charset="0"/>
              </a:rPr>
              <a:t>Cellular Respiration –</a:t>
            </a:r>
          </a:p>
          <a:p>
            <a:pPr marL="365760" lvl="1" indent="0">
              <a:buNone/>
            </a:pPr>
            <a:endParaRPr lang="en-AU" dirty="0"/>
          </a:p>
        </p:txBody>
      </p:sp>
    </p:spTree>
    <p:extLst>
      <p:ext uri="{BB962C8B-B14F-4D97-AF65-F5344CB8AC3E}">
        <p14:creationId xmlns:p14="http://schemas.microsoft.com/office/powerpoint/2010/main" val="2436181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12648" y="188640"/>
            <a:ext cx="8153400" cy="990600"/>
          </a:xfrm>
        </p:spPr>
        <p:txBody>
          <a:bodyPr/>
          <a:lstStyle/>
          <a:p>
            <a:r>
              <a:rPr lang="en-NZ" dirty="0">
                <a:solidFill>
                  <a:srgbClr val="0070C0"/>
                </a:solidFill>
              </a:rPr>
              <a:t>Gas Exchange - Overview</a:t>
            </a:r>
            <a:endParaRPr lang="en-GB" dirty="0">
              <a:solidFill>
                <a:srgbClr val="0070C0"/>
              </a:solidFill>
            </a:endParaRPr>
          </a:p>
        </p:txBody>
      </p:sp>
      <p:sp>
        <p:nvSpPr>
          <p:cNvPr id="6147" name="Rectangle 3"/>
          <p:cNvSpPr>
            <a:spLocks noGrp="1" noChangeArrowheads="1"/>
          </p:cNvSpPr>
          <p:nvPr>
            <p:ph type="body" idx="1"/>
          </p:nvPr>
        </p:nvSpPr>
        <p:spPr>
          <a:xfrm>
            <a:off x="612648" y="1600200"/>
            <a:ext cx="8153400" cy="4853136"/>
          </a:xfrm>
        </p:spPr>
        <p:txBody>
          <a:bodyPr>
            <a:normAutofit fontScale="92500" lnSpcReduction="20000"/>
          </a:bodyPr>
          <a:lstStyle/>
          <a:p>
            <a:r>
              <a:rPr lang="en-NZ" sz="2600" b="1" dirty="0">
                <a:latin typeface="Calibri" panose="020F0502020204030204" pitchFamily="34" charset="0"/>
                <a:cs typeface="Calibri" panose="020F0502020204030204" pitchFamily="34" charset="0"/>
              </a:rPr>
              <a:t>Cellular respiration </a:t>
            </a:r>
            <a:br>
              <a:rPr lang="en-NZ" sz="2600" dirty="0">
                <a:latin typeface="Calibri" panose="020F0502020204030204" pitchFamily="34" charset="0"/>
                <a:cs typeface="Calibri" panose="020F0502020204030204" pitchFamily="34" charset="0"/>
              </a:rPr>
            </a:br>
            <a:r>
              <a:rPr lang="en-NZ" sz="2600" dirty="0">
                <a:latin typeface="Calibri" panose="020F0502020204030204" pitchFamily="34" charset="0"/>
                <a:cs typeface="Calibri" panose="020F0502020204030204" pitchFamily="34" charset="0"/>
              </a:rPr>
              <a:t>requires O</a:t>
            </a:r>
            <a:r>
              <a:rPr lang="en-NZ" sz="2600" baseline="-25000" dirty="0">
                <a:latin typeface="Calibri" panose="020F0502020204030204" pitchFamily="34" charset="0"/>
                <a:cs typeface="Calibri" panose="020F0502020204030204" pitchFamily="34" charset="0"/>
              </a:rPr>
              <a:t>2</a:t>
            </a:r>
            <a:r>
              <a:rPr lang="en-NZ" sz="2600" dirty="0">
                <a:latin typeface="Calibri" panose="020F0502020204030204" pitchFamily="34" charset="0"/>
                <a:cs typeface="Calibri" panose="020F0502020204030204" pitchFamily="34" charset="0"/>
              </a:rPr>
              <a:t> and produces CO</a:t>
            </a:r>
            <a:r>
              <a:rPr lang="en-NZ" sz="2600" baseline="-25000" dirty="0">
                <a:latin typeface="Calibri" panose="020F0502020204030204" pitchFamily="34" charset="0"/>
                <a:cs typeface="Calibri" panose="020F0502020204030204" pitchFamily="34" charset="0"/>
              </a:rPr>
              <a:t>2</a:t>
            </a:r>
            <a:r>
              <a:rPr lang="en-NZ" sz="2600" dirty="0">
                <a:latin typeface="Calibri" panose="020F0502020204030204" pitchFamily="34" charset="0"/>
                <a:cs typeface="Calibri" panose="020F0502020204030204" pitchFamily="34" charset="0"/>
              </a:rPr>
              <a:t> :</a:t>
            </a:r>
          </a:p>
          <a:p>
            <a:endParaRPr lang="en-NZ" dirty="0"/>
          </a:p>
          <a:p>
            <a:endParaRPr lang="en-NZ" dirty="0"/>
          </a:p>
          <a:p>
            <a:endParaRPr lang="en-NZ" dirty="0"/>
          </a:p>
          <a:p>
            <a:endParaRPr lang="en-NZ" dirty="0"/>
          </a:p>
          <a:p>
            <a:endParaRPr lang="en-NZ" dirty="0"/>
          </a:p>
          <a:p>
            <a:endParaRPr lang="en-NZ" dirty="0"/>
          </a:p>
          <a:p>
            <a:r>
              <a:rPr lang="en-NZ" sz="2600" b="1" dirty="0">
                <a:latin typeface="Calibri" panose="020F0502020204030204" pitchFamily="34" charset="0"/>
                <a:cs typeface="Calibri" panose="020F0502020204030204" pitchFamily="34" charset="0"/>
              </a:rPr>
              <a:t>Gas exchange </a:t>
            </a:r>
            <a:r>
              <a:rPr lang="en-NZ" sz="2600" dirty="0">
                <a:latin typeface="Calibri" panose="020F0502020204030204" pitchFamily="34" charset="0"/>
                <a:cs typeface="Calibri" panose="020F0502020204030204" pitchFamily="34" charset="0"/>
              </a:rPr>
              <a:t>provides a means of supplying an organism with O</a:t>
            </a:r>
            <a:r>
              <a:rPr lang="en-NZ" sz="2600" baseline="-25000" dirty="0">
                <a:latin typeface="Calibri" panose="020F0502020204030204" pitchFamily="34" charset="0"/>
                <a:cs typeface="Calibri" panose="020F0502020204030204" pitchFamily="34" charset="0"/>
              </a:rPr>
              <a:t>2</a:t>
            </a:r>
            <a:r>
              <a:rPr lang="en-NZ" sz="2600" dirty="0">
                <a:latin typeface="Calibri" panose="020F0502020204030204" pitchFamily="34" charset="0"/>
                <a:cs typeface="Calibri" panose="020F0502020204030204" pitchFamily="34" charset="0"/>
              </a:rPr>
              <a:t> and removing the CO</a:t>
            </a:r>
            <a:r>
              <a:rPr lang="en-NZ" sz="2600" baseline="-25000" dirty="0">
                <a:latin typeface="Calibri" panose="020F0502020204030204" pitchFamily="34" charset="0"/>
                <a:cs typeface="Calibri" panose="020F0502020204030204" pitchFamily="34" charset="0"/>
              </a:rPr>
              <a:t>2</a:t>
            </a:r>
            <a:r>
              <a:rPr lang="en-NZ" sz="2600" dirty="0">
                <a:latin typeface="Calibri" panose="020F0502020204030204" pitchFamily="34" charset="0"/>
                <a:cs typeface="Calibri" panose="020F0502020204030204" pitchFamily="34" charset="0"/>
              </a:rPr>
              <a:t>.</a:t>
            </a:r>
          </a:p>
          <a:p>
            <a:r>
              <a:rPr lang="en-NZ" sz="2600" dirty="0">
                <a:latin typeface="Calibri" panose="020F0502020204030204" pitchFamily="34" charset="0"/>
                <a:cs typeface="Calibri" panose="020F0502020204030204" pitchFamily="34" charset="0"/>
              </a:rPr>
              <a:t>Gas exchange requires the surfaces of gas exchange to be ventilated (have oxygen brought over them).</a:t>
            </a:r>
            <a:endParaRPr lang="en-GB" sz="2600" dirty="0">
              <a:latin typeface="Calibri" panose="020F0502020204030204" pitchFamily="34" charset="0"/>
              <a:cs typeface="Calibri" panose="020F0502020204030204" pitchFamily="34" charset="0"/>
            </a:endParaRPr>
          </a:p>
          <a:p>
            <a:endParaRPr lang="en-NZ" dirty="0"/>
          </a:p>
        </p:txBody>
      </p:sp>
      <p:pic>
        <p:nvPicPr>
          <p:cNvPr id="6149" name="Picture 5" descr="Oxygen_Molecule_VdW"/>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5875" y="2528888"/>
            <a:ext cx="1270000" cy="93980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Carbon_Dioxide_Molecule_Vd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56213" y="2528888"/>
            <a:ext cx="1274762" cy="890587"/>
          </a:xfrm>
          <a:prstGeom prst="rect">
            <a:avLst/>
          </a:prstGeom>
          <a:noFill/>
          <a:extLst>
            <a:ext uri="{909E8E84-426E-40DD-AFC4-6F175D3DCCD1}">
              <a14:hiddenFill xmlns:a14="http://schemas.microsoft.com/office/drawing/2010/main">
                <a:solidFill>
                  <a:srgbClr val="FFFFFF"/>
                </a:solidFill>
              </a14:hiddenFill>
            </a:ext>
          </a:extLst>
        </p:spPr>
      </p:pic>
      <p:sp>
        <p:nvSpPr>
          <p:cNvPr id="6151" name="Rectangle 7"/>
          <p:cNvSpPr>
            <a:spLocks noChangeArrowheads="1"/>
          </p:cNvSpPr>
          <p:nvPr/>
        </p:nvSpPr>
        <p:spPr bwMode="auto">
          <a:xfrm>
            <a:off x="358775" y="3357563"/>
            <a:ext cx="8785225" cy="68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spcBef>
                <a:spcPct val="20000"/>
              </a:spcBef>
              <a:tabLst>
                <a:tab pos="892175" algn="ctr"/>
                <a:tab pos="1970088" algn="ctr"/>
                <a:tab pos="2873375" algn="ctr"/>
                <a:tab pos="3767138" algn="ctr"/>
                <a:tab pos="5475288" algn="ctr"/>
                <a:tab pos="6999288" algn="ctr"/>
                <a:tab pos="7718425" algn="ctr"/>
              </a:tabLst>
            </a:pPr>
            <a:r>
              <a:rPr lang="en-NZ" sz="3200" i="1"/>
              <a:t>	</a:t>
            </a:r>
            <a:r>
              <a:rPr lang="en-NZ" sz="3200" i="1">
                <a:solidFill>
                  <a:srgbClr val="006666"/>
                </a:solidFill>
              </a:rPr>
              <a:t>C</a:t>
            </a:r>
            <a:r>
              <a:rPr lang="en-NZ" sz="3200" i="1" baseline="-25000">
                <a:solidFill>
                  <a:srgbClr val="006666"/>
                </a:solidFill>
              </a:rPr>
              <a:t>6</a:t>
            </a:r>
            <a:r>
              <a:rPr lang="en-NZ" sz="3200" i="1">
                <a:solidFill>
                  <a:srgbClr val="006666"/>
                </a:solidFill>
              </a:rPr>
              <a:t>H</a:t>
            </a:r>
            <a:r>
              <a:rPr lang="en-NZ" sz="3200" i="1" baseline="-25000">
                <a:solidFill>
                  <a:srgbClr val="006666"/>
                </a:solidFill>
              </a:rPr>
              <a:t>12</a:t>
            </a:r>
            <a:r>
              <a:rPr lang="en-NZ" sz="3200" i="1">
                <a:solidFill>
                  <a:srgbClr val="006666"/>
                </a:solidFill>
              </a:rPr>
              <a:t>O</a:t>
            </a:r>
            <a:r>
              <a:rPr lang="en-NZ" sz="3200" i="1" baseline="-25000">
                <a:solidFill>
                  <a:srgbClr val="006666"/>
                </a:solidFill>
              </a:rPr>
              <a:t>6</a:t>
            </a:r>
            <a:r>
              <a:rPr lang="en-NZ" sz="3200" i="1">
                <a:solidFill>
                  <a:srgbClr val="006666"/>
                </a:solidFill>
              </a:rPr>
              <a:t>	+ 	6O</a:t>
            </a:r>
            <a:r>
              <a:rPr lang="en-NZ" sz="3200" i="1" baseline="-25000">
                <a:solidFill>
                  <a:srgbClr val="006666"/>
                </a:solidFill>
              </a:rPr>
              <a:t>2</a:t>
            </a:r>
            <a:r>
              <a:rPr lang="en-NZ" sz="3200" i="1">
                <a:solidFill>
                  <a:srgbClr val="006666"/>
                </a:solidFill>
              </a:rPr>
              <a:t> 	</a:t>
            </a:r>
            <a:r>
              <a:rPr lang="en-NZ" sz="3200">
                <a:solidFill>
                  <a:srgbClr val="006666"/>
                </a:solidFill>
                <a:sym typeface="Wingdings" pitchFamily="2" charset="2"/>
              </a:rPr>
              <a:t></a:t>
            </a:r>
            <a:r>
              <a:rPr lang="en-NZ" sz="3200" i="1">
                <a:solidFill>
                  <a:srgbClr val="006666"/>
                </a:solidFill>
                <a:sym typeface="Wingdings" pitchFamily="2" charset="2"/>
              </a:rPr>
              <a:t> 	6CO</a:t>
            </a:r>
            <a:r>
              <a:rPr lang="en-NZ" sz="3200" i="1" baseline="-25000">
                <a:solidFill>
                  <a:srgbClr val="006666"/>
                </a:solidFill>
                <a:sym typeface="Wingdings" pitchFamily="2" charset="2"/>
              </a:rPr>
              <a:t>2</a:t>
            </a:r>
            <a:r>
              <a:rPr lang="en-NZ" sz="3200" i="1">
                <a:solidFill>
                  <a:srgbClr val="006666"/>
                </a:solidFill>
                <a:sym typeface="Wingdings" pitchFamily="2" charset="2"/>
              </a:rPr>
              <a:t> 	+	6H</a:t>
            </a:r>
            <a:r>
              <a:rPr lang="en-NZ" sz="3200" i="1" baseline="-25000">
                <a:solidFill>
                  <a:srgbClr val="006666"/>
                </a:solidFill>
                <a:sym typeface="Wingdings" pitchFamily="2" charset="2"/>
              </a:rPr>
              <a:t>2</a:t>
            </a:r>
            <a:r>
              <a:rPr lang="en-NZ" sz="3200" i="1">
                <a:solidFill>
                  <a:srgbClr val="006666"/>
                </a:solidFill>
                <a:sym typeface="Wingdings" pitchFamily="2" charset="2"/>
              </a:rPr>
              <a:t>O</a:t>
            </a:r>
            <a:endParaRPr lang="en-GB" sz="4000" baseline="-25000">
              <a:solidFill>
                <a:srgbClr val="006666"/>
              </a:solidFill>
            </a:endParaRPr>
          </a:p>
        </p:txBody>
      </p:sp>
      <p:sp>
        <p:nvSpPr>
          <p:cNvPr id="6153" name="Rectangle 9"/>
          <p:cNvSpPr>
            <a:spLocks noChangeArrowheads="1"/>
          </p:cNvSpPr>
          <p:nvPr/>
        </p:nvSpPr>
        <p:spPr bwMode="auto">
          <a:xfrm>
            <a:off x="395288" y="3933825"/>
            <a:ext cx="8605837"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spcBef>
                <a:spcPct val="20000"/>
              </a:spcBef>
              <a:tabLst>
                <a:tab pos="892175" algn="ctr"/>
                <a:tab pos="1970088" algn="ctr"/>
                <a:tab pos="2873375" algn="ctr"/>
                <a:tab pos="3767138" algn="ctr"/>
                <a:tab pos="5475288" algn="ctr"/>
                <a:tab pos="6999288" algn="ctr"/>
                <a:tab pos="7718425" algn="ctr"/>
              </a:tabLst>
            </a:pPr>
            <a:r>
              <a:rPr lang="en-NZ" sz="3200" i="1" dirty="0"/>
              <a:t>	</a:t>
            </a:r>
            <a:r>
              <a:rPr lang="en-NZ" sz="3200" i="1" dirty="0">
                <a:solidFill>
                  <a:srgbClr val="006666"/>
                </a:solidFill>
              </a:rPr>
              <a:t>glucose 	+ 	oxygen 	</a:t>
            </a:r>
            <a:r>
              <a:rPr lang="en-NZ" sz="3200" dirty="0">
                <a:solidFill>
                  <a:srgbClr val="006666"/>
                </a:solidFill>
                <a:sym typeface="Wingdings" pitchFamily="2" charset="2"/>
              </a:rPr>
              <a:t></a:t>
            </a:r>
            <a:r>
              <a:rPr lang="en-NZ" sz="3200" i="1" dirty="0">
                <a:solidFill>
                  <a:srgbClr val="006666"/>
                </a:solidFill>
                <a:sym typeface="Wingdings" pitchFamily="2" charset="2"/>
              </a:rPr>
              <a:t> 	carbon dioxide 	+ 	water</a:t>
            </a:r>
            <a:endParaRPr lang="en-NZ" sz="3200" i="1" dirty="0">
              <a:solidFill>
                <a:srgbClr val="006666"/>
              </a:solidFill>
            </a:endParaRPr>
          </a:p>
        </p:txBody>
      </p:sp>
    </p:spTree>
    <p:extLst>
      <p:ext uri="{BB962C8B-B14F-4D97-AF65-F5344CB8AC3E}">
        <p14:creationId xmlns:p14="http://schemas.microsoft.com/office/powerpoint/2010/main" val="2508865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03" name="Group 35"/>
          <p:cNvGrpSpPr>
            <a:grpSpLocks/>
          </p:cNvGrpSpPr>
          <p:nvPr/>
        </p:nvGrpSpPr>
        <p:grpSpPr bwMode="auto">
          <a:xfrm>
            <a:off x="417513" y="1196975"/>
            <a:ext cx="6315075" cy="4752975"/>
            <a:chOff x="263" y="754"/>
            <a:chExt cx="3978" cy="2994"/>
          </a:xfrm>
        </p:grpSpPr>
        <p:sp>
          <p:nvSpPr>
            <p:cNvPr id="7173" name="AutoShape 5"/>
            <p:cNvSpPr>
              <a:spLocks noChangeArrowheads="1"/>
            </p:cNvSpPr>
            <p:nvPr/>
          </p:nvSpPr>
          <p:spPr bwMode="auto">
            <a:xfrm>
              <a:off x="263" y="754"/>
              <a:ext cx="3978" cy="2994"/>
            </a:xfrm>
            <a:prstGeom prst="roundRect">
              <a:avLst>
                <a:gd name="adj" fmla="val 16667"/>
              </a:avLst>
            </a:pr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83" name="Rectangle 15"/>
            <p:cNvSpPr>
              <a:spLocks noChangeArrowheads="1"/>
            </p:cNvSpPr>
            <p:nvPr/>
          </p:nvSpPr>
          <p:spPr bwMode="auto">
            <a:xfrm>
              <a:off x="989" y="822"/>
              <a:ext cx="2087" cy="181"/>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NZ" sz="2800" b="1" i="1"/>
                <a:t>Organism level</a:t>
              </a:r>
              <a:endParaRPr lang="en-GB" sz="2800" b="1" i="1"/>
            </a:p>
          </p:txBody>
        </p:sp>
      </p:grpSp>
      <p:grpSp>
        <p:nvGrpSpPr>
          <p:cNvPr id="7193" name="Group 25"/>
          <p:cNvGrpSpPr>
            <a:grpSpLocks/>
          </p:cNvGrpSpPr>
          <p:nvPr/>
        </p:nvGrpSpPr>
        <p:grpSpPr bwMode="auto">
          <a:xfrm>
            <a:off x="1006475" y="1773238"/>
            <a:ext cx="3529013" cy="3600450"/>
            <a:chOff x="929" y="1117"/>
            <a:chExt cx="2223" cy="2268"/>
          </a:xfrm>
        </p:grpSpPr>
        <p:sp>
          <p:nvSpPr>
            <p:cNvPr id="7174" name="AutoShape 6"/>
            <p:cNvSpPr>
              <a:spLocks noChangeArrowheads="1"/>
            </p:cNvSpPr>
            <p:nvPr/>
          </p:nvSpPr>
          <p:spPr bwMode="auto">
            <a:xfrm>
              <a:off x="929" y="1117"/>
              <a:ext cx="2223" cy="2268"/>
            </a:xfrm>
            <a:prstGeom prst="roundRect">
              <a:avLst>
                <a:gd name="adj" fmla="val 16667"/>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82" name="Rectangle 14"/>
            <p:cNvSpPr>
              <a:spLocks noChangeArrowheads="1"/>
            </p:cNvSpPr>
            <p:nvPr/>
          </p:nvSpPr>
          <p:spPr bwMode="auto">
            <a:xfrm>
              <a:off x="1247" y="1117"/>
              <a:ext cx="1633" cy="22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NZ" sz="2800" b="1" i="1"/>
                <a:t>Cellular level</a:t>
              </a:r>
              <a:endParaRPr lang="en-GB" sz="2800" b="1" i="1"/>
            </a:p>
          </p:txBody>
        </p:sp>
      </p:grpSp>
      <p:sp>
        <p:nvSpPr>
          <p:cNvPr id="7178" name="AutoShape 10"/>
          <p:cNvSpPr>
            <a:spLocks noChangeArrowheads="1"/>
          </p:cNvSpPr>
          <p:nvPr/>
        </p:nvSpPr>
        <p:spPr bwMode="auto">
          <a:xfrm rot="5400000" flipV="1">
            <a:off x="1799431" y="2996407"/>
            <a:ext cx="1331913" cy="1403350"/>
          </a:xfrm>
          <a:custGeom>
            <a:avLst/>
            <a:gdLst>
              <a:gd name="G0" fmla="+- 15137 0 0"/>
              <a:gd name="G1" fmla="+- 4548 0 0"/>
              <a:gd name="G2" fmla="+- 12158 0 4548"/>
              <a:gd name="G3" fmla="+- G2 0 4548"/>
              <a:gd name="G4" fmla="*/ G3 32768 32059"/>
              <a:gd name="G5" fmla="*/ G4 1 2"/>
              <a:gd name="G6" fmla="+- 21600 0 15137"/>
              <a:gd name="G7" fmla="*/ G6 4548 6079"/>
              <a:gd name="G8" fmla="+- G7 15137 0"/>
              <a:gd name="T0" fmla="*/ 15137 w 21600"/>
              <a:gd name="T1" fmla="*/ 0 h 21600"/>
              <a:gd name="T2" fmla="*/ 15137 w 21600"/>
              <a:gd name="T3" fmla="*/ 12158 h 21600"/>
              <a:gd name="T4" fmla="*/ 1565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37" y="0"/>
                </a:lnTo>
                <a:lnTo>
                  <a:pt x="15137" y="4548"/>
                </a:lnTo>
                <a:lnTo>
                  <a:pt x="12427" y="4548"/>
                </a:lnTo>
                <a:cubicBezTo>
                  <a:pt x="5564" y="4548"/>
                  <a:pt x="0" y="7955"/>
                  <a:pt x="0" y="12158"/>
                </a:cubicBezTo>
                <a:lnTo>
                  <a:pt x="0" y="21600"/>
                </a:lnTo>
                <a:lnTo>
                  <a:pt x="3130" y="21600"/>
                </a:lnTo>
                <a:lnTo>
                  <a:pt x="3130" y="12158"/>
                </a:lnTo>
                <a:cubicBezTo>
                  <a:pt x="3130" y="9646"/>
                  <a:pt x="7292" y="7610"/>
                  <a:pt x="12427" y="7610"/>
                </a:cubicBezTo>
                <a:lnTo>
                  <a:pt x="15137" y="7610"/>
                </a:lnTo>
                <a:lnTo>
                  <a:pt x="15137" y="12158"/>
                </a:lnTo>
                <a:close/>
              </a:path>
            </a:pathLst>
          </a:cu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76" name="AutoShape 8"/>
          <p:cNvSpPr>
            <a:spLocks noChangeArrowheads="1"/>
          </p:cNvSpPr>
          <p:nvPr/>
        </p:nvSpPr>
        <p:spPr bwMode="auto">
          <a:xfrm>
            <a:off x="2951163" y="2781300"/>
            <a:ext cx="720725" cy="1871663"/>
          </a:xfrm>
          <a:prstGeom prst="downArrow">
            <a:avLst>
              <a:gd name="adj1" fmla="val 49778"/>
              <a:gd name="adj2" fmla="val 45614"/>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r>
              <a:rPr lang="en-NZ" b="1"/>
              <a:t>Respiration</a:t>
            </a:r>
            <a:endParaRPr lang="en-GB" b="1"/>
          </a:p>
        </p:txBody>
      </p:sp>
      <p:sp>
        <p:nvSpPr>
          <p:cNvPr id="7180" name="AutoShape 12"/>
          <p:cNvSpPr>
            <a:spLocks noChangeArrowheads="1"/>
          </p:cNvSpPr>
          <p:nvPr/>
        </p:nvSpPr>
        <p:spPr bwMode="auto">
          <a:xfrm>
            <a:off x="1582738" y="4329113"/>
            <a:ext cx="1081087" cy="863600"/>
          </a:xfrm>
          <a:prstGeom prst="irregularSeal2">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NZ" b="1"/>
              <a:t>ATP</a:t>
            </a:r>
            <a:endParaRPr lang="en-GB" b="1"/>
          </a:p>
        </p:txBody>
      </p:sp>
      <p:sp>
        <p:nvSpPr>
          <p:cNvPr id="7175" name="Rectangle 7"/>
          <p:cNvSpPr>
            <a:spLocks noChangeArrowheads="1"/>
          </p:cNvSpPr>
          <p:nvPr/>
        </p:nvSpPr>
        <p:spPr bwMode="auto">
          <a:xfrm>
            <a:off x="1727200" y="2168525"/>
            <a:ext cx="2016125" cy="6477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NZ" b="1"/>
              <a:t>Fuel molecules </a:t>
            </a:r>
          </a:p>
          <a:p>
            <a:r>
              <a:rPr lang="en-NZ" b="1"/>
              <a:t>from food</a:t>
            </a:r>
            <a:endParaRPr lang="en-GB" b="1"/>
          </a:p>
        </p:txBody>
      </p:sp>
      <p:sp>
        <p:nvSpPr>
          <p:cNvPr id="7191" name="AutoShape 23"/>
          <p:cNvSpPr>
            <a:spLocks noChangeArrowheads="1"/>
          </p:cNvSpPr>
          <p:nvPr/>
        </p:nvSpPr>
        <p:spPr bwMode="auto">
          <a:xfrm rot="10800000" flipH="1">
            <a:off x="3492500" y="2960688"/>
            <a:ext cx="1908175" cy="323850"/>
          </a:xfrm>
          <a:prstGeom prst="leftArrow">
            <a:avLst>
              <a:gd name="adj1" fmla="val 39222"/>
              <a:gd name="adj2" fmla="val 7548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89" name="Rectangle 21"/>
          <p:cNvSpPr>
            <a:spLocks noChangeArrowheads="1"/>
          </p:cNvSpPr>
          <p:nvPr/>
        </p:nvSpPr>
        <p:spPr bwMode="auto">
          <a:xfrm>
            <a:off x="7942263" y="4689475"/>
            <a:ext cx="720725" cy="36036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NZ" sz="3600" b="1"/>
              <a:t>CO</a:t>
            </a:r>
            <a:r>
              <a:rPr lang="en-NZ" sz="3600" b="1" baseline="-25000"/>
              <a:t>2</a:t>
            </a:r>
            <a:endParaRPr lang="en-GB" sz="3600" b="1" baseline="-25000"/>
          </a:p>
        </p:txBody>
      </p:sp>
      <p:sp>
        <p:nvSpPr>
          <p:cNvPr id="7198" name="AutoShape 30"/>
          <p:cNvSpPr>
            <a:spLocks noChangeArrowheads="1"/>
          </p:cNvSpPr>
          <p:nvPr/>
        </p:nvSpPr>
        <p:spPr bwMode="auto">
          <a:xfrm rot="10800000" flipH="1">
            <a:off x="5832475" y="2960688"/>
            <a:ext cx="719138" cy="323850"/>
          </a:xfrm>
          <a:prstGeom prst="leftArrow">
            <a:avLst>
              <a:gd name="adj1" fmla="val 39222"/>
              <a:gd name="adj2" fmla="val 81853"/>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99" name="AutoShape 31"/>
          <p:cNvSpPr>
            <a:spLocks noChangeArrowheads="1"/>
          </p:cNvSpPr>
          <p:nvPr/>
        </p:nvSpPr>
        <p:spPr bwMode="auto">
          <a:xfrm rot="10800000" flipH="1">
            <a:off x="7019925" y="2960688"/>
            <a:ext cx="684213" cy="323850"/>
          </a:xfrm>
          <a:prstGeom prst="leftArrow">
            <a:avLst>
              <a:gd name="adj1" fmla="val 39222"/>
              <a:gd name="adj2" fmla="val 77448"/>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90" name="AutoShape 22"/>
          <p:cNvSpPr>
            <a:spLocks noChangeArrowheads="1"/>
          </p:cNvSpPr>
          <p:nvPr/>
        </p:nvSpPr>
        <p:spPr bwMode="auto">
          <a:xfrm>
            <a:off x="6480175" y="1773238"/>
            <a:ext cx="539750" cy="3889375"/>
          </a:xfrm>
          <a:prstGeom prst="roundRect">
            <a:avLst>
              <a:gd name="adj" fmla="val 16667"/>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r>
              <a:rPr lang="en-NZ" sz="2400" b="1" i="1"/>
              <a:t>Gas exchange  surface</a:t>
            </a:r>
            <a:endParaRPr lang="en-GB" sz="2400" b="1" i="1"/>
          </a:p>
        </p:txBody>
      </p:sp>
      <p:sp>
        <p:nvSpPr>
          <p:cNvPr id="7188" name="Rectangle 20"/>
          <p:cNvSpPr>
            <a:spLocks noChangeArrowheads="1"/>
          </p:cNvSpPr>
          <p:nvPr/>
        </p:nvSpPr>
        <p:spPr bwMode="auto">
          <a:xfrm>
            <a:off x="7942263" y="2900948"/>
            <a:ext cx="395288"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NZ" sz="3600" b="1" dirty="0"/>
              <a:t>O</a:t>
            </a:r>
            <a:r>
              <a:rPr lang="en-NZ" sz="3600" b="1" baseline="-25000" dirty="0"/>
              <a:t>2</a:t>
            </a:r>
            <a:endParaRPr lang="en-GB" sz="3600" b="1" baseline="-25000" dirty="0"/>
          </a:p>
        </p:txBody>
      </p:sp>
      <p:sp>
        <p:nvSpPr>
          <p:cNvPr id="7200" name="AutoShape 32"/>
          <p:cNvSpPr>
            <a:spLocks noChangeArrowheads="1"/>
          </p:cNvSpPr>
          <p:nvPr/>
        </p:nvSpPr>
        <p:spPr bwMode="auto">
          <a:xfrm rot="10800000">
            <a:off x="3203575" y="4724400"/>
            <a:ext cx="1908175" cy="323850"/>
          </a:xfrm>
          <a:prstGeom prst="leftArrow">
            <a:avLst>
              <a:gd name="adj1" fmla="val 39222"/>
              <a:gd name="adj2" fmla="val 75480"/>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201" name="AutoShape 33"/>
          <p:cNvSpPr>
            <a:spLocks noChangeArrowheads="1"/>
          </p:cNvSpPr>
          <p:nvPr/>
        </p:nvSpPr>
        <p:spPr bwMode="auto">
          <a:xfrm rot="10800000">
            <a:off x="5651500" y="4724400"/>
            <a:ext cx="827088" cy="323850"/>
          </a:xfrm>
          <a:prstGeom prst="leftArrow">
            <a:avLst>
              <a:gd name="adj1" fmla="val 39222"/>
              <a:gd name="adj2" fmla="val 83818"/>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202" name="AutoShape 34"/>
          <p:cNvSpPr>
            <a:spLocks noChangeArrowheads="1"/>
          </p:cNvSpPr>
          <p:nvPr/>
        </p:nvSpPr>
        <p:spPr bwMode="auto">
          <a:xfrm rot="10800000">
            <a:off x="7019925" y="4725988"/>
            <a:ext cx="684213" cy="323850"/>
          </a:xfrm>
          <a:prstGeom prst="leftArrow">
            <a:avLst>
              <a:gd name="adj1" fmla="val 50000"/>
              <a:gd name="adj2" fmla="val 52819"/>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7179" name="Rectangle 11"/>
          <p:cNvSpPr>
            <a:spLocks noChangeArrowheads="1"/>
          </p:cNvSpPr>
          <p:nvPr/>
        </p:nvSpPr>
        <p:spPr bwMode="auto">
          <a:xfrm>
            <a:off x="2951163" y="4687888"/>
            <a:ext cx="720725" cy="360362"/>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NZ" b="1"/>
              <a:t>CO</a:t>
            </a:r>
            <a:r>
              <a:rPr lang="en-NZ" b="1" baseline="-25000"/>
              <a:t>2</a:t>
            </a:r>
            <a:endParaRPr lang="en-GB" b="1" baseline="-25000"/>
          </a:p>
        </p:txBody>
      </p:sp>
      <p:sp>
        <p:nvSpPr>
          <p:cNvPr id="7181" name="Oval 13"/>
          <p:cNvSpPr>
            <a:spLocks noChangeArrowheads="1"/>
          </p:cNvSpPr>
          <p:nvPr/>
        </p:nvSpPr>
        <p:spPr bwMode="auto">
          <a:xfrm>
            <a:off x="5040313" y="1628775"/>
            <a:ext cx="792162" cy="4032250"/>
          </a:xfrm>
          <a:prstGeom prst="ellipse">
            <a:avLst/>
          </a:prstGeom>
          <a:gradFill rotWithShape="1">
            <a:gsLst>
              <a:gs pos="0">
                <a:srgbClr val="FF9999"/>
              </a:gs>
              <a:gs pos="100000">
                <a:srgbClr val="66CCFF"/>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r>
              <a:rPr lang="en-NZ" sz="2400" b="1" i="1"/>
              <a:t>Circulatory system</a:t>
            </a:r>
            <a:endParaRPr lang="en-GB" sz="2400" b="1" i="1"/>
          </a:p>
        </p:txBody>
      </p:sp>
      <p:sp>
        <p:nvSpPr>
          <p:cNvPr id="2" name="Title 1"/>
          <p:cNvSpPr>
            <a:spLocks noGrp="1"/>
          </p:cNvSpPr>
          <p:nvPr>
            <p:ph type="title"/>
          </p:nvPr>
        </p:nvSpPr>
        <p:spPr>
          <a:xfrm>
            <a:off x="458788" y="116632"/>
            <a:ext cx="8153400" cy="990600"/>
          </a:xfrm>
        </p:spPr>
        <p:txBody>
          <a:bodyPr/>
          <a:lstStyle/>
          <a:p>
            <a:r>
              <a:rPr lang="en-AU" dirty="0">
                <a:solidFill>
                  <a:srgbClr val="0070C0"/>
                </a:solidFill>
              </a:rPr>
              <a:t>Gas Exchange</a:t>
            </a:r>
          </a:p>
        </p:txBody>
      </p:sp>
    </p:spTree>
    <p:extLst>
      <p:ext uri="{BB962C8B-B14F-4D97-AF65-F5344CB8AC3E}">
        <p14:creationId xmlns:p14="http://schemas.microsoft.com/office/powerpoint/2010/main" val="2004772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NZ" dirty="0">
                <a:solidFill>
                  <a:srgbClr val="0070C0"/>
                </a:solidFill>
              </a:rPr>
              <a:t>The Source of Oxygen</a:t>
            </a:r>
            <a:endParaRPr lang="en-GB" dirty="0">
              <a:solidFill>
                <a:srgbClr val="0070C0"/>
              </a:solidFill>
            </a:endParaRPr>
          </a:p>
        </p:txBody>
      </p:sp>
      <p:sp>
        <p:nvSpPr>
          <p:cNvPr id="9219" name="Rectangle 3"/>
          <p:cNvSpPr>
            <a:spLocks noGrp="1" noChangeArrowheads="1"/>
          </p:cNvSpPr>
          <p:nvPr>
            <p:ph type="body" idx="1"/>
          </p:nvPr>
        </p:nvSpPr>
        <p:spPr>
          <a:xfrm>
            <a:off x="3491880" y="1862708"/>
            <a:ext cx="5274168" cy="4495800"/>
          </a:xfrm>
        </p:spPr>
        <p:txBody>
          <a:bodyPr>
            <a:normAutofit/>
          </a:bodyPr>
          <a:lstStyle/>
          <a:p>
            <a:r>
              <a:rPr lang="en-NZ" sz="2400" dirty="0">
                <a:latin typeface="Calibri" panose="020F0502020204030204" pitchFamily="34" charset="0"/>
                <a:cs typeface="Calibri" panose="020F0502020204030204" pitchFamily="34" charset="0"/>
              </a:rPr>
              <a:t>Air is about 21% oxygen (thinner at higher altitudes).</a:t>
            </a:r>
          </a:p>
          <a:p>
            <a:r>
              <a:rPr lang="en-NZ" sz="2400" dirty="0">
                <a:latin typeface="Calibri" panose="020F0502020204030204" pitchFamily="34" charset="0"/>
                <a:cs typeface="Calibri" panose="020F0502020204030204" pitchFamily="34" charset="0"/>
              </a:rPr>
              <a:t>It is easy to ventilate.</a:t>
            </a:r>
          </a:p>
          <a:p>
            <a:r>
              <a:rPr lang="en-NZ" sz="2400" dirty="0">
                <a:latin typeface="Calibri" panose="020F0502020204030204" pitchFamily="34" charset="0"/>
                <a:cs typeface="Calibri" panose="020F0502020204030204" pitchFamily="34" charset="0"/>
              </a:rPr>
              <a:t>The amount of oxygen in water varies but is always much less than air and even lower in warmer water.</a:t>
            </a:r>
          </a:p>
          <a:p>
            <a:r>
              <a:rPr lang="en-NZ" sz="2400" dirty="0">
                <a:latin typeface="Calibri" panose="020F0502020204030204" pitchFamily="34" charset="0"/>
                <a:cs typeface="Calibri" panose="020F0502020204030204" pitchFamily="34" charset="0"/>
              </a:rPr>
              <a:t>It is harder to ventilate oxygen from water.</a:t>
            </a:r>
          </a:p>
          <a:p>
            <a:endParaRPr lang="en-GB" dirty="0"/>
          </a:p>
        </p:txBody>
      </p:sp>
      <p:pic>
        <p:nvPicPr>
          <p:cNvPr id="4098" name="Picture 2" descr="https://encrypted-tbn3.gstatic.com/images?q=tbn:ANd9GcQ6OgPs33-QcGiNC5ttOqlYr-IgStOT_DSsdTXPaiR4gdqkL9m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485" y="3501008"/>
            <a:ext cx="2857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4" descr="data:image/jpeg;base64,/9j/4AAQSkZJRgABAQAAAQABAAD/2wCEAAkGBxQSEhUUExQUFBUVFRUVFxUXFRUUFxQUFBQWFhQUFRUYHCggGBolHBQVITEhJSkrLi4uFx8zODMsNygtLisBCgoKDg0OGhAQGywkHCQsLCwsLCwsLCwsLCwsLCwsLCwsLCwsLCwsLCwsLCwsLCwsLCwsLCwsLCwsLCw3LCwsN//AABEIAKkBKgMBIgACEQEDEQH/xAAbAAACAgMBAAAAAAAAAAAAAAAEBQMGAAECB//EAD0QAAEDAwMCBAQEBAQFBQAAAAEAAhEDBCEFEjFBUQZhcYETIjKRFBWhsULB0fAHM1LhFlNikvEjJENyk//EABkBAAMBAQEAAAAAAAAAAAAAAAECAwAEBf/EACMRAAICAgIDAQEAAwAAAAAAAAABAhEDEiExE0FRFAQiMlL/2gAMAwEAAhEDEQA/AFjmFROplFOcpaOV6pxC4MKmp0iU1/DNjjKaaZYNdyg2HUr9OiU2sNML+sJxT01sp1a2jABgT37JHMZRKZf6e5pgAoajYud0XoTrakOcpTcWwBOzAlBTDqVqppxa2ThLKzFeWaU6rg/rwg9c0H4TRjnqEVNAcSkuC0HI+rbHsh3UCqCURsctlYGQtwsA016JpuUApqSmFjBtIyiKb0JSEIhvKA6C6Y7I63YUDRTG0KVsZDG2YU3t7JxEwhtP6YT+jXAwFCcmuh0hJqNvULCGgSeueFX31X0Hbag9xwV6JsBCU6ppTKn1CY49UIZfTC4lWOoUiJJXVWtTIwR91VvFo+BUIaWgGcdieoWvCzd8h8kdJ5XVotdiW3NFia+PNGWt0QcLtmkU2t3CZ9SUE5zQp8Mcfmpubk5S64rloy4Hpyqvr16WsO1x9QeFWvz+ps2uyZ5PbsqQwNqxJZEi167e7xh8EKp6sasQc+bTIS6reOM5lQi6fxuK6oY9SEslkTkXa1w04wP7whHFalVaJJ0d3DwXEjuuGhYGyjNOtmucRUcWgDoJkrXRuwdtSFreU0u9MpgTTeSex5Qg0539goKSM4seBqnt+Ujs9TBwSmNC9B4XJKLR0Jod0nIijVjhKG3Cxt35paKWP23nmp26n5qvCuuxXS6hsf8A48nqUbaDcRJVZp10ys76OqVxDZe9NojuiLuk1zS09VVbbVyF1V1clQcHdjpojv8AR2iYCRXVqwdE/Gok8oC6DT6qsW/YrEH4cdljrcJm2xLsArsaO+eJCpshKEhp+SxtFN7nTyOAl1Wk4dFrA0R7YUjFFscpGImC6aPtnJa16mZVhK0Mh/RvIRtDUFWGVkTSqFI4jWXW21OUcHhwVMt3lT3GpOpieQpPH8GUgPxbo9B26oKc1O8yfYHhVexuHMcGlpBHcZhHan4rk/5ZI7+fZL7PXW1ny75SMZ4IXXCMlHklJxsbV7+pBIc4Y81W73WHgwcOV0oCm5uIIVY8SafTcNzQNx7HgBHHV00CadcFbutReZBOf0S4uXTaTi7aAXHsASfsFqrSLTDgWkdCIP2K7EkuDkbb7OVixYmMcrFuFtrT6rGMaUdbXIbzk+YlBBpJgLp9Mt5EIOmYfUrpjgCG/OcAd/RMBpt0f/iH3Cj8J2oDS8t+acE5geXZWkXB7lcs506R0wVq2ePozTrjacnCDWK7VkR3W1GRDT7qKheQeZlKgttKGobZaadwCpRVVZo3BHBR1HUO6m8YykO2VVMyvCV0rtp6oynUCm4jqQzpXZHVSi8KAp1Qu94SUPY0p3SOpPBSBtQKVtchK4hstFue0IunWhVSndEd0TSvSlcQ2Wg7XcwuqljTfA+8JDSvSjaV2UrTCGVfDTHfS6P2Sa98O1GnAkd00ZqR7oyhqfdC5INJlXttCqPMcR1UVxY7HFp5CvDa7YwIVa8Sab8QF4J3RCaM7fIGvhVb7UxSdtOSpbDXg8/L+qqmsU3tqubU+ofsoaF2WAgdV2rEmjm8rTPSaWukw0NBJMY/n2Ul5dua0yB6Kgafelsuk+fKOPiEnByPNSeHngosqoj1TUXTAiD26e4UFPSnuZva6cZEZHstvuvjO+RmB/DwpKl5VpN+ZsA4B/kVblKkSbTdsno6w9jNpxGB5oBjK9Vwc0O+aSDwI4JkqOxo/EfL528+p7K2sryGgAANAAA4AQk1HpBjcux94H0mnRAO0GqfqeRkkxIHYKb/ABB8L/ig11NobWbyTgOZGQY6zCzRLsM5Vi/NC4dFwylJT2R0KMXGjyuz/wAPqzzBeGDMmCfSAobbwFcO3yWs2mG7v4x3xx3XrdJvUGT1QtwTMKq/pmL4YlFof4cAgbquYzA6+/RdjwV8A7m1A7GWuAz7q6NdHJUh2kQRKXzT+jeOHw8s19jWBlNjGh+T8vJ+yFfpFQt3ua7gbcT916Vd6YxzpDWbh1jK3UaWj6A6O6os1KkI8VuylaVWNOQ6YaJJhHfndL/WPsnNe9LAJp04Mz/4QnxqP/Lb9m/0Qu+aGqjyNYtwshdxymLFkLZWMYFtaC2gY2CiKd44dUMtrUCxrb6pj5lK7UweOUlWwl0QdmNqeqkGCE1tL8HkqqhdBxQcEwqbReWOlSNfBVNpak9vBRDdZf157qbxMdZEXWnUUrLwTCr2n6012DhGuuWD5pCk4Mop2PGVExtqg6qsW+p045TG21CmeqRwaHTRaWVwRiJQle8jDoStt01uZQOp6rTgyehSKFsNlc8W0WuqF7dxJ6dFW/h/onV5qwn5c+qXUmuquxhehC0uTknTfARZN2D5jhxz5BdarRpBoNPqUX+FLGkSDjrlJapk91ly7BLhUMvDlsX1WzIbPpMcBXLVraiKRa+BIJE+XZVjw9V+GZdGBiehPKa6lqjXDaYP6x6KOS3MrClETUI2tjpwj7Z6Bd6comkSEWZFjsMp5QoGJ3Kr2dYhNhcmIXPJclYjcXGw/Uoq+pAnCUOuhOUXY1WE/MEtDWMLVjnZRNR+3kQFNQvGAYgIDVLhzuAk7YTH3jZ5Xf44Ryq7UpOlbYO7k+qBY6qfDcZgT3Uf4ZnYfolTrhrMnMLj87Z/pP6ptX6BaPLAp20gWkjkKwaFosHdUGQcAq10bWlkMpsHfAyV1TypHPHG2eaVLY7dw9x2ULWr0u70VlQH5WgnrwPWFWrzwoWcVMeYWjlTNLG0VgrSmq0dpI5jssdbuGYKqTIVi62rIRAaC2uoWQtRrNBbWALcIgMWLFixja7dVJxJXAW1qMbDyu2V3Dgn7qNbhajBJvqh/jd91G+q48klY2mtOahSNbI4T60+E2lgw7kn+iRQiqQcWkDqhJWGLphN5fbhAHvKBc0thTiWj6UMXFaKXo0n9GVvVLWkwCT+iy3uAX/MPZA/FxyZWm1IW1DuWV9yHRA4XIcexSejcR1TO2vB7qUo0VUkwmnqBaR8uEdU8RtDY25QFZoKXXTowlUE+xm2hqL5zxu2GEVRvYiTHqqo+7cBAcY7ShzVPcpvCmJ5aPQqes028vH3UlfxRTaOfYdV5vvPdbLpW/PEHnfwteoeJi4HYYPSeiUC/qSHOefRLaNJz3BrRLiYA7qx6T4fbP8A7je0gkbRGR0MpnGEEZSlMkpagBl0uBRYqHpSq/8A5u/onlgy2pfRTAxzAJ+5R/5o3sfuuZz+Iuk/bKdQrlboa1BLXNyOCOIQFm8kkRHmmTLJsZyUWkuwK30GW+pBwEmF3VYHjJHokj6Wz6ciOP2W9Hu6jy5pAAahr7Qb9MO/K6ZEFjT7QoqumSwtAyeCU1tqeEw2Agd0m7QdUea6hoFamC4tkcktkwlQXrlamdpBEgqsv8Hio9zg8saTIG3GeYK6IZ/+iM8PwpMLcL0ul4Xt4a1w3REnifVHX3hq1eGYa3aIHHHoj+mJvAzzPTtMdV4LR6lavtPdSdtOfMAr0o+Hrbc1wABAjB2g+oCNbp9M4eAUn6ORvBwePELS9NuvBlEEuyWk/wDaqrrehttTk7mvJ2kCSAOFWOaMuCUsTRXFi6eBOFoBWJmBSU3wuFsLAs7+ItPfK1CyFjWYpbeqWkfsuA1Gafp7qjgACGyAXRx3QdVyGKd8GXV0X9IHaFG6wq7d/wAKpt/1bHbfvCuv5LbAt2Co8tj6j8uPKMq76Xds2gOj0j9IXNL+jVf4o6Fhcu2eFQmmlaR8ZjnF4aAYGJk/yXrF9Qti0s+BTeCSY2gAE9UsoabTG6GtYDkNAAah+m11Rlgpnl1zaFj9piVPRtXhu8sqbe4Y6P8AuiFbLbw81tRz3HfmYI49+qt2m3jW09scd+COwRlnpccmWE8noXcYM/0XN1UDl6HrllRunNLqQaWiN7cEjz7qu3PhVjd22oSeWy2B6HKMc0X3wCWOXQp02zGxxc0k8AR34jzRemeFXPI+KSwHpHzR74R2nWVSkZcQRjiYnui7vWHEgCYB/VZzd/4hUI0rHlv4AtMEsqOgcCq4T547pNrPg2gypLPisZj5TBI7w7mE1svE7msiDP8AqnooamuOqSCA4eYXOpZE+WUcYV0QU9Lo2+19Klt3cOc4vPtPHsuKzjUdiPNWSwrMr0TTdEgY/fH2VWrU9j3DsjGTffYXFLoZWekioMVBPYZWO0OtP0/oiNCrEfSB5lWsVSklOSYyimea3Hhi6otJEVIOA3kt9+qgtN/Ba5p6h3RXRtsSTL4aP+r90lunsLyGZAPM4J7orI32DVIBLBjIW4aMNgZn1800q3bQyS1pxHQEKvVrrc6QIHZFcmGVvULesoh90RlAW7CeoU9cAYmUH2Y6dfkomnVMZS1rc44RrKhIgIMJMLke6gdWgrPwTz9IkoKvYVpy2PdZJGYW68BRdo8v4gJAxhByU3tCRkLNAQ3qNIEApFrVp8QAOBdBJgJxbQ7kphTs2gyMpVLVjNWjxW7ptDjtmPPkeShhXj/ELSg3bVaI6GBz5qkwvSxz2jZwZI6yo5hbW4WQnENLFsBZCxgm1qNbkiVYbe93NlogE8wqsjLW+e1paOD+inkhZSE6LbSv9nMGeEfp2qh5OFSqN08CCNwHHcJ9YaoHAEjb+65546R0RnZb31RIjqi69MbcEKtOrgkODgPdT/mQAy4ErncSth1vQJJE891j6ezoc8pQ/VjOFjdTLj8xRpmtBbznC4fTMTIC6bUBEyEBfXHZZK2Cwht7tBlKb17SZAA9FE5xzKDe8BVUaEciUV4XbLyEvfVUZqp6Fsefj4GHR6KKpqJOUmNZa+KVtUbYsllq+zjBR/8AxM5Uv4qz4pQ0Rt2Wa+uXnG4/cpb8Rw6lT16koYpB2yUXLo5KxtdbpNBERlbfTaOqwDf4gqVlQlCSpqVUjyWoKYwotce6hNyQcEEf3yi7K+plu1+HHG7geShFqNxkEjoUoxlLUKgOJU9S/eRkErqnTbEIK61VjCGj5j1joslfSBdHDq/Zp+ykbfOA4KX3etP3cDbHv91x+eEj5mY7hU8cvgm6+llsLtWCjWkBef22ot6GEa/xDsbgz7qcsUr4HU0WjXrRlxTLHGPPsVS7zwwynSLt5LgCfI9sLuv4kDuhlLLvVy8R0VMcMkRJygxMQsU1WDwo12nIzmFi6ARDLJxEiPSRP2WsyTYMug89FLUtiHbfqPYZ/ZRQsboJt6w6oum+eEqAU9OrCSUbHjIafHjqtMuJ6/qhdoIkoNwhIsaY7nQ6bWXbbhIg8rsVig8IFlLBSv4XNW8JShldd71N46Kb2Hm4UNWohpXJ9VtQNnT4UZMLXuthoPUJqBZxKwKZrB3RNFtKcuW5CBtau9nkmlM0Z5RHxqPkl5+Bo00g8rNgUP4g9ljKimUJ6dH2C6qWre603KJpWs/xJWEGZaNnkoynYs9UTRt2hSUqLROUGw0A3Fi0CeP2XVnUj+L5R5pm6za8ZErkgRt2N9gB7oWahVX1Zg648v7yl1fVKJ5YXHqYAwrjpdVrX/O0FrhtIgR67eFBX0Wxc9x+Hz2cWgegBhNGcV2mK4yfTKrbeHa1w5rmN203Cd5naMmPMrV14PumGNm4dHNIg/dem2jqZaAzAGAJ7BS0bobgDBngLfpkujeCLPHL/Sa1EA1KbmgmJMQSgV79faex9OCxp6weP1VX1vwzQrgAMbRqdXtb+rmiJlUx/wBif+yEl/P8PKCtQvRtG8E0A6KrnVMjiWCB+6aaj/hvbuE0nupYxHzAecHJ+6o/68adCfnlR5LC1Ct2s+Ba1EF1NzawEkwNjgB1AJMqv3Gm1GU21HNhrjAzk+ytHLGXTJSxyXaAmhMrDT6jyAHNaOZJ+wS6FJTqkcE/dGSbXAItLs9Z0u0YGsPyBzQAXBu0uPfCg1Pw7bVgZZtcSXbmgB09TPX3VR0HXX4a447yrva6uxzRnPsvOnGcGd0XGSKfqXg1raRdSc9zwfpIGW9oHVJx4arloIYTJIgciO69C1Cu5o3AE9cIGhdQ4FzgQcxBBBPMp455pCPDGxXY+HbZzIeagcMEkxJ9FHdeCmBpc2oSNpIB/wBXSfJNtUvWMeDjgkj+anttZpxBgg+ffoh5Mi5TG0h1R5eWxyIPZZCunirQ2u/9ajncQCO0CFU69sWfUOv7LthlUkck8biyALe4rC1HadpT62Rgd07aStipNvgDFTumtCzpGk50knHE8+nVM6GmUmYME9Z65Tu201rx8ga0DHquaeZejojifsodd42BsyQ4x5AoWF6TU0+mHbXNpkEcEY/ql1fQLUzkt/8AqSjH+iIJYH6KOsV3p6TajApl/mSSu7nRbfBFOD2ko/oiL4H9KKsVn13R4YHMpwQckYkeiWNsD/yz91SORSViPG0yZ9wSuWkqcW3WVy5sLksud03lFMe7plAsciqDj3+yDGQU1zyp6bHHqhqd0Bzld1bsQYwlGsYUw8Dp91B+Jz8yUCuc5P3UZuO6Opth/UvARDUK6q4cpRTvS0g9kZcakavktrQNkHUdQc3qfJH2eogQSTKr1OoVM24A7IONhTLgzWHvhoPrnojKNRsyTx5qn22qMptJ6niEBU1d56lT8Yd6LlU1VjCdsz3lS/8AEkiBycBefPuXHlS0bjKbxo256BRvy5paIJPvnyVR8bNc2m1jujp45nzTLQbwAhMdesqNdoFQkjEEGNp9OqEHpNM0ltFnlJC1CteteHadMD4b/wCe5IKFkXGOB37L0Y5YyVnHLHJA9F+0yMJjQunlwcJA68x91Y/D9BtJsHY53zEnbJHuU6pV/iQ0NBEdRiFz5MyvovDG67EX5sSIlL7nUT/umo0xjqji4cxDWYDf0TO3s/hNjbjnOSo7RRSmyk3hNUyX54A6+QUosnMG7ccRIRPi6s01mlo+YNE8CR6IG2aajpJ2tI55mOnK6FzGyXClQ0qUrgt2tY+O4cPuhrjw9cFpcS10Z5/ZPrS83QB8pGJ/2TGnQqBrpPocdfVR8rj0ijgn2easpACXfaVYNI1ENBAiFxX8NOMkPbJMwcAz5pTdWTqZIdhwPHIjuui45FVkUpQ9DlzmTyPWUdY1/h8PkdkF4Yo0nn52Bzp68fZOL3w80yaQ2Fw84n0XPPVPVlo21YDXuy92TjvK1TqsnqUgrWtRlQ0zIdPnmeD6JkGOY7a4gEc5lO4JLhiqbYw3wcAhHUK5mTB9Sk9Nkn6pUo3tPE/sptD2ObiuHDaeqD/Dt/uVGNRxDqfuBlRfmP8A0lKk/QbEFGuZRBO7qgKXKJpKjIo6Nm7o4LYsnxhyJZwpWobMagIWFXsfXEY5WOsqjRuIIHEyD+xTZnT3UT+D6FDfk2ovZPGP2UdVh8vup7f6z6fyR+qf5bPQ/wAky7B6EO3zC7Yx3T9lGU80z/KHuqSVIVO2LmBw5Meqx7Byf3RFXqha3VIkMzqlSDuBPuj6Vu3q2EDp/CZW6WXDoMeUdMtRyBC7FIDpPoeq6HBXI5SWPR3SY/pDf1/mpnMeBl8+gULEfQQCCVaVNwG8uxwgb2zDQHMMN7ecppd8KC4/yff+aKYGDWNMDlwTIXzGthpj3SAqMotWwWPaV82mZDiZ6p9a6qyo0B0eqpNLhMLVCUUFSZY7+pRLC11Om5uYJbLp7zyqg/TCOD8vfgAJy3lvsn9H/LPogm48BfJTKduW5B9/7KNo6o76S6R2JUNx1VbP1FUjHbsRuh9cay0EjaZ6EHCQXVc1HS4yeFu55UK6scEuSE5t8BNndFjgRjortp3iNm0AkTEZwqC1bKXJhjIMMjiWfV70PduD29pHP3SKo/P1ShSsatHEkaWRh1tc7SCnVPXg0DO7yjhVlbQliiwLK0PaniKf4P1/2UH515H7j+iTlaTeGJvLI//Z"/>
          <p:cNvSpPr>
            <a:spLocks noChangeAspect="1" noChangeArrowheads="1"/>
          </p:cNvSpPr>
          <p:nvPr/>
        </p:nvSpPr>
        <p:spPr bwMode="auto">
          <a:xfrm>
            <a:off x="155575" y="-1089025"/>
            <a:ext cx="4000500" cy="22764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4102" name="Picture 6" descr="http://www.nj.gov/dep/aqpp/images/Blu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628801"/>
            <a:ext cx="2910449" cy="1656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6350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95536" y="188640"/>
            <a:ext cx="6119592" cy="990600"/>
          </a:xfrm>
        </p:spPr>
        <p:txBody>
          <a:bodyPr/>
          <a:lstStyle/>
          <a:p>
            <a:r>
              <a:rPr lang="en-NZ" dirty="0">
                <a:solidFill>
                  <a:srgbClr val="0070C0"/>
                </a:solidFill>
              </a:rPr>
              <a:t>Gas Exchange Surfaces</a:t>
            </a:r>
            <a:endParaRPr lang="en-GB" dirty="0">
              <a:solidFill>
                <a:srgbClr val="0070C0"/>
              </a:solidFill>
            </a:endParaRPr>
          </a:p>
        </p:txBody>
      </p:sp>
      <p:sp>
        <p:nvSpPr>
          <p:cNvPr id="10243" name="Rectangle 3"/>
          <p:cNvSpPr>
            <a:spLocks noGrp="1" noChangeArrowheads="1"/>
          </p:cNvSpPr>
          <p:nvPr>
            <p:ph type="body" idx="1"/>
          </p:nvPr>
        </p:nvSpPr>
        <p:spPr>
          <a:xfrm>
            <a:off x="214381" y="1844824"/>
            <a:ext cx="8715238" cy="4392488"/>
          </a:xfrm>
        </p:spPr>
        <p:txBody>
          <a:bodyPr>
            <a:normAutofit/>
          </a:bodyPr>
          <a:lstStyle/>
          <a:p>
            <a:r>
              <a:rPr lang="en-NZ" sz="2500" dirty="0">
                <a:latin typeface="Calibri" panose="020F0502020204030204" pitchFamily="34" charset="0"/>
                <a:cs typeface="Calibri" panose="020F0502020204030204" pitchFamily="34" charset="0"/>
              </a:rPr>
              <a:t>Gases move by diffusion.</a:t>
            </a:r>
          </a:p>
          <a:p>
            <a:r>
              <a:rPr lang="en-NZ" sz="2500" dirty="0">
                <a:latin typeface="Calibri" panose="020F0502020204030204" pitchFamily="34" charset="0"/>
                <a:cs typeface="Calibri" panose="020F0502020204030204" pitchFamily="34" charset="0"/>
              </a:rPr>
              <a:t>Diffusion is greater when:</a:t>
            </a:r>
          </a:p>
          <a:p>
            <a:pPr lvl="1"/>
            <a:r>
              <a:rPr lang="en-NZ" sz="2300" dirty="0">
                <a:latin typeface="Calibri" panose="020F0502020204030204" pitchFamily="34" charset="0"/>
                <a:cs typeface="Calibri" panose="020F0502020204030204" pitchFamily="34" charset="0"/>
              </a:rPr>
              <a:t>the </a:t>
            </a:r>
            <a:r>
              <a:rPr lang="en-NZ" sz="2300" b="1" dirty="0">
                <a:latin typeface="Calibri" panose="020F0502020204030204" pitchFamily="34" charset="0"/>
                <a:cs typeface="Calibri" panose="020F0502020204030204" pitchFamily="34" charset="0"/>
              </a:rPr>
              <a:t>surface area is large</a:t>
            </a:r>
          </a:p>
          <a:p>
            <a:pPr lvl="1"/>
            <a:r>
              <a:rPr lang="en-NZ" sz="2300" dirty="0">
                <a:latin typeface="Calibri" panose="020F0502020204030204" pitchFamily="34" charset="0"/>
                <a:cs typeface="Calibri" panose="020F0502020204030204" pitchFamily="34" charset="0"/>
              </a:rPr>
              <a:t>the </a:t>
            </a:r>
            <a:r>
              <a:rPr lang="en-NZ" sz="2300" b="1" dirty="0">
                <a:latin typeface="Calibri" panose="020F0502020204030204" pitchFamily="34" charset="0"/>
                <a:cs typeface="Calibri" panose="020F0502020204030204" pitchFamily="34" charset="0"/>
              </a:rPr>
              <a:t>distance travelled is small</a:t>
            </a:r>
          </a:p>
          <a:p>
            <a:pPr lvl="1"/>
            <a:r>
              <a:rPr lang="en-NZ" sz="2300" dirty="0">
                <a:latin typeface="Calibri" panose="020F0502020204030204" pitchFamily="34" charset="0"/>
                <a:cs typeface="Calibri" panose="020F0502020204030204" pitchFamily="34" charset="0"/>
              </a:rPr>
              <a:t>the </a:t>
            </a:r>
            <a:r>
              <a:rPr lang="en-NZ" sz="2300" b="1" dirty="0">
                <a:latin typeface="Calibri" panose="020F0502020204030204" pitchFamily="34" charset="0"/>
                <a:cs typeface="Calibri" panose="020F0502020204030204" pitchFamily="34" charset="0"/>
              </a:rPr>
              <a:t>concentration gradient is high</a:t>
            </a:r>
          </a:p>
          <a:p>
            <a:endParaRPr lang="en-NZ" sz="2500" dirty="0">
              <a:latin typeface="Calibri" panose="020F0502020204030204" pitchFamily="34" charset="0"/>
              <a:cs typeface="Calibri" panose="020F0502020204030204" pitchFamily="34" charset="0"/>
            </a:endParaRPr>
          </a:p>
          <a:p>
            <a:r>
              <a:rPr lang="en-NZ" sz="2500" dirty="0">
                <a:latin typeface="Calibri" panose="020F0502020204030204" pitchFamily="34" charset="0"/>
                <a:cs typeface="Calibri" panose="020F0502020204030204" pitchFamily="34" charset="0"/>
              </a:rPr>
              <a:t>Gas exchange must be a </a:t>
            </a:r>
            <a:r>
              <a:rPr lang="en-NZ" sz="2500" b="1" dirty="0">
                <a:latin typeface="Calibri" panose="020F0502020204030204" pitchFamily="34" charset="0"/>
                <a:cs typeface="Calibri" panose="020F0502020204030204" pitchFamily="34" charset="0"/>
              </a:rPr>
              <a:t>moist surface</a:t>
            </a:r>
          </a:p>
          <a:p>
            <a:r>
              <a:rPr lang="en-NZ" sz="2500" dirty="0">
                <a:latin typeface="Calibri" panose="020F0502020204030204" pitchFamily="34" charset="0"/>
                <a:cs typeface="Calibri" panose="020F0502020204030204" pitchFamily="34" charset="0"/>
              </a:rPr>
              <a:t>O</a:t>
            </a:r>
            <a:r>
              <a:rPr lang="en-NZ" sz="2500" baseline="-25000" dirty="0">
                <a:latin typeface="Calibri" panose="020F0502020204030204" pitchFamily="34" charset="0"/>
                <a:cs typeface="Calibri" panose="020F0502020204030204" pitchFamily="34" charset="0"/>
              </a:rPr>
              <a:t>2</a:t>
            </a:r>
            <a:r>
              <a:rPr lang="en-NZ" sz="2500" dirty="0">
                <a:latin typeface="Calibri" panose="020F0502020204030204" pitchFamily="34" charset="0"/>
                <a:cs typeface="Calibri" panose="020F0502020204030204" pitchFamily="34" charset="0"/>
              </a:rPr>
              <a:t> and CO</a:t>
            </a:r>
            <a:r>
              <a:rPr lang="en-NZ" sz="2500" baseline="-25000" dirty="0">
                <a:latin typeface="Calibri" panose="020F0502020204030204" pitchFamily="34" charset="0"/>
                <a:cs typeface="Calibri" panose="020F0502020204030204" pitchFamily="34" charset="0"/>
              </a:rPr>
              <a:t>2</a:t>
            </a:r>
            <a:r>
              <a:rPr lang="en-NZ" sz="2500" dirty="0">
                <a:latin typeface="Calibri" panose="020F0502020204030204" pitchFamily="34" charset="0"/>
                <a:cs typeface="Calibri" panose="020F0502020204030204" pitchFamily="34" charset="0"/>
              </a:rPr>
              <a:t> must be dissolved in water to diffuse across a membrane</a:t>
            </a:r>
            <a:r>
              <a:rPr lang="en-GB" sz="2500" dirty="0">
                <a:latin typeface="Calibri" panose="020F0502020204030204" pitchFamily="34" charset="0"/>
                <a:cs typeface="Calibri" panose="020F0502020204030204" pitchFamily="34" charset="0"/>
              </a:rPr>
              <a:t>.</a:t>
            </a:r>
          </a:p>
        </p:txBody>
      </p:sp>
      <p:sp>
        <p:nvSpPr>
          <p:cNvPr id="10244" name="Rectangle 4"/>
          <p:cNvSpPr>
            <a:spLocks noChangeArrowheads="1"/>
          </p:cNvSpPr>
          <p:nvPr/>
        </p:nvSpPr>
        <p:spPr bwMode="auto">
          <a:xfrm>
            <a:off x="468313" y="2744788"/>
            <a:ext cx="8229600" cy="313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a:spcBef>
                <a:spcPct val="20000"/>
              </a:spcBef>
              <a:buFontTx/>
              <a:buChar char="•"/>
            </a:pPr>
            <a:endParaRPr lang="en-NZ" sz="4000"/>
          </a:p>
          <a:p>
            <a:pPr marL="342900" indent="-342900" algn="l">
              <a:spcBef>
                <a:spcPct val="20000"/>
              </a:spcBef>
            </a:pPr>
            <a:endParaRPr lang="en-GB" sz="4000"/>
          </a:p>
        </p:txBody>
      </p:sp>
      <p:pic>
        <p:nvPicPr>
          <p:cNvPr id="6146" name="Picture 2" descr="http://www.biologymad.com/GasExchange/GasExc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1239797"/>
            <a:ext cx="4327015" cy="2272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7671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NZ" dirty="0">
                <a:solidFill>
                  <a:srgbClr val="0070C0"/>
                </a:solidFill>
              </a:rPr>
              <a:t>Gas Exchange Surfaces</a:t>
            </a:r>
            <a:endParaRPr lang="en-GB" dirty="0">
              <a:solidFill>
                <a:srgbClr val="0070C0"/>
              </a:solidFill>
            </a:endParaRPr>
          </a:p>
        </p:txBody>
      </p:sp>
      <p:sp>
        <p:nvSpPr>
          <p:cNvPr id="11267" name="Rectangle 3"/>
          <p:cNvSpPr>
            <a:spLocks noGrp="1" noChangeArrowheads="1"/>
          </p:cNvSpPr>
          <p:nvPr>
            <p:ph type="body" idx="1"/>
          </p:nvPr>
        </p:nvSpPr>
        <p:spPr>
          <a:xfrm>
            <a:off x="612648" y="1600200"/>
            <a:ext cx="8153400" cy="4853136"/>
          </a:xfrm>
        </p:spPr>
        <p:txBody>
          <a:bodyPr>
            <a:normAutofit fontScale="92500" lnSpcReduction="10000"/>
          </a:bodyPr>
          <a:lstStyle/>
          <a:p>
            <a:r>
              <a:rPr lang="en-NZ" sz="2700" dirty="0">
                <a:latin typeface="Calibri" panose="020F0502020204030204" pitchFamily="34" charset="0"/>
                <a:cs typeface="Calibri" panose="020F0502020204030204" pitchFamily="34" charset="0"/>
              </a:rPr>
              <a:t>Therefore, an </a:t>
            </a:r>
            <a:r>
              <a:rPr lang="en-NZ" sz="2700" u="sng" dirty="0">
                <a:latin typeface="Calibri" panose="020F0502020204030204" pitchFamily="34" charset="0"/>
                <a:cs typeface="Calibri" panose="020F0502020204030204" pitchFamily="34" charset="0"/>
              </a:rPr>
              <a:t>efficient</a:t>
            </a:r>
            <a:r>
              <a:rPr lang="en-NZ" sz="2700" dirty="0">
                <a:latin typeface="Calibri" panose="020F0502020204030204" pitchFamily="34" charset="0"/>
                <a:cs typeface="Calibri" panose="020F0502020204030204" pitchFamily="34" charset="0"/>
              </a:rPr>
              <a:t> gas exchange surface will</a:t>
            </a:r>
          </a:p>
          <a:p>
            <a:pPr lvl="1"/>
            <a:r>
              <a:rPr lang="en-NZ" sz="2500" dirty="0">
                <a:latin typeface="Calibri" panose="020F0502020204030204" pitchFamily="34" charset="0"/>
                <a:cs typeface="Calibri" panose="020F0502020204030204" pitchFamily="34" charset="0"/>
              </a:rPr>
              <a:t>have a </a:t>
            </a:r>
            <a:r>
              <a:rPr lang="en-NZ" sz="2500" b="1" dirty="0">
                <a:latin typeface="Calibri" panose="020F0502020204030204" pitchFamily="34" charset="0"/>
                <a:cs typeface="Calibri" panose="020F0502020204030204" pitchFamily="34" charset="0"/>
              </a:rPr>
              <a:t>large surface area</a:t>
            </a:r>
          </a:p>
          <a:p>
            <a:pPr lvl="1"/>
            <a:r>
              <a:rPr lang="en-NZ" sz="2500" dirty="0">
                <a:latin typeface="Calibri" panose="020F0502020204030204" pitchFamily="34" charset="0"/>
                <a:cs typeface="Calibri" panose="020F0502020204030204" pitchFamily="34" charset="0"/>
              </a:rPr>
              <a:t>provide a </a:t>
            </a:r>
            <a:r>
              <a:rPr lang="en-NZ" sz="2500" b="1" dirty="0">
                <a:latin typeface="Calibri" panose="020F0502020204030204" pitchFamily="34" charset="0"/>
                <a:cs typeface="Calibri" panose="020F0502020204030204" pitchFamily="34" charset="0"/>
              </a:rPr>
              <a:t>small distance for gases to diffuse across</a:t>
            </a:r>
          </a:p>
          <a:p>
            <a:pPr lvl="1"/>
            <a:r>
              <a:rPr lang="en-NZ" sz="2500" dirty="0">
                <a:latin typeface="Calibri" panose="020F0502020204030204" pitchFamily="34" charset="0"/>
                <a:cs typeface="Calibri" panose="020F0502020204030204" pitchFamily="34" charset="0"/>
              </a:rPr>
              <a:t>be </a:t>
            </a:r>
            <a:r>
              <a:rPr lang="en-NZ" sz="2500" b="1" dirty="0">
                <a:latin typeface="Calibri" panose="020F0502020204030204" pitchFamily="34" charset="0"/>
                <a:cs typeface="Calibri" panose="020F0502020204030204" pitchFamily="34" charset="0"/>
              </a:rPr>
              <a:t>moist</a:t>
            </a:r>
          </a:p>
          <a:p>
            <a:pPr lvl="1"/>
            <a:r>
              <a:rPr lang="en-NZ" sz="2500" dirty="0">
                <a:latin typeface="Calibri" panose="020F0502020204030204" pitchFamily="34" charset="0"/>
                <a:cs typeface="Calibri" panose="020F0502020204030204" pitchFamily="34" charset="0"/>
              </a:rPr>
              <a:t>be organised or operate in a way that maintains a steep </a:t>
            </a:r>
            <a:r>
              <a:rPr lang="en-NZ" sz="2500" b="1" dirty="0">
                <a:latin typeface="Calibri" panose="020F0502020204030204" pitchFamily="34" charset="0"/>
                <a:cs typeface="Calibri" panose="020F0502020204030204" pitchFamily="34" charset="0"/>
              </a:rPr>
              <a:t>concentration gradient </a:t>
            </a:r>
            <a:r>
              <a:rPr lang="en-NZ" sz="2500" dirty="0">
                <a:latin typeface="Calibri" panose="020F0502020204030204" pitchFamily="34" charset="0"/>
                <a:cs typeface="Calibri" panose="020F0502020204030204" pitchFamily="34" charset="0"/>
              </a:rPr>
              <a:t>(high to low) for the diffusion of both O</a:t>
            </a:r>
            <a:r>
              <a:rPr lang="en-NZ" sz="2500" baseline="-25000" dirty="0">
                <a:latin typeface="Calibri" panose="020F0502020204030204" pitchFamily="34" charset="0"/>
                <a:cs typeface="Calibri" panose="020F0502020204030204" pitchFamily="34" charset="0"/>
              </a:rPr>
              <a:t>2</a:t>
            </a:r>
            <a:r>
              <a:rPr lang="en-NZ" sz="2500" dirty="0">
                <a:latin typeface="Calibri" panose="020F0502020204030204" pitchFamily="34" charset="0"/>
                <a:cs typeface="Calibri" panose="020F0502020204030204" pitchFamily="34" charset="0"/>
              </a:rPr>
              <a:t> and CO</a:t>
            </a:r>
            <a:r>
              <a:rPr lang="en-NZ" sz="2500" baseline="-25000" dirty="0">
                <a:latin typeface="Calibri" panose="020F0502020204030204" pitchFamily="34" charset="0"/>
                <a:cs typeface="Calibri" panose="020F0502020204030204" pitchFamily="34" charset="0"/>
              </a:rPr>
              <a:t>2</a:t>
            </a:r>
            <a:r>
              <a:rPr lang="en-NZ" sz="2500" dirty="0">
                <a:latin typeface="Calibri" panose="020F0502020204030204" pitchFamily="34" charset="0"/>
                <a:cs typeface="Calibri" panose="020F0502020204030204" pitchFamily="34" charset="0"/>
              </a:rPr>
              <a:t> gases.</a:t>
            </a:r>
            <a:endParaRPr lang="en-GB" sz="2500" dirty="0">
              <a:latin typeface="Calibri" panose="020F0502020204030204" pitchFamily="34" charset="0"/>
              <a:cs typeface="Calibri" panose="020F0502020204030204" pitchFamily="34" charset="0"/>
            </a:endParaRPr>
          </a:p>
          <a:p>
            <a:r>
              <a:rPr lang="en-NZ" sz="2700" dirty="0">
                <a:latin typeface="Calibri" panose="020F0502020204030204" pitchFamily="34" charset="0"/>
                <a:cs typeface="Calibri" panose="020F0502020204030204" pitchFamily="34" charset="0"/>
              </a:rPr>
              <a:t>The surface an organism has depends on: </a:t>
            </a:r>
          </a:p>
          <a:p>
            <a:pPr lvl="1"/>
            <a:r>
              <a:rPr lang="en-NZ" sz="2500" dirty="0">
                <a:latin typeface="Calibri" panose="020F0502020204030204" pitchFamily="34" charset="0"/>
                <a:cs typeface="Calibri" panose="020F0502020204030204" pitchFamily="34" charset="0"/>
              </a:rPr>
              <a:t>the size of the organism</a:t>
            </a:r>
          </a:p>
          <a:p>
            <a:pPr lvl="1"/>
            <a:r>
              <a:rPr lang="en-NZ" sz="2500" dirty="0">
                <a:latin typeface="Calibri" panose="020F0502020204030204" pitchFamily="34" charset="0"/>
                <a:cs typeface="Calibri" panose="020F0502020204030204" pitchFamily="34" charset="0"/>
              </a:rPr>
              <a:t>where it lives – water or land</a:t>
            </a:r>
          </a:p>
          <a:p>
            <a:pPr lvl="1"/>
            <a:r>
              <a:rPr lang="en-NZ" sz="2500" dirty="0">
                <a:latin typeface="Calibri" panose="020F0502020204030204" pitchFamily="34" charset="0"/>
                <a:cs typeface="Calibri" panose="020F0502020204030204" pitchFamily="34" charset="0"/>
              </a:rPr>
              <a:t>the metabolic demands of the organism – high, moderate or low</a:t>
            </a:r>
            <a:endParaRPr lang="en-GB" sz="2500" dirty="0">
              <a:latin typeface="Calibri" panose="020F0502020204030204" pitchFamily="34" charset="0"/>
              <a:cs typeface="Calibri" panose="020F0502020204030204" pitchFamily="34" charset="0"/>
            </a:endParaRPr>
          </a:p>
          <a:p>
            <a:pPr marL="365760" lvl="1" indent="0">
              <a:buNone/>
            </a:pPr>
            <a:endParaRPr lang="en-NZ" dirty="0"/>
          </a:p>
        </p:txBody>
      </p:sp>
    </p:spTree>
    <p:extLst>
      <p:ext uri="{BB962C8B-B14F-4D97-AF65-F5344CB8AC3E}">
        <p14:creationId xmlns:p14="http://schemas.microsoft.com/office/powerpoint/2010/main" val="2503088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solidFill>
                  <a:srgbClr val="0070C0"/>
                </a:solidFill>
              </a:rPr>
              <a:t>Types of Gas Exchange Surface</a:t>
            </a:r>
            <a:endParaRPr lang="en-AU" dirty="0">
              <a:solidFill>
                <a:srgbClr val="0070C0"/>
              </a:solidFill>
            </a:endParaRPr>
          </a:p>
        </p:txBody>
      </p:sp>
      <p:sp>
        <p:nvSpPr>
          <p:cNvPr id="3" name="Content Placeholder 2"/>
          <p:cNvSpPr>
            <a:spLocks noGrp="1"/>
          </p:cNvSpPr>
          <p:nvPr>
            <p:ph sz="quarter" idx="1"/>
          </p:nvPr>
        </p:nvSpPr>
        <p:spPr>
          <a:xfrm>
            <a:off x="251520" y="1628800"/>
            <a:ext cx="8153400" cy="3096344"/>
          </a:xfrm>
        </p:spPr>
        <p:txBody>
          <a:bodyPr>
            <a:normAutofit/>
          </a:bodyPr>
          <a:lstStyle/>
          <a:p>
            <a:r>
              <a:rPr lang="en-AU" sz="2500" dirty="0">
                <a:latin typeface="Calibri" panose="020F0502020204030204" pitchFamily="34" charset="0"/>
                <a:cs typeface="Calibri" panose="020F0502020204030204" pitchFamily="34" charset="0"/>
              </a:rPr>
              <a:t>The four main types of gas exchange surfaces we will look at are: </a:t>
            </a:r>
          </a:p>
          <a:p>
            <a:pPr lvl="1"/>
            <a:r>
              <a:rPr lang="en-AU" sz="2300" dirty="0">
                <a:latin typeface="Calibri" panose="020F0502020204030204" pitchFamily="34" charset="0"/>
                <a:cs typeface="Calibri" panose="020F0502020204030204" pitchFamily="34" charset="0"/>
              </a:rPr>
              <a:t>Through skin</a:t>
            </a:r>
          </a:p>
          <a:p>
            <a:pPr lvl="1"/>
            <a:r>
              <a:rPr lang="en-AU" sz="2300" dirty="0">
                <a:latin typeface="Calibri" panose="020F0502020204030204" pitchFamily="34" charset="0"/>
                <a:cs typeface="Calibri" panose="020F0502020204030204" pitchFamily="34" charset="0"/>
              </a:rPr>
              <a:t>Gills</a:t>
            </a:r>
          </a:p>
          <a:p>
            <a:pPr lvl="1"/>
            <a:r>
              <a:rPr lang="en-AU" sz="2300" dirty="0">
                <a:latin typeface="Calibri" panose="020F0502020204030204" pitchFamily="34" charset="0"/>
                <a:cs typeface="Calibri" panose="020F0502020204030204" pitchFamily="34" charset="0"/>
              </a:rPr>
              <a:t>Lungs</a:t>
            </a:r>
          </a:p>
          <a:p>
            <a:pPr lvl="1"/>
            <a:r>
              <a:rPr lang="en-AU" sz="2300" dirty="0">
                <a:latin typeface="Calibri" panose="020F0502020204030204" pitchFamily="34" charset="0"/>
                <a:cs typeface="Calibri" panose="020F0502020204030204" pitchFamily="34" charset="0"/>
              </a:rPr>
              <a:t>Tracheae</a:t>
            </a:r>
          </a:p>
        </p:txBody>
      </p:sp>
      <p:pic>
        <p:nvPicPr>
          <p:cNvPr id="4" name="Picture 4" descr="Life7e-Fig-48-03-0"/>
          <p:cNvPicPr>
            <a:picLocks noChangeAspect="1" noChangeArrowheads="1"/>
          </p:cNvPicPr>
          <p:nvPr/>
        </p:nvPicPr>
        <p:blipFill>
          <a:blip r:embed="rId2">
            <a:extLst>
              <a:ext uri="{28A0092B-C50C-407E-A947-70E740481C1C}">
                <a14:useLocalDpi xmlns:a14="http://schemas.microsoft.com/office/drawing/2010/main" val="0"/>
              </a:ext>
            </a:extLst>
          </a:blip>
          <a:srcRect t="9612" r="2242" b="14621"/>
          <a:stretch>
            <a:fillRect/>
          </a:stretch>
        </p:blipFill>
        <p:spPr>
          <a:xfrm>
            <a:off x="2843808" y="2564904"/>
            <a:ext cx="6169383" cy="3456384"/>
          </a:xfrm>
          <a:prstGeom prst="rect">
            <a:avLst/>
          </a:prstGeom>
        </p:spPr>
      </p:pic>
    </p:spTree>
    <p:extLst>
      <p:ext uri="{BB962C8B-B14F-4D97-AF65-F5344CB8AC3E}">
        <p14:creationId xmlns:p14="http://schemas.microsoft.com/office/powerpoint/2010/main" val="1594791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natalyazahn.typepad.com/.a/6a0120a63266f6970b017c31711af6970b-800w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2276872"/>
            <a:ext cx="3080856" cy="352839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AU" dirty="0">
                <a:solidFill>
                  <a:srgbClr val="0070C0"/>
                </a:solidFill>
              </a:rPr>
              <a:t>Gas Exchange – Simple Diffusion</a:t>
            </a:r>
          </a:p>
        </p:txBody>
      </p:sp>
      <p:sp>
        <p:nvSpPr>
          <p:cNvPr id="3" name="Content Placeholder 2"/>
          <p:cNvSpPr>
            <a:spLocks noGrp="1"/>
          </p:cNvSpPr>
          <p:nvPr>
            <p:ph sz="quarter" idx="1"/>
          </p:nvPr>
        </p:nvSpPr>
        <p:spPr>
          <a:xfrm>
            <a:off x="3345058" y="1699739"/>
            <a:ext cx="5776128" cy="4929661"/>
          </a:xfrm>
        </p:spPr>
        <p:txBody>
          <a:bodyPr>
            <a:noAutofit/>
          </a:bodyPr>
          <a:lstStyle/>
          <a:p>
            <a:r>
              <a:rPr lang="en-AU" sz="2000" dirty="0">
                <a:latin typeface="Calibri" panose="020F0502020204030204" pitchFamily="34" charset="0"/>
                <a:cs typeface="Calibri" panose="020F0502020204030204" pitchFamily="34" charset="0"/>
              </a:rPr>
              <a:t>Animals with small bodies exchange respiratory gases sufficiently through the body surface without specialized respiratory membranes.</a:t>
            </a:r>
          </a:p>
          <a:p>
            <a:r>
              <a:rPr lang="en-AU" sz="2000" dirty="0" err="1">
                <a:latin typeface="Calibri" panose="020F0502020204030204" pitchFamily="34" charset="0"/>
                <a:cs typeface="Calibri" panose="020F0502020204030204" pitchFamily="34" charset="0"/>
              </a:rPr>
              <a:t>Protists</a:t>
            </a:r>
            <a:r>
              <a:rPr lang="en-AU" sz="2000" dirty="0">
                <a:latin typeface="Calibri" panose="020F0502020204030204" pitchFamily="34" charset="0"/>
                <a:cs typeface="Calibri" panose="020F0502020204030204" pitchFamily="34" charset="0"/>
              </a:rPr>
              <a:t> use direct diffusion into the cell to exchange gases. </a:t>
            </a:r>
          </a:p>
          <a:p>
            <a:r>
              <a:rPr lang="en-AU" sz="2000" dirty="0">
                <a:latin typeface="Calibri" panose="020F0502020204030204" pitchFamily="34" charset="0"/>
                <a:cs typeface="Calibri" panose="020F0502020204030204" pitchFamily="34" charset="0"/>
              </a:rPr>
              <a:t>Although most amphibians have lungs, they can also perform gas exchange directly through their highly vascularized skin. This means that their skin has lots of blood vessels going through it. Since the blood vessels are close to their permeable skin surface, diffusion can take place right through the skin. </a:t>
            </a:r>
          </a:p>
          <a:p>
            <a:r>
              <a:rPr lang="en-AU" sz="2000" dirty="0">
                <a:latin typeface="Calibri" panose="020F0502020204030204" pitchFamily="34" charset="0"/>
                <a:cs typeface="Calibri" panose="020F0502020204030204" pitchFamily="34" charset="0"/>
              </a:rPr>
              <a:t>Larger animals require an extended surface for gas exchange and a more complex respiratory system.</a:t>
            </a:r>
          </a:p>
        </p:txBody>
      </p:sp>
    </p:spTree>
    <p:extLst>
      <p:ext uri="{BB962C8B-B14F-4D97-AF65-F5344CB8AC3E}">
        <p14:creationId xmlns:p14="http://schemas.microsoft.com/office/powerpoint/2010/main" val="2598071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a:bodyPr>
          <a:lstStyle/>
          <a:p>
            <a:r>
              <a:rPr lang="en-NZ" dirty="0">
                <a:solidFill>
                  <a:srgbClr val="0070C0"/>
                </a:solidFill>
              </a:rPr>
              <a:t>Gas Exchange in Water</a:t>
            </a:r>
            <a:endParaRPr lang="en-GB" dirty="0">
              <a:solidFill>
                <a:srgbClr val="0070C0"/>
              </a:solidFill>
            </a:endParaRPr>
          </a:p>
        </p:txBody>
      </p:sp>
      <p:sp>
        <p:nvSpPr>
          <p:cNvPr id="18435" name="Rectangle 3"/>
          <p:cNvSpPr>
            <a:spLocks noGrp="1" noChangeArrowheads="1"/>
          </p:cNvSpPr>
          <p:nvPr>
            <p:ph type="body" idx="1"/>
          </p:nvPr>
        </p:nvSpPr>
        <p:spPr/>
        <p:txBody>
          <a:bodyPr>
            <a:normAutofit/>
          </a:bodyPr>
          <a:lstStyle/>
          <a:p>
            <a:pPr marL="0" indent="0">
              <a:buNone/>
            </a:pPr>
            <a:r>
              <a:rPr lang="en-NZ" sz="2500" dirty="0">
                <a:latin typeface="Calibri" panose="020F0502020204030204" pitchFamily="34" charset="0"/>
                <a:cs typeface="Calibri" panose="020F0502020204030204" pitchFamily="34" charset="0"/>
              </a:rPr>
              <a:t>Gas exchange in water has -</a:t>
            </a:r>
          </a:p>
          <a:p>
            <a:r>
              <a:rPr lang="en-NZ" sz="2300" dirty="0">
                <a:latin typeface="Calibri" panose="020F0502020204030204" pitchFamily="34" charset="0"/>
                <a:cs typeface="Calibri" panose="020F0502020204030204" pitchFamily="34" charset="0"/>
              </a:rPr>
              <a:t>No problem in keeping the cell membranes of the gas exchange surface moist.</a:t>
            </a:r>
          </a:p>
          <a:p>
            <a:pPr marL="0" indent="0">
              <a:buNone/>
            </a:pPr>
            <a:r>
              <a:rPr lang="en-NZ" sz="2500" dirty="0">
                <a:latin typeface="Calibri" panose="020F0502020204030204" pitchFamily="34" charset="0"/>
                <a:cs typeface="Calibri" panose="020F0502020204030204" pitchFamily="34" charset="0"/>
              </a:rPr>
              <a:t>BUT</a:t>
            </a:r>
          </a:p>
          <a:p>
            <a:r>
              <a:rPr lang="en-NZ" sz="2300" dirty="0">
                <a:latin typeface="Calibri" panose="020F0502020204030204" pitchFamily="34" charset="0"/>
                <a:cs typeface="Calibri" panose="020F0502020204030204" pitchFamily="34" charset="0"/>
              </a:rPr>
              <a:t>O</a:t>
            </a:r>
            <a:r>
              <a:rPr lang="en-NZ" sz="2300" baseline="-25000" dirty="0">
                <a:latin typeface="Calibri" panose="020F0502020204030204" pitchFamily="34" charset="0"/>
                <a:cs typeface="Calibri" panose="020F0502020204030204" pitchFamily="34" charset="0"/>
              </a:rPr>
              <a:t>2</a:t>
            </a:r>
            <a:r>
              <a:rPr lang="en-NZ" sz="2300" dirty="0">
                <a:latin typeface="Calibri" panose="020F0502020204030204" pitchFamily="34" charset="0"/>
                <a:cs typeface="Calibri" panose="020F0502020204030204" pitchFamily="34" charset="0"/>
              </a:rPr>
              <a:t> concentrations in water are low, especially in warmer and/or saltier water.</a:t>
            </a:r>
          </a:p>
          <a:p>
            <a:pPr marL="0" indent="0">
              <a:buNone/>
            </a:pPr>
            <a:r>
              <a:rPr lang="en-NZ" sz="2500" dirty="0">
                <a:latin typeface="Calibri" panose="020F0502020204030204" pitchFamily="34" charset="0"/>
                <a:cs typeface="Calibri" panose="020F0502020204030204" pitchFamily="34" charset="0"/>
              </a:rPr>
              <a:t>SO</a:t>
            </a:r>
          </a:p>
          <a:p>
            <a:r>
              <a:rPr lang="en-NZ" sz="2300" dirty="0">
                <a:latin typeface="Calibri" panose="020F0502020204030204" pitchFamily="34" charset="0"/>
                <a:cs typeface="Calibri" panose="020F0502020204030204" pitchFamily="34" charset="0"/>
              </a:rPr>
              <a:t>The gas exchange system must be very efficient to get enough oxygen for respiration.</a:t>
            </a:r>
            <a:endParaRPr lang="en-GB" sz="2300" dirty="0">
              <a:latin typeface="Calibri" panose="020F0502020204030204" pitchFamily="34" charset="0"/>
              <a:cs typeface="Calibri" panose="020F0502020204030204" pitchFamily="34" charset="0"/>
            </a:endParaRPr>
          </a:p>
          <a:p>
            <a:endParaRPr lang="en-NZ" dirty="0"/>
          </a:p>
          <a:p>
            <a:endParaRPr lang="en-NZ" dirty="0"/>
          </a:p>
        </p:txBody>
      </p:sp>
    </p:spTree>
    <p:extLst>
      <p:ext uri="{BB962C8B-B14F-4D97-AF65-F5344CB8AC3E}">
        <p14:creationId xmlns:p14="http://schemas.microsoft.com/office/powerpoint/2010/main" val="869200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r>
              <a:rPr lang="en-NZ" dirty="0">
                <a:solidFill>
                  <a:srgbClr val="0070C0"/>
                </a:solidFill>
              </a:rPr>
              <a:t>Gas Exchange in Water - Gills</a:t>
            </a:r>
            <a:endParaRPr lang="en-GB" dirty="0">
              <a:solidFill>
                <a:srgbClr val="0070C0"/>
              </a:solidFill>
            </a:endParaRPr>
          </a:p>
        </p:txBody>
      </p:sp>
      <p:sp>
        <p:nvSpPr>
          <p:cNvPr id="34819" name="Rectangle 3"/>
          <p:cNvSpPr>
            <a:spLocks noGrp="1" noChangeArrowheads="1"/>
          </p:cNvSpPr>
          <p:nvPr>
            <p:ph type="body" idx="1"/>
          </p:nvPr>
        </p:nvSpPr>
        <p:spPr>
          <a:xfrm>
            <a:off x="3347864" y="1916832"/>
            <a:ext cx="5562200" cy="3888432"/>
          </a:xfrm>
        </p:spPr>
        <p:txBody>
          <a:bodyPr>
            <a:normAutofit/>
          </a:bodyPr>
          <a:lstStyle/>
          <a:p>
            <a:r>
              <a:rPr lang="en-NZ" sz="2400" dirty="0">
                <a:latin typeface="Calibri" panose="020F0502020204030204" pitchFamily="34" charset="0"/>
                <a:cs typeface="Calibri" panose="020F0502020204030204" pitchFamily="34" charset="0"/>
              </a:rPr>
              <a:t>Gas exchange in water requires gills.</a:t>
            </a:r>
          </a:p>
          <a:p>
            <a:r>
              <a:rPr lang="en-NZ" sz="2400" dirty="0">
                <a:latin typeface="Calibri" panose="020F0502020204030204" pitchFamily="34" charset="0"/>
                <a:cs typeface="Calibri" panose="020F0502020204030204" pitchFamily="34" charset="0"/>
              </a:rPr>
              <a:t>Gills covered by an operculum (flap)</a:t>
            </a:r>
          </a:p>
          <a:p>
            <a:r>
              <a:rPr lang="en-NZ" sz="2400" dirty="0">
                <a:latin typeface="Calibri" panose="020F0502020204030204" pitchFamily="34" charset="0"/>
                <a:cs typeface="Calibri" panose="020F0502020204030204" pitchFamily="34" charset="0"/>
              </a:rPr>
              <a:t>Fish ventilate their gills by alternately opening and closing mouth and operculum</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sym typeface="Wingdings" pitchFamily="2" charset="2"/>
              </a:rPr>
              <a:t> </a:t>
            </a:r>
            <a:r>
              <a:rPr lang="en-NZ" sz="2400" dirty="0">
                <a:latin typeface="Calibri" panose="020F0502020204030204" pitchFamily="34" charset="0"/>
                <a:cs typeface="Calibri" panose="020F0502020204030204" pitchFamily="34" charset="0"/>
              </a:rPr>
              <a:t>water flows into mouth</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sym typeface="Wingdings" pitchFamily="2" charset="2"/>
              </a:rPr>
              <a:t></a:t>
            </a:r>
            <a:r>
              <a:rPr lang="en-NZ" sz="2400" dirty="0">
                <a:latin typeface="Calibri" panose="020F0502020204030204" pitchFamily="34" charset="0"/>
                <a:cs typeface="Calibri" panose="020F0502020204030204" pitchFamily="34" charset="0"/>
              </a:rPr>
              <a:t> over the gills</a:t>
            </a:r>
            <a:br>
              <a:rPr lang="en-NZ" sz="2400" dirty="0">
                <a:latin typeface="Calibri" panose="020F0502020204030204" pitchFamily="34" charset="0"/>
                <a:cs typeface="Calibri" panose="020F0502020204030204" pitchFamily="34" charset="0"/>
              </a:rPr>
            </a:br>
            <a:r>
              <a:rPr lang="en-NZ" sz="2400" dirty="0">
                <a:latin typeface="Calibri" panose="020F0502020204030204" pitchFamily="34" charset="0"/>
                <a:cs typeface="Calibri" panose="020F0502020204030204" pitchFamily="34" charset="0"/>
                <a:sym typeface="Wingdings" pitchFamily="2" charset="2"/>
              </a:rPr>
              <a:t> </a:t>
            </a:r>
            <a:r>
              <a:rPr lang="en-NZ" sz="2400" dirty="0">
                <a:latin typeface="Calibri" panose="020F0502020204030204" pitchFamily="34" charset="0"/>
                <a:cs typeface="Calibri" panose="020F0502020204030204" pitchFamily="34" charset="0"/>
              </a:rPr>
              <a:t>out under the operculum</a:t>
            </a:r>
          </a:p>
        </p:txBody>
      </p:sp>
      <p:pic>
        <p:nvPicPr>
          <p:cNvPr id="348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772816"/>
            <a:ext cx="2474452" cy="4703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4048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r>
              <a:rPr lang="en-NZ" dirty="0">
                <a:solidFill>
                  <a:srgbClr val="0070C0"/>
                </a:solidFill>
              </a:rPr>
              <a:t>Gas Exchange in Water - Gills</a:t>
            </a:r>
            <a:endParaRPr lang="en-GB" dirty="0">
              <a:solidFill>
                <a:srgbClr val="0070C0"/>
              </a:solidFill>
            </a:endParaRPr>
          </a:p>
        </p:txBody>
      </p:sp>
      <p:sp>
        <p:nvSpPr>
          <p:cNvPr id="35843" name="Rectangle 3"/>
          <p:cNvSpPr>
            <a:spLocks noGrp="1" noChangeArrowheads="1"/>
          </p:cNvSpPr>
          <p:nvPr>
            <p:ph type="body" idx="1"/>
          </p:nvPr>
        </p:nvSpPr>
        <p:spPr>
          <a:xfrm>
            <a:off x="395536" y="2088752"/>
            <a:ext cx="2663208" cy="3928269"/>
          </a:xfrm>
        </p:spPr>
        <p:txBody>
          <a:bodyPr>
            <a:normAutofit/>
          </a:bodyPr>
          <a:lstStyle/>
          <a:p>
            <a:r>
              <a:rPr lang="en-NZ" sz="2400" dirty="0">
                <a:latin typeface="Calibri" panose="020F0502020204030204" pitchFamily="34" charset="0"/>
                <a:cs typeface="Calibri" panose="020F0502020204030204" pitchFamily="34" charset="0"/>
              </a:rPr>
              <a:t>In fish each gill is made of four bony gill arches.</a:t>
            </a:r>
          </a:p>
          <a:p>
            <a:endParaRPr lang="en-NZ" sz="2400" dirty="0">
              <a:latin typeface="Calibri" panose="020F0502020204030204" pitchFamily="34" charset="0"/>
              <a:cs typeface="Calibri" panose="020F0502020204030204" pitchFamily="34" charset="0"/>
            </a:endParaRPr>
          </a:p>
          <a:p>
            <a:r>
              <a:rPr lang="en-NZ" sz="2400" dirty="0">
                <a:latin typeface="Calibri" panose="020F0502020204030204" pitchFamily="34" charset="0"/>
                <a:cs typeface="Calibri" panose="020F0502020204030204" pitchFamily="34" charset="0"/>
              </a:rPr>
              <a:t>Gill arches lined with hundreds of gill filaments that are very thin and flat.</a:t>
            </a:r>
            <a:endParaRPr lang="en-GB" sz="2400" dirty="0">
              <a:latin typeface="Calibri" panose="020F0502020204030204" pitchFamily="34" charset="0"/>
              <a:cs typeface="Calibri" panose="020F0502020204030204" pitchFamily="34" charset="0"/>
            </a:endParaRPr>
          </a:p>
        </p:txBody>
      </p:sp>
      <p:pic>
        <p:nvPicPr>
          <p:cNvPr id="35844" name="Picture 4" descr="Life7e-Fig-48-05-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0551" r="14285" b="17917"/>
          <a:stretch>
            <a:fillRect/>
          </a:stretch>
        </p:blipFill>
        <p:spPr bwMode="auto">
          <a:xfrm>
            <a:off x="3465012" y="1628800"/>
            <a:ext cx="5240491" cy="4949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6735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a:bodyPr>
          <a:lstStyle/>
          <a:p>
            <a:r>
              <a:rPr lang="en-NZ" dirty="0">
                <a:solidFill>
                  <a:srgbClr val="0070C0"/>
                </a:solidFill>
              </a:rPr>
              <a:t>Gas Exchange in Water - Gills</a:t>
            </a:r>
            <a:endParaRPr lang="en-GB" dirty="0">
              <a:solidFill>
                <a:srgbClr val="0070C0"/>
              </a:solidFill>
            </a:endParaRPr>
          </a:p>
        </p:txBody>
      </p:sp>
      <p:sp>
        <p:nvSpPr>
          <p:cNvPr id="14339" name="Rectangle 3"/>
          <p:cNvSpPr>
            <a:spLocks noGrp="1" noChangeArrowheads="1"/>
          </p:cNvSpPr>
          <p:nvPr>
            <p:ph type="body" idx="1"/>
          </p:nvPr>
        </p:nvSpPr>
        <p:spPr>
          <a:xfrm>
            <a:off x="323528" y="1720814"/>
            <a:ext cx="3024336" cy="4853136"/>
          </a:xfrm>
        </p:spPr>
        <p:txBody>
          <a:bodyPr>
            <a:noAutofit/>
          </a:bodyPr>
          <a:lstStyle/>
          <a:p>
            <a:r>
              <a:rPr lang="en-NZ" sz="2200" dirty="0">
                <a:latin typeface="Calibri" panose="020F0502020204030204" pitchFamily="34" charset="0"/>
                <a:cs typeface="Calibri" panose="020F0502020204030204" pitchFamily="34" charset="0"/>
              </a:rPr>
              <a:t>Gill filaments have folds called lamellae that contain a network of capillaries.</a:t>
            </a:r>
          </a:p>
          <a:p>
            <a:r>
              <a:rPr lang="en-NZ" sz="2200" dirty="0">
                <a:latin typeface="Calibri" panose="020F0502020204030204" pitchFamily="34" charset="0"/>
                <a:cs typeface="Calibri" panose="020F0502020204030204" pitchFamily="34" charset="0"/>
              </a:rPr>
              <a:t>Blood flows through the blood capillaries in the opposite direction to the flow of water.</a:t>
            </a:r>
          </a:p>
          <a:p>
            <a:r>
              <a:rPr lang="en-NZ" sz="2200" dirty="0">
                <a:latin typeface="Calibri" panose="020F0502020204030204" pitchFamily="34" charset="0"/>
                <a:cs typeface="Calibri" panose="020F0502020204030204" pitchFamily="34" charset="0"/>
              </a:rPr>
              <a:t>Video on fish gas exchange </a:t>
            </a:r>
            <a:r>
              <a:rPr lang="en-NZ" sz="1800" dirty="0">
                <a:latin typeface="Calibri" panose="020F0502020204030204" pitchFamily="34" charset="0"/>
                <a:cs typeface="Calibri" panose="020F0502020204030204" pitchFamily="34" charset="0"/>
                <a:hlinkClick r:id="rId3"/>
              </a:rPr>
              <a:t>https://www.youtube.com/watch?v=_2kjL9BV3SA</a:t>
            </a:r>
            <a:endParaRPr lang="en-NZ" sz="1800" dirty="0">
              <a:latin typeface="Calibri" panose="020F0502020204030204" pitchFamily="34" charset="0"/>
              <a:cs typeface="Calibri" panose="020F0502020204030204" pitchFamily="34" charset="0"/>
            </a:endParaRPr>
          </a:p>
          <a:p>
            <a:pPr marL="0" indent="0">
              <a:buNone/>
            </a:pPr>
            <a:r>
              <a:rPr lang="en-NZ" sz="1800" dirty="0">
                <a:latin typeface="Calibri" panose="020F0502020204030204" pitchFamily="34" charset="0"/>
                <a:cs typeface="Calibri" panose="020F0502020204030204" pitchFamily="34" charset="0"/>
              </a:rPr>
              <a:t>	(~ 9 min)</a:t>
            </a:r>
            <a:endParaRPr lang="en-GB" sz="1800" dirty="0">
              <a:latin typeface="Calibri" panose="020F0502020204030204" pitchFamily="34" charset="0"/>
              <a:cs typeface="Calibri" panose="020F0502020204030204" pitchFamily="34" charset="0"/>
            </a:endParaRPr>
          </a:p>
        </p:txBody>
      </p:sp>
      <p:pic>
        <p:nvPicPr>
          <p:cNvPr id="14340" name="Picture 4" descr="Life7e-Fig-48-05-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1739" r="11021" b="5005"/>
          <a:stretch>
            <a:fillRect/>
          </a:stretch>
        </p:blipFill>
        <p:spPr bwMode="auto">
          <a:xfrm>
            <a:off x="3851920" y="1700808"/>
            <a:ext cx="5151784" cy="475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2512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0070C0"/>
                </a:solidFill>
              </a:rPr>
              <a:t>Gas Exchange in Water - Gills</a:t>
            </a:r>
          </a:p>
        </p:txBody>
      </p:sp>
      <p:sp>
        <p:nvSpPr>
          <p:cNvPr id="3" name="Content Placeholder 2"/>
          <p:cNvSpPr>
            <a:spLocks noGrp="1"/>
          </p:cNvSpPr>
          <p:nvPr>
            <p:ph sz="quarter" idx="1"/>
          </p:nvPr>
        </p:nvSpPr>
        <p:spPr>
          <a:xfrm>
            <a:off x="179512" y="1772816"/>
            <a:ext cx="5184576" cy="4784576"/>
          </a:xfrm>
        </p:spPr>
        <p:txBody>
          <a:bodyPr>
            <a:noAutofit/>
          </a:bodyPr>
          <a:lstStyle/>
          <a:p>
            <a:r>
              <a:rPr lang="en-AU" sz="2300" dirty="0">
                <a:latin typeface="Calibri" panose="020F0502020204030204" pitchFamily="34" charset="0"/>
                <a:cs typeface="Calibri" panose="020F0502020204030204" pitchFamily="34" charset="0"/>
              </a:rPr>
              <a:t>The gill arch contains an artery that brings deoxygenated blood to the gill and each gill plate is well supplied by capillaries that branch from this artery. </a:t>
            </a:r>
          </a:p>
          <a:p>
            <a:r>
              <a:rPr lang="en-AU" sz="2300" dirty="0">
                <a:latin typeface="Calibri" panose="020F0502020204030204" pitchFamily="34" charset="0"/>
                <a:cs typeface="Calibri" panose="020F0502020204030204" pitchFamily="34" charset="0"/>
              </a:rPr>
              <a:t>As the water flowing over the gill has a higher concentration of O</a:t>
            </a:r>
            <a:r>
              <a:rPr lang="en-AU" sz="2300" baseline="-25000" dirty="0">
                <a:latin typeface="Calibri" panose="020F0502020204030204" pitchFamily="34" charset="0"/>
                <a:cs typeface="Calibri" panose="020F0502020204030204" pitchFamily="34" charset="0"/>
              </a:rPr>
              <a:t>2</a:t>
            </a:r>
            <a:r>
              <a:rPr lang="en-AU" sz="2300" dirty="0">
                <a:latin typeface="Calibri" panose="020F0502020204030204" pitchFamily="34" charset="0"/>
                <a:cs typeface="Calibri" panose="020F0502020204030204" pitchFamily="34" charset="0"/>
              </a:rPr>
              <a:t> and a lower concentration of CO</a:t>
            </a:r>
            <a:r>
              <a:rPr lang="en-AU" sz="2300" baseline="-25000" dirty="0">
                <a:latin typeface="Calibri" panose="020F0502020204030204" pitchFamily="34" charset="0"/>
                <a:cs typeface="Calibri" panose="020F0502020204030204" pitchFamily="34" charset="0"/>
              </a:rPr>
              <a:t>2</a:t>
            </a:r>
            <a:r>
              <a:rPr lang="en-AU" sz="2300" dirty="0">
                <a:latin typeface="Calibri" panose="020F0502020204030204" pitchFamily="34" charset="0"/>
                <a:cs typeface="Calibri" panose="020F0502020204030204" pitchFamily="34" charset="0"/>
              </a:rPr>
              <a:t>, O</a:t>
            </a:r>
            <a:r>
              <a:rPr lang="en-AU" sz="2300" baseline="-25000" dirty="0">
                <a:latin typeface="Calibri" panose="020F0502020204030204" pitchFamily="34" charset="0"/>
                <a:cs typeface="Calibri" panose="020F0502020204030204" pitchFamily="34" charset="0"/>
              </a:rPr>
              <a:t>2 </a:t>
            </a:r>
            <a:r>
              <a:rPr lang="en-AU" sz="2300" dirty="0">
                <a:latin typeface="Calibri" panose="020F0502020204030204" pitchFamily="34" charset="0"/>
                <a:cs typeface="Calibri" panose="020F0502020204030204" pitchFamily="34" charset="0"/>
              </a:rPr>
              <a:t>diffuses into the blood capillary and CO</a:t>
            </a:r>
            <a:r>
              <a:rPr lang="en-AU" sz="2300" baseline="-25000" dirty="0">
                <a:latin typeface="Calibri" panose="020F0502020204030204" pitchFamily="34" charset="0"/>
                <a:cs typeface="Calibri" panose="020F0502020204030204" pitchFamily="34" charset="0"/>
              </a:rPr>
              <a:t>2</a:t>
            </a:r>
            <a:r>
              <a:rPr lang="en-AU" sz="2300" dirty="0">
                <a:latin typeface="Calibri" panose="020F0502020204030204" pitchFamily="34" charset="0"/>
                <a:cs typeface="Calibri" panose="020F0502020204030204" pitchFamily="34" charset="0"/>
              </a:rPr>
              <a:t> diffuses out. </a:t>
            </a:r>
          </a:p>
          <a:p>
            <a:r>
              <a:rPr lang="en-AU" sz="2300" dirty="0">
                <a:latin typeface="Calibri" panose="020F0502020204030204" pitchFamily="34" charset="0"/>
                <a:cs typeface="Calibri" panose="020F0502020204030204" pitchFamily="34" charset="0"/>
              </a:rPr>
              <a:t>The oxygenated blood is carried away from the gill and the excess CO</a:t>
            </a:r>
            <a:r>
              <a:rPr lang="en-AU" sz="2300" baseline="-25000" dirty="0">
                <a:latin typeface="Calibri" panose="020F0502020204030204" pitchFamily="34" charset="0"/>
                <a:cs typeface="Calibri" panose="020F0502020204030204" pitchFamily="34" charset="0"/>
              </a:rPr>
              <a:t>2</a:t>
            </a:r>
            <a:r>
              <a:rPr lang="en-AU" sz="2300" dirty="0">
                <a:latin typeface="Calibri" panose="020F0502020204030204" pitchFamily="34" charset="0"/>
                <a:cs typeface="Calibri" panose="020F0502020204030204" pitchFamily="34" charset="0"/>
              </a:rPr>
              <a:t> is washed away from the gill by the incoming water.</a:t>
            </a:r>
            <a:endParaRPr lang="en-US" sz="23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5364088" y="2276872"/>
            <a:ext cx="3674795" cy="3472811"/>
          </a:xfrm>
          <a:prstGeom prst="rect">
            <a:avLst/>
          </a:prstGeom>
        </p:spPr>
      </p:pic>
    </p:spTree>
    <p:extLst>
      <p:ext uri="{BB962C8B-B14F-4D97-AF65-F5344CB8AC3E}">
        <p14:creationId xmlns:p14="http://schemas.microsoft.com/office/powerpoint/2010/main" val="3058507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a:bodyPr>
          <a:lstStyle/>
          <a:p>
            <a:r>
              <a:rPr lang="en-NZ" dirty="0">
                <a:solidFill>
                  <a:srgbClr val="0070C0"/>
                </a:solidFill>
              </a:rPr>
              <a:t>Gas Exchange in Water - Gills</a:t>
            </a:r>
            <a:endParaRPr lang="en-GB" dirty="0">
              <a:solidFill>
                <a:srgbClr val="0070C0"/>
              </a:solidFill>
            </a:endParaRPr>
          </a:p>
        </p:txBody>
      </p:sp>
      <p:sp>
        <p:nvSpPr>
          <p:cNvPr id="19459" name="Rectangle 3"/>
          <p:cNvSpPr>
            <a:spLocks noGrp="1" noChangeArrowheads="1"/>
          </p:cNvSpPr>
          <p:nvPr>
            <p:ph type="body" idx="1"/>
          </p:nvPr>
        </p:nvSpPr>
        <p:spPr>
          <a:xfrm>
            <a:off x="467544" y="1776264"/>
            <a:ext cx="4751440" cy="4853136"/>
          </a:xfrm>
        </p:spPr>
        <p:txBody>
          <a:bodyPr>
            <a:normAutofit/>
          </a:bodyPr>
          <a:lstStyle/>
          <a:p>
            <a:pPr marL="0" indent="0">
              <a:buNone/>
            </a:pPr>
            <a:r>
              <a:rPr lang="en-NZ" sz="2300" dirty="0">
                <a:latin typeface="Calibri" panose="020F0502020204030204" pitchFamily="34" charset="0"/>
                <a:cs typeface="Calibri" panose="020F0502020204030204" pitchFamily="34" charset="0"/>
              </a:rPr>
              <a:t>Gills are efficient gas exchange surfaces because they:</a:t>
            </a:r>
          </a:p>
          <a:p>
            <a:r>
              <a:rPr lang="en-NZ" sz="2300" dirty="0">
                <a:latin typeface="Calibri" panose="020F0502020204030204" pitchFamily="34" charset="0"/>
                <a:cs typeface="Calibri" panose="020F0502020204030204" pitchFamily="34" charset="0"/>
              </a:rPr>
              <a:t>Have a very large surface area created by the folding</a:t>
            </a:r>
          </a:p>
          <a:p>
            <a:r>
              <a:rPr lang="en-NZ" sz="2300" dirty="0">
                <a:latin typeface="Calibri" panose="020F0502020204030204" pitchFamily="34" charset="0"/>
                <a:cs typeface="Calibri" panose="020F0502020204030204" pitchFamily="34" charset="0"/>
              </a:rPr>
              <a:t>Are thin-walled and in close contact with water to create short distance for diffusion</a:t>
            </a:r>
          </a:p>
          <a:p>
            <a:r>
              <a:rPr lang="en-NZ" sz="2300" dirty="0">
                <a:latin typeface="Calibri" panose="020F0502020204030204" pitchFamily="34" charset="0"/>
                <a:cs typeface="Calibri" panose="020F0502020204030204" pitchFamily="34" charset="0"/>
              </a:rPr>
              <a:t>Have a very high blood supply to bring CO</a:t>
            </a:r>
            <a:r>
              <a:rPr lang="en-NZ" sz="2300" baseline="-25000" dirty="0">
                <a:latin typeface="Calibri" panose="020F0502020204030204" pitchFamily="34" charset="0"/>
                <a:cs typeface="Calibri" panose="020F0502020204030204" pitchFamily="34" charset="0"/>
              </a:rPr>
              <a:t>2</a:t>
            </a:r>
            <a:r>
              <a:rPr lang="en-NZ" sz="2300" dirty="0">
                <a:latin typeface="Calibri" panose="020F0502020204030204" pitchFamily="34" charset="0"/>
                <a:cs typeface="Calibri" panose="020F0502020204030204" pitchFamily="34" charset="0"/>
              </a:rPr>
              <a:t> and carry away O</a:t>
            </a:r>
            <a:r>
              <a:rPr lang="en-NZ" sz="2300" baseline="-25000" dirty="0">
                <a:latin typeface="Calibri" panose="020F0502020204030204" pitchFamily="34" charset="0"/>
                <a:cs typeface="Calibri" panose="020F0502020204030204" pitchFamily="34" charset="0"/>
              </a:rPr>
              <a:t>2</a:t>
            </a:r>
            <a:r>
              <a:rPr lang="en-NZ" sz="2300" dirty="0">
                <a:latin typeface="Calibri" panose="020F0502020204030204" pitchFamily="34" charset="0"/>
                <a:cs typeface="Calibri" panose="020F0502020204030204" pitchFamily="34" charset="0"/>
              </a:rPr>
              <a:t> </a:t>
            </a:r>
            <a:r>
              <a:rPr lang="en-NZ" sz="2300" dirty="0">
                <a:latin typeface="Calibri" panose="020F0502020204030204" pitchFamily="34" charset="0"/>
                <a:cs typeface="Calibri" panose="020F0502020204030204" pitchFamily="34" charset="0"/>
                <a:sym typeface="Wingdings" pitchFamily="2" charset="2"/>
              </a:rPr>
              <a:t></a:t>
            </a:r>
            <a:r>
              <a:rPr lang="en-NZ" sz="2300" dirty="0">
                <a:latin typeface="Calibri" panose="020F0502020204030204" pitchFamily="34" charset="0"/>
                <a:cs typeface="Calibri" panose="020F0502020204030204" pitchFamily="34" charset="0"/>
              </a:rPr>
              <a:t> dark red colour</a:t>
            </a:r>
          </a:p>
          <a:p>
            <a:r>
              <a:rPr lang="en-NZ" sz="2300" dirty="0">
                <a:latin typeface="Calibri" panose="020F0502020204030204" pitchFamily="34" charset="0"/>
                <a:cs typeface="Calibri" panose="020F0502020204030204" pitchFamily="34" charset="0"/>
              </a:rPr>
              <a:t>Are moist: found in animals that live in water!</a:t>
            </a:r>
          </a:p>
        </p:txBody>
      </p:sp>
      <p:pic>
        <p:nvPicPr>
          <p:cNvPr id="5122" name="Picture 2" descr="http://faculty.uca.edu/johnc/GillStructFunctGa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3779" y="2074142"/>
            <a:ext cx="3743325" cy="3905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3327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12648" y="228600"/>
            <a:ext cx="7127704" cy="990600"/>
          </a:xfrm>
        </p:spPr>
        <p:txBody>
          <a:bodyPr>
            <a:normAutofit/>
          </a:bodyPr>
          <a:lstStyle/>
          <a:p>
            <a:r>
              <a:rPr lang="en-NZ" dirty="0">
                <a:solidFill>
                  <a:srgbClr val="0070C0"/>
                </a:solidFill>
              </a:rPr>
              <a:t>Gas Exchange in Air</a:t>
            </a:r>
            <a:endParaRPr lang="en-GB" dirty="0">
              <a:solidFill>
                <a:srgbClr val="0070C0"/>
              </a:solidFill>
            </a:endParaRPr>
          </a:p>
        </p:txBody>
      </p:sp>
      <p:sp>
        <p:nvSpPr>
          <p:cNvPr id="20483" name="Rectangle 3"/>
          <p:cNvSpPr>
            <a:spLocks noGrp="1" noChangeArrowheads="1"/>
          </p:cNvSpPr>
          <p:nvPr>
            <p:ph type="body" idx="1"/>
          </p:nvPr>
        </p:nvSpPr>
        <p:spPr>
          <a:xfrm>
            <a:off x="467544" y="1700808"/>
            <a:ext cx="8424936" cy="4752528"/>
          </a:xfrm>
        </p:spPr>
        <p:txBody>
          <a:bodyPr>
            <a:normAutofit/>
          </a:bodyPr>
          <a:lstStyle/>
          <a:p>
            <a:pPr marL="0" indent="0">
              <a:buNone/>
            </a:pPr>
            <a:r>
              <a:rPr lang="en-NZ" sz="2200" dirty="0">
                <a:latin typeface="Calibri" panose="020F0502020204030204" pitchFamily="34" charset="0"/>
                <a:cs typeface="Calibri" panose="020F0502020204030204" pitchFamily="34" charset="0"/>
              </a:rPr>
              <a:t>For gas exchange, air has many advantages over water -</a:t>
            </a:r>
          </a:p>
          <a:p>
            <a:r>
              <a:rPr lang="en-NZ" sz="2200" dirty="0">
                <a:latin typeface="Calibri" panose="020F0502020204030204" pitchFamily="34" charset="0"/>
                <a:cs typeface="Calibri" panose="020F0502020204030204" pitchFamily="34" charset="0"/>
              </a:rPr>
              <a:t>Air has a much higher oxygen concentration than water.</a:t>
            </a:r>
          </a:p>
          <a:p>
            <a:r>
              <a:rPr lang="en-NZ" sz="2200" dirty="0">
                <a:latin typeface="Calibri" panose="020F0502020204030204" pitchFamily="34" charset="0"/>
                <a:cs typeface="Calibri" panose="020F0502020204030204" pitchFamily="34" charset="0"/>
              </a:rPr>
              <a:t>Diffusion occurs more quickly so less ventilation of the surface is needed.</a:t>
            </a:r>
          </a:p>
          <a:p>
            <a:r>
              <a:rPr lang="en-NZ" sz="2200" dirty="0">
                <a:latin typeface="Calibri" panose="020F0502020204030204" pitchFamily="34" charset="0"/>
                <a:cs typeface="Calibri" panose="020F0502020204030204" pitchFamily="34" charset="0"/>
              </a:rPr>
              <a:t>Less energy is needed to move air through the respiratory system than water.</a:t>
            </a:r>
          </a:p>
          <a:p>
            <a:pPr marL="0" indent="0">
              <a:buNone/>
            </a:pPr>
            <a:r>
              <a:rPr lang="en-NZ" sz="2200" dirty="0">
                <a:latin typeface="Calibri" panose="020F0502020204030204" pitchFamily="34" charset="0"/>
                <a:cs typeface="Calibri" panose="020F0502020204030204" pitchFamily="34" charset="0"/>
              </a:rPr>
              <a:t>BUT</a:t>
            </a:r>
          </a:p>
          <a:p>
            <a:r>
              <a:rPr lang="en-NZ" sz="2200" dirty="0">
                <a:latin typeface="Calibri" panose="020F0502020204030204" pitchFamily="34" charset="0"/>
                <a:cs typeface="Calibri" panose="020F0502020204030204" pitchFamily="34" charset="0"/>
              </a:rPr>
              <a:t>As the gas exchange surface must be moist, in terrestrial animals water is continuously lost from the gas exchange surface by evaporation.</a:t>
            </a:r>
          </a:p>
          <a:p>
            <a:pPr marL="0" indent="0">
              <a:buNone/>
            </a:pPr>
            <a:r>
              <a:rPr lang="en-NZ" sz="2200" dirty="0">
                <a:latin typeface="Calibri" panose="020F0502020204030204" pitchFamily="34" charset="0"/>
                <a:cs typeface="Calibri" panose="020F0502020204030204" pitchFamily="34" charset="0"/>
              </a:rPr>
              <a:t>SO</a:t>
            </a:r>
          </a:p>
          <a:p>
            <a:r>
              <a:rPr lang="en-NZ" sz="2200" dirty="0">
                <a:latin typeface="Calibri" panose="020F0502020204030204" pitchFamily="34" charset="0"/>
                <a:cs typeface="Calibri" panose="020F0502020204030204" pitchFamily="34" charset="0"/>
              </a:rPr>
              <a:t>The gas exchange surface is folded into the body to reduce water loss.</a:t>
            </a:r>
            <a:endParaRPr lang="en-GB"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88714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0070C0"/>
                </a:solidFill>
              </a:rPr>
              <a:t>Gas Exchange in Air</a:t>
            </a:r>
          </a:p>
        </p:txBody>
      </p:sp>
      <p:sp>
        <p:nvSpPr>
          <p:cNvPr id="3" name="Content Placeholder 2"/>
          <p:cNvSpPr>
            <a:spLocks noGrp="1"/>
          </p:cNvSpPr>
          <p:nvPr>
            <p:ph sz="quarter" idx="1"/>
          </p:nvPr>
        </p:nvSpPr>
        <p:spPr>
          <a:xfrm>
            <a:off x="612648" y="1600200"/>
            <a:ext cx="8153400" cy="2044824"/>
          </a:xfrm>
        </p:spPr>
        <p:txBody>
          <a:bodyPr>
            <a:normAutofit/>
          </a:bodyPr>
          <a:lstStyle/>
          <a:p>
            <a:r>
              <a:rPr lang="en-AU" sz="2400" dirty="0">
                <a:latin typeface="Calibri" panose="020F0502020204030204" pitchFamily="34" charset="0"/>
                <a:cs typeface="Calibri" panose="020F0502020204030204" pitchFamily="34" charset="0"/>
              </a:rPr>
              <a:t>Land animals (terrestrial animals) must get the oxygen from the air.</a:t>
            </a:r>
          </a:p>
          <a:p>
            <a:r>
              <a:rPr lang="en-AU" sz="2400" dirty="0">
                <a:latin typeface="Calibri" panose="020F0502020204030204" pitchFamily="34" charset="0"/>
                <a:cs typeface="Calibri" panose="020F0502020204030204" pitchFamily="34" charset="0"/>
              </a:rPr>
              <a:t>Many terrestrial animals have lungs.</a:t>
            </a:r>
          </a:p>
          <a:p>
            <a:r>
              <a:rPr lang="en-AU" sz="2400" dirty="0">
                <a:latin typeface="Calibri" panose="020F0502020204030204" pitchFamily="34" charset="0"/>
                <a:cs typeface="Calibri" panose="020F0502020204030204" pitchFamily="34" charset="0"/>
              </a:rPr>
              <a:t>Insects have a system known as the tracheae.</a:t>
            </a:r>
          </a:p>
        </p:txBody>
      </p:sp>
      <p:pic>
        <p:nvPicPr>
          <p:cNvPr id="7170" name="Picture 2" descr="http://rbssanimalsystems4.wikispaces.com/file/view/lungs.jpg/291192233/381x266/lung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3" y="3573016"/>
            <a:ext cx="4432369" cy="3094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001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323528" y="188640"/>
            <a:ext cx="8640960" cy="824136"/>
          </a:xfrm>
        </p:spPr>
        <p:txBody>
          <a:bodyPr>
            <a:normAutofit fontScale="90000"/>
          </a:bodyPr>
          <a:lstStyle/>
          <a:p>
            <a:r>
              <a:rPr lang="en-NZ" dirty="0">
                <a:solidFill>
                  <a:srgbClr val="0070C0"/>
                </a:solidFill>
              </a:rPr>
              <a:t>Gas Exchange in Air – Mammalian Lungs</a:t>
            </a:r>
            <a:endParaRPr lang="en-GB" dirty="0">
              <a:solidFill>
                <a:srgbClr val="0070C0"/>
              </a:solidFill>
            </a:endParaRPr>
          </a:p>
        </p:txBody>
      </p:sp>
      <p:sp>
        <p:nvSpPr>
          <p:cNvPr id="41987" name="Rectangle 3"/>
          <p:cNvSpPr>
            <a:spLocks noGrp="1" noChangeArrowheads="1"/>
          </p:cNvSpPr>
          <p:nvPr>
            <p:ph type="body" idx="1"/>
          </p:nvPr>
        </p:nvSpPr>
        <p:spPr/>
        <p:txBody>
          <a:bodyPr>
            <a:normAutofit/>
          </a:bodyPr>
          <a:lstStyle/>
          <a:p>
            <a:r>
              <a:rPr lang="en-GB" sz="2400" dirty="0">
                <a:latin typeface="Calibri" panose="020F0502020204030204" pitchFamily="34" charset="0"/>
                <a:cs typeface="Calibri" panose="020F0502020204030204" pitchFamily="34" charset="0"/>
              </a:rPr>
              <a:t>Movement of the diaphragm and ribs causes the lungs to be ventilated for gas exchange.</a:t>
            </a:r>
          </a:p>
        </p:txBody>
      </p:sp>
      <p:pic>
        <p:nvPicPr>
          <p:cNvPr id="41988" name="Picture 4" descr="48"/>
          <p:cNvPicPr>
            <a:picLocks noChangeAspect="1" noChangeArrowheads="1"/>
          </p:cNvPicPr>
          <p:nvPr/>
        </p:nvPicPr>
        <p:blipFill>
          <a:blip r:embed="rId2">
            <a:extLst>
              <a:ext uri="{28A0092B-C50C-407E-A947-70E740481C1C}">
                <a14:useLocalDpi xmlns:a14="http://schemas.microsoft.com/office/drawing/2010/main" val="0"/>
              </a:ext>
            </a:extLst>
          </a:blip>
          <a:srcRect b="4297"/>
          <a:stretch>
            <a:fillRect/>
          </a:stretch>
        </p:blipFill>
        <p:spPr bwMode="auto">
          <a:xfrm>
            <a:off x="1475656" y="2780928"/>
            <a:ext cx="5770786" cy="3682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355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323528" y="228600"/>
            <a:ext cx="8568952" cy="990600"/>
          </a:xfrm>
        </p:spPr>
        <p:txBody>
          <a:bodyPr>
            <a:normAutofit fontScale="90000"/>
          </a:bodyPr>
          <a:lstStyle/>
          <a:p>
            <a:r>
              <a:rPr lang="en-NZ" dirty="0">
                <a:solidFill>
                  <a:srgbClr val="0070C0"/>
                </a:solidFill>
              </a:rPr>
              <a:t>Gas Exchange in Air - Mammalian Lungs</a:t>
            </a:r>
            <a:endParaRPr lang="en-GB" dirty="0">
              <a:solidFill>
                <a:srgbClr val="0070C0"/>
              </a:solidFill>
            </a:endParaRPr>
          </a:p>
        </p:txBody>
      </p:sp>
      <p:sp>
        <p:nvSpPr>
          <p:cNvPr id="45059" name="Rectangle 3"/>
          <p:cNvSpPr>
            <a:spLocks noGrp="1" noChangeArrowheads="1"/>
          </p:cNvSpPr>
          <p:nvPr>
            <p:ph type="body" idx="1"/>
          </p:nvPr>
        </p:nvSpPr>
        <p:spPr>
          <a:xfrm>
            <a:off x="355396" y="1916832"/>
            <a:ext cx="5105675" cy="4495800"/>
          </a:xfrm>
        </p:spPr>
        <p:txBody>
          <a:bodyPr>
            <a:normAutofit/>
          </a:bodyPr>
          <a:lstStyle/>
          <a:p>
            <a:r>
              <a:rPr lang="en-GB" sz="2400" dirty="0">
                <a:latin typeface="Calibri" panose="020F0502020204030204" pitchFamily="34" charset="0"/>
                <a:cs typeface="Calibri" panose="020F0502020204030204" pitchFamily="34" charset="0"/>
              </a:rPr>
              <a:t>Mammalian lungs have a system of tubes (held open by rings of </a:t>
            </a:r>
            <a:r>
              <a:rPr lang="en-GB" sz="2400" b="1" i="1" dirty="0">
                <a:latin typeface="Calibri" panose="020F0502020204030204" pitchFamily="34" charset="0"/>
                <a:cs typeface="Calibri" panose="020F0502020204030204" pitchFamily="34" charset="0"/>
              </a:rPr>
              <a:t>cartilage</a:t>
            </a:r>
            <a:r>
              <a:rPr lang="en-GB" sz="2400" dirty="0">
                <a:latin typeface="Calibri" panose="020F0502020204030204" pitchFamily="34" charset="0"/>
                <a:cs typeface="Calibri" panose="020F0502020204030204" pitchFamily="34" charset="0"/>
              </a:rPr>
              <a:t>) that allow air to flow in and out of the lungs.</a:t>
            </a:r>
          </a:p>
          <a:p>
            <a:r>
              <a:rPr lang="en-GB" sz="2400" dirty="0">
                <a:latin typeface="Calibri" panose="020F0502020204030204" pitchFamily="34" charset="0"/>
                <a:cs typeface="Calibri" panose="020F0502020204030204" pitchFamily="34" charset="0"/>
              </a:rPr>
              <a:t>Air enters via the trachea (windpipe).</a:t>
            </a:r>
          </a:p>
          <a:p>
            <a:r>
              <a:rPr lang="en-GB" sz="2400" dirty="0">
                <a:latin typeface="Calibri" panose="020F0502020204030204" pitchFamily="34" charset="0"/>
                <a:cs typeface="Calibri" panose="020F0502020204030204" pitchFamily="34" charset="0"/>
              </a:rPr>
              <a:t>Trachea branches into two bronchi (one bronchus to each lung).</a:t>
            </a:r>
          </a:p>
          <a:p>
            <a:r>
              <a:rPr lang="en-GB" sz="2400" dirty="0">
                <a:latin typeface="Calibri" panose="020F0502020204030204" pitchFamily="34" charset="0"/>
                <a:cs typeface="Calibri" panose="020F0502020204030204" pitchFamily="34" charset="0"/>
              </a:rPr>
              <a:t>Bronchi branch into bronchioles.</a:t>
            </a:r>
          </a:p>
        </p:txBody>
      </p:sp>
      <p:pic>
        <p:nvPicPr>
          <p:cNvPr id="45063" name="Picture 7" descr="lungs"/>
          <p:cNvPicPr>
            <a:picLocks noChangeAspect="1" noChangeArrowheads="1"/>
          </p:cNvPicPr>
          <p:nvPr/>
        </p:nvPicPr>
        <p:blipFill>
          <a:blip r:embed="rId2">
            <a:extLst>
              <a:ext uri="{28A0092B-C50C-407E-A947-70E740481C1C}">
                <a14:useLocalDpi xmlns:a14="http://schemas.microsoft.com/office/drawing/2010/main" val="0"/>
              </a:ext>
            </a:extLst>
          </a:blip>
          <a:srcRect l="5394" r="8211"/>
          <a:stretch>
            <a:fillRect/>
          </a:stretch>
        </p:blipFill>
        <p:spPr bwMode="auto">
          <a:xfrm>
            <a:off x="5868143" y="1430818"/>
            <a:ext cx="2539084" cy="29389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8915" y="4369768"/>
            <a:ext cx="2857541" cy="2259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0873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67544" y="228600"/>
            <a:ext cx="8496944" cy="990600"/>
          </a:xfrm>
        </p:spPr>
        <p:txBody>
          <a:bodyPr>
            <a:normAutofit fontScale="90000"/>
          </a:bodyPr>
          <a:lstStyle/>
          <a:p>
            <a:r>
              <a:rPr lang="en-NZ" dirty="0">
                <a:solidFill>
                  <a:srgbClr val="0070C0"/>
                </a:solidFill>
              </a:rPr>
              <a:t>Gas Exchange in Air - Mammalian Lungs</a:t>
            </a:r>
            <a:endParaRPr lang="en-GB" dirty="0">
              <a:solidFill>
                <a:srgbClr val="0070C0"/>
              </a:solidFill>
            </a:endParaRPr>
          </a:p>
        </p:txBody>
      </p:sp>
      <p:sp>
        <p:nvSpPr>
          <p:cNvPr id="40963" name="Rectangle 3"/>
          <p:cNvSpPr>
            <a:spLocks noGrp="1" noChangeArrowheads="1"/>
          </p:cNvSpPr>
          <p:nvPr>
            <p:ph type="body" idx="1"/>
          </p:nvPr>
        </p:nvSpPr>
        <p:spPr>
          <a:xfrm>
            <a:off x="612648" y="1600200"/>
            <a:ext cx="8153400" cy="2260848"/>
          </a:xfrm>
        </p:spPr>
        <p:txBody>
          <a:bodyPr>
            <a:normAutofit/>
          </a:bodyPr>
          <a:lstStyle/>
          <a:p>
            <a:r>
              <a:rPr lang="en-GB" sz="2300" dirty="0">
                <a:latin typeface="Calibri" panose="020F0502020204030204" pitchFamily="34" charset="0"/>
                <a:cs typeface="Calibri" panose="020F0502020204030204" pitchFamily="34" charset="0"/>
              </a:rPr>
              <a:t>Many alveoli at the end of the bronchioles.</a:t>
            </a:r>
          </a:p>
          <a:p>
            <a:r>
              <a:rPr lang="en-GB" sz="2300" dirty="0">
                <a:latin typeface="Calibri" panose="020F0502020204030204" pitchFamily="34" charset="0"/>
                <a:cs typeface="Calibri" panose="020F0502020204030204" pitchFamily="34" charset="0"/>
              </a:rPr>
              <a:t>Alveoli walls are made of flat cells which are only one cell thick.</a:t>
            </a:r>
          </a:p>
          <a:p>
            <a:r>
              <a:rPr lang="en-GB" sz="2300" dirty="0">
                <a:latin typeface="Calibri" panose="020F0502020204030204" pitchFamily="34" charset="0"/>
                <a:cs typeface="Calibri" panose="020F0502020204030204" pitchFamily="34" charset="0"/>
              </a:rPr>
              <a:t>Each alveolus is lined with moisture.</a:t>
            </a:r>
          </a:p>
          <a:p>
            <a:r>
              <a:rPr lang="en-GB" sz="2300" dirty="0">
                <a:latin typeface="Calibri" panose="020F0502020204030204" pitchFamily="34" charset="0"/>
                <a:cs typeface="Calibri" panose="020F0502020204030204" pitchFamily="34" charset="0"/>
              </a:rPr>
              <a:t>Surrounded by capillary network carrying blood.</a:t>
            </a:r>
          </a:p>
          <a:p>
            <a:endParaRPr lang="en-GB" dirty="0"/>
          </a:p>
          <a:p>
            <a:endParaRPr lang="en-GB" dirty="0"/>
          </a:p>
          <a:p>
            <a:endParaRPr lang="en-GB" dirty="0"/>
          </a:p>
          <a:p>
            <a:endParaRPr lang="en-GB" dirty="0"/>
          </a:p>
        </p:txBody>
      </p:sp>
      <p:pic>
        <p:nvPicPr>
          <p:cNvPr id="40964" name="Picture 4" descr="0166A"/>
          <p:cNvPicPr>
            <a:picLocks noChangeAspect="1" noChangeArrowheads="1"/>
          </p:cNvPicPr>
          <p:nvPr/>
        </p:nvPicPr>
        <p:blipFill>
          <a:blip r:embed="rId2">
            <a:lum bright="18000"/>
            <a:extLst>
              <a:ext uri="{28A0092B-C50C-407E-A947-70E740481C1C}">
                <a14:useLocalDpi xmlns:a14="http://schemas.microsoft.com/office/drawing/2010/main" val="0"/>
              </a:ext>
            </a:extLst>
          </a:blip>
          <a:srcRect t="4488"/>
          <a:stretch>
            <a:fillRect/>
          </a:stretch>
        </p:blipFill>
        <p:spPr bwMode="auto">
          <a:xfrm>
            <a:off x="539552" y="3824943"/>
            <a:ext cx="3619185" cy="2592288"/>
          </a:xfrm>
          <a:prstGeom prst="rect">
            <a:avLst/>
          </a:prstGeom>
          <a:noFill/>
          <a:extLst>
            <a:ext uri="{909E8E84-426E-40DD-AFC4-6F175D3DCCD1}">
              <a14:hiddenFill xmlns:a14="http://schemas.microsoft.com/office/drawing/2010/main">
                <a:solidFill>
                  <a:srgbClr val="FFFFFF"/>
                </a:solidFill>
              </a14:hiddenFill>
            </a:ext>
          </a:extLst>
        </p:spPr>
      </p:pic>
      <p:pic>
        <p:nvPicPr>
          <p:cNvPr id="40965" name="Picture 5" descr="0166B"/>
          <p:cNvPicPr>
            <a:picLocks noChangeAspect="1" noChangeArrowheads="1"/>
          </p:cNvPicPr>
          <p:nvPr/>
        </p:nvPicPr>
        <p:blipFill>
          <a:blip r:embed="rId3">
            <a:lum bright="18000"/>
            <a:extLst>
              <a:ext uri="{28A0092B-C50C-407E-A947-70E740481C1C}">
                <a14:useLocalDpi xmlns:a14="http://schemas.microsoft.com/office/drawing/2010/main" val="0"/>
              </a:ext>
            </a:extLst>
          </a:blip>
          <a:srcRect t="4488" r="3159"/>
          <a:stretch>
            <a:fillRect/>
          </a:stretch>
        </p:blipFill>
        <p:spPr bwMode="auto">
          <a:xfrm>
            <a:off x="4716016" y="3793898"/>
            <a:ext cx="3619186" cy="2676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6349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1" name="Rectangle 2"/>
          <p:cNvSpPr>
            <a:spLocks noGrp="1" noChangeArrowheads="1"/>
          </p:cNvSpPr>
          <p:nvPr>
            <p:ph type="title"/>
          </p:nvPr>
        </p:nvSpPr>
        <p:spPr>
          <a:xfrm>
            <a:off x="467544" y="228600"/>
            <a:ext cx="8424936" cy="990600"/>
          </a:xfrm>
        </p:spPr>
        <p:txBody>
          <a:bodyPr>
            <a:normAutofit fontScale="90000"/>
          </a:bodyPr>
          <a:lstStyle/>
          <a:p>
            <a:r>
              <a:rPr lang="en-NZ" dirty="0">
                <a:solidFill>
                  <a:srgbClr val="0070C0"/>
                </a:solidFill>
              </a:rPr>
              <a:t>Gas Exchange in Air - Mammalian Lungs</a:t>
            </a:r>
            <a:endParaRPr lang="en-US" dirty="0">
              <a:solidFill>
                <a:srgbClr val="0070C0"/>
              </a:solidFill>
            </a:endParaRPr>
          </a:p>
        </p:txBody>
      </p:sp>
      <p:sp>
        <p:nvSpPr>
          <p:cNvPr id="31747" name="Rectangle 3"/>
          <p:cNvSpPr>
            <a:spLocks noGrp="1" noChangeArrowheads="1"/>
          </p:cNvSpPr>
          <p:nvPr>
            <p:ph type="body" idx="1"/>
          </p:nvPr>
        </p:nvSpPr>
        <p:spPr>
          <a:xfrm>
            <a:off x="612648" y="1600199"/>
            <a:ext cx="8153400" cy="3096619"/>
          </a:xfrm>
        </p:spPr>
        <p:txBody>
          <a:bodyPr>
            <a:normAutofit/>
          </a:bodyPr>
          <a:lstStyle/>
          <a:p>
            <a:r>
              <a:rPr lang="en-US" sz="2100" dirty="0">
                <a:latin typeface="Calibri" panose="020F0502020204030204" pitchFamily="34" charset="0"/>
                <a:cs typeface="Calibri" panose="020F0502020204030204" pitchFamily="34" charset="0"/>
              </a:rPr>
              <a:t>Air flows into and out of the lungs because of changes in the air pressure inside the lungs.</a:t>
            </a:r>
          </a:p>
          <a:p>
            <a:r>
              <a:rPr lang="en-US" sz="2100" dirty="0">
                <a:latin typeface="Calibri" panose="020F0502020204030204" pitchFamily="34" charset="0"/>
                <a:cs typeface="Calibri" panose="020F0502020204030204" pitchFamily="34" charset="0"/>
              </a:rPr>
              <a:t>Expansion of the lungs increases their volume and thus decreases the intrapulmonary pressure.</a:t>
            </a:r>
          </a:p>
          <a:p>
            <a:pPr lvl="1"/>
            <a:r>
              <a:rPr lang="en-US" sz="2100" dirty="0">
                <a:latin typeface="Calibri" panose="020F0502020204030204" pitchFamily="34" charset="0"/>
                <a:cs typeface="Calibri" panose="020F0502020204030204" pitchFamily="34" charset="0"/>
              </a:rPr>
              <a:t>Air from outside the lungs rushes in in response to the pressure gradient.</a:t>
            </a:r>
          </a:p>
          <a:p>
            <a:r>
              <a:rPr lang="en-US" sz="2100" dirty="0">
                <a:latin typeface="Calibri" panose="020F0502020204030204" pitchFamily="34" charset="0"/>
                <a:cs typeface="Calibri" panose="020F0502020204030204" pitchFamily="34" charset="0"/>
              </a:rPr>
              <a:t>When lung volume reduces during expiration, intrapulmonary pressure increases and air moves out through the mouth or nose.</a:t>
            </a:r>
          </a:p>
        </p:txBody>
      </p:sp>
      <p:sp>
        <p:nvSpPr>
          <p:cNvPr id="135173" name="Rectangle 4"/>
          <p:cNvSpPr>
            <a:spLocks/>
          </p:cNvSpPr>
          <p:nvPr/>
        </p:nvSpPr>
        <p:spPr bwMode="auto">
          <a:xfrm>
            <a:off x="3070167" y="4696818"/>
            <a:ext cx="1937742" cy="195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sz="1200" dirty="0">
                <a:solidFill>
                  <a:srgbClr val="000000"/>
                </a:solidFill>
                <a:cs typeface="Arial" charset="0"/>
              </a:rPr>
              <a:t>Boyle’s law states that at a constant temperature, the pressure and volume of a gas are inversely proportional </a:t>
            </a:r>
          </a:p>
          <a:p>
            <a:pPr marL="80364">
              <a:tabLst>
                <a:tab pos="366104" algn="l"/>
              </a:tabLst>
            </a:pPr>
            <a:r>
              <a:rPr lang="en-US" sz="1200" dirty="0">
                <a:solidFill>
                  <a:srgbClr val="000000"/>
                </a:solidFill>
                <a:cs typeface="Arial" charset="0"/>
              </a:rPr>
              <a:t>i.e. as pressure increases the volume of a gas decreases. Increasing the volume increases the space between molecules and reduces pressure.</a:t>
            </a:r>
          </a:p>
        </p:txBody>
      </p:sp>
      <p:sp>
        <p:nvSpPr>
          <p:cNvPr id="135174" name="Rectangle 5"/>
          <p:cNvSpPr>
            <a:spLocks/>
          </p:cNvSpPr>
          <p:nvPr/>
        </p:nvSpPr>
        <p:spPr bwMode="auto">
          <a:xfrm>
            <a:off x="7052743" y="5128697"/>
            <a:ext cx="1509117"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sz="1200" dirty="0">
                <a:solidFill>
                  <a:srgbClr val="000000"/>
                </a:solidFill>
                <a:cs typeface="Arial" charset="0"/>
              </a:rPr>
              <a:t>Decreasing the volume decreases the space between molecules and increases pressure.</a:t>
            </a:r>
          </a:p>
        </p:txBody>
      </p:sp>
      <p:grpSp>
        <p:nvGrpSpPr>
          <p:cNvPr id="135175" name="Group 24"/>
          <p:cNvGrpSpPr>
            <a:grpSpLocks/>
          </p:cNvGrpSpPr>
          <p:nvPr/>
        </p:nvGrpSpPr>
        <p:grpSpPr bwMode="auto">
          <a:xfrm>
            <a:off x="968740" y="4732546"/>
            <a:ext cx="1933008" cy="1944997"/>
            <a:chOff x="0" y="0"/>
            <a:chExt cx="2304" cy="2232"/>
          </a:xfrm>
        </p:grpSpPr>
        <p:sp>
          <p:nvSpPr>
            <p:cNvPr id="135195" name="Rectangle 6"/>
            <p:cNvSpPr>
              <a:spLocks/>
            </p:cNvSpPr>
            <p:nvPr/>
          </p:nvSpPr>
          <p:spPr bwMode="auto">
            <a:xfrm>
              <a:off x="0" y="0"/>
              <a:ext cx="2304" cy="2232"/>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grpSp>
          <p:nvGrpSpPr>
            <p:cNvPr id="135196" name="Group 23"/>
            <p:cNvGrpSpPr>
              <a:grpSpLocks/>
            </p:cNvGrpSpPr>
            <p:nvPr/>
          </p:nvGrpSpPr>
          <p:grpSpPr bwMode="auto">
            <a:xfrm>
              <a:off x="239" y="186"/>
              <a:ext cx="1967" cy="1901"/>
              <a:chOff x="0" y="0"/>
              <a:chExt cx="1966" cy="1901"/>
            </a:xfrm>
          </p:grpSpPr>
          <p:sp>
            <p:nvSpPr>
              <p:cNvPr id="135197" name="Oval 7"/>
              <p:cNvSpPr>
                <a:spLocks/>
              </p:cNvSpPr>
              <p:nvPr/>
            </p:nvSpPr>
            <p:spPr bwMode="auto">
              <a:xfrm>
                <a:off x="343" y="0"/>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198" name="Oval 8"/>
              <p:cNvSpPr>
                <a:spLocks/>
              </p:cNvSpPr>
              <p:nvPr/>
            </p:nvSpPr>
            <p:spPr bwMode="auto">
              <a:xfrm>
                <a:off x="0" y="712"/>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199" name="Oval 9"/>
              <p:cNvSpPr>
                <a:spLocks/>
              </p:cNvSpPr>
              <p:nvPr/>
            </p:nvSpPr>
            <p:spPr bwMode="auto">
              <a:xfrm>
                <a:off x="1539" y="262"/>
                <a:ext cx="256"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200" name="Oval 10"/>
              <p:cNvSpPr>
                <a:spLocks/>
              </p:cNvSpPr>
              <p:nvPr/>
            </p:nvSpPr>
            <p:spPr bwMode="auto">
              <a:xfrm>
                <a:off x="898" y="853"/>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201" name="Oval 11"/>
              <p:cNvSpPr>
                <a:spLocks/>
              </p:cNvSpPr>
              <p:nvPr/>
            </p:nvSpPr>
            <p:spPr bwMode="auto">
              <a:xfrm>
                <a:off x="1576" y="1597"/>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202" name="Oval 12"/>
              <p:cNvSpPr>
                <a:spLocks/>
              </p:cNvSpPr>
              <p:nvPr/>
            </p:nvSpPr>
            <p:spPr bwMode="auto">
              <a:xfrm>
                <a:off x="927" y="138"/>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203" name="Oval 13"/>
              <p:cNvSpPr>
                <a:spLocks/>
              </p:cNvSpPr>
              <p:nvPr/>
            </p:nvSpPr>
            <p:spPr bwMode="auto">
              <a:xfrm>
                <a:off x="1525" y="977"/>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204" name="Oval 14"/>
              <p:cNvSpPr>
                <a:spLocks/>
              </p:cNvSpPr>
              <p:nvPr/>
            </p:nvSpPr>
            <p:spPr bwMode="auto">
              <a:xfrm>
                <a:off x="336" y="1429"/>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205" name="Line 15"/>
              <p:cNvSpPr>
                <a:spLocks noChangeShapeType="1"/>
              </p:cNvSpPr>
              <p:nvPr/>
            </p:nvSpPr>
            <p:spPr bwMode="auto">
              <a:xfrm flipH="1">
                <a:off x="242" y="612"/>
                <a:ext cx="96" cy="120"/>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206" name="Line 16"/>
              <p:cNvSpPr>
                <a:spLocks noChangeShapeType="1"/>
              </p:cNvSpPr>
              <p:nvPr/>
            </p:nvSpPr>
            <p:spPr bwMode="auto">
              <a:xfrm rot="10800000">
                <a:off x="568" y="247"/>
                <a:ext cx="96" cy="125"/>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207" name="Line 17"/>
              <p:cNvSpPr>
                <a:spLocks noChangeShapeType="1"/>
              </p:cNvSpPr>
              <p:nvPr/>
            </p:nvSpPr>
            <p:spPr bwMode="auto">
              <a:xfrm rot="10800000" flipH="1">
                <a:off x="976" y="423"/>
                <a:ext cx="40" cy="144"/>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208" name="Line 18"/>
              <p:cNvSpPr>
                <a:spLocks noChangeShapeType="1"/>
              </p:cNvSpPr>
              <p:nvPr/>
            </p:nvSpPr>
            <p:spPr bwMode="auto">
              <a:xfrm rot="10800000">
                <a:off x="1648" y="543"/>
                <a:ext cx="2" cy="165"/>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209" name="Line 19"/>
              <p:cNvSpPr>
                <a:spLocks noChangeShapeType="1"/>
              </p:cNvSpPr>
              <p:nvPr/>
            </p:nvSpPr>
            <p:spPr bwMode="auto">
              <a:xfrm rot="10800000" flipH="1">
                <a:off x="738" y="1005"/>
                <a:ext cx="148" cy="20"/>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210" name="Line 20"/>
              <p:cNvSpPr>
                <a:spLocks noChangeShapeType="1"/>
              </p:cNvSpPr>
              <p:nvPr/>
            </p:nvSpPr>
            <p:spPr bwMode="auto">
              <a:xfrm rot="10800000" flipH="1">
                <a:off x="376" y="1687"/>
                <a:ext cx="40" cy="144"/>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211" name="Line 21"/>
              <p:cNvSpPr>
                <a:spLocks noChangeShapeType="1"/>
              </p:cNvSpPr>
              <p:nvPr/>
            </p:nvSpPr>
            <p:spPr bwMode="auto">
              <a:xfrm>
                <a:off x="1492" y="863"/>
                <a:ext cx="79" cy="127"/>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212" name="Line 22"/>
              <p:cNvSpPr>
                <a:spLocks noChangeShapeType="1"/>
              </p:cNvSpPr>
              <p:nvPr/>
            </p:nvSpPr>
            <p:spPr bwMode="auto">
              <a:xfrm rot="10800000">
                <a:off x="1828" y="1824"/>
                <a:ext cx="128" cy="77"/>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grpSp>
        <p:nvGrpSpPr>
          <p:cNvPr id="135176" name="Group 43"/>
          <p:cNvGrpSpPr>
            <a:grpSpLocks/>
          </p:cNvGrpSpPr>
          <p:nvPr/>
        </p:nvGrpSpPr>
        <p:grpSpPr bwMode="auto">
          <a:xfrm>
            <a:off x="5614329" y="4976741"/>
            <a:ext cx="1326237" cy="1476402"/>
            <a:chOff x="0" y="0"/>
            <a:chExt cx="1480" cy="1480"/>
          </a:xfrm>
        </p:grpSpPr>
        <p:sp>
          <p:nvSpPr>
            <p:cNvPr id="135177" name="Rectangle 25"/>
            <p:cNvSpPr>
              <a:spLocks/>
            </p:cNvSpPr>
            <p:nvPr/>
          </p:nvSpPr>
          <p:spPr bwMode="auto">
            <a:xfrm>
              <a:off x="0" y="0"/>
              <a:ext cx="1480" cy="1480"/>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grpSp>
          <p:nvGrpSpPr>
            <p:cNvPr id="135178" name="Group 42"/>
            <p:cNvGrpSpPr>
              <a:grpSpLocks/>
            </p:cNvGrpSpPr>
            <p:nvPr/>
          </p:nvGrpSpPr>
          <p:grpSpPr bwMode="auto">
            <a:xfrm>
              <a:off x="107" y="102"/>
              <a:ext cx="1303" cy="1262"/>
              <a:chOff x="0" y="0"/>
              <a:chExt cx="1302" cy="1261"/>
            </a:xfrm>
          </p:grpSpPr>
          <p:sp>
            <p:nvSpPr>
              <p:cNvPr id="135179" name="Oval 26"/>
              <p:cNvSpPr>
                <a:spLocks/>
              </p:cNvSpPr>
              <p:nvPr/>
            </p:nvSpPr>
            <p:spPr bwMode="auto">
              <a:xfrm>
                <a:off x="58" y="255"/>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180" name="Oval 27"/>
              <p:cNvSpPr>
                <a:spLocks/>
              </p:cNvSpPr>
              <p:nvPr/>
            </p:nvSpPr>
            <p:spPr bwMode="auto">
              <a:xfrm>
                <a:off x="386" y="627"/>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181" name="Oval 28"/>
              <p:cNvSpPr>
                <a:spLocks/>
              </p:cNvSpPr>
              <p:nvPr/>
            </p:nvSpPr>
            <p:spPr bwMode="auto">
              <a:xfrm>
                <a:off x="561" y="364"/>
                <a:ext cx="255" cy="256"/>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182" name="Oval 29"/>
              <p:cNvSpPr>
                <a:spLocks/>
              </p:cNvSpPr>
              <p:nvPr/>
            </p:nvSpPr>
            <p:spPr bwMode="auto">
              <a:xfrm>
                <a:off x="371" y="1006"/>
                <a:ext cx="256"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183" name="Oval 30"/>
              <p:cNvSpPr>
                <a:spLocks/>
              </p:cNvSpPr>
              <p:nvPr/>
            </p:nvSpPr>
            <p:spPr bwMode="auto">
              <a:xfrm>
                <a:off x="897" y="853"/>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184" name="Oval 31"/>
              <p:cNvSpPr>
                <a:spLocks/>
              </p:cNvSpPr>
              <p:nvPr/>
            </p:nvSpPr>
            <p:spPr bwMode="auto">
              <a:xfrm>
                <a:off x="955" y="299"/>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185" name="Oval 32"/>
              <p:cNvSpPr>
                <a:spLocks/>
              </p:cNvSpPr>
              <p:nvPr/>
            </p:nvSpPr>
            <p:spPr bwMode="auto">
              <a:xfrm>
                <a:off x="0" y="802"/>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186" name="Oval 33"/>
              <p:cNvSpPr>
                <a:spLocks/>
              </p:cNvSpPr>
              <p:nvPr/>
            </p:nvSpPr>
            <p:spPr bwMode="auto">
              <a:xfrm>
                <a:off x="663" y="0"/>
                <a:ext cx="255" cy="255"/>
              </a:xfrm>
              <a:prstGeom prst="ellipse">
                <a:avLst/>
              </a:prstGeom>
              <a:gradFill rotWithShape="0">
                <a:gsLst>
                  <a:gs pos="0">
                    <a:srgbClr val="FFFFFF"/>
                  </a:gs>
                  <a:gs pos="55957">
                    <a:srgbClr val="7F7FFF"/>
                  </a:gs>
                  <a:gs pos="100000">
                    <a:srgbClr val="0000FF"/>
                  </a:gs>
                </a:gsLst>
                <a:path path="rect">
                  <a:fillToRect l="39047" t="30475" r="60953" b="69525"/>
                </a:path>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5187" name="Line 34"/>
              <p:cNvSpPr>
                <a:spLocks noChangeShapeType="1"/>
              </p:cNvSpPr>
              <p:nvPr/>
            </p:nvSpPr>
            <p:spPr bwMode="auto">
              <a:xfrm flipH="1">
                <a:off x="581" y="877"/>
                <a:ext cx="69" cy="132"/>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188" name="Line 35"/>
              <p:cNvSpPr>
                <a:spLocks noChangeShapeType="1"/>
              </p:cNvSpPr>
              <p:nvPr/>
            </p:nvSpPr>
            <p:spPr bwMode="auto">
              <a:xfrm flipH="1">
                <a:off x="1161" y="895"/>
                <a:ext cx="141" cy="47"/>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189" name="Line 36"/>
              <p:cNvSpPr>
                <a:spLocks noChangeShapeType="1"/>
              </p:cNvSpPr>
              <p:nvPr/>
            </p:nvSpPr>
            <p:spPr bwMode="auto">
              <a:xfrm rot="10800000">
                <a:off x="239" y="1008"/>
                <a:ext cx="129" cy="77"/>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190" name="Line 37"/>
              <p:cNvSpPr>
                <a:spLocks noChangeShapeType="1"/>
              </p:cNvSpPr>
              <p:nvPr/>
            </p:nvSpPr>
            <p:spPr bwMode="auto">
              <a:xfrm flipH="1">
                <a:off x="326" y="243"/>
                <a:ext cx="131" cy="71"/>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191" name="Line 38"/>
              <p:cNvSpPr>
                <a:spLocks noChangeShapeType="1"/>
              </p:cNvSpPr>
              <p:nvPr/>
            </p:nvSpPr>
            <p:spPr bwMode="auto">
              <a:xfrm rot="10800000">
                <a:off x="728" y="630"/>
                <a:ext cx="31" cy="146"/>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192" name="Line 39"/>
              <p:cNvSpPr>
                <a:spLocks noChangeShapeType="1"/>
              </p:cNvSpPr>
              <p:nvPr/>
            </p:nvSpPr>
            <p:spPr bwMode="auto">
              <a:xfrm rot="10800000" flipH="1">
                <a:off x="511" y="164"/>
                <a:ext cx="145" cy="37"/>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193" name="Line 40"/>
              <p:cNvSpPr>
                <a:spLocks noChangeShapeType="1"/>
              </p:cNvSpPr>
              <p:nvPr/>
            </p:nvSpPr>
            <p:spPr bwMode="auto">
              <a:xfrm flipH="1">
                <a:off x="1115" y="143"/>
                <a:ext cx="41" cy="144"/>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35194" name="Line 41"/>
              <p:cNvSpPr>
                <a:spLocks noChangeShapeType="1"/>
              </p:cNvSpPr>
              <p:nvPr/>
            </p:nvSpPr>
            <p:spPr bwMode="auto">
              <a:xfrm rot="10800000" flipH="1">
                <a:off x="231" y="780"/>
                <a:ext cx="145" cy="37"/>
              </a:xfrm>
              <a:prstGeom prst="line">
                <a:avLst/>
              </a:prstGeom>
              <a:noFill/>
              <a:ln w="254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spTree>
    <p:extLst>
      <p:ext uri="{BB962C8B-B14F-4D97-AF65-F5344CB8AC3E}">
        <p14:creationId xmlns:p14="http://schemas.microsoft.com/office/powerpoint/2010/main" val="68552170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8" name="Rectangle 1"/>
          <p:cNvSpPr>
            <a:spLocks noGrp="1" noChangeArrowheads="1"/>
          </p:cNvSpPr>
          <p:nvPr>
            <p:ph type="title"/>
          </p:nvPr>
        </p:nvSpPr>
        <p:spPr>
          <a:xfrm>
            <a:off x="395536" y="260648"/>
            <a:ext cx="8496944" cy="990600"/>
          </a:xfrm>
        </p:spPr>
        <p:txBody>
          <a:bodyPr>
            <a:normAutofit fontScale="90000"/>
          </a:bodyPr>
          <a:lstStyle/>
          <a:p>
            <a:r>
              <a:rPr lang="en-NZ" dirty="0">
                <a:solidFill>
                  <a:srgbClr val="0070C0"/>
                </a:solidFill>
              </a:rPr>
              <a:t>Gas Exchange in Air - Mammalian Lungs</a:t>
            </a:r>
            <a:endParaRPr lang="en-US" dirty="0">
              <a:solidFill>
                <a:srgbClr val="0070C0"/>
              </a:solidFill>
            </a:endParaRPr>
          </a:p>
        </p:txBody>
      </p:sp>
      <p:sp>
        <p:nvSpPr>
          <p:cNvPr id="32770" name="Rectangle 2"/>
          <p:cNvSpPr>
            <a:spLocks noGrp="1" noChangeArrowheads="1"/>
          </p:cNvSpPr>
          <p:nvPr>
            <p:ph type="body" idx="1"/>
          </p:nvPr>
        </p:nvSpPr>
        <p:spPr>
          <a:xfrm>
            <a:off x="197543" y="1691340"/>
            <a:ext cx="3600400" cy="4925144"/>
          </a:xfrm>
        </p:spPr>
        <p:txBody>
          <a:bodyPr>
            <a:normAutofit lnSpcReduction="10000"/>
          </a:bodyPr>
          <a:lstStyle/>
          <a:p>
            <a:pPr marL="0" indent="0">
              <a:buNone/>
            </a:pPr>
            <a:r>
              <a:rPr lang="en-US" sz="2200" dirty="0">
                <a:latin typeface="Calibri" panose="020F0502020204030204" pitchFamily="34" charset="0"/>
                <a:cs typeface="Calibri" panose="020F0502020204030204" pitchFamily="34" charset="0"/>
              </a:rPr>
              <a:t>INSPIRATION – breathing in</a:t>
            </a:r>
          </a:p>
          <a:p>
            <a:r>
              <a:rPr lang="en-US" sz="2200" dirty="0">
                <a:latin typeface="Calibri" panose="020F0502020204030204" pitchFamily="34" charset="0"/>
                <a:cs typeface="Calibri" panose="020F0502020204030204" pitchFamily="34" charset="0"/>
              </a:rPr>
              <a:t>During quiet breathing (at rest) inspiration is achieved by increasing the space (and therefore decreasing the pressure) inside the lungs.</a:t>
            </a:r>
          </a:p>
          <a:p>
            <a:r>
              <a:rPr lang="en-US" sz="2200" dirty="0">
                <a:latin typeface="Calibri" panose="020F0502020204030204" pitchFamily="34" charset="0"/>
                <a:cs typeface="Calibri" panose="020F0502020204030204" pitchFamily="34" charset="0"/>
              </a:rPr>
              <a:t>Air then flows into the lungs in response to decreased pressure inside the lungs.</a:t>
            </a:r>
          </a:p>
          <a:p>
            <a:r>
              <a:rPr lang="en-US" sz="2200" dirty="0">
                <a:latin typeface="Calibri" panose="020F0502020204030204" pitchFamily="34" charset="0"/>
                <a:cs typeface="Calibri" panose="020F0502020204030204" pitchFamily="34" charset="0"/>
              </a:rPr>
              <a:t>Inspiration is always an active process involving muscle contraction.</a:t>
            </a:r>
          </a:p>
        </p:txBody>
      </p:sp>
      <p:grpSp>
        <p:nvGrpSpPr>
          <p:cNvPr id="137220" name="Group 7"/>
          <p:cNvGrpSpPr>
            <a:grpSpLocks/>
          </p:cNvGrpSpPr>
          <p:nvPr/>
        </p:nvGrpSpPr>
        <p:grpSpPr bwMode="auto">
          <a:xfrm>
            <a:off x="4307265" y="1249320"/>
            <a:ext cx="2250281" cy="812602"/>
            <a:chOff x="0" y="0"/>
            <a:chExt cx="2016" cy="728"/>
          </a:xfrm>
        </p:grpSpPr>
        <p:sp>
          <p:nvSpPr>
            <p:cNvPr id="137237" name="Rectangle 3"/>
            <p:cNvSpPr>
              <a:spLocks/>
            </p:cNvSpPr>
            <p:nvPr/>
          </p:nvSpPr>
          <p:spPr bwMode="auto">
            <a:xfrm>
              <a:off x="344" y="64"/>
              <a:ext cx="1672"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80364">
                <a:tabLst>
                  <a:tab pos="366104" algn="l"/>
                </a:tabLst>
              </a:pPr>
              <a:r>
                <a:rPr lang="en-US" dirty="0">
                  <a:solidFill>
                    <a:srgbClr val="000000"/>
                  </a:solidFill>
                  <a:cs typeface="Arial" charset="0"/>
                </a:rPr>
                <a:t>External intercostal muscles contract causing the ribcage to expand and move up</a:t>
              </a:r>
            </a:p>
          </p:txBody>
        </p:sp>
        <p:grpSp>
          <p:nvGrpSpPr>
            <p:cNvPr id="137238" name="Group 6"/>
            <p:cNvGrpSpPr>
              <a:grpSpLocks/>
            </p:cNvGrpSpPr>
            <p:nvPr/>
          </p:nvGrpSpPr>
          <p:grpSpPr bwMode="auto">
            <a:xfrm>
              <a:off x="0" y="0"/>
              <a:ext cx="320" cy="312"/>
              <a:chOff x="0" y="0"/>
              <a:chExt cx="320" cy="312"/>
            </a:xfrm>
          </p:grpSpPr>
          <p:sp>
            <p:nvSpPr>
              <p:cNvPr id="137239" name="Oval 4"/>
              <p:cNvSpPr>
                <a:spLocks/>
              </p:cNvSpPr>
              <p:nvPr/>
            </p:nvSpPr>
            <p:spPr bwMode="auto">
              <a:xfrm>
                <a:off x="8" y="0"/>
                <a:ext cx="312" cy="312"/>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7240" name="Rectangle 5"/>
              <p:cNvSpPr>
                <a:spLocks/>
              </p:cNvSpPr>
              <p:nvPr/>
            </p:nvSpPr>
            <p:spPr bwMode="auto">
              <a:xfrm>
                <a:off x="0" y="72"/>
                <a:ext cx="312"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b="1">
                    <a:solidFill>
                      <a:srgbClr val="FFFFFF"/>
                    </a:solidFill>
                    <a:cs typeface="Arial" charset="0"/>
                  </a:rPr>
                  <a:t>1a</a:t>
                </a:r>
              </a:p>
            </p:txBody>
          </p:sp>
        </p:grpSp>
      </p:grpSp>
      <p:grpSp>
        <p:nvGrpSpPr>
          <p:cNvPr id="137221" name="Group 12"/>
          <p:cNvGrpSpPr>
            <a:grpSpLocks/>
          </p:cNvGrpSpPr>
          <p:nvPr/>
        </p:nvGrpSpPr>
        <p:grpSpPr bwMode="auto">
          <a:xfrm>
            <a:off x="3907779" y="3062046"/>
            <a:ext cx="2018109" cy="455414"/>
            <a:chOff x="0" y="0"/>
            <a:chExt cx="1808" cy="408"/>
          </a:xfrm>
        </p:grpSpPr>
        <p:sp>
          <p:nvSpPr>
            <p:cNvPr id="137233" name="Rectangle 8"/>
            <p:cNvSpPr>
              <a:spLocks/>
            </p:cNvSpPr>
            <p:nvPr/>
          </p:nvSpPr>
          <p:spPr bwMode="auto">
            <a:xfrm>
              <a:off x="312" y="80"/>
              <a:ext cx="1496"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80364">
                <a:tabLst>
                  <a:tab pos="366104" algn="l"/>
                </a:tabLst>
              </a:pPr>
              <a:r>
                <a:rPr lang="en-US" dirty="0">
                  <a:solidFill>
                    <a:srgbClr val="000000"/>
                  </a:solidFill>
                  <a:cs typeface="Arial" charset="0"/>
                </a:rPr>
                <a:t>Diaphragm contracts and moves down.</a:t>
              </a:r>
            </a:p>
          </p:txBody>
        </p:sp>
        <p:grpSp>
          <p:nvGrpSpPr>
            <p:cNvPr id="137234" name="Group 11"/>
            <p:cNvGrpSpPr>
              <a:grpSpLocks/>
            </p:cNvGrpSpPr>
            <p:nvPr/>
          </p:nvGrpSpPr>
          <p:grpSpPr bwMode="auto">
            <a:xfrm>
              <a:off x="0" y="0"/>
              <a:ext cx="312" cy="312"/>
              <a:chOff x="0" y="0"/>
              <a:chExt cx="312" cy="312"/>
            </a:xfrm>
          </p:grpSpPr>
          <p:sp>
            <p:nvSpPr>
              <p:cNvPr id="137235" name="Oval 9"/>
              <p:cNvSpPr>
                <a:spLocks/>
              </p:cNvSpPr>
              <p:nvPr/>
            </p:nvSpPr>
            <p:spPr bwMode="auto">
              <a:xfrm>
                <a:off x="0" y="0"/>
                <a:ext cx="312" cy="312"/>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7236" name="Rectangle 10"/>
              <p:cNvSpPr>
                <a:spLocks/>
              </p:cNvSpPr>
              <p:nvPr/>
            </p:nvSpPr>
            <p:spPr bwMode="auto">
              <a:xfrm>
                <a:off x="0" y="72"/>
                <a:ext cx="312"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b="1">
                    <a:solidFill>
                      <a:srgbClr val="FFFFFF"/>
                    </a:solidFill>
                    <a:cs typeface="Arial" charset="0"/>
                  </a:rPr>
                  <a:t>1b</a:t>
                </a:r>
              </a:p>
            </p:txBody>
          </p:sp>
        </p:grpSp>
      </p:grpSp>
      <p:grpSp>
        <p:nvGrpSpPr>
          <p:cNvPr id="137222" name="Group 17"/>
          <p:cNvGrpSpPr>
            <a:grpSpLocks/>
          </p:cNvGrpSpPr>
          <p:nvPr/>
        </p:nvGrpSpPr>
        <p:grpSpPr bwMode="auto">
          <a:xfrm>
            <a:off x="3915667" y="4794957"/>
            <a:ext cx="1902023" cy="1017984"/>
            <a:chOff x="0" y="0"/>
            <a:chExt cx="1704" cy="912"/>
          </a:xfrm>
        </p:grpSpPr>
        <p:sp>
          <p:nvSpPr>
            <p:cNvPr id="137229" name="Rectangle 13"/>
            <p:cNvSpPr>
              <a:spLocks/>
            </p:cNvSpPr>
            <p:nvPr/>
          </p:nvSpPr>
          <p:spPr bwMode="auto">
            <a:xfrm>
              <a:off x="312" y="80"/>
              <a:ext cx="1392"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80364">
                <a:tabLst>
                  <a:tab pos="366104" algn="l"/>
                </a:tabLst>
              </a:pPr>
              <a:r>
                <a:rPr lang="en-US" dirty="0">
                  <a:solidFill>
                    <a:srgbClr val="000000"/>
                  </a:solidFill>
                  <a:cs typeface="Arial" charset="0"/>
                </a:rPr>
                <a:t>Thoracic volume increases, lungs expand, and the pressure inside the lungs decreases</a:t>
              </a:r>
            </a:p>
          </p:txBody>
        </p:sp>
        <p:grpSp>
          <p:nvGrpSpPr>
            <p:cNvPr id="137230" name="Group 16"/>
            <p:cNvGrpSpPr>
              <a:grpSpLocks/>
            </p:cNvGrpSpPr>
            <p:nvPr/>
          </p:nvGrpSpPr>
          <p:grpSpPr bwMode="auto">
            <a:xfrm>
              <a:off x="0" y="0"/>
              <a:ext cx="312" cy="312"/>
              <a:chOff x="0" y="0"/>
              <a:chExt cx="312" cy="312"/>
            </a:xfrm>
          </p:grpSpPr>
          <p:sp>
            <p:nvSpPr>
              <p:cNvPr id="137231" name="Oval 14"/>
              <p:cNvSpPr>
                <a:spLocks/>
              </p:cNvSpPr>
              <p:nvPr/>
            </p:nvSpPr>
            <p:spPr bwMode="auto">
              <a:xfrm>
                <a:off x="0" y="0"/>
                <a:ext cx="312" cy="312"/>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7232" name="Rectangle 15"/>
              <p:cNvSpPr>
                <a:spLocks/>
              </p:cNvSpPr>
              <p:nvPr/>
            </p:nvSpPr>
            <p:spPr bwMode="auto">
              <a:xfrm>
                <a:off x="8" y="72"/>
                <a:ext cx="29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b="1">
                    <a:solidFill>
                      <a:srgbClr val="FFFFFF"/>
                    </a:solidFill>
                    <a:cs typeface="Arial" charset="0"/>
                  </a:rPr>
                  <a:t>2a</a:t>
                </a:r>
              </a:p>
            </p:txBody>
          </p:sp>
        </p:grpSp>
      </p:grpSp>
      <p:grpSp>
        <p:nvGrpSpPr>
          <p:cNvPr id="137223" name="Group 22"/>
          <p:cNvGrpSpPr>
            <a:grpSpLocks/>
          </p:cNvGrpSpPr>
          <p:nvPr/>
        </p:nvGrpSpPr>
        <p:grpSpPr bwMode="auto">
          <a:xfrm>
            <a:off x="6241468" y="5437894"/>
            <a:ext cx="2232422" cy="651867"/>
            <a:chOff x="0" y="0"/>
            <a:chExt cx="2000" cy="584"/>
          </a:xfrm>
        </p:grpSpPr>
        <p:sp>
          <p:nvSpPr>
            <p:cNvPr id="137225" name="Rectangle 18"/>
            <p:cNvSpPr>
              <a:spLocks/>
            </p:cNvSpPr>
            <p:nvPr/>
          </p:nvSpPr>
          <p:spPr bwMode="auto">
            <a:xfrm>
              <a:off x="328" y="88"/>
              <a:ext cx="1672"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80364">
                <a:tabLst>
                  <a:tab pos="366104" algn="l"/>
                </a:tabLst>
              </a:pPr>
              <a:r>
                <a:rPr lang="en-US" dirty="0">
                  <a:solidFill>
                    <a:srgbClr val="000000"/>
                  </a:solidFill>
                  <a:cs typeface="Arial" charset="0"/>
                </a:rPr>
                <a:t>Air flows into the lungs in response to the pressure gradient</a:t>
              </a:r>
            </a:p>
          </p:txBody>
        </p:sp>
        <p:grpSp>
          <p:nvGrpSpPr>
            <p:cNvPr id="137226" name="Group 21"/>
            <p:cNvGrpSpPr>
              <a:grpSpLocks/>
            </p:cNvGrpSpPr>
            <p:nvPr/>
          </p:nvGrpSpPr>
          <p:grpSpPr bwMode="auto">
            <a:xfrm>
              <a:off x="0" y="0"/>
              <a:ext cx="312" cy="312"/>
              <a:chOff x="0" y="0"/>
              <a:chExt cx="312" cy="312"/>
            </a:xfrm>
          </p:grpSpPr>
          <p:sp>
            <p:nvSpPr>
              <p:cNvPr id="137227" name="Oval 19"/>
              <p:cNvSpPr>
                <a:spLocks/>
              </p:cNvSpPr>
              <p:nvPr/>
            </p:nvSpPr>
            <p:spPr bwMode="auto">
              <a:xfrm>
                <a:off x="0" y="0"/>
                <a:ext cx="312" cy="312"/>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7228" name="Rectangle 20"/>
              <p:cNvSpPr>
                <a:spLocks/>
              </p:cNvSpPr>
              <p:nvPr/>
            </p:nvSpPr>
            <p:spPr bwMode="auto">
              <a:xfrm>
                <a:off x="8" y="80"/>
                <a:ext cx="29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b="1" dirty="0">
                    <a:solidFill>
                      <a:srgbClr val="FFFFFF"/>
                    </a:solidFill>
                    <a:cs typeface="Arial" charset="0"/>
                  </a:rPr>
                  <a:t>2b</a:t>
                </a:r>
              </a:p>
            </p:txBody>
          </p:sp>
        </p:grpSp>
      </p:grpSp>
      <p:pic>
        <p:nvPicPr>
          <p:cNvPr id="137224"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2492" y="1307363"/>
            <a:ext cx="3297287" cy="396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Tree>
    <p:extLst>
      <p:ext uri="{BB962C8B-B14F-4D97-AF65-F5344CB8AC3E}">
        <p14:creationId xmlns:p14="http://schemas.microsoft.com/office/powerpoint/2010/main" val="2530128937"/>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3926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8184" y="1157864"/>
            <a:ext cx="2815084" cy="4098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39267" name="Rectangle 2"/>
          <p:cNvSpPr>
            <a:spLocks noGrp="1" noChangeArrowheads="1"/>
          </p:cNvSpPr>
          <p:nvPr>
            <p:ph type="title"/>
          </p:nvPr>
        </p:nvSpPr>
        <p:spPr>
          <a:xfrm>
            <a:off x="467544" y="228600"/>
            <a:ext cx="8424936" cy="990600"/>
          </a:xfrm>
        </p:spPr>
        <p:txBody>
          <a:bodyPr>
            <a:normAutofit fontScale="90000"/>
          </a:bodyPr>
          <a:lstStyle/>
          <a:p>
            <a:r>
              <a:rPr lang="en-NZ" dirty="0">
                <a:solidFill>
                  <a:srgbClr val="0070C0"/>
                </a:solidFill>
              </a:rPr>
              <a:t>Gas Exchange in Air - Mammalian Lungs</a:t>
            </a:r>
            <a:endParaRPr lang="en-US" dirty="0">
              <a:solidFill>
                <a:srgbClr val="0070C0"/>
              </a:solidFill>
            </a:endParaRPr>
          </a:p>
        </p:txBody>
      </p:sp>
      <p:sp>
        <p:nvSpPr>
          <p:cNvPr id="33795" name="Rectangle 3"/>
          <p:cNvSpPr>
            <a:spLocks noGrp="1" noChangeArrowheads="1"/>
          </p:cNvSpPr>
          <p:nvPr>
            <p:ph type="body" idx="1"/>
          </p:nvPr>
        </p:nvSpPr>
        <p:spPr>
          <a:xfrm>
            <a:off x="224730" y="1653308"/>
            <a:ext cx="3705571" cy="5029200"/>
          </a:xfrm>
        </p:spPr>
        <p:txBody>
          <a:bodyPr>
            <a:normAutofit/>
          </a:bodyPr>
          <a:lstStyle/>
          <a:p>
            <a:pPr marL="0" indent="0">
              <a:buNone/>
            </a:pPr>
            <a:r>
              <a:rPr lang="en-US" sz="2100" dirty="0">
                <a:latin typeface="Calibri" panose="020F0502020204030204" pitchFamily="34" charset="0"/>
                <a:cs typeface="Calibri" panose="020F0502020204030204" pitchFamily="34" charset="0"/>
              </a:rPr>
              <a:t>EXPIRATION – breathing out</a:t>
            </a:r>
          </a:p>
          <a:p>
            <a:r>
              <a:rPr lang="en-US" sz="2100" dirty="0">
                <a:latin typeface="Calibri" panose="020F0502020204030204" pitchFamily="34" charset="0"/>
                <a:cs typeface="Calibri" panose="020F0502020204030204" pitchFamily="34" charset="0"/>
              </a:rPr>
              <a:t>During quiet breathing, expiration is achieved passively by decreasing the space (and thus increasing the pressure) inside the lungs. </a:t>
            </a:r>
          </a:p>
          <a:p>
            <a:r>
              <a:rPr lang="en-US" sz="2100" dirty="0">
                <a:latin typeface="Calibri" panose="020F0502020204030204" pitchFamily="34" charset="0"/>
                <a:cs typeface="Calibri" panose="020F0502020204030204" pitchFamily="34" charset="0"/>
              </a:rPr>
              <a:t>Air then flows passively out of the lungs to equalize with the air pressure.</a:t>
            </a:r>
          </a:p>
          <a:p>
            <a:r>
              <a:rPr lang="en-US" sz="2100" dirty="0">
                <a:latin typeface="Calibri" panose="020F0502020204030204" pitchFamily="34" charset="0"/>
                <a:cs typeface="Calibri" panose="020F0502020204030204" pitchFamily="34" charset="0"/>
              </a:rPr>
              <a:t>In active breathing, muscle contraction is involved in bringing about both inspiration and expiration.</a:t>
            </a:r>
          </a:p>
        </p:txBody>
      </p:sp>
      <p:grpSp>
        <p:nvGrpSpPr>
          <p:cNvPr id="139269" name="Group 8"/>
          <p:cNvGrpSpPr>
            <a:grpSpLocks/>
          </p:cNvGrpSpPr>
          <p:nvPr/>
        </p:nvGrpSpPr>
        <p:grpSpPr bwMode="auto">
          <a:xfrm>
            <a:off x="4131219" y="1361777"/>
            <a:ext cx="2447851" cy="1187648"/>
            <a:chOff x="0" y="0"/>
            <a:chExt cx="2193" cy="1064"/>
          </a:xfrm>
        </p:grpSpPr>
        <p:sp>
          <p:nvSpPr>
            <p:cNvPr id="139285" name="Rectangle 4"/>
            <p:cNvSpPr>
              <a:spLocks/>
            </p:cNvSpPr>
            <p:nvPr/>
          </p:nvSpPr>
          <p:spPr bwMode="auto">
            <a:xfrm>
              <a:off x="336" y="64"/>
              <a:ext cx="1857" cy="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80364">
                <a:tabLst>
                  <a:tab pos="366104" algn="l"/>
                </a:tabLst>
              </a:pPr>
              <a:r>
                <a:rPr lang="en-US" dirty="0">
                  <a:solidFill>
                    <a:srgbClr val="000000"/>
                  </a:solidFill>
                  <a:cs typeface="Arial" charset="0"/>
                </a:rPr>
                <a:t>In quiet breathing, external intercostal muscles and the diaphragm relax. Elasticity of the lung tissue causes recoil.</a:t>
              </a:r>
            </a:p>
          </p:txBody>
        </p:sp>
        <p:grpSp>
          <p:nvGrpSpPr>
            <p:cNvPr id="139286" name="Group 7"/>
            <p:cNvGrpSpPr>
              <a:grpSpLocks/>
            </p:cNvGrpSpPr>
            <p:nvPr/>
          </p:nvGrpSpPr>
          <p:grpSpPr bwMode="auto">
            <a:xfrm>
              <a:off x="0" y="0"/>
              <a:ext cx="312" cy="312"/>
              <a:chOff x="0" y="0"/>
              <a:chExt cx="312" cy="312"/>
            </a:xfrm>
          </p:grpSpPr>
          <p:sp>
            <p:nvSpPr>
              <p:cNvPr id="139287" name="Oval 5"/>
              <p:cNvSpPr>
                <a:spLocks/>
              </p:cNvSpPr>
              <p:nvPr/>
            </p:nvSpPr>
            <p:spPr bwMode="auto">
              <a:xfrm>
                <a:off x="0" y="0"/>
                <a:ext cx="312" cy="312"/>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9288" name="Rectangle 6"/>
              <p:cNvSpPr>
                <a:spLocks/>
              </p:cNvSpPr>
              <p:nvPr/>
            </p:nvSpPr>
            <p:spPr bwMode="auto">
              <a:xfrm>
                <a:off x="0" y="72"/>
                <a:ext cx="312"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b="1">
                    <a:solidFill>
                      <a:srgbClr val="FFFFFF"/>
                    </a:solidFill>
                    <a:cs typeface="Arial" charset="0"/>
                  </a:rPr>
                  <a:t>1a</a:t>
                </a:r>
              </a:p>
            </p:txBody>
          </p:sp>
        </p:grpSp>
      </p:grpSp>
      <p:grpSp>
        <p:nvGrpSpPr>
          <p:cNvPr id="139270" name="Group 13"/>
          <p:cNvGrpSpPr>
            <a:grpSpLocks/>
          </p:cNvGrpSpPr>
          <p:nvPr/>
        </p:nvGrpSpPr>
        <p:grpSpPr bwMode="auto">
          <a:xfrm>
            <a:off x="3957090" y="3356992"/>
            <a:ext cx="2234654" cy="1393031"/>
            <a:chOff x="0" y="0"/>
            <a:chExt cx="2002" cy="1248"/>
          </a:xfrm>
        </p:grpSpPr>
        <p:sp>
          <p:nvSpPr>
            <p:cNvPr id="139281" name="Rectangle 9"/>
            <p:cNvSpPr>
              <a:spLocks/>
            </p:cNvSpPr>
            <p:nvPr/>
          </p:nvSpPr>
          <p:spPr bwMode="auto">
            <a:xfrm>
              <a:off x="312" y="80"/>
              <a:ext cx="1690" cy="1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80364">
                <a:tabLst>
                  <a:tab pos="366104" algn="l"/>
                </a:tabLst>
              </a:pPr>
              <a:r>
                <a:rPr lang="en-US" dirty="0">
                  <a:solidFill>
                    <a:srgbClr val="000000"/>
                  </a:solidFill>
                  <a:cs typeface="Arial" charset="0"/>
                </a:rPr>
                <a:t>In forced breathing the internal </a:t>
              </a:r>
              <a:r>
                <a:rPr lang="en-US" dirty="0" err="1">
                  <a:solidFill>
                    <a:srgbClr val="000000"/>
                  </a:solidFill>
                  <a:cs typeface="Arial" charset="0"/>
                </a:rPr>
                <a:t>intercostals</a:t>
              </a:r>
              <a:r>
                <a:rPr lang="en-US" dirty="0">
                  <a:solidFill>
                    <a:srgbClr val="000000"/>
                  </a:solidFill>
                  <a:cs typeface="Arial" charset="0"/>
                </a:rPr>
                <a:t> and abdominal muscles also contract to increase the force of expiration.</a:t>
              </a:r>
            </a:p>
          </p:txBody>
        </p:sp>
        <p:grpSp>
          <p:nvGrpSpPr>
            <p:cNvPr id="139282" name="Group 12"/>
            <p:cNvGrpSpPr>
              <a:grpSpLocks/>
            </p:cNvGrpSpPr>
            <p:nvPr/>
          </p:nvGrpSpPr>
          <p:grpSpPr bwMode="auto">
            <a:xfrm>
              <a:off x="0" y="0"/>
              <a:ext cx="312" cy="312"/>
              <a:chOff x="0" y="0"/>
              <a:chExt cx="312" cy="312"/>
            </a:xfrm>
          </p:grpSpPr>
          <p:sp>
            <p:nvSpPr>
              <p:cNvPr id="139283" name="Oval 10"/>
              <p:cNvSpPr>
                <a:spLocks/>
              </p:cNvSpPr>
              <p:nvPr/>
            </p:nvSpPr>
            <p:spPr bwMode="auto">
              <a:xfrm>
                <a:off x="0" y="0"/>
                <a:ext cx="312" cy="312"/>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9284" name="Rectangle 11"/>
              <p:cNvSpPr>
                <a:spLocks/>
              </p:cNvSpPr>
              <p:nvPr/>
            </p:nvSpPr>
            <p:spPr bwMode="auto">
              <a:xfrm>
                <a:off x="0" y="76"/>
                <a:ext cx="312"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b="1">
                    <a:solidFill>
                      <a:srgbClr val="FFFFFF"/>
                    </a:solidFill>
                    <a:cs typeface="Arial" charset="0"/>
                  </a:rPr>
                  <a:t>1b</a:t>
                </a:r>
              </a:p>
            </p:txBody>
          </p:sp>
        </p:grpSp>
      </p:grpSp>
      <p:grpSp>
        <p:nvGrpSpPr>
          <p:cNvPr id="139271" name="Group 18"/>
          <p:cNvGrpSpPr>
            <a:grpSpLocks/>
          </p:cNvGrpSpPr>
          <p:nvPr/>
        </p:nvGrpSpPr>
        <p:grpSpPr bwMode="auto">
          <a:xfrm>
            <a:off x="4748012" y="5429249"/>
            <a:ext cx="2200051" cy="830461"/>
            <a:chOff x="0" y="0"/>
            <a:chExt cx="1971" cy="744"/>
          </a:xfrm>
        </p:grpSpPr>
        <p:sp>
          <p:nvSpPr>
            <p:cNvPr id="139277" name="Rectangle 14"/>
            <p:cNvSpPr>
              <a:spLocks/>
            </p:cNvSpPr>
            <p:nvPr/>
          </p:nvSpPr>
          <p:spPr bwMode="auto">
            <a:xfrm>
              <a:off x="312" y="80"/>
              <a:ext cx="1659"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80364">
                <a:tabLst>
                  <a:tab pos="366104" algn="l"/>
                </a:tabLst>
              </a:pPr>
              <a:r>
                <a:rPr lang="en-US" dirty="0">
                  <a:solidFill>
                    <a:srgbClr val="000000"/>
                  </a:solidFill>
                  <a:cs typeface="Arial" charset="0"/>
                </a:rPr>
                <a:t>Thoracic volume decreases and the pressure inside the lungs increases.</a:t>
              </a:r>
            </a:p>
          </p:txBody>
        </p:sp>
        <p:grpSp>
          <p:nvGrpSpPr>
            <p:cNvPr id="139278" name="Group 17"/>
            <p:cNvGrpSpPr>
              <a:grpSpLocks/>
            </p:cNvGrpSpPr>
            <p:nvPr/>
          </p:nvGrpSpPr>
          <p:grpSpPr bwMode="auto">
            <a:xfrm>
              <a:off x="0" y="0"/>
              <a:ext cx="352" cy="312"/>
              <a:chOff x="0" y="0"/>
              <a:chExt cx="352" cy="312"/>
            </a:xfrm>
          </p:grpSpPr>
          <p:sp>
            <p:nvSpPr>
              <p:cNvPr id="139279" name="Oval 15"/>
              <p:cNvSpPr>
                <a:spLocks/>
              </p:cNvSpPr>
              <p:nvPr/>
            </p:nvSpPr>
            <p:spPr bwMode="auto">
              <a:xfrm>
                <a:off x="0" y="0"/>
                <a:ext cx="312" cy="312"/>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9280" name="Rectangle 16"/>
              <p:cNvSpPr>
                <a:spLocks/>
              </p:cNvSpPr>
              <p:nvPr/>
            </p:nvSpPr>
            <p:spPr bwMode="auto">
              <a:xfrm>
                <a:off x="40" y="80"/>
                <a:ext cx="312"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b="1">
                    <a:solidFill>
                      <a:srgbClr val="FFFFFF"/>
                    </a:solidFill>
                    <a:cs typeface="Arial" charset="0"/>
                  </a:rPr>
                  <a:t>2</a:t>
                </a:r>
              </a:p>
            </p:txBody>
          </p:sp>
        </p:grpSp>
      </p:grpSp>
      <p:grpSp>
        <p:nvGrpSpPr>
          <p:cNvPr id="139272" name="Group 23"/>
          <p:cNvGrpSpPr>
            <a:grpSpLocks/>
          </p:cNvGrpSpPr>
          <p:nvPr/>
        </p:nvGrpSpPr>
        <p:grpSpPr bwMode="auto">
          <a:xfrm>
            <a:off x="6847682" y="5295304"/>
            <a:ext cx="2195586" cy="830461"/>
            <a:chOff x="0" y="0"/>
            <a:chExt cx="1967" cy="744"/>
          </a:xfrm>
        </p:grpSpPr>
        <p:sp>
          <p:nvSpPr>
            <p:cNvPr id="139273" name="Rectangle 19"/>
            <p:cNvSpPr>
              <a:spLocks/>
            </p:cNvSpPr>
            <p:nvPr/>
          </p:nvSpPr>
          <p:spPr bwMode="auto">
            <a:xfrm>
              <a:off x="312" y="80"/>
              <a:ext cx="1655"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80364">
                <a:tabLst>
                  <a:tab pos="366104" algn="l"/>
                </a:tabLst>
              </a:pPr>
              <a:r>
                <a:rPr lang="en-US" dirty="0">
                  <a:solidFill>
                    <a:srgbClr val="000000"/>
                  </a:solidFill>
                  <a:cs typeface="Arial" charset="0"/>
                </a:rPr>
                <a:t>Air flows passively out of the lungs in response to the pressure gradient</a:t>
              </a:r>
            </a:p>
          </p:txBody>
        </p:sp>
        <p:grpSp>
          <p:nvGrpSpPr>
            <p:cNvPr id="139274" name="Group 22"/>
            <p:cNvGrpSpPr>
              <a:grpSpLocks/>
            </p:cNvGrpSpPr>
            <p:nvPr/>
          </p:nvGrpSpPr>
          <p:grpSpPr bwMode="auto">
            <a:xfrm>
              <a:off x="0" y="0"/>
              <a:ext cx="344" cy="312"/>
              <a:chOff x="0" y="0"/>
              <a:chExt cx="344" cy="312"/>
            </a:xfrm>
          </p:grpSpPr>
          <p:sp>
            <p:nvSpPr>
              <p:cNvPr id="139275" name="Oval 20"/>
              <p:cNvSpPr>
                <a:spLocks/>
              </p:cNvSpPr>
              <p:nvPr/>
            </p:nvSpPr>
            <p:spPr bwMode="auto">
              <a:xfrm>
                <a:off x="0" y="0"/>
                <a:ext cx="312" cy="312"/>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endParaRPr lang="en-US"/>
              </a:p>
            </p:txBody>
          </p:sp>
          <p:sp>
            <p:nvSpPr>
              <p:cNvPr id="139276" name="Rectangle 21"/>
              <p:cNvSpPr>
                <a:spLocks/>
              </p:cNvSpPr>
              <p:nvPr/>
            </p:nvSpPr>
            <p:spPr bwMode="auto">
              <a:xfrm>
                <a:off x="40" y="80"/>
                <a:ext cx="30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pPr marL="80364">
                  <a:tabLst>
                    <a:tab pos="366104" algn="l"/>
                  </a:tabLst>
                </a:pPr>
                <a:r>
                  <a:rPr lang="en-US" b="1">
                    <a:solidFill>
                      <a:srgbClr val="FFFFFF"/>
                    </a:solidFill>
                    <a:cs typeface="Arial" charset="0"/>
                  </a:rPr>
                  <a:t>3</a:t>
                </a:r>
              </a:p>
            </p:txBody>
          </p:sp>
        </p:grpSp>
      </p:grpSp>
    </p:spTree>
    <p:extLst>
      <p:ext uri="{BB962C8B-B14F-4D97-AF65-F5344CB8AC3E}">
        <p14:creationId xmlns:p14="http://schemas.microsoft.com/office/powerpoint/2010/main" val="2888696816"/>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12648" y="228600"/>
            <a:ext cx="8279832" cy="990600"/>
          </a:xfrm>
        </p:spPr>
        <p:txBody>
          <a:bodyPr>
            <a:normAutofit/>
          </a:bodyPr>
          <a:lstStyle/>
          <a:p>
            <a:r>
              <a:rPr lang="en-NZ" sz="3800" dirty="0">
                <a:solidFill>
                  <a:srgbClr val="0070C0"/>
                </a:solidFill>
              </a:rPr>
              <a:t>Gas Exchange in Air - Mammalian Lungs</a:t>
            </a:r>
            <a:endParaRPr lang="en-GB" sz="3800" dirty="0">
              <a:solidFill>
                <a:srgbClr val="0070C0"/>
              </a:solidFill>
            </a:endParaRPr>
          </a:p>
        </p:txBody>
      </p:sp>
      <p:sp>
        <p:nvSpPr>
          <p:cNvPr id="43011" name="Rectangle 3"/>
          <p:cNvSpPr>
            <a:spLocks noGrp="1" noChangeArrowheads="1"/>
          </p:cNvSpPr>
          <p:nvPr>
            <p:ph type="body" idx="1"/>
          </p:nvPr>
        </p:nvSpPr>
        <p:spPr>
          <a:xfrm>
            <a:off x="630237" y="1632248"/>
            <a:ext cx="8153400" cy="4997152"/>
          </a:xfrm>
        </p:spPr>
        <p:txBody>
          <a:bodyPr>
            <a:normAutofit fontScale="92500" lnSpcReduction="10000"/>
          </a:bodyPr>
          <a:lstStyle/>
          <a:p>
            <a:r>
              <a:rPr lang="en-GB" dirty="0"/>
              <a:t>Inhaled air:  21% O</a:t>
            </a:r>
            <a:r>
              <a:rPr lang="en-GB" baseline="-25000" dirty="0"/>
              <a:t>2</a:t>
            </a:r>
            <a:r>
              <a:rPr lang="en-GB" dirty="0"/>
              <a:t> and 0.04% CO</a:t>
            </a:r>
            <a:r>
              <a:rPr lang="en-GB" baseline="-25000" dirty="0"/>
              <a:t>2</a:t>
            </a:r>
          </a:p>
          <a:p>
            <a:r>
              <a:rPr lang="en-GB" dirty="0"/>
              <a:t>Blood arriving: low in O</a:t>
            </a:r>
            <a:r>
              <a:rPr lang="en-GB" baseline="-25000" dirty="0"/>
              <a:t>2</a:t>
            </a:r>
            <a:r>
              <a:rPr lang="en-GB" dirty="0"/>
              <a:t> and high in CO</a:t>
            </a:r>
            <a:r>
              <a:rPr lang="en-GB" baseline="-25000" dirty="0"/>
              <a:t>2</a:t>
            </a:r>
          </a:p>
          <a:p>
            <a:endParaRPr lang="en-GB" dirty="0"/>
          </a:p>
          <a:p>
            <a:endParaRPr lang="en-GB" dirty="0"/>
          </a:p>
          <a:p>
            <a:endParaRPr lang="en-GB" dirty="0"/>
          </a:p>
          <a:p>
            <a:endParaRPr lang="en-GB" dirty="0"/>
          </a:p>
          <a:p>
            <a:endParaRPr lang="en-GB" dirty="0"/>
          </a:p>
          <a:p>
            <a:endParaRPr lang="en-GB" dirty="0"/>
          </a:p>
          <a:p>
            <a:r>
              <a:rPr lang="en-GB" dirty="0"/>
              <a:t>Exhaled air: 17% O</a:t>
            </a:r>
            <a:r>
              <a:rPr lang="en-GB" baseline="-25000" dirty="0"/>
              <a:t>2</a:t>
            </a:r>
            <a:r>
              <a:rPr lang="en-GB" dirty="0"/>
              <a:t> and 4% CO</a:t>
            </a:r>
            <a:r>
              <a:rPr lang="en-GB" baseline="-25000" dirty="0"/>
              <a:t>2</a:t>
            </a:r>
          </a:p>
          <a:p>
            <a:r>
              <a:rPr lang="en-GB" dirty="0"/>
              <a:t>Blood leaving: high in O</a:t>
            </a:r>
            <a:r>
              <a:rPr lang="en-GB" baseline="-25000" dirty="0"/>
              <a:t>2</a:t>
            </a:r>
            <a:r>
              <a:rPr lang="en-GB" dirty="0"/>
              <a:t> and low in CO</a:t>
            </a:r>
            <a:r>
              <a:rPr lang="en-GB" baseline="-25000" dirty="0"/>
              <a:t>2</a:t>
            </a:r>
          </a:p>
          <a:p>
            <a:endParaRPr lang="en-GB" dirty="0"/>
          </a:p>
          <a:p>
            <a:endParaRPr lang="en-GB" dirty="0"/>
          </a:p>
          <a:p>
            <a:endParaRPr lang="en-GB" dirty="0"/>
          </a:p>
        </p:txBody>
      </p:sp>
      <p:sp>
        <p:nvSpPr>
          <p:cNvPr id="43013" name="Text Box 5"/>
          <p:cNvSpPr txBox="1">
            <a:spLocks noChangeArrowheads="1"/>
          </p:cNvSpPr>
          <p:nvPr/>
        </p:nvSpPr>
        <p:spPr bwMode="auto">
          <a:xfrm>
            <a:off x="647700" y="2528888"/>
            <a:ext cx="16208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sz="2800" dirty="0"/>
              <a:t>O</a:t>
            </a:r>
            <a:r>
              <a:rPr lang="en-NZ" sz="2800" baseline="-25000" dirty="0"/>
              <a:t>2</a:t>
            </a:r>
            <a:r>
              <a:rPr lang="en-NZ" sz="2800" dirty="0"/>
              <a:t> in </a:t>
            </a:r>
            <a:br>
              <a:rPr lang="en-NZ" sz="2800" dirty="0"/>
            </a:br>
            <a:r>
              <a:rPr lang="en-NZ" sz="2800" dirty="0"/>
              <a:t>lung air</a:t>
            </a:r>
            <a:endParaRPr lang="en-US" sz="2800" dirty="0"/>
          </a:p>
        </p:txBody>
      </p:sp>
      <p:sp>
        <p:nvSpPr>
          <p:cNvPr id="43014" name="AutoShape 6"/>
          <p:cNvSpPr>
            <a:spLocks noChangeArrowheads="1"/>
          </p:cNvSpPr>
          <p:nvPr/>
        </p:nvSpPr>
        <p:spPr bwMode="auto">
          <a:xfrm>
            <a:off x="2519363" y="2805113"/>
            <a:ext cx="792162" cy="395287"/>
          </a:xfrm>
          <a:prstGeom prst="rightArrow">
            <a:avLst>
              <a:gd name="adj1" fmla="val 50000"/>
              <a:gd name="adj2" fmla="val 501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3015" name="Text Box 7"/>
          <p:cNvSpPr txBox="1">
            <a:spLocks noChangeArrowheads="1"/>
          </p:cNvSpPr>
          <p:nvPr/>
        </p:nvSpPr>
        <p:spPr bwMode="auto">
          <a:xfrm>
            <a:off x="3490913" y="2530475"/>
            <a:ext cx="21971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sz="2800"/>
              <a:t>dissolves in moist lining</a:t>
            </a:r>
            <a:endParaRPr lang="en-US" sz="2800"/>
          </a:p>
        </p:txBody>
      </p:sp>
      <p:sp>
        <p:nvSpPr>
          <p:cNvPr id="43016" name="Text Box 8"/>
          <p:cNvSpPr txBox="1">
            <a:spLocks noChangeArrowheads="1"/>
          </p:cNvSpPr>
          <p:nvPr/>
        </p:nvSpPr>
        <p:spPr bwMode="auto">
          <a:xfrm>
            <a:off x="6623050" y="2530475"/>
            <a:ext cx="21971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sz="2800" dirty="0"/>
              <a:t>diffuses into blood</a:t>
            </a:r>
            <a:endParaRPr lang="en-US" sz="2800" dirty="0"/>
          </a:p>
        </p:txBody>
      </p:sp>
      <p:sp>
        <p:nvSpPr>
          <p:cNvPr id="43017" name="AutoShape 9"/>
          <p:cNvSpPr>
            <a:spLocks noChangeArrowheads="1"/>
          </p:cNvSpPr>
          <p:nvPr/>
        </p:nvSpPr>
        <p:spPr bwMode="auto">
          <a:xfrm>
            <a:off x="5759450" y="2805113"/>
            <a:ext cx="792163" cy="395287"/>
          </a:xfrm>
          <a:prstGeom prst="rightArrow">
            <a:avLst>
              <a:gd name="adj1" fmla="val 50000"/>
              <a:gd name="adj2" fmla="val 501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3018" name="Text Box 10"/>
          <p:cNvSpPr txBox="1">
            <a:spLocks noChangeArrowheads="1"/>
          </p:cNvSpPr>
          <p:nvPr/>
        </p:nvSpPr>
        <p:spPr bwMode="auto">
          <a:xfrm>
            <a:off x="6911975" y="3819525"/>
            <a:ext cx="16208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sz="2800"/>
              <a:t>CO</a:t>
            </a:r>
            <a:r>
              <a:rPr lang="en-NZ" sz="2800" baseline="-25000"/>
              <a:t>2</a:t>
            </a:r>
            <a:r>
              <a:rPr lang="en-NZ" sz="2800"/>
              <a:t> in </a:t>
            </a:r>
            <a:br>
              <a:rPr lang="en-NZ" sz="2800"/>
            </a:br>
            <a:r>
              <a:rPr lang="en-NZ" sz="2800"/>
              <a:t>blood</a:t>
            </a:r>
            <a:endParaRPr lang="en-US" sz="2800"/>
          </a:p>
        </p:txBody>
      </p:sp>
      <p:sp>
        <p:nvSpPr>
          <p:cNvPr id="43019" name="Text Box 11"/>
          <p:cNvSpPr txBox="1">
            <a:spLocks noChangeArrowheads="1"/>
          </p:cNvSpPr>
          <p:nvPr/>
        </p:nvSpPr>
        <p:spPr bwMode="auto">
          <a:xfrm>
            <a:off x="3492500" y="3819525"/>
            <a:ext cx="21971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sz="2800"/>
              <a:t>diffuses into moist lining</a:t>
            </a:r>
            <a:endParaRPr lang="en-US" sz="2800"/>
          </a:p>
        </p:txBody>
      </p:sp>
      <p:sp>
        <p:nvSpPr>
          <p:cNvPr id="43020" name="Text Box 12"/>
          <p:cNvSpPr txBox="1">
            <a:spLocks noChangeArrowheads="1"/>
          </p:cNvSpPr>
          <p:nvPr/>
        </p:nvSpPr>
        <p:spPr bwMode="auto">
          <a:xfrm>
            <a:off x="360363" y="3819525"/>
            <a:ext cx="21971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NZ" sz="2800"/>
              <a:t>diffuses into lung air</a:t>
            </a:r>
            <a:endParaRPr lang="en-US" sz="2800"/>
          </a:p>
        </p:txBody>
      </p:sp>
      <p:sp>
        <p:nvSpPr>
          <p:cNvPr id="43021" name="AutoShape 13"/>
          <p:cNvSpPr>
            <a:spLocks noChangeArrowheads="1"/>
          </p:cNvSpPr>
          <p:nvPr/>
        </p:nvSpPr>
        <p:spPr bwMode="auto">
          <a:xfrm flipH="1">
            <a:off x="2519363" y="4094163"/>
            <a:ext cx="792162" cy="395287"/>
          </a:xfrm>
          <a:prstGeom prst="rightArrow">
            <a:avLst>
              <a:gd name="adj1" fmla="val 50000"/>
              <a:gd name="adj2" fmla="val 50100"/>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3022" name="AutoShape 14"/>
          <p:cNvSpPr>
            <a:spLocks noChangeArrowheads="1"/>
          </p:cNvSpPr>
          <p:nvPr/>
        </p:nvSpPr>
        <p:spPr bwMode="auto">
          <a:xfrm flipH="1">
            <a:off x="5759450" y="4094163"/>
            <a:ext cx="792163" cy="395287"/>
          </a:xfrm>
          <a:prstGeom prst="rightArrow">
            <a:avLst>
              <a:gd name="adj1" fmla="val 50000"/>
              <a:gd name="adj2" fmla="val 50100"/>
            </a:avLst>
          </a:prstGeom>
          <a:solidFill>
            <a:srgbClr val="00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extLst>
      <p:ext uri="{BB962C8B-B14F-4D97-AF65-F5344CB8AC3E}">
        <p14:creationId xmlns:p14="http://schemas.microsoft.com/office/powerpoint/2010/main" val="2709638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a:bodyPr>
          <a:lstStyle/>
          <a:p>
            <a:r>
              <a:rPr lang="en-NZ" sz="3600" dirty="0">
                <a:solidFill>
                  <a:srgbClr val="0070C0"/>
                </a:solidFill>
              </a:rPr>
              <a:t>Gas Exchange in Air - Mammalian Lungs</a:t>
            </a:r>
            <a:endParaRPr lang="en-GB" sz="3600" dirty="0">
              <a:solidFill>
                <a:srgbClr val="0070C0"/>
              </a:solidFill>
            </a:endParaRPr>
          </a:p>
        </p:txBody>
      </p:sp>
      <p:sp>
        <p:nvSpPr>
          <p:cNvPr id="3" name="Content Placeholder 2"/>
          <p:cNvSpPr>
            <a:spLocks noGrp="1"/>
          </p:cNvSpPr>
          <p:nvPr>
            <p:ph sz="quarter" idx="1"/>
          </p:nvPr>
        </p:nvSpPr>
        <p:spPr>
          <a:xfrm>
            <a:off x="395536" y="4293096"/>
            <a:ext cx="8370512" cy="2160240"/>
          </a:xfrm>
        </p:spPr>
        <p:txBody>
          <a:bodyPr>
            <a:noAutofit/>
          </a:bodyPr>
          <a:lstStyle/>
          <a:p>
            <a:r>
              <a:rPr lang="en-AU" sz="2200" dirty="0">
                <a:solidFill>
                  <a:srgbClr val="002060"/>
                </a:solidFill>
                <a:latin typeface="Calibri" panose="020F0502020204030204" pitchFamily="34" charset="0"/>
                <a:cs typeface="Calibri" panose="020F0502020204030204" pitchFamily="34" charset="0"/>
              </a:rPr>
              <a:t>Air arriving in the alveoli is high in O</a:t>
            </a:r>
            <a:r>
              <a:rPr lang="en-AU" sz="2200" baseline="-25000" dirty="0">
                <a:solidFill>
                  <a:srgbClr val="002060"/>
                </a:solidFill>
                <a:latin typeface="Calibri" panose="020F0502020204030204" pitchFamily="34" charset="0"/>
                <a:cs typeface="Calibri" panose="020F0502020204030204" pitchFamily="34" charset="0"/>
              </a:rPr>
              <a:t>2</a:t>
            </a:r>
            <a:r>
              <a:rPr lang="en-AU" sz="2200" dirty="0">
                <a:solidFill>
                  <a:srgbClr val="002060"/>
                </a:solidFill>
                <a:latin typeface="Calibri" panose="020F0502020204030204" pitchFamily="34" charset="0"/>
                <a:cs typeface="Calibri" panose="020F0502020204030204" pitchFamily="34" charset="0"/>
              </a:rPr>
              <a:t> and low CO</a:t>
            </a:r>
            <a:r>
              <a:rPr lang="en-AU" sz="2200" baseline="-25000" dirty="0">
                <a:solidFill>
                  <a:srgbClr val="002060"/>
                </a:solidFill>
                <a:latin typeface="Calibri" panose="020F0502020204030204" pitchFamily="34" charset="0"/>
                <a:cs typeface="Calibri" panose="020F0502020204030204" pitchFamily="34" charset="0"/>
              </a:rPr>
              <a:t>2</a:t>
            </a:r>
            <a:r>
              <a:rPr lang="en-AU" sz="2200" dirty="0">
                <a:solidFill>
                  <a:srgbClr val="002060"/>
                </a:solidFill>
                <a:latin typeface="Calibri" panose="020F0502020204030204" pitchFamily="34" charset="0"/>
                <a:cs typeface="Calibri" panose="020F0502020204030204" pitchFamily="34" charset="0"/>
              </a:rPr>
              <a:t>, while the blood is low in O</a:t>
            </a:r>
            <a:r>
              <a:rPr lang="en-AU" sz="2200" baseline="-25000" dirty="0">
                <a:solidFill>
                  <a:srgbClr val="002060"/>
                </a:solidFill>
                <a:latin typeface="Calibri" panose="020F0502020204030204" pitchFamily="34" charset="0"/>
                <a:cs typeface="Calibri" panose="020F0502020204030204" pitchFamily="34" charset="0"/>
              </a:rPr>
              <a:t>2</a:t>
            </a:r>
            <a:r>
              <a:rPr lang="en-AU" sz="2200" dirty="0">
                <a:solidFill>
                  <a:srgbClr val="002060"/>
                </a:solidFill>
                <a:latin typeface="Calibri" panose="020F0502020204030204" pitchFamily="34" charset="0"/>
                <a:cs typeface="Calibri" panose="020F0502020204030204" pitchFamily="34" charset="0"/>
              </a:rPr>
              <a:t> and high in CO</a:t>
            </a:r>
            <a:r>
              <a:rPr lang="en-AU" sz="2200" baseline="-25000" dirty="0">
                <a:solidFill>
                  <a:srgbClr val="002060"/>
                </a:solidFill>
                <a:latin typeface="Calibri" panose="020F0502020204030204" pitchFamily="34" charset="0"/>
                <a:cs typeface="Calibri" panose="020F0502020204030204" pitchFamily="34" charset="0"/>
              </a:rPr>
              <a:t>2</a:t>
            </a:r>
            <a:r>
              <a:rPr lang="en-AU" sz="2200" dirty="0">
                <a:solidFill>
                  <a:srgbClr val="002060"/>
                </a:solidFill>
                <a:latin typeface="Calibri" panose="020F0502020204030204" pitchFamily="34" charset="0"/>
                <a:cs typeface="Calibri" panose="020F0502020204030204" pitchFamily="34" charset="0"/>
              </a:rPr>
              <a:t>.  </a:t>
            </a:r>
          </a:p>
          <a:p>
            <a:r>
              <a:rPr lang="en-AU" sz="2200" dirty="0">
                <a:solidFill>
                  <a:srgbClr val="002060"/>
                </a:solidFill>
                <a:latin typeface="Calibri" panose="020F0502020204030204" pitchFamily="34" charset="0"/>
                <a:cs typeface="Calibri" panose="020F0502020204030204" pitchFamily="34" charset="0"/>
              </a:rPr>
              <a:t>This establishes the concentration gradient which allows the diffusing of both gases in and out.</a:t>
            </a:r>
          </a:p>
          <a:p>
            <a:r>
              <a:rPr lang="en-AU" sz="2200" dirty="0">
                <a:solidFill>
                  <a:srgbClr val="002060"/>
                </a:solidFill>
                <a:latin typeface="Calibri" panose="020F0502020204030204" pitchFamily="34" charset="0"/>
                <a:cs typeface="Calibri" panose="020F0502020204030204" pitchFamily="34" charset="0"/>
              </a:rPr>
              <a:t>The constant new supply of air and blood to the area maintains the gradient.</a:t>
            </a:r>
          </a:p>
        </p:txBody>
      </p:sp>
      <p:pic>
        <p:nvPicPr>
          <p:cNvPr id="8" name="Picture 7"/>
          <p:cNvPicPr>
            <a:picLocks noChangeAspect="1"/>
          </p:cNvPicPr>
          <p:nvPr/>
        </p:nvPicPr>
        <p:blipFill>
          <a:blip r:embed="rId2"/>
          <a:stretch>
            <a:fillRect/>
          </a:stretch>
        </p:blipFill>
        <p:spPr>
          <a:xfrm>
            <a:off x="2195736" y="1340768"/>
            <a:ext cx="5038725" cy="2638425"/>
          </a:xfrm>
          <a:prstGeom prst="rect">
            <a:avLst/>
          </a:prstGeom>
        </p:spPr>
      </p:pic>
    </p:spTree>
    <p:extLst>
      <p:ext uri="{BB962C8B-B14F-4D97-AF65-F5344CB8AC3E}">
        <p14:creationId xmlns:p14="http://schemas.microsoft.com/office/powerpoint/2010/main" val="2814192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NZ" sz="3600" dirty="0">
                <a:solidFill>
                  <a:srgbClr val="0070C0"/>
                </a:solidFill>
              </a:rPr>
              <a:t>Gas Exchange in Air - Mammalian Lungs</a:t>
            </a:r>
            <a:endParaRPr lang="en-AU" sz="3600" dirty="0">
              <a:solidFill>
                <a:srgbClr val="0070C0"/>
              </a:solidFill>
            </a:endParaRPr>
          </a:p>
        </p:txBody>
      </p:sp>
      <p:sp>
        <p:nvSpPr>
          <p:cNvPr id="47110" name="Rectangle 6"/>
          <p:cNvSpPr>
            <a:spLocks noGrp="1" noChangeArrowheads="1"/>
          </p:cNvSpPr>
          <p:nvPr>
            <p:ph type="body" idx="1"/>
          </p:nvPr>
        </p:nvSpPr>
        <p:spPr>
          <a:xfrm>
            <a:off x="395536" y="1772816"/>
            <a:ext cx="8496944" cy="4752528"/>
          </a:xfrm>
        </p:spPr>
        <p:txBody>
          <a:bodyPr>
            <a:normAutofit/>
          </a:bodyPr>
          <a:lstStyle/>
          <a:p>
            <a:pPr marL="0" indent="0">
              <a:buNone/>
            </a:pPr>
            <a:r>
              <a:rPr lang="en-GB" sz="2000" dirty="0">
                <a:solidFill>
                  <a:srgbClr val="002060"/>
                </a:solidFill>
                <a:latin typeface="Calibri" panose="020F0502020204030204" pitchFamily="34" charset="0"/>
                <a:cs typeface="Calibri" panose="020F0502020204030204" pitchFamily="34" charset="0"/>
              </a:rPr>
              <a:t>The maximum efficiency of the lungs for gas exchange are maintained by:</a:t>
            </a:r>
          </a:p>
          <a:p>
            <a:r>
              <a:rPr lang="en-GB" sz="2000" dirty="0">
                <a:solidFill>
                  <a:srgbClr val="002060"/>
                </a:solidFill>
                <a:latin typeface="Calibri" panose="020F0502020204030204" pitchFamily="34" charset="0"/>
                <a:cs typeface="Calibri" panose="020F0502020204030204" pitchFamily="34" charset="0"/>
              </a:rPr>
              <a:t>Large surface area</a:t>
            </a:r>
          </a:p>
          <a:p>
            <a:r>
              <a:rPr lang="en-GB" sz="2000" dirty="0">
                <a:solidFill>
                  <a:srgbClr val="002060"/>
                </a:solidFill>
                <a:latin typeface="Calibri" panose="020F0502020204030204" pitchFamily="34" charset="0"/>
                <a:cs typeface="Calibri" panose="020F0502020204030204" pitchFamily="34" charset="0"/>
              </a:rPr>
              <a:t>Many tiny alveoli</a:t>
            </a:r>
          </a:p>
          <a:p>
            <a:r>
              <a:rPr lang="en-GB" sz="2000" dirty="0">
                <a:solidFill>
                  <a:srgbClr val="002060"/>
                </a:solidFill>
                <a:latin typeface="Calibri" panose="020F0502020204030204" pitchFamily="34" charset="0"/>
                <a:cs typeface="Calibri" panose="020F0502020204030204" pitchFamily="34" charset="0"/>
                <a:sym typeface="Wingdings" pitchFamily="2" charset="2"/>
              </a:rPr>
              <a:t>Very large surface area (as big as a tennis court in humans!)</a:t>
            </a:r>
          </a:p>
          <a:p>
            <a:r>
              <a:rPr lang="en-GB" sz="2000" dirty="0">
                <a:solidFill>
                  <a:srgbClr val="002060"/>
                </a:solidFill>
                <a:latin typeface="Calibri" panose="020F0502020204030204" pitchFamily="34" charset="0"/>
                <a:cs typeface="Calibri" panose="020F0502020204030204" pitchFamily="34" charset="0"/>
              </a:rPr>
              <a:t>Moist - wet lining of alveolus and an internal system to reduce water loss by evaporation</a:t>
            </a:r>
          </a:p>
          <a:p>
            <a:r>
              <a:rPr lang="en-GB" sz="2000" dirty="0">
                <a:solidFill>
                  <a:srgbClr val="002060"/>
                </a:solidFill>
                <a:latin typeface="Calibri" panose="020F0502020204030204" pitchFamily="34" charset="0"/>
                <a:cs typeface="Calibri" panose="020F0502020204030204" pitchFamily="34" charset="0"/>
              </a:rPr>
              <a:t>Short distance for diffusion as alveoli and capillary walls only one cell thick, cells are flattened so very thin and the capillaries pressed against alveoli</a:t>
            </a:r>
          </a:p>
          <a:p>
            <a:r>
              <a:rPr lang="en-GB" sz="2000" dirty="0">
                <a:solidFill>
                  <a:srgbClr val="002060"/>
                </a:solidFill>
                <a:latin typeface="Calibri" panose="020F0502020204030204" pitchFamily="34" charset="0"/>
                <a:cs typeface="Calibri" panose="020F0502020204030204" pitchFamily="34" charset="0"/>
              </a:rPr>
              <a:t>Maintaining a concentration gradient.  The air (with depleted O</a:t>
            </a:r>
            <a:r>
              <a:rPr lang="en-GB" sz="2000" baseline="-25000" dirty="0">
                <a:solidFill>
                  <a:srgbClr val="002060"/>
                </a:solidFill>
                <a:latin typeface="Calibri" panose="020F0502020204030204" pitchFamily="34" charset="0"/>
                <a:cs typeface="Calibri" panose="020F0502020204030204" pitchFamily="34" charset="0"/>
              </a:rPr>
              <a:t>2</a:t>
            </a:r>
            <a:r>
              <a:rPr lang="en-GB" sz="2000" dirty="0">
                <a:solidFill>
                  <a:srgbClr val="002060"/>
                </a:solidFill>
                <a:latin typeface="Calibri" panose="020F0502020204030204" pitchFamily="34" charset="0"/>
                <a:cs typeface="Calibri" panose="020F0502020204030204" pitchFamily="34" charset="0"/>
              </a:rPr>
              <a:t> and excess CO</a:t>
            </a:r>
            <a:r>
              <a:rPr lang="en-GB" sz="2000" baseline="-25000" dirty="0">
                <a:solidFill>
                  <a:srgbClr val="002060"/>
                </a:solidFill>
                <a:latin typeface="Calibri" panose="020F0502020204030204" pitchFamily="34" charset="0"/>
                <a:cs typeface="Calibri" panose="020F0502020204030204" pitchFamily="34" charset="0"/>
              </a:rPr>
              <a:t>2</a:t>
            </a:r>
            <a:r>
              <a:rPr lang="en-GB" sz="2000" dirty="0">
                <a:solidFill>
                  <a:srgbClr val="002060"/>
                </a:solidFill>
                <a:latin typeface="Calibri" panose="020F0502020204030204" pitchFamily="34" charset="0"/>
                <a:cs typeface="Calibri" panose="020F0502020204030204" pitchFamily="34" charset="0"/>
              </a:rPr>
              <a:t>) is exhaled </a:t>
            </a:r>
            <a:r>
              <a:rPr lang="en-GB" sz="2000" dirty="0">
                <a:solidFill>
                  <a:srgbClr val="002060"/>
                </a:solidFill>
                <a:latin typeface="Calibri" panose="020F0502020204030204" pitchFamily="34" charset="0"/>
                <a:cs typeface="Calibri" panose="020F0502020204030204" pitchFamily="34" charset="0"/>
                <a:sym typeface="Wingdings" pitchFamily="2" charset="2"/>
              </a:rPr>
              <a:t> </a:t>
            </a:r>
            <a:r>
              <a:rPr lang="en-GB" sz="2000" dirty="0">
                <a:solidFill>
                  <a:srgbClr val="002060"/>
                </a:solidFill>
                <a:latin typeface="Calibri" panose="020F0502020204030204" pitchFamily="34" charset="0"/>
                <a:cs typeface="Calibri" panose="020F0502020204030204" pitchFamily="34" charset="0"/>
              </a:rPr>
              <a:t>replaced with fresh inhaled air and the blood (having lost CO</a:t>
            </a:r>
            <a:r>
              <a:rPr lang="en-GB" sz="2000" baseline="-25000" dirty="0">
                <a:solidFill>
                  <a:srgbClr val="002060"/>
                </a:solidFill>
                <a:latin typeface="Calibri" panose="020F0502020204030204" pitchFamily="34" charset="0"/>
                <a:cs typeface="Calibri" panose="020F0502020204030204" pitchFamily="34" charset="0"/>
              </a:rPr>
              <a:t>2</a:t>
            </a:r>
            <a:r>
              <a:rPr lang="en-GB" sz="2000" dirty="0">
                <a:solidFill>
                  <a:srgbClr val="002060"/>
                </a:solidFill>
                <a:latin typeface="Calibri" panose="020F0502020204030204" pitchFamily="34" charset="0"/>
                <a:cs typeface="Calibri" panose="020F0502020204030204" pitchFamily="34" charset="0"/>
              </a:rPr>
              <a:t> and been enriched with O</a:t>
            </a:r>
            <a:r>
              <a:rPr lang="en-GB" sz="2000" baseline="-25000" dirty="0">
                <a:solidFill>
                  <a:srgbClr val="002060"/>
                </a:solidFill>
                <a:latin typeface="Calibri" panose="020F0502020204030204" pitchFamily="34" charset="0"/>
                <a:cs typeface="Calibri" panose="020F0502020204030204" pitchFamily="34" charset="0"/>
              </a:rPr>
              <a:t>2</a:t>
            </a:r>
            <a:r>
              <a:rPr lang="en-GB" sz="2000" dirty="0">
                <a:solidFill>
                  <a:srgbClr val="002060"/>
                </a:solidFill>
                <a:latin typeface="Calibri" panose="020F0502020204030204" pitchFamily="34" charset="0"/>
                <a:cs typeface="Calibri" panose="020F0502020204030204" pitchFamily="34" charset="0"/>
              </a:rPr>
              <a:t>) returns to heart to get pumped around body </a:t>
            </a:r>
            <a:r>
              <a:rPr lang="en-GB" sz="2000" dirty="0">
                <a:solidFill>
                  <a:srgbClr val="002060"/>
                </a:solidFill>
                <a:latin typeface="Calibri" panose="020F0502020204030204" pitchFamily="34" charset="0"/>
                <a:cs typeface="Calibri" panose="020F0502020204030204" pitchFamily="34" charset="0"/>
                <a:sym typeface="Wingdings" pitchFamily="2" charset="2"/>
              </a:rPr>
              <a:t></a:t>
            </a:r>
            <a:r>
              <a:rPr lang="en-GB" sz="2000" dirty="0">
                <a:solidFill>
                  <a:srgbClr val="002060"/>
                </a:solidFill>
                <a:latin typeface="Calibri" panose="020F0502020204030204" pitchFamily="34" charset="0"/>
                <a:cs typeface="Calibri" panose="020F0502020204030204" pitchFamily="34" charset="0"/>
              </a:rPr>
              <a:t>replaced with blood collected from body.</a:t>
            </a:r>
          </a:p>
        </p:txBody>
      </p:sp>
    </p:spTree>
    <p:extLst>
      <p:ext uri="{BB962C8B-B14F-4D97-AF65-F5344CB8AC3E}">
        <p14:creationId xmlns:p14="http://schemas.microsoft.com/office/powerpoint/2010/main" val="905732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NZ" sz="3600" dirty="0">
                <a:solidFill>
                  <a:srgbClr val="0070C0"/>
                </a:solidFill>
              </a:rPr>
              <a:t>Gas Exchange in Air - Mammalian Lungs</a:t>
            </a:r>
            <a:endParaRPr lang="en-AU" sz="3600" dirty="0">
              <a:solidFill>
                <a:srgbClr val="0070C0"/>
              </a:solidFill>
            </a:endParaRPr>
          </a:p>
        </p:txBody>
      </p:sp>
      <p:sp>
        <p:nvSpPr>
          <p:cNvPr id="3" name="Content Placeholder 2"/>
          <p:cNvSpPr>
            <a:spLocks noGrp="1"/>
          </p:cNvSpPr>
          <p:nvPr>
            <p:ph sz="quarter" idx="1"/>
          </p:nvPr>
        </p:nvSpPr>
        <p:spPr>
          <a:xfrm>
            <a:off x="639825" y="1844824"/>
            <a:ext cx="8153400" cy="4495800"/>
          </a:xfrm>
        </p:spPr>
        <p:txBody>
          <a:bodyPr>
            <a:normAutofit/>
          </a:bodyPr>
          <a:lstStyle/>
          <a:p>
            <a:r>
              <a:rPr lang="en-AU" sz="2400" b="1" dirty="0">
                <a:latin typeface="Calibri" panose="020F0502020204030204" pitchFamily="34" charset="0"/>
                <a:cs typeface="Calibri" panose="020F0502020204030204" pitchFamily="34" charset="0"/>
              </a:rPr>
              <a:t>A must watch for you </a:t>
            </a:r>
            <a:r>
              <a:rPr lang="en-AU" sz="2400" dirty="0">
                <a:latin typeface="Calibri" panose="020F0502020204030204" pitchFamily="34" charset="0"/>
                <a:cs typeface="Calibri" panose="020F0502020204030204" pitchFamily="34" charset="0"/>
              </a:rPr>
              <a:t>- excellent video of a lung dissection.</a:t>
            </a:r>
          </a:p>
          <a:p>
            <a:pPr marL="0" indent="0">
              <a:buNone/>
            </a:pPr>
            <a:r>
              <a:rPr lang="en-AU" sz="2400" dirty="0">
                <a:latin typeface="Calibri" panose="020F0502020204030204" pitchFamily="34" charset="0"/>
                <a:cs typeface="Calibri" panose="020F0502020204030204" pitchFamily="34" charset="0"/>
                <a:hlinkClick r:id="rId2"/>
              </a:rPr>
              <a:t>https://www.youtube.com/watch?v=9xhxALk9gm8</a:t>
            </a:r>
            <a:endParaRPr lang="en-AU" sz="2400" dirty="0">
              <a:latin typeface="Calibri" panose="020F0502020204030204" pitchFamily="34" charset="0"/>
              <a:cs typeface="Calibri" panose="020F0502020204030204" pitchFamily="34" charset="0"/>
            </a:endParaRPr>
          </a:p>
          <a:p>
            <a:pPr marL="0" indent="0">
              <a:buNone/>
            </a:pPr>
            <a:endParaRPr lang="en-AU" sz="2400" dirty="0">
              <a:latin typeface="Calibri" panose="020F0502020204030204" pitchFamily="34" charset="0"/>
              <a:cs typeface="Calibri" panose="020F0502020204030204" pitchFamily="34" charset="0"/>
            </a:endParaRPr>
          </a:p>
          <a:p>
            <a:r>
              <a:rPr lang="en-AU" sz="2400" dirty="0">
                <a:latin typeface="Calibri" panose="020F0502020204030204" pitchFamily="34" charset="0"/>
                <a:cs typeface="Calibri" panose="020F0502020204030204" pitchFamily="34" charset="0"/>
              </a:rPr>
              <a:t>Model lung demonstration</a:t>
            </a:r>
          </a:p>
          <a:p>
            <a:pPr marL="0" indent="0">
              <a:buNone/>
            </a:pPr>
            <a:r>
              <a:rPr lang="en-AU" sz="2400" dirty="0">
                <a:latin typeface="Calibri" panose="020F0502020204030204" pitchFamily="34" charset="0"/>
                <a:cs typeface="Calibri" panose="020F0502020204030204" pitchFamily="34" charset="0"/>
                <a:hlinkClick r:id="rId3"/>
              </a:rPr>
              <a:t>https://www.youtube.com/watch?v=CBv2BqqAydE</a:t>
            </a:r>
            <a:endParaRPr lang="en-AU" sz="2400" dirty="0">
              <a:latin typeface="Calibri" panose="020F0502020204030204" pitchFamily="34" charset="0"/>
              <a:cs typeface="Calibri" panose="020F0502020204030204" pitchFamily="34" charset="0"/>
            </a:endParaRPr>
          </a:p>
          <a:p>
            <a:pPr marL="0" indent="0">
              <a:buNone/>
            </a:pPr>
            <a:endParaRPr lang="en-AU" sz="2400" dirty="0">
              <a:latin typeface="Calibri" panose="020F0502020204030204" pitchFamily="34" charset="0"/>
              <a:cs typeface="Calibri" panose="020F0502020204030204" pitchFamily="34" charset="0"/>
            </a:endParaRPr>
          </a:p>
          <a:p>
            <a:r>
              <a:rPr lang="en-AU" sz="2400" dirty="0">
                <a:latin typeface="Calibri" panose="020F0502020204030204" pitchFamily="34" charset="0"/>
                <a:cs typeface="Calibri" panose="020F0502020204030204" pitchFamily="34" charset="0"/>
              </a:rPr>
              <a:t>Video on gas exchange at the alveoli</a:t>
            </a:r>
          </a:p>
          <a:p>
            <a:pPr marL="0" indent="0">
              <a:buNone/>
            </a:pPr>
            <a:r>
              <a:rPr lang="en-AU" sz="2400" dirty="0">
                <a:latin typeface="Calibri" panose="020F0502020204030204" pitchFamily="34" charset="0"/>
                <a:cs typeface="Calibri" panose="020F0502020204030204" pitchFamily="34" charset="0"/>
                <a:hlinkClick r:id="rId4"/>
              </a:rPr>
              <a:t>https://www.youtube.com/watch?v=AyUtdqiOgCA</a:t>
            </a:r>
            <a:endParaRPr lang="en-AU" sz="2400" dirty="0">
              <a:latin typeface="Calibri" panose="020F0502020204030204" pitchFamily="34" charset="0"/>
              <a:cs typeface="Calibri" panose="020F0502020204030204" pitchFamily="34" charset="0"/>
            </a:endParaRPr>
          </a:p>
          <a:p>
            <a:pPr marL="0" indent="0">
              <a:buNone/>
            </a:pPr>
            <a:endParaRPr lang="en-AU" dirty="0"/>
          </a:p>
        </p:txBody>
      </p:sp>
    </p:spTree>
    <p:extLst>
      <p:ext uri="{BB962C8B-B14F-4D97-AF65-F5344CB8AC3E}">
        <p14:creationId xmlns:p14="http://schemas.microsoft.com/office/powerpoint/2010/main" val="15996712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r>
              <a:rPr lang="en-NZ" sz="3800" dirty="0">
                <a:solidFill>
                  <a:srgbClr val="0070C0"/>
                </a:solidFill>
              </a:rPr>
              <a:t>Gas Exchange in Air – Insect Tracheae</a:t>
            </a:r>
            <a:endParaRPr lang="en-GB" sz="3800" dirty="0">
              <a:solidFill>
                <a:srgbClr val="0070C0"/>
              </a:solidFill>
            </a:endParaRPr>
          </a:p>
        </p:txBody>
      </p:sp>
      <p:sp>
        <p:nvSpPr>
          <p:cNvPr id="3" name="Content Placeholder 2"/>
          <p:cNvSpPr>
            <a:spLocks noGrp="1"/>
          </p:cNvSpPr>
          <p:nvPr>
            <p:ph sz="quarter" idx="1"/>
          </p:nvPr>
        </p:nvSpPr>
        <p:spPr>
          <a:xfrm>
            <a:off x="4283968" y="1700808"/>
            <a:ext cx="4482080" cy="4395192"/>
          </a:xfrm>
        </p:spPr>
        <p:txBody>
          <a:bodyPr/>
          <a:lstStyle/>
          <a:p>
            <a:r>
              <a:rPr lang="en-US" sz="2400" dirty="0">
                <a:solidFill>
                  <a:srgbClr val="002060"/>
                </a:solidFill>
                <a:latin typeface="Calibri" panose="020F0502020204030204" pitchFamily="34" charset="0"/>
                <a:cs typeface="Calibri" panose="020F0502020204030204" pitchFamily="34" charset="0"/>
              </a:rPr>
              <a:t>Insects have a completely different system.</a:t>
            </a:r>
          </a:p>
          <a:p>
            <a:r>
              <a:rPr lang="en-US" sz="2400" dirty="0">
                <a:solidFill>
                  <a:srgbClr val="002060"/>
                </a:solidFill>
                <a:latin typeface="Calibri" panose="020F0502020204030204" pitchFamily="34" charset="0"/>
                <a:cs typeface="Calibri" panose="020F0502020204030204" pitchFamily="34" charset="0"/>
              </a:rPr>
              <a:t>Air tubules (trachea &amp; </a:t>
            </a:r>
            <a:r>
              <a:rPr lang="en-US" sz="2400" dirty="0" err="1">
                <a:solidFill>
                  <a:srgbClr val="002060"/>
                </a:solidFill>
                <a:latin typeface="Calibri" panose="020F0502020204030204" pitchFamily="34" charset="0"/>
                <a:cs typeface="Calibri" panose="020F0502020204030204" pitchFamily="34" charset="0"/>
              </a:rPr>
              <a:t>tracheoles</a:t>
            </a:r>
            <a:r>
              <a:rPr lang="en-US" sz="2400" dirty="0">
                <a:solidFill>
                  <a:srgbClr val="002060"/>
                </a:solidFill>
                <a:latin typeface="Calibri" panose="020F0502020204030204" pitchFamily="34" charset="0"/>
                <a:cs typeface="Calibri" panose="020F0502020204030204" pitchFamily="34" charset="0"/>
              </a:rPr>
              <a:t>) throughout the body which open to the environment via spiracles.</a:t>
            </a:r>
          </a:p>
          <a:p>
            <a:endParaRPr lang="en-AU" dirty="0"/>
          </a:p>
        </p:txBody>
      </p:sp>
      <p:pic>
        <p:nvPicPr>
          <p:cNvPr id="8194" name="Picture 2" descr="http://images.tutorvista.com/content/respiration/tracheal-system-in-insects.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08" y="1700808"/>
            <a:ext cx="3672408" cy="4712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55763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a:bodyPr>
          <a:lstStyle/>
          <a:p>
            <a:r>
              <a:rPr lang="en-NZ" sz="3800" dirty="0">
                <a:solidFill>
                  <a:srgbClr val="0070C0"/>
                </a:solidFill>
              </a:rPr>
              <a:t>Gas Exchange in Air – Insect Tracheae</a:t>
            </a:r>
            <a:endParaRPr lang="en-GB" sz="3800" dirty="0">
              <a:solidFill>
                <a:srgbClr val="0070C0"/>
              </a:solidFill>
            </a:endParaRPr>
          </a:p>
        </p:txBody>
      </p:sp>
      <p:sp>
        <p:nvSpPr>
          <p:cNvPr id="3" name="Content Placeholder 2"/>
          <p:cNvSpPr>
            <a:spLocks noGrp="1"/>
          </p:cNvSpPr>
          <p:nvPr>
            <p:ph sz="quarter" idx="1"/>
          </p:nvPr>
        </p:nvSpPr>
        <p:spPr>
          <a:xfrm>
            <a:off x="612648" y="1600200"/>
            <a:ext cx="8153400" cy="2549525"/>
          </a:xfrm>
        </p:spPr>
        <p:txBody>
          <a:bodyPr>
            <a:normAutofit fontScale="85000" lnSpcReduction="20000"/>
          </a:bodyPr>
          <a:lstStyle/>
          <a:p>
            <a:r>
              <a:rPr lang="en-US" sz="2600" dirty="0">
                <a:solidFill>
                  <a:srgbClr val="002060"/>
                </a:solidFill>
                <a:latin typeface="Calibri" panose="020F0502020204030204" pitchFamily="34" charset="0"/>
                <a:cs typeface="Calibri" panose="020F0502020204030204" pitchFamily="34" charset="0"/>
              </a:rPr>
              <a:t>Trachea kept open by circular bands of chitin</a:t>
            </a:r>
          </a:p>
          <a:p>
            <a:r>
              <a:rPr lang="en-US" sz="2600" dirty="0">
                <a:solidFill>
                  <a:srgbClr val="002060"/>
                </a:solidFill>
                <a:latin typeface="Calibri" panose="020F0502020204030204" pitchFamily="34" charset="0"/>
                <a:cs typeface="Calibri" panose="020F0502020204030204" pitchFamily="34" charset="0"/>
              </a:rPr>
              <a:t>Branch to form </a:t>
            </a:r>
            <a:r>
              <a:rPr lang="en-US" sz="2600" dirty="0" err="1">
                <a:solidFill>
                  <a:srgbClr val="002060"/>
                </a:solidFill>
                <a:latin typeface="Calibri" panose="020F0502020204030204" pitchFamily="34" charset="0"/>
                <a:cs typeface="Calibri" panose="020F0502020204030204" pitchFamily="34" charset="0"/>
              </a:rPr>
              <a:t>tracheoles</a:t>
            </a:r>
            <a:r>
              <a:rPr lang="en-US" sz="2600" dirty="0">
                <a:solidFill>
                  <a:srgbClr val="002060"/>
                </a:solidFill>
                <a:latin typeface="Calibri" panose="020F0502020204030204" pitchFamily="34" charset="0"/>
                <a:cs typeface="Calibri" panose="020F0502020204030204" pitchFamily="34" charset="0"/>
              </a:rPr>
              <a:t> that reach every cell.</a:t>
            </a:r>
          </a:p>
          <a:p>
            <a:r>
              <a:rPr lang="en-US" sz="2600" dirty="0">
                <a:solidFill>
                  <a:srgbClr val="002060"/>
                </a:solidFill>
                <a:latin typeface="Calibri" panose="020F0502020204030204" pitchFamily="34" charset="0"/>
                <a:cs typeface="Calibri" panose="020F0502020204030204" pitchFamily="34" charset="0"/>
              </a:rPr>
              <a:t>Ends of the </a:t>
            </a:r>
            <a:r>
              <a:rPr lang="en-US" sz="2600" dirty="0" err="1">
                <a:solidFill>
                  <a:srgbClr val="002060"/>
                </a:solidFill>
                <a:latin typeface="Calibri" panose="020F0502020204030204" pitchFamily="34" charset="0"/>
                <a:cs typeface="Calibri" panose="020F0502020204030204" pitchFamily="34" charset="0"/>
              </a:rPr>
              <a:t>tracheoles</a:t>
            </a:r>
            <a:r>
              <a:rPr lang="en-US" sz="2600" dirty="0">
                <a:solidFill>
                  <a:srgbClr val="002060"/>
                </a:solidFill>
                <a:latin typeface="Calibri" panose="020F0502020204030204" pitchFamily="34" charset="0"/>
                <a:cs typeface="Calibri" panose="020F0502020204030204" pitchFamily="34" charset="0"/>
              </a:rPr>
              <a:t> are moist.</a:t>
            </a:r>
          </a:p>
          <a:p>
            <a:r>
              <a:rPr lang="en-US" sz="2600" dirty="0">
                <a:solidFill>
                  <a:srgbClr val="002060"/>
                </a:solidFill>
                <a:latin typeface="Calibri" panose="020F0502020204030204" pitchFamily="34" charset="0"/>
                <a:cs typeface="Calibri" panose="020F0502020204030204" pitchFamily="34" charset="0"/>
              </a:rPr>
              <a:t>Oxygen delivered directly to respiring cells – insect blood does not carry oxygen.</a:t>
            </a:r>
          </a:p>
          <a:p>
            <a:r>
              <a:rPr lang="en-NZ" sz="2600" dirty="0">
                <a:solidFill>
                  <a:srgbClr val="002060"/>
                </a:solidFill>
                <a:latin typeface="Calibri" panose="020F0502020204030204" pitchFamily="34" charset="0"/>
                <a:cs typeface="Calibri" panose="020F0502020204030204" pitchFamily="34" charset="0"/>
              </a:rPr>
              <a:t>Video showing the insect tracheal </a:t>
            </a:r>
            <a:r>
              <a:rPr lang="en-NZ" sz="2600" dirty="0" err="1">
                <a:solidFill>
                  <a:srgbClr val="002060"/>
                </a:solidFill>
                <a:latin typeface="Calibri" panose="020F0502020204030204" pitchFamily="34" charset="0"/>
                <a:cs typeface="Calibri" panose="020F0502020204030204" pitchFamily="34" charset="0"/>
              </a:rPr>
              <a:t>syste</a:t>
            </a:r>
            <a:r>
              <a:rPr lang="en-NZ" dirty="0">
                <a:solidFill>
                  <a:srgbClr val="002060"/>
                </a:solidFill>
                <a:latin typeface="Calibri" panose="020F0502020204030204" pitchFamily="34" charset="0"/>
                <a:cs typeface="Calibri" panose="020F0502020204030204" pitchFamily="34" charset="0"/>
              </a:rPr>
              <a:t> </a:t>
            </a:r>
            <a:r>
              <a:rPr lang="en-NZ" sz="2300" dirty="0">
                <a:solidFill>
                  <a:srgbClr val="FFC000"/>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https://www.youtube.com/watch?v=quwhcgkVO3c</a:t>
            </a:r>
            <a:endParaRPr lang="en-NZ" sz="2300" dirty="0">
              <a:solidFill>
                <a:srgbClr val="FFC000"/>
              </a:solidFill>
              <a:latin typeface="Calibri" panose="020F0502020204030204" pitchFamily="34" charset="0"/>
              <a:cs typeface="Calibri" panose="020F0502020204030204" pitchFamily="34" charset="0"/>
            </a:endParaRPr>
          </a:p>
          <a:p>
            <a:endParaRPr lang="en-NZ" dirty="0"/>
          </a:p>
          <a:p>
            <a:endParaRPr lang="en-AU" dirty="0"/>
          </a:p>
        </p:txBody>
      </p:sp>
      <p:pic>
        <p:nvPicPr>
          <p:cNvPr id="52229" name="Picture 5" descr="Life7e-Fig-48-04-0"/>
          <p:cNvPicPr>
            <a:picLocks noChangeAspect="1" noChangeArrowheads="1"/>
          </p:cNvPicPr>
          <p:nvPr/>
        </p:nvPicPr>
        <p:blipFill>
          <a:blip r:embed="rId4">
            <a:extLst>
              <a:ext uri="{28A0092B-C50C-407E-A947-70E740481C1C}">
                <a14:useLocalDpi xmlns:a14="http://schemas.microsoft.com/office/drawing/2010/main" val="0"/>
              </a:ext>
            </a:extLst>
          </a:blip>
          <a:srcRect l="23833" r="23412" b="62880"/>
          <a:stretch>
            <a:fillRect/>
          </a:stretch>
        </p:blipFill>
        <p:spPr bwMode="auto">
          <a:xfrm>
            <a:off x="185972" y="4221088"/>
            <a:ext cx="4211960" cy="2221366"/>
          </a:xfrm>
          <a:prstGeom prst="rect">
            <a:avLst/>
          </a:prstGeom>
          <a:noFill/>
          <a:extLst>
            <a:ext uri="{909E8E84-426E-40DD-AFC4-6F175D3DCCD1}">
              <a14:hiddenFill xmlns:a14="http://schemas.microsoft.com/office/drawing/2010/main">
                <a:solidFill>
                  <a:srgbClr val="FFFFFF"/>
                </a:solidFill>
              </a14:hiddenFill>
            </a:ext>
          </a:extLst>
        </p:spPr>
      </p:pic>
      <p:pic>
        <p:nvPicPr>
          <p:cNvPr id="52231" name="Picture 7" descr="936759476"/>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2969"/>
          <a:stretch>
            <a:fillRect/>
          </a:stretch>
        </p:blipFill>
        <p:spPr bwMode="auto">
          <a:xfrm>
            <a:off x="4571154" y="4025452"/>
            <a:ext cx="4572845" cy="254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950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6" name="Picture 8"/>
          <p:cNvPicPr>
            <a:picLocks noChangeAspect="1" noChangeArrowheads="1"/>
          </p:cNvPicPr>
          <p:nvPr/>
        </p:nvPicPr>
        <p:blipFill>
          <a:blip r:embed="rId3">
            <a:extLst>
              <a:ext uri="{28A0092B-C50C-407E-A947-70E740481C1C}">
                <a14:useLocalDpi xmlns:a14="http://schemas.microsoft.com/office/drawing/2010/main" val="0"/>
              </a:ext>
            </a:extLst>
          </a:blip>
          <a:srcRect b="10565"/>
          <a:stretch>
            <a:fillRect/>
          </a:stretch>
        </p:blipFill>
        <p:spPr bwMode="auto">
          <a:xfrm>
            <a:off x="5832475" y="2600325"/>
            <a:ext cx="2989263" cy="395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7" name="Picture 9" descr="Life7e-Fig-48-04-0"/>
          <p:cNvPicPr>
            <a:picLocks noChangeAspect="1" noChangeArrowheads="1"/>
          </p:cNvPicPr>
          <p:nvPr/>
        </p:nvPicPr>
        <p:blipFill>
          <a:blip r:embed="rId4">
            <a:extLst>
              <a:ext uri="{28A0092B-C50C-407E-A947-70E740481C1C}">
                <a14:useLocalDpi xmlns:a14="http://schemas.microsoft.com/office/drawing/2010/main" val="0"/>
              </a:ext>
            </a:extLst>
          </a:blip>
          <a:srcRect l="49129" t="43445" r="27132" b="10518"/>
          <a:stretch>
            <a:fillRect/>
          </a:stretch>
        </p:blipFill>
        <p:spPr bwMode="auto">
          <a:xfrm>
            <a:off x="4427538" y="1628775"/>
            <a:ext cx="2114550" cy="3076575"/>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p:cNvSpPr>
            <a:spLocks noGrp="1"/>
          </p:cNvSpPr>
          <p:nvPr>
            <p:ph type="title"/>
          </p:nvPr>
        </p:nvSpPr>
        <p:spPr/>
        <p:txBody>
          <a:bodyPr>
            <a:normAutofit/>
          </a:bodyPr>
          <a:lstStyle/>
          <a:p>
            <a:r>
              <a:rPr lang="en-AU" sz="3800" dirty="0">
                <a:solidFill>
                  <a:srgbClr val="0070C0"/>
                </a:solidFill>
              </a:rPr>
              <a:t>Gas Exchange in Air – Insect Tracheae</a:t>
            </a:r>
          </a:p>
        </p:txBody>
      </p:sp>
      <p:sp>
        <p:nvSpPr>
          <p:cNvPr id="3" name="Content Placeholder 2"/>
          <p:cNvSpPr>
            <a:spLocks noGrp="1"/>
          </p:cNvSpPr>
          <p:nvPr>
            <p:ph sz="quarter" idx="1"/>
          </p:nvPr>
        </p:nvSpPr>
        <p:spPr>
          <a:xfrm>
            <a:off x="612648" y="1600200"/>
            <a:ext cx="3671320" cy="4853136"/>
          </a:xfrm>
        </p:spPr>
        <p:txBody>
          <a:bodyPr>
            <a:normAutofit fontScale="92500" lnSpcReduction="10000"/>
          </a:bodyPr>
          <a:lstStyle/>
          <a:p>
            <a:pPr marL="0" indent="0">
              <a:buNone/>
            </a:pPr>
            <a:r>
              <a:rPr lang="en-US" sz="2600" dirty="0">
                <a:solidFill>
                  <a:srgbClr val="002060"/>
                </a:solidFill>
                <a:latin typeface="Calibri" panose="020F0502020204030204" pitchFamily="34" charset="0"/>
                <a:cs typeface="Calibri" panose="020F0502020204030204" pitchFamily="34" charset="0"/>
              </a:rPr>
              <a:t>Tracheal system is an efficient method of gas exchange as</a:t>
            </a:r>
          </a:p>
          <a:p>
            <a:r>
              <a:rPr lang="en-US" sz="2600" dirty="0">
                <a:solidFill>
                  <a:srgbClr val="002060"/>
                </a:solidFill>
                <a:latin typeface="Calibri" panose="020F0502020204030204" pitchFamily="34" charset="0"/>
                <a:cs typeface="Calibri" panose="020F0502020204030204" pitchFamily="34" charset="0"/>
              </a:rPr>
              <a:t>Oxygen is delivered directly to respiring cells.</a:t>
            </a:r>
          </a:p>
          <a:p>
            <a:r>
              <a:rPr lang="en-NZ" sz="2600" dirty="0">
                <a:solidFill>
                  <a:srgbClr val="002060"/>
                </a:solidFill>
                <a:latin typeface="Calibri" panose="020F0502020204030204" pitchFamily="34" charset="0"/>
                <a:cs typeface="Calibri" panose="020F0502020204030204" pitchFamily="34" charset="0"/>
              </a:rPr>
              <a:t>Can pump body to move air around in tracheal system.</a:t>
            </a:r>
          </a:p>
          <a:p>
            <a:pPr marL="0" indent="0">
              <a:buNone/>
            </a:pPr>
            <a:r>
              <a:rPr lang="en-NZ" sz="2600" dirty="0">
                <a:solidFill>
                  <a:srgbClr val="002060"/>
                </a:solidFill>
                <a:latin typeface="Calibri" panose="020F0502020204030204" pitchFamily="34" charset="0"/>
                <a:cs typeface="Calibri" panose="020F0502020204030204" pitchFamily="34" charset="0"/>
              </a:rPr>
              <a:t>BUT</a:t>
            </a:r>
          </a:p>
          <a:p>
            <a:r>
              <a:rPr lang="en-NZ" sz="2600" dirty="0">
                <a:solidFill>
                  <a:srgbClr val="002060"/>
                </a:solidFill>
                <a:latin typeface="Calibri" panose="020F0502020204030204" pitchFamily="34" charset="0"/>
                <a:cs typeface="Calibri" panose="020F0502020204030204" pitchFamily="34" charset="0"/>
              </a:rPr>
              <a:t>Size of animal is limited by relatively slow diffusion rate (reason why insects are so small).</a:t>
            </a:r>
            <a:endParaRPr lang="en-US" sz="2600" dirty="0">
              <a:solidFill>
                <a:srgbClr val="002060"/>
              </a:solidFill>
              <a:latin typeface="Calibri" panose="020F0502020204030204" pitchFamily="34" charset="0"/>
              <a:cs typeface="Calibri" panose="020F0502020204030204" pitchFamily="34" charset="0"/>
            </a:endParaRPr>
          </a:p>
          <a:p>
            <a:endParaRPr lang="en-AU" dirty="0"/>
          </a:p>
        </p:txBody>
      </p:sp>
    </p:spTree>
    <p:extLst>
      <p:ext uri="{BB962C8B-B14F-4D97-AF65-F5344CB8AC3E}">
        <p14:creationId xmlns:p14="http://schemas.microsoft.com/office/powerpoint/2010/main" val="2525602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r>
              <a:rPr lang="en-NZ" sz="4000" dirty="0">
                <a:solidFill>
                  <a:srgbClr val="0070C0"/>
                </a:solidFill>
              </a:rPr>
              <a:t>Gas Exchange in Air – Bird Lungs</a:t>
            </a:r>
            <a:endParaRPr lang="en-GB" sz="4000" dirty="0">
              <a:solidFill>
                <a:srgbClr val="0070C0"/>
              </a:solidFill>
            </a:endParaRPr>
          </a:p>
        </p:txBody>
      </p:sp>
      <p:sp>
        <p:nvSpPr>
          <p:cNvPr id="3" name="Content Placeholder 2"/>
          <p:cNvSpPr>
            <a:spLocks noGrp="1"/>
          </p:cNvSpPr>
          <p:nvPr>
            <p:ph sz="quarter" idx="1"/>
          </p:nvPr>
        </p:nvSpPr>
        <p:spPr>
          <a:xfrm>
            <a:off x="612648" y="1600200"/>
            <a:ext cx="8153400" cy="4853136"/>
          </a:xfrm>
        </p:spPr>
        <p:txBody>
          <a:bodyPr>
            <a:normAutofit/>
          </a:bodyPr>
          <a:lstStyle/>
          <a:p>
            <a:r>
              <a:rPr lang="en-NZ" sz="2400" dirty="0">
                <a:solidFill>
                  <a:srgbClr val="002060"/>
                </a:solidFill>
                <a:latin typeface="Calibri" panose="020F0502020204030204" pitchFamily="34" charset="0"/>
                <a:cs typeface="Calibri" panose="020F0502020204030204" pitchFamily="34" charset="0"/>
              </a:rPr>
              <a:t>Birds have a high demand for oxygen:</a:t>
            </a:r>
          </a:p>
          <a:p>
            <a:pPr lvl="1"/>
            <a:r>
              <a:rPr lang="en-NZ" sz="2400" dirty="0">
                <a:solidFill>
                  <a:srgbClr val="002060"/>
                </a:solidFill>
                <a:latin typeface="Calibri" panose="020F0502020204030204" pitchFamily="34" charset="0"/>
                <a:cs typeface="Calibri" panose="020F0502020204030204" pitchFamily="34" charset="0"/>
              </a:rPr>
              <a:t>They’re warm-blooded so metabolism is high.</a:t>
            </a:r>
          </a:p>
          <a:p>
            <a:pPr lvl="1"/>
            <a:r>
              <a:rPr lang="en-NZ" sz="2400" dirty="0">
                <a:solidFill>
                  <a:srgbClr val="002060"/>
                </a:solidFill>
                <a:latin typeface="Calibri" panose="020F0502020204030204" pitchFamily="34" charset="0"/>
                <a:cs typeface="Calibri" panose="020F0502020204030204" pitchFamily="34" charset="0"/>
              </a:rPr>
              <a:t>Flight requires a lot of energy.</a:t>
            </a:r>
          </a:p>
          <a:p>
            <a:r>
              <a:rPr lang="en-US" sz="2400" dirty="0">
                <a:solidFill>
                  <a:srgbClr val="002060"/>
                </a:solidFill>
                <a:latin typeface="Calibri" panose="020F0502020204030204" pitchFamily="34" charset="0"/>
                <a:cs typeface="Calibri" panose="020F0502020204030204" pitchFamily="34" charset="0"/>
              </a:rPr>
              <a:t>Additional challenge:</a:t>
            </a:r>
          </a:p>
          <a:p>
            <a:pPr lvl="1"/>
            <a:r>
              <a:rPr lang="en-US" sz="2400" dirty="0">
                <a:solidFill>
                  <a:srgbClr val="002060"/>
                </a:solidFill>
                <a:latin typeface="Calibri" panose="020F0502020204030204" pitchFamily="34" charset="0"/>
                <a:cs typeface="Calibri" panose="020F0502020204030204" pitchFamily="34" charset="0"/>
              </a:rPr>
              <a:t>Air at higher altitude is </a:t>
            </a:r>
            <a:br>
              <a:rPr lang="en-US" sz="2400" dirty="0">
                <a:solidFill>
                  <a:srgbClr val="002060"/>
                </a:solidFill>
                <a:latin typeface="Calibri" panose="020F0502020204030204" pitchFamily="34" charset="0"/>
                <a:cs typeface="Calibri" panose="020F0502020204030204" pitchFamily="34" charset="0"/>
              </a:rPr>
            </a:br>
            <a:r>
              <a:rPr lang="en-US" sz="2400" dirty="0">
                <a:solidFill>
                  <a:srgbClr val="002060"/>
                </a:solidFill>
                <a:latin typeface="Calibri" panose="020F0502020204030204" pitchFamily="34" charset="0"/>
                <a:cs typeface="Calibri" panose="020F0502020204030204" pitchFamily="34" charset="0"/>
              </a:rPr>
              <a:t>thinner </a:t>
            </a:r>
            <a:r>
              <a:rPr lang="en-US" sz="2400" dirty="0">
                <a:solidFill>
                  <a:srgbClr val="002060"/>
                </a:solidFill>
                <a:latin typeface="Calibri" panose="020F0502020204030204" pitchFamily="34" charset="0"/>
                <a:cs typeface="Calibri" panose="020F0502020204030204" pitchFamily="34" charset="0"/>
                <a:sym typeface="Wingdings" pitchFamily="2" charset="2"/>
              </a:rPr>
              <a:t></a:t>
            </a:r>
            <a:r>
              <a:rPr lang="en-US" sz="2400" dirty="0">
                <a:solidFill>
                  <a:srgbClr val="002060"/>
                </a:solidFill>
                <a:latin typeface="Calibri" panose="020F0502020204030204" pitchFamily="34" charset="0"/>
                <a:cs typeface="Calibri" panose="020F0502020204030204" pitchFamily="34" charset="0"/>
              </a:rPr>
              <a:t> lower in O</a:t>
            </a:r>
            <a:r>
              <a:rPr lang="en-US" sz="2400" baseline="-25000" dirty="0">
                <a:solidFill>
                  <a:srgbClr val="002060"/>
                </a:solidFill>
                <a:latin typeface="Calibri" panose="020F0502020204030204" pitchFamily="34" charset="0"/>
                <a:cs typeface="Calibri" panose="020F0502020204030204" pitchFamily="34" charset="0"/>
              </a:rPr>
              <a:t>2</a:t>
            </a:r>
            <a:r>
              <a:rPr lang="en-US" sz="2400" dirty="0">
                <a:solidFill>
                  <a:srgbClr val="002060"/>
                </a:solidFill>
                <a:latin typeface="Calibri" panose="020F0502020204030204" pitchFamily="34" charset="0"/>
                <a:cs typeface="Calibri" panose="020F0502020204030204" pitchFamily="34" charset="0"/>
              </a:rPr>
              <a:t>.</a:t>
            </a:r>
          </a:p>
          <a:p>
            <a:r>
              <a:rPr lang="en-NZ" sz="2400" dirty="0">
                <a:solidFill>
                  <a:srgbClr val="002060"/>
                </a:solidFill>
                <a:latin typeface="Calibri" panose="020F0502020204030204" pitchFamily="34" charset="0"/>
                <a:cs typeface="Calibri" panose="020F0502020204030204" pitchFamily="34" charset="0"/>
              </a:rPr>
              <a:t>Some birds can still fly                                                                    as high, </a:t>
            </a:r>
            <a:r>
              <a:rPr lang="en-NZ" sz="2400" dirty="0" err="1">
                <a:solidFill>
                  <a:srgbClr val="002060"/>
                </a:solidFill>
                <a:latin typeface="Calibri" panose="020F0502020204030204" pitchFamily="34" charset="0"/>
                <a:cs typeface="Calibri" panose="020F0502020204030204" pitchFamily="34" charset="0"/>
              </a:rPr>
              <a:t>eg.</a:t>
            </a:r>
            <a:r>
              <a:rPr lang="en-NZ" sz="2400" dirty="0">
                <a:solidFill>
                  <a:srgbClr val="002060"/>
                </a:solidFill>
                <a:latin typeface="Calibri" panose="020F0502020204030204" pitchFamily="34" charset="0"/>
                <a:cs typeface="Calibri" panose="020F0502020204030204" pitchFamily="34" charset="0"/>
              </a:rPr>
              <a:t> over Mt Everest!</a:t>
            </a:r>
          </a:p>
          <a:p>
            <a:r>
              <a:rPr lang="en-NZ" sz="2400" dirty="0">
                <a:solidFill>
                  <a:srgbClr val="002060"/>
                </a:solidFill>
                <a:latin typeface="Calibri" panose="020F0502020204030204" pitchFamily="34" charset="0"/>
                <a:cs typeface="Calibri" panose="020F0502020204030204" pitchFamily="34" charset="0"/>
              </a:rPr>
              <a:t>Birds have a very efficient gas exchange system to cope with low O</a:t>
            </a:r>
            <a:r>
              <a:rPr lang="en-NZ" sz="2400" baseline="-25000" dirty="0">
                <a:solidFill>
                  <a:srgbClr val="002060"/>
                </a:solidFill>
                <a:latin typeface="Calibri" panose="020F0502020204030204" pitchFamily="34" charset="0"/>
                <a:cs typeface="Calibri" panose="020F0502020204030204" pitchFamily="34" charset="0"/>
              </a:rPr>
              <a:t>2</a:t>
            </a:r>
            <a:r>
              <a:rPr lang="en-NZ" sz="2400" dirty="0">
                <a:solidFill>
                  <a:srgbClr val="002060"/>
                </a:solidFill>
                <a:latin typeface="Calibri" panose="020F0502020204030204" pitchFamily="34" charset="0"/>
                <a:cs typeface="Calibri" panose="020F0502020204030204" pitchFamily="34" charset="0"/>
              </a:rPr>
              <a:t> supply &amp; high O</a:t>
            </a:r>
            <a:r>
              <a:rPr lang="en-NZ" sz="2400" baseline="-25000" dirty="0">
                <a:solidFill>
                  <a:srgbClr val="002060"/>
                </a:solidFill>
                <a:latin typeface="Calibri" panose="020F0502020204030204" pitchFamily="34" charset="0"/>
                <a:cs typeface="Calibri" panose="020F0502020204030204" pitchFamily="34" charset="0"/>
              </a:rPr>
              <a:t>2</a:t>
            </a:r>
            <a:r>
              <a:rPr lang="en-NZ" sz="2400" dirty="0">
                <a:solidFill>
                  <a:srgbClr val="002060"/>
                </a:solidFill>
                <a:latin typeface="Calibri" panose="020F0502020204030204" pitchFamily="34" charset="0"/>
                <a:cs typeface="Calibri" panose="020F0502020204030204" pitchFamily="34" charset="0"/>
              </a:rPr>
              <a:t> demand.</a:t>
            </a:r>
            <a:endParaRPr lang="en-US" sz="2400" dirty="0">
              <a:solidFill>
                <a:srgbClr val="002060"/>
              </a:solidFill>
              <a:latin typeface="Calibri" panose="020F0502020204030204" pitchFamily="34" charset="0"/>
              <a:cs typeface="Calibri" panose="020F0502020204030204" pitchFamily="34" charset="0"/>
            </a:endParaRPr>
          </a:p>
          <a:p>
            <a:endParaRPr lang="en-GB" dirty="0"/>
          </a:p>
        </p:txBody>
      </p:sp>
      <p:pic>
        <p:nvPicPr>
          <p:cNvPr id="22537" name="Picture 9"/>
          <p:cNvPicPr>
            <a:picLocks noChangeAspect="1" noChangeArrowheads="1"/>
          </p:cNvPicPr>
          <p:nvPr/>
        </p:nvPicPr>
        <p:blipFill>
          <a:blip r:embed="rId2">
            <a:extLst>
              <a:ext uri="{28A0092B-C50C-407E-A947-70E740481C1C}">
                <a14:useLocalDpi xmlns:a14="http://schemas.microsoft.com/office/drawing/2010/main" val="0"/>
              </a:ext>
            </a:extLst>
          </a:blip>
          <a:srcRect r="3461"/>
          <a:stretch>
            <a:fillRect/>
          </a:stretch>
        </p:blipFill>
        <p:spPr bwMode="auto">
          <a:xfrm>
            <a:off x="5712914" y="2492896"/>
            <a:ext cx="3053134" cy="2531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80845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a:bodyPr>
          <a:lstStyle/>
          <a:p>
            <a:r>
              <a:rPr lang="en-NZ" sz="4000" dirty="0">
                <a:solidFill>
                  <a:srgbClr val="0070C0"/>
                </a:solidFill>
              </a:rPr>
              <a:t>Gas Exchange in Air – Bird Lungs</a:t>
            </a:r>
            <a:endParaRPr lang="en-GB" sz="4000" dirty="0">
              <a:solidFill>
                <a:srgbClr val="0070C0"/>
              </a:solidFill>
            </a:endParaRPr>
          </a:p>
        </p:txBody>
      </p:sp>
      <p:sp>
        <p:nvSpPr>
          <p:cNvPr id="3" name="Content Placeholder 2"/>
          <p:cNvSpPr>
            <a:spLocks noGrp="1"/>
          </p:cNvSpPr>
          <p:nvPr>
            <p:ph sz="quarter" idx="1"/>
          </p:nvPr>
        </p:nvSpPr>
        <p:spPr>
          <a:xfrm>
            <a:off x="467544" y="1988840"/>
            <a:ext cx="3334752" cy="4495800"/>
          </a:xfrm>
        </p:spPr>
        <p:txBody>
          <a:bodyPr/>
          <a:lstStyle/>
          <a:p>
            <a:r>
              <a:rPr lang="en-US" sz="2400" dirty="0">
                <a:solidFill>
                  <a:srgbClr val="002060"/>
                </a:solidFill>
                <a:latin typeface="Calibri" panose="020F0502020204030204" pitchFamily="34" charset="0"/>
                <a:cs typeface="Calibri" panose="020F0502020204030204" pitchFamily="34" charset="0"/>
              </a:rPr>
              <a:t>Birds have lungs and air sacs.</a:t>
            </a:r>
          </a:p>
          <a:p>
            <a:r>
              <a:rPr lang="en-US" sz="2400" dirty="0">
                <a:solidFill>
                  <a:srgbClr val="002060"/>
                </a:solidFill>
                <a:latin typeface="Calibri" panose="020F0502020204030204" pitchFamily="34" charset="0"/>
                <a:cs typeface="Calibri" panose="020F0502020204030204" pitchFamily="34" charset="0"/>
              </a:rPr>
              <a:t>Air sacs are not sites of gas exchange.</a:t>
            </a:r>
          </a:p>
          <a:p>
            <a:r>
              <a:rPr lang="en-NZ" sz="2400" dirty="0">
                <a:solidFill>
                  <a:srgbClr val="002060"/>
                </a:solidFill>
                <a:latin typeface="Calibri" panose="020F0502020204030204" pitchFamily="34" charset="0"/>
                <a:cs typeface="Calibri" panose="020F0502020204030204" pitchFamily="34" charset="0"/>
              </a:rPr>
              <a:t>Air sacs enable a one-way flow of air through lungs.</a:t>
            </a:r>
            <a:endParaRPr lang="en-GB" sz="2400" dirty="0">
              <a:solidFill>
                <a:srgbClr val="002060"/>
              </a:solidFill>
              <a:latin typeface="Calibri" panose="020F0502020204030204" pitchFamily="34" charset="0"/>
              <a:cs typeface="Calibri" panose="020F0502020204030204" pitchFamily="34" charset="0"/>
            </a:endParaRPr>
          </a:p>
          <a:p>
            <a:endParaRPr lang="en-AU" dirty="0"/>
          </a:p>
        </p:txBody>
      </p:sp>
      <p:pic>
        <p:nvPicPr>
          <p:cNvPr id="50179" name="Picture 3" descr="Life7e-Fig-48-07-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47400" y="1772816"/>
            <a:ext cx="5187950" cy="389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64784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a:bodyPr>
          <a:lstStyle/>
          <a:p>
            <a:r>
              <a:rPr lang="en-NZ" sz="4000" dirty="0">
                <a:solidFill>
                  <a:srgbClr val="0070C0"/>
                </a:solidFill>
              </a:rPr>
              <a:t>Gas Exchange in Air – Bird Lungs</a:t>
            </a:r>
            <a:endParaRPr lang="en-GB" sz="4000" dirty="0">
              <a:solidFill>
                <a:srgbClr val="0070C0"/>
              </a:solidFill>
            </a:endParaRPr>
          </a:p>
        </p:txBody>
      </p:sp>
      <p:grpSp>
        <p:nvGrpSpPr>
          <p:cNvPr id="23579" name="Group 27"/>
          <p:cNvGrpSpPr>
            <a:grpSpLocks/>
          </p:cNvGrpSpPr>
          <p:nvPr/>
        </p:nvGrpSpPr>
        <p:grpSpPr bwMode="auto">
          <a:xfrm>
            <a:off x="827584" y="1483203"/>
            <a:ext cx="8424936" cy="1943100"/>
            <a:chOff x="430" y="812"/>
            <a:chExt cx="5330" cy="1224"/>
          </a:xfrm>
        </p:grpSpPr>
        <p:sp>
          <p:nvSpPr>
            <p:cNvPr id="23556" name="Rectangle 4"/>
            <p:cNvSpPr>
              <a:spLocks noChangeArrowheads="1"/>
            </p:cNvSpPr>
            <p:nvPr/>
          </p:nvSpPr>
          <p:spPr bwMode="auto">
            <a:xfrm>
              <a:off x="430" y="812"/>
              <a:ext cx="5330" cy="1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a:spcAft>
                  <a:spcPct val="25000"/>
                </a:spcAft>
              </a:pPr>
              <a:r>
                <a:rPr lang="en-NZ" sz="2400" b="1" i="1" dirty="0">
                  <a:latin typeface="Calibri" panose="020F0502020204030204" pitchFamily="34" charset="0"/>
                  <a:cs typeface="Calibri" panose="020F0502020204030204" pitchFamily="34" charset="0"/>
                </a:rPr>
                <a:t>Passage of air through lungs:</a:t>
              </a:r>
              <a:endParaRPr lang="en-US" sz="2400" b="1" i="1" dirty="0">
                <a:latin typeface="Calibri" panose="020F0502020204030204" pitchFamily="34" charset="0"/>
                <a:cs typeface="Calibri" panose="020F0502020204030204" pitchFamily="34" charset="0"/>
              </a:endParaRPr>
            </a:p>
            <a:p>
              <a:pPr marL="342900" indent="-342900" algn="l">
                <a:spcAft>
                  <a:spcPct val="25000"/>
                </a:spcAft>
              </a:pPr>
              <a:r>
                <a:rPr lang="en-US" sz="2400" dirty="0"/>
                <a:t>in trachea        </a:t>
              </a:r>
              <a:r>
                <a:rPr lang="en-US" sz="2400" dirty="0">
                  <a:sym typeface="Wingdings" pitchFamily="2" charset="2"/>
                </a:rPr>
                <a:t>rear </a:t>
              </a:r>
              <a:r>
                <a:rPr lang="en-US" sz="2400" dirty="0"/>
                <a:t>air sacs          rear bronchi</a:t>
              </a:r>
            </a:p>
            <a:p>
              <a:pPr marL="342900" indent="-342900" algn="l">
                <a:spcAft>
                  <a:spcPct val="25000"/>
                </a:spcAft>
              </a:pPr>
              <a:r>
                <a:rPr lang="en-NZ" sz="2400" dirty="0"/>
                <a:t>						      </a:t>
              </a:r>
              <a:r>
                <a:rPr lang="en-US" sz="2400" dirty="0" err="1"/>
                <a:t>parabronchi</a:t>
              </a:r>
              <a:r>
                <a:rPr lang="en-US" sz="2400" dirty="0"/>
                <a:t> </a:t>
              </a:r>
              <a:r>
                <a:rPr lang="en-NZ" sz="2400" dirty="0"/>
                <a:t>in lungs</a:t>
              </a:r>
            </a:p>
            <a:p>
              <a:pPr marL="342900" indent="-342900" algn="l">
                <a:spcAft>
                  <a:spcPct val="25000"/>
                </a:spcAft>
              </a:pPr>
              <a:r>
                <a:rPr lang="en-US" sz="2400" dirty="0"/>
                <a:t>out trachea      </a:t>
              </a:r>
              <a:r>
                <a:rPr lang="en-US" sz="2400" dirty="0">
                  <a:sym typeface="Wingdings" pitchFamily="2" charset="2"/>
                </a:rPr>
                <a:t>front </a:t>
              </a:r>
              <a:r>
                <a:rPr lang="en-US" sz="2400" dirty="0"/>
                <a:t>air sacs         front bronchi</a:t>
              </a:r>
              <a:endParaRPr lang="en-GB" sz="3200" dirty="0"/>
            </a:p>
          </p:txBody>
        </p:sp>
        <p:sp>
          <p:nvSpPr>
            <p:cNvPr id="23557" name="AutoShape 5"/>
            <p:cNvSpPr>
              <a:spLocks noChangeArrowheads="1"/>
            </p:cNvSpPr>
            <p:nvPr/>
          </p:nvSpPr>
          <p:spPr bwMode="auto">
            <a:xfrm>
              <a:off x="1337" y="1230"/>
              <a:ext cx="250" cy="182"/>
            </a:xfrm>
            <a:prstGeom prst="rightArrow">
              <a:avLst>
                <a:gd name="adj1" fmla="val 49454"/>
                <a:gd name="adj2" fmla="val 68681"/>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65" name="AutoShape 13"/>
            <p:cNvSpPr>
              <a:spLocks noChangeArrowheads="1"/>
            </p:cNvSpPr>
            <p:nvPr/>
          </p:nvSpPr>
          <p:spPr bwMode="auto">
            <a:xfrm>
              <a:off x="2834" y="1230"/>
              <a:ext cx="250" cy="182"/>
            </a:xfrm>
            <a:prstGeom prst="rightArrow">
              <a:avLst>
                <a:gd name="adj1" fmla="val 49454"/>
                <a:gd name="adj2" fmla="val 68681"/>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69" name="AutoShape 17"/>
            <p:cNvSpPr>
              <a:spLocks noChangeArrowheads="1"/>
            </p:cNvSpPr>
            <p:nvPr/>
          </p:nvSpPr>
          <p:spPr bwMode="auto">
            <a:xfrm flipH="1">
              <a:off x="2789" y="1797"/>
              <a:ext cx="250" cy="182"/>
            </a:xfrm>
            <a:prstGeom prst="rightArrow">
              <a:avLst>
                <a:gd name="adj1" fmla="val 49454"/>
                <a:gd name="adj2" fmla="val 68681"/>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70" name="AutoShape 18"/>
            <p:cNvSpPr>
              <a:spLocks noChangeArrowheads="1"/>
            </p:cNvSpPr>
            <p:nvPr/>
          </p:nvSpPr>
          <p:spPr bwMode="auto">
            <a:xfrm flipH="1">
              <a:off x="1381" y="1797"/>
              <a:ext cx="250" cy="182"/>
            </a:xfrm>
            <a:prstGeom prst="rightArrow">
              <a:avLst>
                <a:gd name="adj1" fmla="val 49454"/>
                <a:gd name="adj2" fmla="val 68681"/>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71" name="AutoShape 19"/>
            <p:cNvSpPr>
              <a:spLocks noChangeArrowheads="1"/>
            </p:cNvSpPr>
            <p:nvPr/>
          </p:nvSpPr>
          <p:spPr bwMode="auto">
            <a:xfrm flipV="1">
              <a:off x="4195" y="1275"/>
              <a:ext cx="340" cy="227"/>
            </a:xfrm>
            <a:custGeom>
              <a:avLst/>
              <a:gdLst>
                <a:gd name="G0" fmla="+- 9257 0 0"/>
                <a:gd name="G1" fmla="+- 18868 0 0"/>
                <a:gd name="G2" fmla="+- 7257 0 0"/>
                <a:gd name="G3" fmla="*/ 9257 1 2"/>
                <a:gd name="G4" fmla="+- G3 10800 0"/>
                <a:gd name="G5" fmla="+- 21600 9257 18868"/>
                <a:gd name="G6" fmla="+- 18868 7257 0"/>
                <a:gd name="G7" fmla="*/ G6 1 2"/>
                <a:gd name="G8" fmla="*/ 18868 2 1"/>
                <a:gd name="G9" fmla="+- G8 0 21600"/>
                <a:gd name="G10" fmla="*/ 21600 G0 G1"/>
                <a:gd name="G11" fmla="*/ 21600 G4 G1"/>
                <a:gd name="G12" fmla="*/ 21600 G5 G1"/>
                <a:gd name="G13" fmla="*/ 21600 G7 G1"/>
                <a:gd name="G14" fmla="*/ 18868 1 2"/>
                <a:gd name="G15" fmla="+- G5 0 G4"/>
                <a:gd name="G16" fmla="+- G0 0 G4"/>
                <a:gd name="G17" fmla="*/ G2 G15 G16"/>
                <a:gd name="T0" fmla="*/ 15429 w 21600"/>
                <a:gd name="T1" fmla="*/ 0 h 21600"/>
                <a:gd name="T2" fmla="*/ 9257 w 21600"/>
                <a:gd name="T3" fmla="*/ 7257 h 21600"/>
                <a:gd name="T4" fmla="*/ 0 w 21600"/>
                <a:gd name="T5" fmla="*/ 17663 h 21600"/>
                <a:gd name="T6" fmla="*/ 9434 w 21600"/>
                <a:gd name="T7" fmla="*/ 21600 h 21600"/>
                <a:gd name="T8" fmla="*/ 18868 w 21600"/>
                <a:gd name="T9" fmla="*/ 14954 h 21600"/>
                <a:gd name="T10" fmla="*/ 21600 w 21600"/>
                <a:gd name="T11" fmla="*/ 7257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57"/>
                  </a:lnTo>
                  <a:lnTo>
                    <a:pt x="11989" y="7257"/>
                  </a:lnTo>
                  <a:lnTo>
                    <a:pt x="11989" y="13725"/>
                  </a:lnTo>
                  <a:lnTo>
                    <a:pt x="0" y="13725"/>
                  </a:lnTo>
                  <a:lnTo>
                    <a:pt x="0" y="21600"/>
                  </a:lnTo>
                  <a:lnTo>
                    <a:pt x="18868" y="21600"/>
                  </a:lnTo>
                  <a:lnTo>
                    <a:pt x="18868" y="7257"/>
                  </a:lnTo>
                  <a:lnTo>
                    <a:pt x="21600" y="7257"/>
                  </a:lnTo>
                  <a:close/>
                </a:path>
              </a:pathLst>
            </a:cu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3572" name="AutoShape 20"/>
            <p:cNvSpPr>
              <a:spLocks noChangeArrowheads="1"/>
            </p:cNvSpPr>
            <p:nvPr/>
          </p:nvSpPr>
          <p:spPr bwMode="auto">
            <a:xfrm rot="5400000" flipV="1">
              <a:off x="4219" y="1682"/>
              <a:ext cx="248" cy="295"/>
            </a:xfrm>
            <a:custGeom>
              <a:avLst/>
              <a:gdLst>
                <a:gd name="G0" fmla="+- 9257 0 0"/>
                <a:gd name="G1" fmla="+- 18969 0 0"/>
                <a:gd name="G2" fmla="+- 8726 0 0"/>
                <a:gd name="G3" fmla="*/ 9257 1 2"/>
                <a:gd name="G4" fmla="+- G3 10800 0"/>
                <a:gd name="G5" fmla="+- 21600 9257 18969"/>
                <a:gd name="G6" fmla="+- 18969 8726 0"/>
                <a:gd name="G7" fmla="*/ G6 1 2"/>
                <a:gd name="G8" fmla="*/ 18969 2 1"/>
                <a:gd name="G9" fmla="+- G8 0 21600"/>
                <a:gd name="G10" fmla="*/ 21600 G0 G1"/>
                <a:gd name="G11" fmla="*/ 21600 G4 G1"/>
                <a:gd name="G12" fmla="*/ 21600 G5 G1"/>
                <a:gd name="G13" fmla="*/ 21600 G7 G1"/>
                <a:gd name="G14" fmla="*/ 18969 1 2"/>
                <a:gd name="G15" fmla="+- G5 0 G4"/>
                <a:gd name="G16" fmla="+- G0 0 G4"/>
                <a:gd name="G17" fmla="*/ G2 G15 G16"/>
                <a:gd name="T0" fmla="*/ 15429 w 21600"/>
                <a:gd name="T1" fmla="*/ 0 h 21600"/>
                <a:gd name="T2" fmla="*/ 9257 w 21600"/>
                <a:gd name="T3" fmla="*/ 8726 h 21600"/>
                <a:gd name="T4" fmla="*/ 0 w 21600"/>
                <a:gd name="T5" fmla="*/ 17569 h 21600"/>
                <a:gd name="T6" fmla="*/ 9485 w 21600"/>
                <a:gd name="T7" fmla="*/ 21600 h 21600"/>
                <a:gd name="T8" fmla="*/ 18969 w 21600"/>
                <a:gd name="T9" fmla="*/ 15769 h 21600"/>
                <a:gd name="T10" fmla="*/ 21600 w 21600"/>
                <a:gd name="T11" fmla="*/ 8726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8726"/>
                  </a:lnTo>
                  <a:lnTo>
                    <a:pt x="11888" y="8726"/>
                  </a:lnTo>
                  <a:lnTo>
                    <a:pt x="11888" y="13537"/>
                  </a:lnTo>
                  <a:lnTo>
                    <a:pt x="0" y="13537"/>
                  </a:lnTo>
                  <a:lnTo>
                    <a:pt x="0" y="21600"/>
                  </a:lnTo>
                  <a:lnTo>
                    <a:pt x="18969" y="21600"/>
                  </a:lnTo>
                  <a:lnTo>
                    <a:pt x="18969" y="8726"/>
                  </a:lnTo>
                  <a:lnTo>
                    <a:pt x="21600" y="8726"/>
                  </a:lnTo>
                  <a:close/>
                </a:path>
              </a:pathLst>
            </a:cu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grpSp>
      <p:pic>
        <p:nvPicPr>
          <p:cNvPr id="23577" name="Picture 25" descr="Life7e-Fig-48-08-1"/>
          <p:cNvPicPr>
            <a:picLocks noChangeAspect="1" noChangeArrowheads="1"/>
          </p:cNvPicPr>
          <p:nvPr/>
        </p:nvPicPr>
        <p:blipFill>
          <a:blip r:embed="rId2">
            <a:extLst>
              <a:ext uri="{28A0092B-C50C-407E-A947-70E740481C1C}">
                <a14:useLocalDpi xmlns:a14="http://schemas.microsoft.com/office/drawing/2010/main" val="0"/>
              </a:ext>
            </a:extLst>
          </a:blip>
          <a:srcRect l="22018" t="28065" r="17084" b="8380"/>
          <a:stretch>
            <a:fillRect/>
          </a:stretch>
        </p:blipFill>
        <p:spPr bwMode="auto">
          <a:xfrm>
            <a:off x="251520" y="3577141"/>
            <a:ext cx="3997077" cy="3128459"/>
          </a:xfrm>
          <a:prstGeom prst="rect">
            <a:avLst/>
          </a:prstGeom>
          <a:noFill/>
          <a:extLst>
            <a:ext uri="{909E8E84-426E-40DD-AFC4-6F175D3DCCD1}">
              <a14:hiddenFill xmlns:a14="http://schemas.microsoft.com/office/drawing/2010/main">
                <a:solidFill>
                  <a:srgbClr val="FFFFFF"/>
                </a:solidFill>
              </a14:hiddenFill>
            </a:ext>
          </a:extLst>
        </p:spPr>
      </p:pic>
      <p:pic>
        <p:nvPicPr>
          <p:cNvPr id="23578" name="Picture 26" descr="Life7e-Fig-48-08-2"/>
          <p:cNvPicPr>
            <a:picLocks noChangeAspect="1" noChangeArrowheads="1"/>
          </p:cNvPicPr>
          <p:nvPr/>
        </p:nvPicPr>
        <p:blipFill>
          <a:blip r:embed="rId3">
            <a:extLst>
              <a:ext uri="{28A0092B-C50C-407E-A947-70E740481C1C}">
                <a14:useLocalDpi xmlns:a14="http://schemas.microsoft.com/office/drawing/2010/main" val="0"/>
              </a:ext>
            </a:extLst>
          </a:blip>
          <a:srcRect l="19376" t="19292" r="17899" b="25253"/>
          <a:stretch>
            <a:fillRect/>
          </a:stretch>
        </p:blipFill>
        <p:spPr bwMode="auto">
          <a:xfrm>
            <a:off x="4749408" y="3746599"/>
            <a:ext cx="4128431" cy="2738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1164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normAutofit/>
          </a:bodyPr>
          <a:lstStyle/>
          <a:p>
            <a:r>
              <a:rPr lang="en-NZ" sz="4000" dirty="0">
                <a:solidFill>
                  <a:srgbClr val="0070C0"/>
                </a:solidFill>
              </a:rPr>
              <a:t>Gas Exchange in Air – Bird Lungs</a:t>
            </a:r>
            <a:endParaRPr lang="en-GB" sz="4000" dirty="0">
              <a:solidFill>
                <a:srgbClr val="0070C0"/>
              </a:solidFill>
            </a:endParaRPr>
          </a:p>
        </p:txBody>
      </p:sp>
      <p:sp>
        <p:nvSpPr>
          <p:cNvPr id="3" name="Content Placeholder 2"/>
          <p:cNvSpPr>
            <a:spLocks noGrp="1"/>
          </p:cNvSpPr>
          <p:nvPr>
            <p:ph sz="quarter" idx="1"/>
          </p:nvPr>
        </p:nvSpPr>
        <p:spPr>
          <a:xfrm>
            <a:off x="363285" y="1700808"/>
            <a:ext cx="4031360" cy="4997152"/>
          </a:xfrm>
        </p:spPr>
        <p:txBody>
          <a:bodyPr>
            <a:normAutofit fontScale="77500" lnSpcReduction="20000"/>
          </a:bodyPr>
          <a:lstStyle/>
          <a:p>
            <a:r>
              <a:rPr lang="en-NZ" dirty="0">
                <a:solidFill>
                  <a:srgbClr val="002060"/>
                </a:solidFill>
                <a:latin typeface="Calibri" panose="020F0502020204030204" pitchFamily="34" charset="0"/>
                <a:cs typeface="Calibri" panose="020F0502020204030204" pitchFamily="34" charset="0"/>
              </a:rPr>
              <a:t>The main air tubes through lungs are the parabronchi.</a:t>
            </a:r>
          </a:p>
          <a:p>
            <a:r>
              <a:rPr lang="en-NZ" dirty="0">
                <a:solidFill>
                  <a:srgbClr val="002060"/>
                </a:solidFill>
                <a:latin typeface="Calibri" panose="020F0502020204030204" pitchFamily="34" charset="0"/>
                <a:cs typeface="Calibri" panose="020F0502020204030204" pitchFamily="34" charset="0"/>
              </a:rPr>
              <a:t>Tiny air capillaries loop away from and back to parabronchi </a:t>
            </a:r>
            <a:r>
              <a:rPr lang="en-NZ" dirty="0">
                <a:solidFill>
                  <a:srgbClr val="002060"/>
                </a:solidFill>
                <a:latin typeface="Calibri" panose="020F0502020204030204" pitchFamily="34" charset="0"/>
                <a:cs typeface="Calibri" panose="020F0502020204030204" pitchFamily="34" charset="0"/>
                <a:sym typeface="Wingdings" pitchFamily="2" charset="2"/>
              </a:rPr>
              <a:t> one way flow of air.</a:t>
            </a:r>
            <a:endParaRPr lang="en-NZ" dirty="0">
              <a:solidFill>
                <a:srgbClr val="002060"/>
              </a:solidFill>
              <a:latin typeface="Calibri" panose="020F0502020204030204" pitchFamily="34" charset="0"/>
              <a:cs typeface="Calibri" panose="020F0502020204030204" pitchFamily="34" charset="0"/>
            </a:endParaRPr>
          </a:p>
          <a:p>
            <a:r>
              <a:rPr lang="en-NZ" dirty="0">
                <a:solidFill>
                  <a:srgbClr val="002060"/>
                </a:solidFill>
                <a:latin typeface="Calibri" panose="020F0502020204030204" pitchFamily="34" charset="0"/>
                <a:cs typeface="Calibri" panose="020F0502020204030204" pitchFamily="34" charset="0"/>
              </a:rPr>
              <a:t>Blood capillaries run alongside air capillaries. </a:t>
            </a:r>
          </a:p>
          <a:p>
            <a:r>
              <a:rPr lang="en-NZ" dirty="0">
                <a:solidFill>
                  <a:srgbClr val="002060"/>
                </a:solidFill>
                <a:latin typeface="Calibri" panose="020F0502020204030204" pitchFamily="34" charset="0"/>
                <a:cs typeface="Calibri" panose="020F0502020204030204" pitchFamily="34" charset="0"/>
              </a:rPr>
              <a:t>The blood flows in opposite direction to air flow </a:t>
            </a:r>
            <a:r>
              <a:rPr lang="en-NZ" dirty="0">
                <a:solidFill>
                  <a:srgbClr val="002060"/>
                </a:solidFill>
                <a:latin typeface="Calibri" panose="020F0502020204030204" pitchFamily="34" charset="0"/>
                <a:cs typeface="Calibri" panose="020F0502020204030204" pitchFamily="34" charset="0"/>
                <a:sym typeface="Wingdings" pitchFamily="2" charset="2"/>
              </a:rPr>
              <a:t>to create a counter-current exchange of gases, this maintains the concentration gradient.</a:t>
            </a:r>
          </a:p>
          <a:p>
            <a:r>
              <a:rPr lang="en-GB" dirty="0">
                <a:solidFill>
                  <a:srgbClr val="002060"/>
                </a:solidFill>
                <a:latin typeface="Calibri" panose="020F0502020204030204" pitchFamily="34" charset="0"/>
                <a:cs typeface="Calibri" panose="020F0502020204030204" pitchFamily="34" charset="0"/>
              </a:rPr>
              <a:t>Video showing gas exchange in bird lungs</a:t>
            </a:r>
            <a:r>
              <a:rPr lang="en-GB" dirty="0"/>
              <a:t> </a:t>
            </a:r>
            <a:r>
              <a:rPr lang="en-GB" sz="2300" dirty="0">
                <a:hlinkClick r:id="rId2"/>
              </a:rPr>
              <a:t>https://www.youtube.com/watch?v=kWMmyVu1ueY</a:t>
            </a:r>
            <a:endParaRPr lang="en-GB" sz="2300" dirty="0"/>
          </a:p>
          <a:p>
            <a:endParaRPr lang="en-AU" dirty="0"/>
          </a:p>
        </p:txBody>
      </p:sp>
      <p:pic>
        <p:nvPicPr>
          <p:cNvPr id="7" name="Picture 4" descr="Life7e-Fig-48-07-2"/>
          <p:cNvPicPr>
            <a:picLocks noChangeAspect="1" noChangeArrowheads="1"/>
          </p:cNvPicPr>
          <p:nvPr/>
        </p:nvPicPr>
        <p:blipFill>
          <a:blip r:embed="rId3" cstate="print">
            <a:extLst>
              <a:ext uri="{28A0092B-C50C-407E-A947-70E740481C1C}">
                <a14:useLocalDpi xmlns:a14="http://schemas.microsoft.com/office/drawing/2010/main" val="0"/>
              </a:ext>
            </a:extLst>
          </a:blip>
          <a:srcRect l="4446" t="1637" r="4446" b="6126"/>
          <a:stretch>
            <a:fillRect/>
          </a:stretch>
        </p:blipFill>
        <p:spPr bwMode="auto">
          <a:xfrm>
            <a:off x="4401461" y="2298679"/>
            <a:ext cx="4742539" cy="3600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99944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a:bodyPr>
          <a:lstStyle/>
          <a:p>
            <a:r>
              <a:rPr lang="en-NZ" sz="4000" dirty="0">
                <a:solidFill>
                  <a:srgbClr val="0070C0"/>
                </a:solidFill>
              </a:rPr>
              <a:t>Gas Exchange in Air – Bird Lungs</a:t>
            </a:r>
            <a:endParaRPr lang="en-GB" sz="4000" dirty="0">
              <a:solidFill>
                <a:srgbClr val="0070C0"/>
              </a:solidFill>
            </a:endParaRPr>
          </a:p>
        </p:txBody>
      </p:sp>
      <p:sp>
        <p:nvSpPr>
          <p:cNvPr id="27653" name="Rectangle 5"/>
          <p:cNvSpPr>
            <a:spLocks noGrp="1" noChangeArrowheads="1"/>
          </p:cNvSpPr>
          <p:nvPr>
            <p:ph type="body" idx="1"/>
          </p:nvPr>
        </p:nvSpPr>
        <p:spPr>
          <a:xfrm>
            <a:off x="612648" y="1700808"/>
            <a:ext cx="8153400" cy="4853136"/>
          </a:xfrm>
        </p:spPr>
        <p:txBody>
          <a:bodyPr>
            <a:normAutofit fontScale="85000" lnSpcReduction="20000"/>
          </a:bodyPr>
          <a:lstStyle/>
          <a:p>
            <a:pPr marL="0" indent="0">
              <a:buNone/>
            </a:pPr>
            <a:r>
              <a:rPr lang="en-GB" dirty="0">
                <a:solidFill>
                  <a:srgbClr val="002060"/>
                </a:solidFill>
                <a:latin typeface="Calibri" panose="020F0502020204030204" pitchFamily="34" charset="0"/>
                <a:cs typeface="Calibri" panose="020F0502020204030204" pitchFamily="34" charset="0"/>
              </a:rPr>
              <a:t>Features enhancing the efficiency of bird lungs are:</a:t>
            </a:r>
          </a:p>
          <a:p>
            <a:r>
              <a:rPr lang="en-GB" dirty="0">
                <a:solidFill>
                  <a:srgbClr val="002060"/>
                </a:solidFill>
                <a:latin typeface="Calibri" panose="020F0502020204030204" pitchFamily="34" charset="0"/>
                <a:cs typeface="Calibri" panose="020F0502020204030204" pitchFamily="34" charset="0"/>
              </a:rPr>
              <a:t>Large surface area</a:t>
            </a:r>
          </a:p>
          <a:p>
            <a:r>
              <a:rPr lang="en-GB" dirty="0">
                <a:solidFill>
                  <a:srgbClr val="002060"/>
                </a:solidFill>
                <a:latin typeface="Calibri" panose="020F0502020204030204" pitchFamily="34" charset="0"/>
                <a:cs typeface="Calibri" panose="020F0502020204030204" pitchFamily="34" charset="0"/>
              </a:rPr>
              <a:t>Many tiny air capillaries</a:t>
            </a:r>
          </a:p>
          <a:p>
            <a:r>
              <a:rPr lang="en-GB" dirty="0">
                <a:solidFill>
                  <a:srgbClr val="002060"/>
                </a:solidFill>
                <a:latin typeface="Calibri" panose="020F0502020204030204" pitchFamily="34" charset="0"/>
                <a:cs typeface="Calibri" panose="020F0502020204030204" pitchFamily="34" charset="0"/>
              </a:rPr>
              <a:t>Short distance for diffusion as the air and blood capillary walls made of flattened, thin cells and air &amp; blood capillaries alongside each other.</a:t>
            </a:r>
          </a:p>
          <a:p>
            <a:r>
              <a:rPr lang="en-GB" dirty="0">
                <a:solidFill>
                  <a:srgbClr val="002060"/>
                </a:solidFill>
                <a:latin typeface="Calibri" panose="020F0502020204030204" pitchFamily="34" charset="0"/>
                <a:cs typeface="Calibri" panose="020F0502020204030204" pitchFamily="34" charset="0"/>
              </a:rPr>
              <a:t>Moist as the lining of air capillaries is wet and the system is internal to conserve moisture</a:t>
            </a:r>
          </a:p>
          <a:p>
            <a:r>
              <a:rPr lang="en-NZ" dirty="0">
                <a:solidFill>
                  <a:srgbClr val="002060"/>
                </a:solidFill>
                <a:latin typeface="Calibri" panose="020F0502020204030204" pitchFamily="34" charset="0"/>
                <a:cs typeface="Calibri" panose="020F0502020204030204" pitchFamily="34" charset="0"/>
              </a:rPr>
              <a:t>Maintaining a concentration gradient as air flows in one direction through lungs regardless of whether the bird is inhaling or exhaling.  The one way passage in both </a:t>
            </a:r>
            <a:r>
              <a:rPr lang="en-NZ" dirty="0" err="1">
                <a:solidFill>
                  <a:srgbClr val="002060"/>
                </a:solidFill>
                <a:latin typeface="Calibri" panose="020F0502020204030204" pitchFamily="34" charset="0"/>
                <a:cs typeface="Calibri" panose="020F0502020204030204" pitchFamily="34" charset="0"/>
              </a:rPr>
              <a:t>parabronchi</a:t>
            </a:r>
            <a:r>
              <a:rPr lang="en-NZ" dirty="0">
                <a:solidFill>
                  <a:srgbClr val="002060"/>
                </a:solidFill>
                <a:latin typeface="Calibri" panose="020F0502020204030204" pitchFamily="34" charset="0"/>
                <a:cs typeface="Calibri" panose="020F0502020204030204" pitchFamily="34" charset="0"/>
              </a:rPr>
              <a:t> and air capillaries; other way in blood capillaries</a:t>
            </a:r>
            <a:r>
              <a:rPr lang="en-NZ" dirty="0">
                <a:solidFill>
                  <a:srgbClr val="002060"/>
                </a:solidFill>
                <a:latin typeface="Calibri" panose="020F0502020204030204" pitchFamily="34" charset="0"/>
                <a:cs typeface="Calibri" panose="020F0502020204030204" pitchFamily="34" charset="0"/>
                <a:sym typeface="Wingdings" pitchFamily="2" charset="2"/>
              </a:rPr>
              <a:t> creates the counter-current exchange.</a:t>
            </a:r>
            <a:endParaRPr lang="en-NZ" dirty="0">
              <a:solidFill>
                <a:srgbClr val="002060"/>
              </a:solidFill>
              <a:latin typeface="Calibri" panose="020F0502020204030204" pitchFamily="34" charset="0"/>
              <a:cs typeface="Calibri" panose="020F0502020204030204" pitchFamily="34" charset="0"/>
            </a:endParaRPr>
          </a:p>
          <a:p>
            <a:pPr marL="0" indent="0">
              <a:buNone/>
            </a:pPr>
            <a:endParaRPr lang="en-GB" dirty="0"/>
          </a:p>
          <a:p>
            <a:endParaRPr lang="en-GB" dirty="0"/>
          </a:p>
        </p:txBody>
      </p:sp>
    </p:spTree>
    <p:extLst>
      <p:ext uri="{BB962C8B-B14F-4D97-AF65-F5344CB8AC3E}">
        <p14:creationId xmlns:p14="http://schemas.microsoft.com/office/powerpoint/2010/main" val="1964900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8" name="Picture 6" descr="c-gill"/>
          <p:cNvPicPr>
            <a:picLocks noChangeAspect="1" noChangeArrowheads="1"/>
          </p:cNvPicPr>
          <p:nvPr/>
        </p:nvPicPr>
        <p:blipFill>
          <a:blip r:embed="rId2" cstate="print">
            <a:clrChange>
              <a:clrFrom>
                <a:srgbClr val="FEFEFE"/>
              </a:clrFrom>
              <a:clrTo>
                <a:srgbClr val="FEFEFE">
                  <a:alpha val="0"/>
                </a:srgbClr>
              </a:clrTo>
            </a:clrChange>
            <a:extLst>
              <a:ext uri="{28A0092B-C50C-407E-A947-70E740481C1C}">
                <a14:useLocalDpi xmlns:a14="http://schemas.microsoft.com/office/drawing/2010/main" val="0"/>
              </a:ext>
            </a:extLst>
          </a:blip>
          <a:srcRect b="32707"/>
          <a:stretch>
            <a:fillRect/>
          </a:stretch>
        </p:blipFill>
        <p:spPr bwMode="auto">
          <a:xfrm>
            <a:off x="250825" y="1295400"/>
            <a:ext cx="2241550" cy="2241550"/>
          </a:xfrm>
          <a:prstGeom prst="rect">
            <a:avLst/>
          </a:prstGeom>
          <a:noFill/>
          <a:extLst>
            <a:ext uri="{909E8E84-426E-40DD-AFC4-6F175D3DCCD1}">
              <a14:hiddenFill xmlns:a14="http://schemas.microsoft.com/office/drawing/2010/main">
                <a:solidFill>
                  <a:srgbClr val="FFFFFF"/>
                </a:solidFill>
              </a14:hiddenFill>
            </a:ext>
          </a:extLst>
        </p:spPr>
      </p:pic>
      <p:pic>
        <p:nvPicPr>
          <p:cNvPr id="54279" name="Picture 7" descr="e-lung"/>
          <p:cNvPicPr>
            <a:picLocks noChangeAspect="1" noChangeArrowheads="1"/>
          </p:cNvPicPr>
          <p:nvPr/>
        </p:nvPicPr>
        <p:blipFill>
          <a:blip r:embed="rId3" cstate="print">
            <a:clrChange>
              <a:clrFrom>
                <a:srgbClr val="F9F9F9"/>
              </a:clrFrom>
              <a:clrTo>
                <a:srgbClr val="F9F9F9">
                  <a:alpha val="0"/>
                </a:srgbClr>
              </a:clrTo>
            </a:clrChange>
            <a:extLst>
              <a:ext uri="{28A0092B-C50C-407E-A947-70E740481C1C}">
                <a14:useLocalDpi xmlns:a14="http://schemas.microsoft.com/office/drawing/2010/main" val="0"/>
              </a:ext>
            </a:extLst>
          </a:blip>
          <a:srcRect b="26189"/>
          <a:stretch>
            <a:fillRect/>
          </a:stretch>
        </p:blipFill>
        <p:spPr bwMode="auto">
          <a:xfrm>
            <a:off x="2233613" y="3213100"/>
            <a:ext cx="2317750" cy="2454275"/>
          </a:xfrm>
          <a:prstGeom prst="rect">
            <a:avLst/>
          </a:prstGeom>
          <a:noFill/>
          <a:extLst>
            <a:ext uri="{909E8E84-426E-40DD-AFC4-6F175D3DCCD1}">
              <a14:hiddenFill xmlns:a14="http://schemas.microsoft.com/office/drawing/2010/main">
                <a:solidFill>
                  <a:srgbClr val="FFFFFF"/>
                </a:solidFill>
              </a14:hiddenFill>
            </a:ext>
          </a:extLst>
        </p:spPr>
      </p:pic>
      <p:pic>
        <p:nvPicPr>
          <p:cNvPr id="54280" name="Picture 8" descr="d-tracheae"/>
          <p:cNvPicPr>
            <a:picLocks noChangeAspect="1" noChangeArrowheads="1"/>
          </p:cNvPicPr>
          <p:nvPr/>
        </p:nvPicPr>
        <p:blipFill>
          <a:blip r:embed="rId4" cstate="print">
            <a:clrChange>
              <a:clrFrom>
                <a:srgbClr val="FDFDFD"/>
              </a:clrFrom>
              <a:clrTo>
                <a:srgbClr val="FDFDFD">
                  <a:alpha val="0"/>
                </a:srgbClr>
              </a:clrTo>
            </a:clrChange>
            <a:extLst>
              <a:ext uri="{28A0092B-C50C-407E-A947-70E740481C1C}">
                <a14:useLocalDpi xmlns:a14="http://schemas.microsoft.com/office/drawing/2010/main" val="0"/>
              </a:ext>
            </a:extLst>
          </a:blip>
          <a:srcRect b="28174"/>
          <a:stretch>
            <a:fillRect/>
          </a:stretch>
        </p:blipFill>
        <p:spPr bwMode="auto">
          <a:xfrm>
            <a:off x="6011863" y="3357563"/>
            <a:ext cx="3116262" cy="2292350"/>
          </a:xfrm>
          <a:prstGeom prst="rect">
            <a:avLst/>
          </a:prstGeom>
          <a:noFill/>
          <a:extLst>
            <a:ext uri="{909E8E84-426E-40DD-AFC4-6F175D3DCCD1}">
              <a14:hiddenFill xmlns:a14="http://schemas.microsoft.com/office/drawing/2010/main">
                <a:solidFill>
                  <a:srgbClr val="FFFFFF"/>
                </a:solidFill>
              </a14:hiddenFill>
            </a:ext>
          </a:extLst>
        </p:spPr>
      </p:pic>
      <p:pic>
        <p:nvPicPr>
          <p:cNvPr id="54281" name="Picture 9" descr="f-lung"/>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b="23911"/>
          <a:stretch>
            <a:fillRect/>
          </a:stretch>
        </p:blipFill>
        <p:spPr bwMode="auto">
          <a:xfrm>
            <a:off x="4319588" y="1108075"/>
            <a:ext cx="2324100" cy="2500313"/>
          </a:xfrm>
          <a:prstGeom prst="rect">
            <a:avLst/>
          </a:prstGeom>
          <a:noFill/>
          <a:extLst>
            <a:ext uri="{909E8E84-426E-40DD-AFC4-6F175D3DCCD1}">
              <a14:hiddenFill xmlns:a14="http://schemas.microsoft.com/office/drawing/2010/main">
                <a:solidFill>
                  <a:srgbClr val="FFFFFF"/>
                </a:solidFill>
              </a14:hiddenFill>
            </a:ext>
          </a:extLst>
        </p:spPr>
      </p:pic>
      <p:sp>
        <p:nvSpPr>
          <p:cNvPr id="54282" name="Rectangle 10"/>
          <p:cNvSpPr>
            <a:spLocks noChangeArrowheads="1"/>
          </p:cNvSpPr>
          <p:nvPr/>
        </p:nvSpPr>
        <p:spPr bwMode="auto">
          <a:xfrm>
            <a:off x="668338" y="3481388"/>
            <a:ext cx="1404937"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en-NZ" sz="2800"/>
              <a:t>fish</a:t>
            </a:r>
            <a:br>
              <a:rPr lang="en-NZ" sz="2800"/>
            </a:br>
            <a:r>
              <a:rPr lang="en-NZ" sz="2800"/>
              <a:t>gills</a:t>
            </a:r>
            <a:endParaRPr lang="en-NZ" sz="2800" b="1" i="1"/>
          </a:p>
        </p:txBody>
      </p:sp>
      <p:sp>
        <p:nvSpPr>
          <p:cNvPr id="54284" name="Rectangle 12"/>
          <p:cNvSpPr>
            <a:spLocks noChangeArrowheads="1"/>
          </p:cNvSpPr>
          <p:nvPr/>
        </p:nvSpPr>
        <p:spPr bwMode="auto">
          <a:xfrm>
            <a:off x="2492375" y="5661025"/>
            <a:ext cx="1800225"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en-NZ" sz="2800"/>
              <a:t>mammal</a:t>
            </a:r>
            <a:br>
              <a:rPr lang="en-NZ" sz="2800"/>
            </a:br>
            <a:r>
              <a:rPr lang="en-NZ" sz="2800"/>
              <a:t>lungs</a:t>
            </a:r>
            <a:endParaRPr lang="en-NZ" sz="2800" b="1" i="1"/>
          </a:p>
        </p:txBody>
      </p:sp>
      <p:sp>
        <p:nvSpPr>
          <p:cNvPr id="54285" name="Rectangle 13"/>
          <p:cNvSpPr>
            <a:spLocks noChangeArrowheads="1"/>
          </p:cNvSpPr>
          <p:nvPr/>
        </p:nvSpPr>
        <p:spPr bwMode="auto">
          <a:xfrm>
            <a:off x="4799013" y="3482975"/>
            <a:ext cx="1365250"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en-NZ" sz="2800"/>
              <a:t>bird</a:t>
            </a:r>
            <a:br>
              <a:rPr lang="en-NZ" sz="2800"/>
            </a:br>
            <a:r>
              <a:rPr lang="en-NZ" sz="2800"/>
              <a:t>lungs</a:t>
            </a:r>
            <a:endParaRPr lang="en-NZ" sz="2800" b="1" i="1"/>
          </a:p>
        </p:txBody>
      </p:sp>
      <p:sp>
        <p:nvSpPr>
          <p:cNvPr id="54286" name="Rectangle 14"/>
          <p:cNvSpPr>
            <a:spLocks noChangeArrowheads="1"/>
          </p:cNvSpPr>
          <p:nvPr/>
        </p:nvSpPr>
        <p:spPr bwMode="auto">
          <a:xfrm>
            <a:off x="6804025" y="5661025"/>
            <a:ext cx="1585913"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en-NZ" sz="2800"/>
              <a:t>insect</a:t>
            </a:r>
            <a:br>
              <a:rPr lang="en-NZ" sz="2800"/>
            </a:br>
            <a:r>
              <a:rPr lang="en-NZ" sz="2800"/>
              <a:t>tracheae</a:t>
            </a:r>
            <a:endParaRPr lang="en-NZ" sz="2800" b="1" i="1"/>
          </a:p>
        </p:txBody>
      </p:sp>
      <p:sp>
        <p:nvSpPr>
          <p:cNvPr id="4" name="Title 3"/>
          <p:cNvSpPr>
            <a:spLocks noGrp="1"/>
          </p:cNvSpPr>
          <p:nvPr>
            <p:ph type="title"/>
          </p:nvPr>
        </p:nvSpPr>
        <p:spPr/>
        <p:txBody>
          <a:bodyPr>
            <a:normAutofit/>
          </a:bodyPr>
          <a:lstStyle/>
          <a:p>
            <a:r>
              <a:rPr lang="en-AU" sz="3800" dirty="0">
                <a:solidFill>
                  <a:srgbClr val="0070C0"/>
                </a:solidFill>
              </a:rPr>
              <a:t>Comparison of Gas Exchange Systems</a:t>
            </a:r>
          </a:p>
        </p:txBody>
      </p:sp>
    </p:spTree>
    <p:extLst>
      <p:ext uri="{BB962C8B-B14F-4D97-AF65-F5344CB8AC3E}">
        <p14:creationId xmlns:p14="http://schemas.microsoft.com/office/powerpoint/2010/main" val="4984853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593158" y="1916832"/>
            <a:ext cx="8153400" cy="244827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AU" sz="2400" dirty="0">
                <a:solidFill>
                  <a:srgbClr val="002060"/>
                </a:solidFill>
                <a:latin typeface="Calibri" panose="020F0502020204030204" pitchFamily="34" charset="0"/>
                <a:cs typeface="Calibri" panose="020F0502020204030204" pitchFamily="34" charset="0"/>
              </a:rPr>
              <a:t>Describe the exchange of gases between the internal and external environments of the organism via specialised exchange surface(s), including spiracles, gills, alveoli and skin.</a:t>
            </a:r>
          </a:p>
          <a:p>
            <a:endParaRPr lang="en-AU" sz="2400" dirty="0">
              <a:solidFill>
                <a:srgbClr val="002060"/>
              </a:solidFill>
              <a:latin typeface="Calibri" panose="020F0502020204030204" pitchFamily="34" charset="0"/>
              <a:cs typeface="Calibri" panose="020F0502020204030204" pitchFamily="34" charset="0"/>
            </a:endParaRPr>
          </a:p>
          <a:p>
            <a:r>
              <a:rPr lang="en-AU" sz="2400" dirty="0">
                <a:solidFill>
                  <a:srgbClr val="002060"/>
                </a:solidFill>
                <a:latin typeface="Calibri" panose="020F0502020204030204" pitchFamily="34" charset="0"/>
                <a:cs typeface="Calibri" panose="020F0502020204030204" pitchFamily="34" charset="0"/>
              </a:rPr>
              <a:t>Identify features of efficient gas exchange surfaces.</a:t>
            </a:r>
          </a:p>
          <a:p>
            <a:endParaRPr lang="en-AU" dirty="0"/>
          </a:p>
          <a:p>
            <a:endParaRPr lang="en-AU" dirty="0"/>
          </a:p>
        </p:txBody>
      </p:sp>
      <p:sp>
        <p:nvSpPr>
          <p:cNvPr id="6" name="Title 1"/>
          <p:cNvSpPr txBox="1">
            <a:spLocks/>
          </p:cNvSpPr>
          <p:nvPr/>
        </p:nvSpPr>
        <p:spPr>
          <a:xfrm>
            <a:off x="593158" y="620688"/>
            <a:ext cx="8153400" cy="990600"/>
          </a:xfrm>
          <a:prstGeom prst="rect">
            <a:avLst/>
          </a:prstGeom>
        </p:spPr>
        <p:txBody>
          <a:bodyPr vert="horz" anchor="ctr">
            <a:normAutofit/>
          </a:bodyPr>
          <a:lstStyle>
            <a:lvl1pPr algn="l" rtl="0" eaLnBrk="1" latinLnBrk="0" hangingPunct="1">
              <a:spcBef>
                <a:spcPct val="0"/>
              </a:spcBef>
              <a:buNone/>
              <a:defRPr kumimoji="0" sz="4400" kern="1200">
                <a:solidFill>
                  <a:schemeClr val="tx2"/>
                </a:solidFill>
                <a:latin typeface="+mj-lt"/>
                <a:ea typeface="+mj-ea"/>
                <a:cs typeface="+mj-cs"/>
              </a:defRPr>
            </a:lvl1pPr>
          </a:lstStyle>
          <a:p>
            <a:r>
              <a:rPr lang="en-AU" dirty="0">
                <a:solidFill>
                  <a:srgbClr val="0070C0"/>
                </a:solidFill>
              </a:rPr>
              <a:t>Success Criteria</a:t>
            </a:r>
          </a:p>
        </p:txBody>
      </p:sp>
      <p:pic>
        <p:nvPicPr>
          <p:cNvPr id="2" name="Picture 1">
            <a:extLst>
              <a:ext uri="{FF2B5EF4-FFF2-40B4-BE49-F238E27FC236}">
                <a16:creationId xmlns:a16="http://schemas.microsoft.com/office/drawing/2014/main" id="{F47EAEF9-52CA-97DB-EDA1-ACA800B3697C}"/>
              </a:ext>
            </a:extLst>
          </p:cNvPr>
          <p:cNvPicPr>
            <a:picLocks noChangeAspect="1"/>
          </p:cNvPicPr>
          <p:nvPr/>
        </p:nvPicPr>
        <p:blipFill>
          <a:blip r:embed="rId2"/>
          <a:stretch>
            <a:fillRect/>
          </a:stretch>
        </p:blipFill>
        <p:spPr>
          <a:xfrm>
            <a:off x="2968926" y="4509120"/>
            <a:ext cx="3401863" cy="1572904"/>
          </a:xfrm>
          <a:prstGeom prst="rect">
            <a:avLst/>
          </a:prstGeom>
        </p:spPr>
      </p:pic>
    </p:spTree>
    <p:extLst>
      <p:ext uri="{BB962C8B-B14F-4D97-AF65-F5344CB8AC3E}">
        <p14:creationId xmlns:p14="http://schemas.microsoft.com/office/powerpoint/2010/main" val="28046524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6632"/>
            <a:ext cx="8153400" cy="990600"/>
          </a:xfrm>
        </p:spPr>
        <p:txBody>
          <a:bodyPr/>
          <a:lstStyle/>
          <a:p>
            <a:r>
              <a:rPr lang="en-AU" dirty="0">
                <a:solidFill>
                  <a:srgbClr val="0070C0"/>
                </a:solidFill>
              </a:rPr>
              <a:t>Exam Review Question</a:t>
            </a:r>
          </a:p>
        </p:txBody>
      </p:sp>
      <p:pic>
        <p:nvPicPr>
          <p:cNvPr id="6" name="Picture 5"/>
          <p:cNvPicPr>
            <a:picLocks noChangeAspect="1"/>
          </p:cNvPicPr>
          <p:nvPr/>
        </p:nvPicPr>
        <p:blipFill>
          <a:blip r:embed="rId3"/>
          <a:stretch>
            <a:fillRect/>
          </a:stretch>
        </p:blipFill>
        <p:spPr>
          <a:xfrm>
            <a:off x="1259632" y="1107232"/>
            <a:ext cx="6668431" cy="5630061"/>
          </a:xfrm>
          <a:prstGeom prst="rect">
            <a:avLst/>
          </a:prstGeom>
        </p:spPr>
      </p:pic>
    </p:spTree>
    <p:extLst>
      <p:ext uri="{BB962C8B-B14F-4D97-AF65-F5344CB8AC3E}">
        <p14:creationId xmlns:p14="http://schemas.microsoft.com/office/powerpoint/2010/main" val="36637545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0070C0"/>
                </a:solidFill>
              </a:rPr>
              <a:t>Moodle &amp; Textbook Work</a:t>
            </a:r>
          </a:p>
        </p:txBody>
      </p:sp>
      <p:pic>
        <p:nvPicPr>
          <p:cNvPr id="8" name="Content Placeholder 7"/>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971600" y="2420888"/>
            <a:ext cx="2232248" cy="2926978"/>
          </a:xfrm>
        </p:spPr>
      </p:pic>
      <p:sp>
        <p:nvSpPr>
          <p:cNvPr id="9" name="TextBox 8"/>
          <p:cNvSpPr txBox="1"/>
          <p:nvPr/>
        </p:nvSpPr>
        <p:spPr>
          <a:xfrm>
            <a:off x="3707904" y="2276872"/>
            <a:ext cx="4032448" cy="2308324"/>
          </a:xfrm>
          <a:prstGeom prst="rect">
            <a:avLst/>
          </a:prstGeom>
          <a:noFill/>
        </p:spPr>
        <p:txBody>
          <a:bodyPr wrap="square" rtlCol="0">
            <a:spAutoFit/>
          </a:bodyPr>
          <a:lstStyle/>
          <a:p>
            <a:pPr marL="285750" indent="-285750">
              <a:buFont typeface="Arial" panose="020B0604020202020204" pitchFamily="34" charset="0"/>
              <a:buChar char="•"/>
            </a:pPr>
            <a:r>
              <a:rPr lang="en-AU" sz="2400" dirty="0">
                <a:solidFill>
                  <a:srgbClr val="002060"/>
                </a:solidFill>
              </a:rPr>
              <a:t>Nelson Chapter 12: pages 390-396 and Moodle workbook.</a:t>
            </a:r>
          </a:p>
          <a:p>
            <a:pPr marL="285750" indent="-285750">
              <a:buFont typeface="Arial" panose="020B0604020202020204" pitchFamily="34" charset="0"/>
              <a:buChar char="•"/>
            </a:pPr>
            <a:endParaRPr lang="en-AU" sz="2400" dirty="0">
              <a:solidFill>
                <a:srgbClr val="002060"/>
              </a:solidFill>
            </a:endParaRPr>
          </a:p>
          <a:p>
            <a:pPr marL="285750" indent="-285750">
              <a:buFont typeface="Arial" panose="020B0604020202020204" pitchFamily="34" charset="0"/>
              <a:buChar char="•"/>
            </a:pPr>
            <a:r>
              <a:rPr lang="en-AU" sz="2400" dirty="0">
                <a:solidFill>
                  <a:srgbClr val="002060"/>
                </a:solidFill>
              </a:rPr>
              <a:t>Review various videos on each of the animal systems. </a:t>
            </a:r>
          </a:p>
        </p:txBody>
      </p:sp>
    </p:spTree>
    <p:extLst>
      <p:ext uri="{BB962C8B-B14F-4D97-AF65-F5344CB8AC3E}">
        <p14:creationId xmlns:p14="http://schemas.microsoft.com/office/powerpoint/2010/main" val="4817979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rgbClr val="0070C0"/>
                </a:solidFill>
              </a:rPr>
              <a:t>Student Feedback</a:t>
            </a:r>
          </a:p>
        </p:txBody>
      </p:sp>
      <p:sp>
        <p:nvSpPr>
          <p:cNvPr id="3" name="Content Placeholder 2"/>
          <p:cNvSpPr>
            <a:spLocks noGrp="1"/>
          </p:cNvSpPr>
          <p:nvPr>
            <p:ph sz="quarter" idx="1"/>
          </p:nvPr>
        </p:nvSpPr>
        <p:spPr>
          <a:xfrm>
            <a:off x="395536" y="1772816"/>
            <a:ext cx="6559153" cy="4392487"/>
          </a:xfrm>
        </p:spPr>
        <p:txBody>
          <a:bodyPr>
            <a:normAutofit/>
          </a:bodyPr>
          <a:lstStyle/>
          <a:p>
            <a:r>
              <a:rPr lang="en-AU" sz="2200" dirty="0">
                <a:solidFill>
                  <a:srgbClr val="002060"/>
                </a:solidFill>
                <a:latin typeface="Calibri" panose="020F0502020204030204" pitchFamily="34" charset="0"/>
                <a:cs typeface="Calibri" panose="020F0502020204030204" pitchFamily="34" charset="0"/>
              </a:rPr>
              <a:t>What I learnt today…..</a:t>
            </a:r>
          </a:p>
          <a:p>
            <a:endParaRPr lang="en-AU" sz="2200" dirty="0">
              <a:solidFill>
                <a:srgbClr val="002060"/>
              </a:solidFill>
              <a:latin typeface="Calibri" panose="020F0502020204030204" pitchFamily="34" charset="0"/>
              <a:cs typeface="Calibri" panose="020F0502020204030204" pitchFamily="34" charset="0"/>
            </a:endParaRPr>
          </a:p>
          <a:p>
            <a:endParaRPr lang="en-AU" sz="2200" dirty="0">
              <a:solidFill>
                <a:srgbClr val="002060"/>
              </a:solidFill>
              <a:latin typeface="Calibri" panose="020F0502020204030204" pitchFamily="34" charset="0"/>
              <a:cs typeface="Calibri" panose="020F0502020204030204" pitchFamily="34" charset="0"/>
            </a:endParaRPr>
          </a:p>
          <a:p>
            <a:endParaRPr lang="en-AU" sz="2200" dirty="0">
              <a:solidFill>
                <a:srgbClr val="002060"/>
              </a:solidFill>
              <a:latin typeface="Calibri" panose="020F0502020204030204" pitchFamily="34" charset="0"/>
              <a:cs typeface="Calibri" panose="020F0502020204030204" pitchFamily="34" charset="0"/>
            </a:endParaRPr>
          </a:p>
          <a:p>
            <a:endParaRPr lang="en-AU" sz="2200" dirty="0">
              <a:solidFill>
                <a:srgbClr val="002060"/>
              </a:solidFill>
              <a:latin typeface="Calibri" panose="020F0502020204030204" pitchFamily="34" charset="0"/>
              <a:cs typeface="Calibri" panose="020F0502020204030204" pitchFamily="34" charset="0"/>
            </a:endParaRPr>
          </a:p>
          <a:p>
            <a:r>
              <a:rPr lang="en-AU" sz="2200" dirty="0">
                <a:solidFill>
                  <a:srgbClr val="002060"/>
                </a:solidFill>
                <a:latin typeface="Calibri" panose="020F0502020204030204" pitchFamily="34" charset="0"/>
                <a:cs typeface="Calibri" panose="020F0502020204030204" pitchFamily="34" charset="0"/>
              </a:rPr>
              <a:t>What I need to revise….</a:t>
            </a:r>
          </a:p>
          <a:p>
            <a:endParaRPr lang="en-AU" sz="2200" dirty="0">
              <a:latin typeface="Calibri" panose="020F0502020204030204" pitchFamily="34" charset="0"/>
              <a:cs typeface="Calibri" panose="020F0502020204030204" pitchFamily="34" charset="0"/>
            </a:endParaRPr>
          </a:p>
          <a:p>
            <a:endParaRPr lang="en-AU" sz="2200" dirty="0">
              <a:latin typeface="Calibri" panose="020F0502020204030204" pitchFamily="34" charset="0"/>
              <a:cs typeface="Calibri" panose="020F0502020204030204" pitchFamily="34" charset="0"/>
            </a:endParaRPr>
          </a:p>
          <a:p>
            <a:endParaRPr lang="en-AU" dirty="0"/>
          </a:p>
          <a:p>
            <a:endParaRPr lang="en-AU" dirty="0"/>
          </a:p>
        </p:txBody>
      </p:sp>
    </p:spTree>
    <p:extLst>
      <p:ext uri="{BB962C8B-B14F-4D97-AF65-F5344CB8AC3E}">
        <p14:creationId xmlns:p14="http://schemas.microsoft.com/office/powerpoint/2010/main" val="295936199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747</TotalTime>
  <Words>2812</Words>
  <Application>Microsoft Office PowerPoint</Application>
  <PresentationFormat>On-screen Show (4:3)</PresentationFormat>
  <Paragraphs>325</Paragraphs>
  <Slides>43</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Calibri</vt:lpstr>
      <vt:lpstr>Open Sans</vt:lpstr>
      <vt:lpstr>Tw Cen MT</vt:lpstr>
      <vt:lpstr>Wingdings</vt:lpstr>
      <vt:lpstr>Wingdings 2</vt:lpstr>
      <vt:lpstr>Median</vt:lpstr>
      <vt:lpstr>11ATAR Biology Week 32  Gas Exchange in animals</vt:lpstr>
      <vt:lpstr>Year 11 Biology Work Schedule</vt:lpstr>
      <vt:lpstr>Review</vt:lpstr>
      <vt:lpstr>Learning Intentions</vt:lpstr>
      <vt:lpstr>Terminology</vt:lpstr>
      <vt:lpstr>Gas Exchange - Overview</vt:lpstr>
      <vt:lpstr>Gas Exchange</vt:lpstr>
      <vt:lpstr>The Source of Oxygen</vt:lpstr>
      <vt:lpstr>Gas Exchange Surfaces</vt:lpstr>
      <vt:lpstr>Gas Exchange Surfaces</vt:lpstr>
      <vt:lpstr>Types of Gas Exchange Surface</vt:lpstr>
      <vt:lpstr>Gas Exchange – Simple Diffusion</vt:lpstr>
      <vt:lpstr>Gas Exchange in Water</vt:lpstr>
      <vt:lpstr>Gas Exchange in Water - Gills</vt:lpstr>
      <vt:lpstr>Gas Exchange in Water - Gills</vt:lpstr>
      <vt:lpstr>Gas Exchange in Water - Gills</vt:lpstr>
      <vt:lpstr>Gas Exchange in Water - Gills</vt:lpstr>
      <vt:lpstr>Gas Exchange in Water - Gills</vt:lpstr>
      <vt:lpstr>Gas Exchange in Air</vt:lpstr>
      <vt:lpstr>Gas Exchange in Air</vt:lpstr>
      <vt:lpstr>Gas Exchange in Air – Mammalian Lungs</vt:lpstr>
      <vt:lpstr>Gas Exchange in Air - Mammalian Lungs</vt:lpstr>
      <vt:lpstr>Gas Exchange in Air - Mammalian Lungs</vt:lpstr>
      <vt:lpstr>Gas Exchange in Air - Mammalian Lungs</vt:lpstr>
      <vt:lpstr>Gas Exchange in Air - Mammalian Lungs</vt:lpstr>
      <vt:lpstr>Gas Exchange in Air - Mammalian Lungs</vt:lpstr>
      <vt:lpstr>Gas Exchange in Air - Mammalian Lungs</vt:lpstr>
      <vt:lpstr>Gas Exchange in Air - Mammalian Lungs</vt:lpstr>
      <vt:lpstr>Gas Exchange in Air - Mammalian Lungs</vt:lpstr>
      <vt:lpstr>Gas Exchange in Air - Mammalian Lungs</vt:lpstr>
      <vt:lpstr>Gas Exchange in Air – Insect Tracheae</vt:lpstr>
      <vt:lpstr>Gas Exchange in Air – Insect Tracheae</vt:lpstr>
      <vt:lpstr>Gas Exchange in Air – Insect Tracheae</vt:lpstr>
      <vt:lpstr>Gas Exchange in Air – Bird Lungs</vt:lpstr>
      <vt:lpstr>Gas Exchange in Air – Bird Lungs</vt:lpstr>
      <vt:lpstr>Gas Exchange in Air – Bird Lungs</vt:lpstr>
      <vt:lpstr>Gas Exchange in Air – Bird Lungs</vt:lpstr>
      <vt:lpstr>Gas Exchange in Air – Bird Lungs</vt:lpstr>
      <vt:lpstr>Comparison of Gas Exchange Systems</vt:lpstr>
      <vt:lpstr>PowerPoint Presentation</vt:lpstr>
      <vt:lpstr>Exam Review Question</vt:lpstr>
      <vt:lpstr>Moodle &amp; Textbook Work</vt:lpstr>
      <vt:lpstr>Student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Multicellularity &amp; Gas Exchange in animals</dc:title>
  <dc:creator>HARDINGHAM Gillian</dc:creator>
  <cp:lastModifiedBy>HARTLAND Robbert [SIDE - Sch of Isol &amp; Dist Edu]</cp:lastModifiedBy>
  <cp:revision>83</cp:revision>
  <dcterms:created xsi:type="dcterms:W3CDTF">2015-08-24T02:50:18Z</dcterms:created>
  <dcterms:modified xsi:type="dcterms:W3CDTF">2023-10-18T06:13:29Z</dcterms:modified>
</cp:coreProperties>
</file>